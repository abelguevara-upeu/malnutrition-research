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DM Sans Bold" charset="1" panose="00000000000000000000"/>
      <p:regular r:id="rId32"/>
    </p:embeddedFont>
    <p:embeddedFont>
      <p:font typeface="DM Sans" charset="1" panose="00000000000000000000"/>
      <p:regular r:id="rId33"/>
    </p:embeddedFont>
    <p:embeddedFont>
      <p:font typeface="Arial Bold" charset="1" panose="020B0704020202020204"/>
      <p:regular r:id="rId34"/>
    </p:embeddedFont>
    <p:embeddedFont>
      <p:font typeface="Open Sauce" charset="1" panose="00000500000000000000"/>
      <p:regular r:id="rId35"/>
    </p:embeddedFont>
    <p:embeddedFont>
      <p:font typeface="Open Sans" charset="1" panose="020B0606030504020204"/>
      <p:regular r:id="rId36"/>
    </p:embeddedFont>
    <p:embeddedFont>
      <p:font typeface="Open Sauce Bold" charset="1" panose="00000800000000000000"/>
      <p:regular r:id="rId37"/>
    </p:embeddedFont>
    <p:embeddedFont>
      <p:font typeface="Prompt Light" charset="1" panose="00000400000000000000"/>
      <p:regular r:id="rId38"/>
    </p:embeddedFont>
    <p:embeddedFont>
      <p:font typeface="Prompt Bold" charset="1" panose="00000800000000000000"/>
      <p:regular r:id="rId39"/>
    </p:embeddedFont>
    <p:embeddedFont>
      <p:font typeface="Arimo" charset="1" panose="020B0604020202020204"/>
      <p:regular r:id="rId40"/>
    </p:embeddedFont>
    <p:embeddedFont>
      <p:font typeface="Arial" charset="1" panose="020B0604020202020204"/>
      <p:regular r:id="rId41"/>
    </p:embeddedFont>
    <p:embeddedFont>
      <p:font typeface="Arial Italics" charset="1" panose="020B0604020202090204"/>
      <p:regular r:id="rId42"/>
    </p:embeddedFont>
    <p:embeddedFont>
      <p:font typeface="Poppins Bold" charset="1" panose="00000800000000000000"/>
      <p:regular r:id="rId43"/>
    </p:embeddedFont>
    <p:embeddedFont>
      <p:font typeface="Poppins" charset="1" panose="00000500000000000000"/>
      <p:regular r:id="rId44"/>
    </p:embeddedFont>
    <p:embeddedFont>
      <p:font typeface="Cambria Bold" charset="1" panose="02040803050406030204"/>
      <p:regular r:id="rId45"/>
    </p:embeddedFont>
    <p:embeddedFont>
      <p:font typeface="Prompt" charset="1" panose="0000050000000000000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jpeg" Type="http://schemas.openxmlformats.org/officeDocument/2006/relationships/image"/><Relationship Id="rId14" Target="../media/image20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2" Target="../media/image5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jpeg" Type="http://schemas.openxmlformats.org/officeDocument/2006/relationships/image"/><Relationship Id="rId5" Target="../media/image33.jpeg" Type="http://schemas.openxmlformats.org/officeDocument/2006/relationships/image"/><Relationship Id="rId6" Target="../media/image34.jpeg" Type="http://schemas.openxmlformats.org/officeDocument/2006/relationships/image"/><Relationship Id="rId7" Target="../media/image3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https://www.who.int/tools/child-growth-standards/software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5.jpeg" Type="http://schemas.openxmlformats.org/officeDocument/2006/relationships/image"/><Relationship Id="rId5" Target="https://www.who.int/tools/child-growth-standards/software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https://www.who.int/tools/child-growth-standards/software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13" Target="https://www.who.int/tools/child-growth-standards/software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1.bin" Type="http://schemas.openxmlformats.org/officeDocument/2006/relationships/oleObject"/><Relationship Id="rId11" Target="../media/image58.png" Type="http://schemas.openxmlformats.org/officeDocument/2006/relationships/image"/><Relationship Id="rId12" Target="../embeddings/oleObject2.bin" Type="http://schemas.openxmlformats.org/officeDocument/2006/relationships/oleObject"/><Relationship Id="rId13" Target="../media/image59.png" Type="http://schemas.openxmlformats.org/officeDocument/2006/relationships/image"/><Relationship Id="rId14" Target="../embeddings/oleObject3.bin" Type="http://schemas.openxmlformats.org/officeDocument/2006/relationships/oleObject"/><Relationship Id="rId15" Target="../media/image60.png" Type="http://schemas.openxmlformats.org/officeDocument/2006/relationships/image"/><Relationship Id="rId16" Target="../embeddings/oleObject4.bin" Type="http://schemas.openxmlformats.org/officeDocument/2006/relationships/oleObject"/><Relationship Id="rId17" Target="../media/image61.png" Type="http://schemas.openxmlformats.org/officeDocument/2006/relationships/image"/><Relationship Id="rId18" Target="../embeddings/oleObject5.bin" Type="http://schemas.openxmlformats.org/officeDocument/2006/relationships/oleObjec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embeddings/oleObject6.bin" Type="http://schemas.openxmlformats.org/officeDocument/2006/relationships/oleObject"/><Relationship Id="rId12" Target="https://doi.org/10.1186/s40795-020-00378-z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7.bin" Type="http://schemas.openxmlformats.org/officeDocument/2006/relationships/oleObject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8.bin" Type="http://schemas.openxmlformats.org/officeDocument/2006/relationships/oleObject"/><Relationship Id="rId11" Target="../media/image68.png" Type="http://schemas.openxmlformats.org/officeDocument/2006/relationships/image"/><Relationship Id="rId12" Target="../media/image69.png" Type="http://schemas.openxmlformats.org/officeDocument/2006/relationships/image"/><Relationship Id="rId13" Target="../media/image70.png" Type="http://schemas.openxmlformats.org/officeDocument/2006/relationships/image"/><Relationship Id="rId14" Target="https://doi.org/10.1186/s12937-019-0505-8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9.bin" Type="http://schemas.openxmlformats.org/officeDocument/2006/relationships/oleObject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74.png" Type="http://schemas.openxmlformats.org/officeDocument/2006/relationships/image"/><Relationship Id="rId14" Target="../media/image75.png" Type="http://schemas.openxmlformats.org/officeDocument/2006/relationships/image"/><Relationship Id="rId15" Target="../media/image76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84.png" Type="http://schemas.openxmlformats.org/officeDocument/2006/relationships/image"/><Relationship Id="rId12" Target="../media/image85.svg" Type="http://schemas.openxmlformats.org/officeDocument/2006/relationships/image"/><Relationship Id="rId13" Target="../media/image86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84.png" Type="http://schemas.openxmlformats.org/officeDocument/2006/relationships/image"/><Relationship Id="rId12" Target="../media/image85.svg" Type="http://schemas.openxmlformats.org/officeDocument/2006/relationships/image"/><Relationship Id="rId13" Target="../media/image87.png" Type="http://schemas.openxmlformats.org/officeDocument/2006/relationships/image"/><Relationship Id="rId14" Target="../media/image88.png" Type="http://schemas.openxmlformats.org/officeDocument/2006/relationships/image"/><Relationship Id="rId15" Target="../media/image89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5.jpe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90.png" Type="http://schemas.openxmlformats.org/officeDocument/2006/relationships/image"/><Relationship Id="rId3" Target="../media/image91.svg" Type="http://schemas.openxmlformats.org/officeDocument/2006/relationships/image"/><Relationship Id="rId4" Target="../media/image92.png" Type="http://schemas.openxmlformats.org/officeDocument/2006/relationships/image"/><Relationship Id="rId5" Target="../media/image93.svg" Type="http://schemas.openxmlformats.org/officeDocument/2006/relationships/image"/><Relationship Id="rId6" Target="../media/image5.jpe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5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6.png" Type="http://schemas.openxmlformats.org/officeDocument/2006/relationships/image"/><Relationship Id="rId7" Target="../media/image9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9794" y="276015"/>
            <a:ext cx="11476825" cy="11465966"/>
            <a:chOff x="0" y="0"/>
            <a:chExt cx="15302433" cy="15287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5302357" cy="15287943"/>
            </a:xfrm>
            <a:custGeom>
              <a:avLst/>
              <a:gdLst/>
              <a:ahLst/>
              <a:cxnLst/>
              <a:rect r="r" b="b" t="t" l="l"/>
              <a:pathLst>
                <a:path h="15287943" w="15302357">
                  <a:moveTo>
                    <a:pt x="8471535" y="339566"/>
                  </a:moveTo>
                  <a:lnTo>
                    <a:pt x="14962632" y="6824440"/>
                  </a:lnTo>
                  <a:cubicBezTo>
                    <a:pt x="15180183" y="7041737"/>
                    <a:pt x="15302357" y="7336504"/>
                    <a:pt x="15302357" y="7643971"/>
                  </a:cubicBezTo>
                  <a:cubicBezTo>
                    <a:pt x="15302357" y="7951438"/>
                    <a:pt x="15180183" y="8246205"/>
                    <a:pt x="14962632" y="8463502"/>
                  </a:cubicBezTo>
                  <a:lnTo>
                    <a:pt x="8471535" y="14948376"/>
                  </a:lnTo>
                  <a:cubicBezTo>
                    <a:pt x="8018272" y="15401132"/>
                    <a:pt x="7284085" y="15401132"/>
                    <a:pt x="6830822" y="14948376"/>
                  </a:cubicBezTo>
                  <a:lnTo>
                    <a:pt x="339725" y="8463502"/>
                  </a:lnTo>
                  <a:cubicBezTo>
                    <a:pt x="122174" y="8246205"/>
                    <a:pt x="0" y="7951438"/>
                    <a:pt x="0" y="7643971"/>
                  </a:cubicBezTo>
                  <a:cubicBezTo>
                    <a:pt x="0" y="7336505"/>
                    <a:pt x="122174" y="7041737"/>
                    <a:pt x="339725" y="6824441"/>
                  </a:cubicBezTo>
                  <a:lnTo>
                    <a:pt x="6830822" y="339566"/>
                  </a:lnTo>
                  <a:cubicBezTo>
                    <a:pt x="7284085" y="-113189"/>
                    <a:pt x="8018272" y="-113189"/>
                    <a:pt x="8471535" y="339566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093615" y="7312523"/>
            <a:ext cx="19490817" cy="9746885"/>
          </a:xfrm>
          <a:custGeom>
            <a:avLst/>
            <a:gdLst/>
            <a:ahLst/>
            <a:cxnLst/>
            <a:rect r="r" b="b" t="t" l="l"/>
            <a:pathLst>
              <a:path h="9746885" w="19490817">
                <a:moveTo>
                  <a:pt x="0" y="0"/>
                </a:moveTo>
                <a:lnTo>
                  <a:pt x="19490817" y="0"/>
                </a:lnTo>
                <a:lnTo>
                  <a:pt x="19490817" y="9746885"/>
                </a:lnTo>
                <a:lnTo>
                  <a:pt x="0" y="9746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66730" y="-6493364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193679" y="8124311"/>
            <a:ext cx="2714073" cy="66675"/>
            <a:chOff x="0" y="0"/>
            <a:chExt cx="3618763" cy="8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8738" cy="88900"/>
            </a:xfrm>
            <a:custGeom>
              <a:avLst/>
              <a:gdLst/>
              <a:ahLst/>
              <a:cxnLst/>
              <a:rect r="r" b="b" t="t" l="l"/>
              <a:pathLst>
                <a:path h="88900" w="3618738">
                  <a:moveTo>
                    <a:pt x="0" y="0"/>
                  </a:moveTo>
                  <a:lnTo>
                    <a:pt x="3618738" y="88900"/>
                  </a:lnTo>
                </a:path>
              </a:pathLst>
            </a:custGeom>
            <a:blipFill>
              <a:blip r:embed="rId6">
                <a:alphaModFix amt="0"/>
              </a:blip>
              <a:stretch>
                <a:fillRect l="0" t="-743157" r="0" b="-743157"/>
              </a:stretch>
            </a:blipFill>
            <a:ln w="66675" cap="sq">
              <a:solidFill>
                <a:srgbClr val="00386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19207" y="3510915"/>
            <a:ext cx="10882940" cy="343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95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Sistema Predictivo</a:t>
            </a:r>
            <a:r>
              <a:rPr lang="en-US" sz="595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 de Riesgo de Desnutrición Crónica Infantil en el Perú mediante Machine Learning</a:t>
            </a:r>
          </a:p>
          <a:p>
            <a:pPr algn="l">
              <a:lnSpc>
                <a:spcPts val="5355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422608" y="1556538"/>
            <a:ext cx="3290773" cy="3290773"/>
          </a:xfrm>
          <a:custGeom>
            <a:avLst/>
            <a:gdLst/>
            <a:ahLst/>
            <a:cxnLst/>
            <a:rect r="r" b="b" t="t" l="l"/>
            <a:pathLst>
              <a:path h="3290773" w="3290773">
                <a:moveTo>
                  <a:pt x="0" y="0"/>
                </a:moveTo>
                <a:lnTo>
                  <a:pt x="3290773" y="0"/>
                </a:lnTo>
                <a:lnTo>
                  <a:pt x="3290773" y="3290773"/>
                </a:lnTo>
                <a:lnTo>
                  <a:pt x="0" y="32907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7896" y="9754410"/>
            <a:ext cx="582584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11246" y="610900"/>
            <a:ext cx="18126" cy="835600"/>
            <a:chOff x="0" y="0"/>
            <a:chExt cx="24168" cy="11141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6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00157" y="950481"/>
            <a:ext cx="3053011" cy="29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3"/>
              </a:lnSpc>
            </a:pPr>
            <a:r>
              <a:rPr lang="en-US" sz="1800" spc="37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9207" y="1297072"/>
            <a:ext cx="2647603" cy="149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"/>
              </a:lnSpc>
            </a:pPr>
            <a:r>
              <a:rPr lang="en-US" sz="975" spc="225" b="true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10192" y="-7896"/>
            <a:ext cx="5245875" cy="4047563"/>
          </a:xfrm>
          <a:custGeom>
            <a:avLst/>
            <a:gdLst/>
            <a:ahLst/>
            <a:cxnLst/>
            <a:rect r="r" b="b" t="t" l="l"/>
            <a:pathLst>
              <a:path h="4047563" w="5245875">
                <a:moveTo>
                  <a:pt x="0" y="0"/>
                </a:moveTo>
                <a:lnTo>
                  <a:pt x="5245875" y="0"/>
                </a:lnTo>
                <a:lnTo>
                  <a:pt x="5245875" y="4047563"/>
                </a:lnTo>
                <a:lnTo>
                  <a:pt x="0" y="4047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86973" y="4395892"/>
            <a:ext cx="5389207" cy="5904709"/>
          </a:xfrm>
          <a:custGeom>
            <a:avLst/>
            <a:gdLst/>
            <a:ahLst/>
            <a:cxnLst/>
            <a:rect r="r" b="b" t="t" l="l"/>
            <a:pathLst>
              <a:path h="5904709" w="5389207">
                <a:moveTo>
                  <a:pt x="0" y="0"/>
                </a:moveTo>
                <a:lnTo>
                  <a:pt x="5389206" y="0"/>
                </a:lnTo>
                <a:lnTo>
                  <a:pt x="5389206" y="5904710"/>
                </a:lnTo>
                <a:lnTo>
                  <a:pt x="0" y="5904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460735"/>
            <a:ext cx="18276179" cy="839876"/>
          </a:xfrm>
          <a:custGeom>
            <a:avLst/>
            <a:gdLst/>
            <a:ahLst/>
            <a:cxnLst/>
            <a:rect r="r" b="b" t="t" l="l"/>
            <a:pathLst>
              <a:path h="839876" w="18276179">
                <a:moveTo>
                  <a:pt x="0" y="0"/>
                </a:moveTo>
                <a:lnTo>
                  <a:pt x="18276179" y="0"/>
                </a:lnTo>
                <a:lnTo>
                  <a:pt x="18276179" y="839876"/>
                </a:lnTo>
                <a:lnTo>
                  <a:pt x="0" y="839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33129" y="3862807"/>
            <a:ext cx="776849" cy="921515"/>
          </a:xfrm>
          <a:custGeom>
            <a:avLst/>
            <a:gdLst/>
            <a:ahLst/>
            <a:cxnLst/>
            <a:rect r="r" b="b" t="t" l="l"/>
            <a:pathLst>
              <a:path h="921515" w="776849">
                <a:moveTo>
                  <a:pt x="0" y="0"/>
                </a:moveTo>
                <a:lnTo>
                  <a:pt x="776850" y="0"/>
                </a:lnTo>
                <a:lnTo>
                  <a:pt x="776850" y="921515"/>
                </a:lnTo>
                <a:lnTo>
                  <a:pt x="0" y="9215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9177" y="6328696"/>
            <a:ext cx="3904335" cy="86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0"/>
              </a:lnSpc>
            </a:pPr>
            <a:r>
              <a:rPr lang="en-US" sz="2478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ABEL GUEVARA HUASCO</a:t>
            </a:r>
          </a:p>
          <a:p>
            <a:pPr algn="ctr">
              <a:lnSpc>
                <a:spcPts val="3470"/>
              </a:lnSpc>
            </a:pPr>
            <a:r>
              <a:rPr lang="en-US" sz="2478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2026 - 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46185" y="6280934"/>
            <a:ext cx="4468749" cy="86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0"/>
              </a:lnSpc>
            </a:pPr>
            <a:r>
              <a:rPr lang="en-US" sz="2478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VERONICA VERGARA ROJAS </a:t>
            </a:r>
          </a:p>
          <a:p>
            <a:pPr algn="ctr">
              <a:lnSpc>
                <a:spcPts val="3470"/>
              </a:lnSpc>
            </a:pPr>
            <a:r>
              <a:rPr lang="en-US" sz="2478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2026 - IX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62805" y="2725845"/>
            <a:ext cx="3824460" cy="3842801"/>
            <a:chOff x="0" y="0"/>
            <a:chExt cx="5099280" cy="5123735"/>
          </a:xfrm>
        </p:grpSpPr>
        <p:sp>
          <p:nvSpPr>
            <p:cNvPr name="Freeform 9" id="9"/>
            <p:cNvSpPr/>
            <p:nvPr/>
          </p:nvSpPr>
          <p:spPr>
            <a:xfrm flipH="false" flipV="false" rot="-4202400">
              <a:off x="574383" y="590829"/>
              <a:ext cx="3950513" cy="3990416"/>
            </a:xfrm>
            <a:custGeom>
              <a:avLst/>
              <a:gdLst/>
              <a:ahLst/>
              <a:cxnLst/>
              <a:rect r="r" b="b" t="t" l="l"/>
              <a:pathLst>
                <a:path h="3990416" w="3950513">
                  <a:moveTo>
                    <a:pt x="0" y="0"/>
                  </a:moveTo>
                  <a:lnTo>
                    <a:pt x="3950513" y="0"/>
                  </a:lnTo>
                  <a:lnTo>
                    <a:pt x="3950513" y="3990417"/>
                  </a:lnTo>
                  <a:lnTo>
                    <a:pt x="0" y="3990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505" t="0" r="-505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665493" y="0"/>
              <a:ext cx="4242537" cy="4242537"/>
              <a:chOff x="0" y="0"/>
              <a:chExt cx="4242537" cy="424253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242562" cy="4242562"/>
              </a:xfrm>
              <a:custGeom>
                <a:avLst/>
                <a:gdLst/>
                <a:ahLst/>
                <a:cxnLst/>
                <a:rect r="r" b="b" t="t" l="l"/>
                <a:pathLst>
                  <a:path h="4242562" w="4242562">
                    <a:moveTo>
                      <a:pt x="2121281" y="0"/>
                    </a:moveTo>
                    <a:cubicBezTo>
                      <a:pt x="949706" y="0"/>
                      <a:pt x="0" y="949706"/>
                      <a:pt x="0" y="2121281"/>
                    </a:cubicBezTo>
                    <a:cubicBezTo>
                      <a:pt x="0" y="3292856"/>
                      <a:pt x="949706" y="4242562"/>
                      <a:pt x="2121281" y="4242562"/>
                    </a:cubicBezTo>
                    <a:cubicBezTo>
                      <a:pt x="3292856" y="4242562"/>
                      <a:pt x="4242562" y="3292856"/>
                      <a:pt x="4242562" y="2121281"/>
                    </a:cubicBezTo>
                    <a:cubicBezTo>
                      <a:pt x="4242562" y="949706"/>
                      <a:pt x="3292856" y="0"/>
                      <a:pt x="2121281" y="0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0" t="-4058" r="0" b="-4058"/>
                </a:stretch>
              </a:blip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11711802" y="2689593"/>
            <a:ext cx="3824460" cy="3842801"/>
            <a:chOff x="0" y="0"/>
            <a:chExt cx="5099280" cy="5123735"/>
          </a:xfrm>
        </p:grpSpPr>
        <p:sp>
          <p:nvSpPr>
            <p:cNvPr name="Freeform 13" id="13"/>
            <p:cNvSpPr/>
            <p:nvPr/>
          </p:nvSpPr>
          <p:spPr>
            <a:xfrm flipH="false" flipV="false" rot="-4202400">
              <a:off x="574383" y="590829"/>
              <a:ext cx="3950513" cy="3990416"/>
            </a:xfrm>
            <a:custGeom>
              <a:avLst/>
              <a:gdLst/>
              <a:ahLst/>
              <a:cxnLst/>
              <a:rect r="r" b="b" t="t" l="l"/>
              <a:pathLst>
                <a:path h="3990416" w="3950513">
                  <a:moveTo>
                    <a:pt x="0" y="0"/>
                  </a:moveTo>
                  <a:lnTo>
                    <a:pt x="3950513" y="0"/>
                  </a:lnTo>
                  <a:lnTo>
                    <a:pt x="3950513" y="3990417"/>
                  </a:lnTo>
                  <a:lnTo>
                    <a:pt x="0" y="3990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505" t="0" r="-505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665480" y="0"/>
              <a:ext cx="4242537" cy="4242537"/>
              <a:chOff x="0" y="0"/>
              <a:chExt cx="4242537" cy="424253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242562" cy="4242562"/>
              </a:xfrm>
              <a:custGeom>
                <a:avLst/>
                <a:gdLst/>
                <a:ahLst/>
                <a:cxnLst/>
                <a:rect r="r" b="b" t="t" l="l"/>
                <a:pathLst>
                  <a:path h="4242562" w="4242562">
                    <a:moveTo>
                      <a:pt x="2121281" y="0"/>
                    </a:moveTo>
                    <a:cubicBezTo>
                      <a:pt x="949706" y="0"/>
                      <a:pt x="0" y="949706"/>
                      <a:pt x="0" y="2121281"/>
                    </a:cubicBezTo>
                    <a:cubicBezTo>
                      <a:pt x="0" y="3292856"/>
                      <a:pt x="949706" y="4242562"/>
                      <a:pt x="2121281" y="4242562"/>
                    </a:cubicBezTo>
                    <a:cubicBezTo>
                      <a:pt x="3292856" y="4242562"/>
                      <a:pt x="4242562" y="3292856"/>
                      <a:pt x="4242562" y="2121281"/>
                    </a:cubicBezTo>
                    <a:cubicBezTo>
                      <a:pt x="4242562" y="949706"/>
                      <a:pt x="3292856" y="0"/>
                      <a:pt x="2121281" y="0"/>
                    </a:cubicBezTo>
                    <a:close/>
                  </a:path>
                </a:pathLst>
              </a:custGeom>
              <a:blipFill>
                <a:blip r:embed="rId13"/>
                <a:stretch>
                  <a:fillRect l="0" t="-16666" r="0" b="-16666"/>
                </a:stretch>
              </a:blipFill>
            </p:spPr>
          </p:sp>
        </p:grpSp>
      </p:grpSp>
      <p:grpSp>
        <p:nvGrpSpPr>
          <p:cNvPr name="Group 16" id="16"/>
          <p:cNvGrpSpPr/>
          <p:nvPr/>
        </p:nvGrpSpPr>
        <p:grpSpPr>
          <a:xfrm rot="0">
            <a:off x="6368329" y="2725845"/>
            <a:ext cx="3824460" cy="3842801"/>
            <a:chOff x="0" y="0"/>
            <a:chExt cx="5099280" cy="5123735"/>
          </a:xfrm>
        </p:grpSpPr>
        <p:sp>
          <p:nvSpPr>
            <p:cNvPr name="Freeform 17" id="17"/>
            <p:cNvSpPr/>
            <p:nvPr/>
          </p:nvSpPr>
          <p:spPr>
            <a:xfrm flipH="false" flipV="false" rot="-4202400">
              <a:off x="574383" y="590829"/>
              <a:ext cx="3950513" cy="3990416"/>
            </a:xfrm>
            <a:custGeom>
              <a:avLst/>
              <a:gdLst/>
              <a:ahLst/>
              <a:cxnLst/>
              <a:rect r="r" b="b" t="t" l="l"/>
              <a:pathLst>
                <a:path h="3990416" w="3950513">
                  <a:moveTo>
                    <a:pt x="0" y="0"/>
                  </a:moveTo>
                  <a:lnTo>
                    <a:pt x="3950513" y="0"/>
                  </a:lnTo>
                  <a:lnTo>
                    <a:pt x="3950513" y="3990417"/>
                  </a:lnTo>
                  <a:lnTo>
                    <a:pt x="0" y="3990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505" t="0" r="-505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665493" y="0"/>
              <a:ext cx="4242537" cy="4242537"/>
              <a:chOff x="0" y="0"/>
              <a:chExt cx="4242537" cy="424253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242562" cy="4242562"/>
              </a:xfrm>
              <a:custGeom>
                <a:avLst/>
                <a:gdLst/>
                <a:ahLst/>
                <a:cxnLst/>
                <a:rect r="r" b="b" t="t" l="l"/>
                <a:pathLst>
                  <a:path h="4242562" w="4242562">
                    <a:moveTo>
                      <a:pt x="2121281" y="0"/>
                    </a:moveTo>
                    <a:cubicBezTo>
                      <a:pt x="949706" y="0"/>
                      <a:pt x="0" y="949706"/>
                      <a:pt x="0" y="2121281"/>
                    </a:cubicBezTo>
                    <a:cubicBezTo>
                      <a:pt x="0" y="3292856"/>
                      <a:pt x="949706" y="4242562"/>
                      <a:pt x="2121281" y="4242562"/>
                    </a:cubicBezTo>
                    <a:cubicBezTo>
                      <a:pt x="3292856" y="4242562"/>
                      <a:pt x="4242562" y="3292856"/>
                      <a:pt x="4242562" y="2121281"/>
                    </a:cubicBezTo>
                    <a:cubicBezTo>
                      <a:pt x="4242562" y="949706"/>
                      <a:pt x="3292856" y="0"/>
                      <a:pt x="2121281" y="0"/>
                    </a:cubicBezTo>
                    <a:close/>
                  </a:path>
                </a:pathLst>
              </a:custGeom>
              <a:blipFill>
                <a:blip r:embed="rId14"/>
                <a:stretch>
                  <a:fillRect l="-11019" t="-7628" r="-7628" b="-11019"/>
                </a:stretch>
              </a:blipFill>
            </p:spPr>
          </p:sp>
        </p:grpSp>
      </p:grpSp>
      <p:sp>
        <p:nvSpPr>
          <p:cNvPr name="TextBox 20" id="20"/>
          <p:cNvSpPr txBox="true"/>
          <p:nvPr/>
        </p:nvSpPr>
        <p:spPr>
          <a:xfrm rot="0">
            <a:off x="1028700" y="1466850"/>
            <a:ext cx="10954588" cy="71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3"/>
              </a:lnSpc>
            </a:pPr>
            <a:r>
              <a:rPr lang="en-US" sz="757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EQUIPO DE TRABAJO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424" y="9799625"/>
            <a:ext cx="582584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72183" y="6280934"/>
            <a:ext cx="4585487" cy="86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0"/>
              </a:lnSpc>
            </a:pPr>
            <a:r>
              <a:rPr lang="en-US" sz="2478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PAMELA VALLEJOS COTRINA</a:t>
            </a:r>
          </a:p>
          <a:p>
            <a:pPr algn="ctr">
              <a:lnSpc>
                <a:spcPts val="3470"/>
              </a:lnSpc>
            </a:pPr>
            <a:r>
              <a:rPr lang="en-US" sz="2478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2026 </a:t>
            </a:r>
            <a:r>
              <a:rPr lang="en-US" sz="2478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- IX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727151" y="972986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1709" y="1082821"/>
            <a:ext cx="12406015" cy="111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2"/>
              </a:lnSpc>
            </a:pPr>
            <a:r>
              <a:rPr lang="en-US" sz="8925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INDICE DE CONTENIDO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622112" y="3000467"/>
            <a:ext cx="4775940" cy="1488119"/>
            <a:chOff x="0" y="0"/>
            <a:chExt cx="6367920" cy="198415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2735961" y="359730"/>
              <a:ext cx="3631959" cy="63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6"/>
                </a:lnSpc>
              </a:pPr>
              <a:r>
                <a:rPr lang="en-US" sz="2797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Problema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1984159" cy="1984159"/>
              <a:chOff x="0" y="0"/>
              <a:chExt cx="1984159" cy="198415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-64" y="-64"/>
                <a:ext cx="1984248" cy="1984248"/>
              </a:xfrm>
              <a:custGeom>
                <a:avLst/>
                <a:gdLst/>
                <a:ahLst/>
                <a:cxnLst/>
                <a:rect r="r" b="b" t="t" l="l"/>
                <a:pathLst>
                  <a:path h="1984248" w="1984248">
                    <a:moveTo>
                      <a:pt x="1315403" y="133922"/>
                    </a:moveTo>
                    <a:lnTo>
                      <a:pt x="1850327" y="668846"/>
                    </a:lnTo>
                    <a:cubicBezTo>
                      <a:pt x="2028889" y="847408"/>
                      <a:pt x="2028889" y="1136841"/>
                      <a:pt x="1850327" y="1315403"/>
                    </a:cubicBezTo>
                    <a:lnTo>
                      <a:pt x="1315403" y="1850327"/>
                    </a:lnTo>
                    <a:cubicBezTo>
                      <a:pt x="1136841" y="2028889"/>
                      <a:pt x="847408" y="2028889"/>
                      <a:pt x="668846" y="1850327"/>
                    </a:cubicBezTo>
                    <a:lnTo>
                      <a:pt x="133922" y="1315403"/>
                    </a:lnTo>
                    <a:cubicBezTo>
                      <a:pt x="-44640" y="1136841"/>
                      <a:pt x="-44640" y="847408"/>
                      <a:pt x="133922" y="668846"/>
                    </a:cubicBezTo>
                    <a:lnTo>
                      <a:pt x="668846" y="133922"/>
                    </a:lnTo>
                    <a:cubicBezTo>
                      <a:pt x="847408" y="-44640"/>
                      <a:pt x="1136841" y="-44640"/>
                      <a:pt x="1315403" y="133922"/>
                    </a:cubicBezTo>
                    <a:close/>
                  </a:path>
                </a:pathLst>
              </a:custGeom>
              <a:solidFill>
                <a:srgbClr val="F8A900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16738" y="78295"/>
              <a:ext cx="1550670" cy="1689113"/>
              <a:chOff x="0" y="0"/>
              <a:chExt cx="1550670" cy="168911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550665" cy="1689118"/>
              </a:xfrm>
              <a:custGeom>
                <a:avLst/>
                <a:gdLst/>
                <a:ahLst/>
                <a:cxnLst/>
                <a:rect r="r" b="b" t="t" l="l"/>
                <a:pathLst>
                  <a:path h="1689118" w="1550665">
                    <a:moveTo>
                      <a:pt x="0" y="0"/>
                    </a:moveTo>
                    <a:lnTo>
                      <a:pt x="1550665" y="0"/>
                    </a:lnTo>
                    <a:lnTo>
                      <a:pt x="1550665" y="1689118"/>
                    </a:lnTo>
                    <a:lnTo>
                      <a:pt x="0" y="168911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89758" t="0" r="-89758" b="0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1550670" cy="17367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7"/>
                  </a:lnSpc>
                </a:pPr>
                <a:r>
                  <a:rPr lang="en-US" sz="2398">
                    <a:solidFill>
                      <a:srgbClr val="F7F7F7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01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-4932921" y="2578922"/>
            <a:ext cx="10555034" cy="10545080"/>
            <a:chOff x="0" y="0"/>
            <a:chExt cx="14073378" cy="140601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32"/>
              <a:ext cx="14073378" cy="14060107"/>
            </a:xfrm>
            <a:custGeom>
              <a:avLst/>
              <a:gdLst/>
              <a:ahLst/>
              <a:cxnLst/>
              <a:rect r="r" b="b" t="t" l="l"/>
              <a:pathLst>
                <a:path h="14060107" w="14073378">
                  <a:moveTo>
                    <a:pt x="7856982" y="339566"/>
                  </a:moveTo>
                  <a:lnTo>
                    <a:pt x="13733653" y="6210522"/>
                  </a:lnTo>
                  <a:cubicBezTo>
                    <a:pt x="13951204" y="6427819"/>
                    <a:pt x="14073378" y="6722586"/>
                    <a:pt x="14073378" y="7030053"/>
                  </a:cubicBezTo>
                  <a:cubicBezTo>
                    <a:pt x="14073378" y="7337520"/>
                    <a:pt x="13951204" y="7632287"/>
                    <a:pt x="13733653" y="7849584"/>
                  </a:cubicBezTo>
                  <a:lnTo>
                    <a:pt x="7856982" y="13720540"/>
                  </a:lnTo>
                  <a:cubicBezTo>
                    <a:pt x="7403719" y="14173295"/>
                    <a:pt x="6669405" y="14173295"/>
                    <a:pt x="6216269" y="13720540"/>
                  </a:cubicBezTo>
                  <a:lnTo>
                    <a:pt x="339725" y="7849584"/>
                  </a:lnTo>
                  <a:cubicBezTo>
                    <a:pt x="122174" y="7632287"/>
                    <a:pt x="0" y="7337393"/>
                    <a:pt x="0" y="7030053"/>
                  </a:cubicBezTo>
                  <a:cubicBezTo>
                    <a:pt x="0" y="6722713"/>
                    <a:pt x="122174" y="6427819"/>
                    <a:pt x="339725" y="6210522"/>
                  </a:cubicBezTo>
                  <a:lnTo>
                    <a:pt x="6216396" y="339566"/>
                  </a:lnTo>
                  <a:cubicBezTo>
                    <a:pt x="6669532" y="-113189"/>
                    <a:pt x="7403847" y="-113189"/>
                    <a:pt x="7857110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-3406864" y="2546785"/>
            <a:ext cx="8353777" cy="8508816"/>
          </a:xfrm>
          <a:custGeom>
            <a:avLst/>
            <a:gdLst/>
            <a:ahLst/>
            <a:cxnLst/>
            <a:rect r="r" b="b" t="t" l="l"/>
            <a:pathLst>
              <a:path h="8508816" w="8353777">
                <a:moveTo>
                  <a:pt x="0" y="0"/>
                </a:moveTo>
                <a:lnTo>
                  <a:pt x="8353778" y="0"/>
                </a:lnTo>
                <a:lnTo>
                  <a:pt x="8353778" y="8508816"/>
                </a:lnTo>
                <a:lnTo>
                  <a:pt x="0" y="85088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64766" y="9588923"/>
            <a:ext cx="556830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622112" y="4733091"/>
            <a:ext cx="3899718" cy="1488119"/>
            <a:chOff x="0" y="0"/>
            <a:chExt cx="5199623" cy="198415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84159" cy="1984159"/>
              <a:chOff x="0" y="0"/>
              <a:chExt cx="1984159" cy="198415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-64" y="-64"/>
                <a:ext cx="1984248" cy="1984248"/>
              </a:xfrm>
              <a:custGeom>
                <a:avLst/>
                <a:gdLst/>
                <a:ahLst/>
                <a:cxnLst/>
                <a:rect r="r" b="b" t="t" l="l"/>
                <a:pathLst>
                  <a:path h="1984248" w="1984248">
                    <a:moveTo>
                      <a:pt x="1315403" y="133922"/>
                    </a:moveTo>
                    <a:lnTo>
                      <a:pt x="1850327" y="668846"/>
                    </a:lnTo>
                    <a:cubicBezTo>
                      <a:pt x="2028889" y="847408"/>
                      <a:pt x="2028889" y="1136841"/>
                      <a:pt x="1850327" y="1315403"/>
                    </a:cubicBezTo>
                    <a:lnTo>
                      <a:pt x="1315403" y="1850327"/>
                    </a:lnTo>
                    <a:cubicBezTo>
                      <a:pt x="1136841" y="2028889"/>
                      <a:pt x="847408" y="2028889"/>
                      <a:pt x="668846" y="1850327"/>
                    </a:cubicBezTo>
                    <a:lnTo>
                      <a:pt x="133922" y="1315403"/>
                    </a:lnTo>
                    <a:cubicBezTo>
                      <a:pt x="-44640" y="1136841"/>
                      <a:pt x="-44640" y="847408"/>
                      <a:pt x="133922" y="668846"/>
                    </a:cubicBezTo>
                    <a:lnTo>
                      <a:pt x="668846" y="133922"/>
                    </a:lnTo>
                    <a:cubicBezTo>
                      <a:pt x="847408" y="-44640"/>
                      <a:pt x="1136841" y="-44640"/>
                      <a:pt x="1315403" y="133922"/>
                    </a:cubicBezTo>
                    <a:close/>
                  </a:path>
                </a:pathLst>
              </a:custGeom>
              <a:solidFill>
                <a:srgbClr val="F8A900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216738" y="78295"/>
              <a:ext cx="1550670" cy="1689113"/>
              <a:chOff x="0" y="0"/>
              <a:chExt cx="1550670" cy="168911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550665" cy="1689118"/>
              </a:xfrm>
              <a:custGeom>
                <a:avLst/>
                <a:gdLst/>
                <a:ahLst/>
                <a:cxnLst/>
                <a:rect r="r" b="b" t="t" l="l"/>
                <a:pathLst>
                  <a:path h="1689118" w="1550665">
                    <a:moveTo>
                      <a:pt x="0" y="0"/>
                    </a:moveTo>
                    <a:lnTo>
                      <a:pt x="1550665" y="0"/>
                    </a:lnTo>
                    <a:lnTo>
                      <a:pt x="1550665" y="1689118"/>
                    </a:lnTo>
                    <a:lnTo>
                      <a:pt x="0" y="168911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89758" t="0" r="-89758" b="0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550670" cy="17367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7"/>
                  </a:lnSpc>
                </a:pPr>
                <a:r>
                  <a:rPr lang="en-US" sz="2398">
                    <a:solidFill>
                      <a:srgbClr val="F7F7F7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02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735961" y="553707"/>
              <a:ext cx="2463662" cy="63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6"/>
                </a:lnSpc>
              </a:pPr>
              <a:r>
                <a:rPr lang="en-US" sz="2797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Objetivos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622112" y="6468860"/>
            <a:ext cx="4510959" cy="1488119"/>
            <a:chOff x="0" y="0"/>
            <a:chExt cx="6014612" cy="1984159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984159" cy="1984159"/>
              <a:chOff x="0" y="0"/>
              <a:chExt cx="1984159" cy="198415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-64" y="-64"/>
                <a:ext cx="1984248" cy="1984248"/>
              </a:xfrm>
              <a:custGeom>
                <a:avLst/>
                <a:gdLst/>
                <a:ahLst/>
                <a:cxnLst/>
                <a:rect r="r" b="b" t="t" l="l"/>
                <a:pathLst>
                  <a:path h="1984248" w="1984248">
                    <a:moveTo>
                      <a:pt x="1315403" y="133922"/>
                    </a:moveTo>
                    <a:lnTo>
                      <a:pt x="1850327" y="668846"/>
                    </a:lnTo>
                    <a:cubicBezTo>
                      <a:pt x="2028889" y="847408"/>
                      <a:pt x="2028889" y="1136841"/>
                      <a:pt x="1850327" y="1315403"/>
                    </a:cubicBezTo>
                    <a:lnTo>
                      <a:pt x="1315403" y="1850327"/>
                    </a:lnTo>
                    <a:cubicBezTo>
                      <a:pt x="1136841" y="2028889"/>
                      <a:pt x="847408" y="2028889"/>
                      <a:pt x="668846" y="1850327"/>
                    </a:cubicBezTo>
                    <a:lnTo>
                      <a:pt x="133922" y="1315403"/>
                    </a:lnTo>
                    <a:cubicBezTo>
                      <a:pt x="-44640" y="1136841"/>
                      <a:pt x="-44640" y="847408"/>
                      <a:pt x="133922" y="668846"/>
                    </a:cubicBezTo>
                    <a:lnTo>
                      <a:pt x="668846" y="133922"/>
                    </a:lnTo>
                    <a:cubicBezTo>
                      <a:pt x="847408" y="-44640"/>
                      <a:pt x="1136841" y="-44640"/>
                      <a:pt x="1315403" y="133922"/>
                    </a:cubicBezTo>
                    <a:close/>
                  </a:path>
                </a:pathLst>
              </a:custGeom>
              <a:solidFill>
                <a:srgbClr val="F8A900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16738" y="78296"/>
              <a:ext cx="1550670" cy="1689113"/>
              <a:chOff x="0" y="0"/>
              <a:chExt cx="1550670" cy="168911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550665" cy="1689118"/>
              </a:xfrm>
              <a:custGeom>
                <a:avLst/>
                <a:gdLst/>
                <a:ahLst/>
                <a:cxnLst/>
                <a:rect r="r" b="b" t="t" l="l"/>
                <a:pathLst>
                  <a:path h="1689118" w="1550665">
                    <a:moveTo>
                      <a:pt x="0" y="0"/>
                    </a:moveTo>
                    <a:lnTo>
                      <a:pt x="1550665" y="0"/>
                    </a:lnTo>
                    <a:lnTo>
                      <a:pt x="1550665" y="1689118"/>
                    </a:lnTo>
                    <a:lnTo>
                      <a:pt x="0" y="168911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89758" t="0" r="-89758" b="0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1550670" cy="17367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7"/>
                  </a:lnSpc>
                </a:pPr>
                <a:r>
                  <a:rPr lang="en-US" sz="2398">
                    <a:solidFill>
                      <a:srgbClr val="F7F7F7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03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735961" y="562420"/>
              <a:ext cx="3278651" cy="63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6"/>
                </a:lnSpc>
              </a:pPr>
              <a:r>
                <a:rPr lang="en-US" sz="2797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Metodología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98823" y="3000467"/>
            <a:ext cx="5582074" cy="1488119"/>
            <a:chOff x="0" y="0"/>
            <a:chExt cx="7442766" cy="198415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984159" cy="1984159"/>
              <a:chOff x="0" y="0"/>
              <a:chExt cx="1984159" cy="198415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-64" y="-64"/>
                <a:ext cx="1984248" cy="1984248"/>
              </a:xfrm>
              <a:custGeom>
                <a:avLst/>
                <a:gdLst/>
                <a:ahLst/>
                <a:cxnLst/>
                <a:rect r="r" b="b" t="t" l="l"/>
                <a:pathLst>
                  <a:path h="1984248" w="1984248">
                    <a:moveTo>
                      <a:pt x="1315403" y="133922"/>
                    </a:moveTo>
                    <a:lnTo>
                      <a:pt x="1850327" y="668846"/>
                    </a:lnTo>
                    <a:cubicBezTo>
                      <a:pt x="2028889" y="847408"/>
                      <a:pt x="2028889" y="1136841"/>
                      <a:pt x="1850327" y="1315403"/>
                    </a:cubicBezTo>
                    <a:lnTo>
                      <a:pt x="1315403" y="1850327"/>
                    </a:lnTo>
                    <a:cubicBezTo>
                      <a:pt x="1136841" y="2028889"/>
                      <a:pt x="847408" y="2028889"/>
                      <a:pt x="668846" y="1850327"/>
                    </a:cubicBezTo>
                    <a:lnTo>
                      <a:pt x="133922" y="1315403"/>
                    </a:lnTo>
                    <a:cubicBezTo>
                      <a:pt x="-44640" y="1136841"/>
                      <a:pt x="-44640" y="847408"/>
                      <a:pt x="133922" y="668846"/>
                    </a:cubicBezTo>
                    <a:lnTo>
                      <a:pt x="668846" y="133922"/>
                    </a:lnTo>
                    <a:cubicBezTo>
                      <a:pt x="847408" y="-44640"/>
                      <a:pt x="1136841" y="-44640"/>
                      <a:pt x="1315403" y="133922"/>
                    </a:cubicBezTo>
                    <a:close/>
                  </a:path>
                </a:pathLst>
              </a:custGeom>
              <a:solidFill>
                <a:srgbClr val="F8A900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216738" y="78296"/>
              <a:ext cx="1550670" cy="1689118"/>
              <a:chOff x="0" y="0"/>
              <a:chExt cx="1550670" cy="168911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550665" cy="1689123"/>
              </a:xfrm>
              <a:custGeom>
                <a:avLst/>
                <a:gdLst/>
                <a:ahLst/>
                <a:cxnLst/>
                <a:rect r="r" b="b" t="t" l="l"/>
                <a:pathLst>
                  <a:path h="1689123" w="1550665">
                    <a:moveTo>
                      <a:pt x="0" y="0"/>
                    </a:moveTo>
                    <a:lnTo>
                      <a:pt x="1550665" y="0"/>
                    </a:lnTo>
                    <a:lnTo>
                      <a:pt x="1550665" y="1689123"/>
                    </a:lnTo>
                    <a:lnTo>
                      <a:pt x="0" y="168912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89758" t="0" r="-89758" b="0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1550670" cy="173674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7"/>
                  </a:lnSpc>
                </a:pPr>
                <a:r>
                  <a:rPr lang="en-US" sz="2398">
                    <a:solidFill>
                      <a:srgbClr val="F7F7F7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04</a:t>
                </a: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735961" y="562420"/>
              <a:ext cx="4706805" cy="63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6"/>
                </a:lnSpc>
              </a:pPr>
              <a:r>
                <a:rPr lang="en-US" sz="2797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Producto Ingenieril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298823" y="4841011"/>
            <a:ext cx="4156294" cy="1488119"/>
            <a:chOff x="0" y="0"/>
            <a:chExt cx="5541725" cy="1984159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984159" cy="1984159"/>
              <a:chOff x="0" y="0"/>
              <a:chExt cx="1984159" cy="1984159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-64" y="-64"/>
                <a:ext cx="1984248" cy="1984248"/>
              </a:xfrm>
              <a:custGeom>
                <a:avLst/>
                <a:gdLst/>
                <a:ahLst/>
                <a:cxnLst/>
                <a:rect r="r" b="b" t="t" l="l"/>
                <a:pathLst>
                  <a:path h="1984248" w="1984248">
                    <a:moveTo>
                      <a:pt x="1315403" y="133922"/>
                    </a:moveTo>
                    <a:lnTo>
                      <a:pt x="1850327" y="668846"/>
                    </a:lnTo>
                    <a:cubicBezTo>
                      <a:pt x="2028889" y="847408"/>
                      <a:pt x="2028889" y="1136841"/>
                      <a:pt x="1850327" y="1315403"/>
                    </a:cubicBezTo>
                    <a:lnTo>
                      <a:pt x="1315403" y="1850327"/>
                    </a:lnTo>
                    <a:cubicBezTo>
                      <a:pt x="1136841" y="2028889"/>
                      <a:pt x="847408" y="2028889"/>
                      <a:pt x="668846" y="1850327"/>
                    </a:cubicBezTo>
                    <a:lnTo>
                      <a:pt x="133922" y="1315403"/>
                    </a:lnTo>
                    <a:cubicBezTo>
                      <a:pt x="-44640" y="1136841"/>
                      <a:pt x="-44640" y="847408"/>
                      <a:pt x="133922" y="668846"/>
                    </a:cubicBezTo>
                    <a:lnTo>
                      <a:pt x="668846" y="133922"/>
                    </a:lnTo>
                    <a:cubicBezTo>
                      <a:pt x="847408" y="-44640"/>
                      <a:pt x="1136841" y="-44640"/>
                      <a:pt x="1315403" y="133922"/>
                    </a:cubicBezTo>
                    <a:close/>
                  </a:path>
                </a:pathLst>
              </a:custGeom>
              <a:solidFill>
                <a:srgbClr val="F8A900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216738" y="78295"/>
              <a:ext cx="1550670" cy="1689118"/>
              <a:chOff x="0" y="0"/>
              <a:chExt cx="1550670" cy="168911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550665" cy="1689123"/>
              </a:xfrm>
              <a:custGeom>
                <a:avLst/>
                <a:gdLst/>
                <a:ahLst/>
                <a:cxnLst/>
                <a:rect r="r" b="b" t="t" l="l"/>
                <a:pathLst>
                  <a:path h="1689123" w="1550665">
                    <a:moveTo>
                      <a:pt x="0" y="0"/>
                    </a:moveTo>
                    <a:lnTo>
                      <a:pt x="1550665" y="0"/>
                    </a:lnTo>
                    <a:lnTo>
                      <a:pt x="1550665" y="1689123"/>
                    </a:lnTo>
                    <a:lnTo>
                      <a:pt x="0" y="168912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89758" t="0" r="-89758" b="0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1550670" cy="173674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7"/>
                  </a:lnSpc>
                </a:pPr>
                <a:r>
                  <a:rPr lang="en-US" sz="2398">
                    <a:solidFill>
                      <a:srgbClr val="F7F7F7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05</a:t>
                </a: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2735961" y="562419"/>
              <a:ext cx="2805764" cy="63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6"/>
                </a:lnSpc>
              </a:pPr>
              <a:r>
                <a:rPr lang="en-US" sz="2797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Resultados 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298823" y="6468860"/>
            <a:ext cx="4535017" cy="1488119"/>
            <a:chOff x="0" y="0"/>
            <a:chExt cx="6046689" cy="1984159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984159" cy="1984159"/>
              <a:chOff x="0" y="0"/>
              <a:chExt cx="1984159" cy="1984159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-64" y="-64"/>
                <a:ext cx="1984248" cy="1984248"/>
              </a:xfrm>
              <a:custGeom>
                <a:avLst/>
                <a:gdLst/>
                <a:ahLst/>
                <a:cxnLst/>
                <a:rect r="r" b="b" t="t" l="l"/>
                <a:pathLst>
                  <a:path h="1984248" w="1984248">
                    <a:moveTo>
                      <a:pt x="1315403" y="133922"/>
                    </a:moveTo>
                    <a:lnTo>
                      <a:pt x="1850327" y="668846"/>
                    </a:lnTo>
                    <a:cubicBezTo>
                      <a:pt x="2028889" y="847408"/>
                      <a:pt x="2028889" y="1136841"/>
                      <a:pt x="1850327" y="1315403"/>
                    </a:cubicBezTo>
                    <a:lnTo>
                      <a:pt x="1315403" y="1850327"/>
                    </a:lnTo>
                    <a:cubicBezTo>
                      <a:pt x="1136841" y="2028889"/>
                      <a:pt x="847408" y="2028889"/>
                      <a:pt x="668846" y="1850327"/>
                    </a:cubicBezTo>
                    <a:lnTo>
                      <a:pt x="133922" y="1315403"/>
                    </a:lnTo>
                    <a:cubicBezTo>
                      <a:pt x="-44640" y="1136841"/>
                      <a:pt x="-44640" y="847408"/>
                      <a:pt x="133922" y="668846"/>
                    </a:cubicBezTo>
                    <a:lnTo>
                      <a:pt x="668846" y="133922"/>
                    </a:lnTo>
                    <a:cubicBezTo>
                      <a:pt x="847408" y="-44640"/>
                      <a:pt x="1136841" y="-44640"/>
                      <a:pt x="1315403" y="133922"/>
                    </a:cubicBezTo>
                    <a:close/>
                  </a:path>
                </a:pathLst>
              </a:custGeom>
              <a:solidFill>
                <a:srgbClr val="F8A900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216738" y="78295"/>
              <a:ext cx="1550670" cy="1689118"/>
              <a:chOff x="0" y="0"/>
              <a:chExt cx="1550670" cy="1689118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550665" cy="1689123"/>
              </a:xfrm>
              <a:custGeom>
                <a:avLst/>
                <a:gdLst/>
                <a:ahLst/>
                <a:cxnLst/>
                <a:rect r="r" b="b" t="t" l="l"/>
                <a:pathLst>
                  <a:path h="1689123" w="1550665">
                    <a:moveTo>
                      <a:pt x="0" y="0"/>
                    </a:moveTo>
                    <a:lnTo>
                      <a:pt x="1550665" y="0"/>
                    </a:lnTo>
                    <a:lnTo>
                      <a:pt x="1550665" y="1689123"/>
                    </a:lnTo>
                    <a:lnTo>
                      <a:pt x="0" y="168912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89758" t="0" r="-89758" b="0"/>
                </a:stretch>
              </a:blip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47625"/>
                <a:ext cx="1550670" cy="173674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7"/>
                  </a:lnSpc>
                </a:pPr>
                <a:r>
                  <a:rPr lang="en-US" sz="2398">
                    <a:solidFill>
                      <a:srgbClr val="F7F7F7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06</a:t>
                </a: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2735961" y="562419"/>
              <a:ext cx="3310728" cy="63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6"/>
                </a:lnSpc>
              </a:pPr>
              <a:r>
                <a:rPr lang="en-US" sz="2797" b="true">
                  <a:solidFill>
                    <a:srgbClr val="1E1E1E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Conclusiones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5606774" y="971274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6696" y="281826"/>
            <a:ext cx="19050" cy="836524"/>
            <a:chOff x="0" y="0"/>
            <a:chExt cx="25400" cy="11153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" cy="1115314"/>
            </a:xfrm>
            <a:custGeom>
              <a:avLst/>
              <a:gdLst/>
              <a:ahLst/>
              <a:cxnLst/>
              <a:rect r="r" b="b" t="t" l="l"/>
              <a:pathLst>
                <a:path h="1115314" w="25400">
                  <a:moveTo>
                    <a:pt x="0" y="1115314"/>
                  </a:moveTo>
                  <a:lnTo>
                    <a:pt x="254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5584066" t="0" r="-5584066" b="-4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64699" y="266490"/>
            <a:ext cx="590950" cy="538039"/>
          </a:xfrm>
          <a:custGeom>
            <a:avLst/>
            <a:gdLst/>
            <a:ahLst/>
            <a:cxnLst/>
            <a:rect r="r" b="b" t="t" l="l"/>
            <a:pathLst>
              <a:path h="538039" w="590950">
                <a:moveTo>
                  <a:pt x="0" y="0"/>
                </a:moveTo>
                <a:lnTo>
                  <a:pt x="590950" y="0"/>
                </a:lnTo>
                <a:lnTo>
                  <a:pt x="590950" y="538039"/>
                </a:lnTo>
                <a:lnTo>
                  <a:pt x="0" y="5380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3674" y="839962"/>
            <a:ext cx="992991" cy="256632"/>
          </a:xfrm>
          <a:custGeom>
            <a:avLst/>
            <a:gdLst/>
            <a:ahLst/>
            <a:cxnLst/>
            <a:rect r="r" b="b" t="t" l="l"/>
            <a:pathLst>
              <a:path h="256632" w="992991">
                <a:moveTo>
                  <a:pt x="0" y="0"/>
                </a:moveTo>
                <a:lnTo>
                  <a:pt x="992991" y="0"/>
                </a:lnTo>
                <a:lnTo>
                  <a:pt x="992991" y="256632"/>
                </a:lnTo>
                <a:lnTo>
                  <a:pt x="0" y="256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49394" y="1869148"/>
            <a:ext cx="3681698" cy="3687994"/>
          </a:xfrm>
          <a:custGeom>
            <a:avLst/>
            <a:gdLst/>
            <a:ahLst/>
            <a:cxnLst/>
            <a:rect r="r" b="b" t="t" l="l"/>
            <a:pathLst>
              <a:path h="3687994" w="3681698">
                <a:moveTo>
                  <a:pt x="0" y="0"/>
                </a:moveTo>
                <a:lnTo>
                  <a:pt x="3681699" y="0"/>
                </a:lnTo>
                <a:lnTo>
                  <a:pt x="3681699" y="3687994"/>
                </a:lnTo>
                <a:lnTo>
                  <a:pt x="0" y="36879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6721" y="234201"/>
            <a:ext cx="2858824" cy="57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486" spc="282">
                <a:solidFill>
                  <a:srgbClr val="12315F"/>
                </a:solidFill>
                <a:latin typeface="Prompt Light"/>
                <a:ea typeface="Prompt Light"/>
                <a:cs typeface="Prompt Light"/>
                <a:sym typeface="Prompt Light"/>
              </a:rPr>
              <a:t>INGENIERÍA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721" y="645157"/>
            <a:ext cx="560546" cy="57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b="true" sz="3267" spc="71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78771" y="645157"/>
            <a:ext cx="2162642" cy="57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b="true" sz="3267" spc="98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SISTEMAS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8863" y="1113025"/>
            <a:ext cx="1162622" cy="14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"/>
              </a:lnSpc>
            </a:pPr>
            <a:r>
              <a:rPr lang="en-US" sz="701">
                <a:solidFill>
                  <a:srgbClr val="12315F"/>
                </a:solidFill>
                <a:latin typeface="Arimo"/>
                <a:ea typeface="Arimo"/>
                <a:cs typeface="Arimo"/>
                <a:sym typeface="Arimo"/>
              </a:rPr>
              <a:t>UNIVERSIDAD PERUANA UNIÓN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9460735"/>
            <a:ext cx="18276179" cy="839876"/>
          </a:xfrm>
          <a:custGeom>
            <a:avLst/>
            <a:gdLst/>
            <a:ahLst/>
            <a:cxnLst/>
            <a:rect r="r" b="b" t="t" l="l"/>
            <a:pathLst>
              <a:path h="839876" w="18276179">
                <a:moveTo>
                  <a:pt x="0" y="0"/>
                </a:moveTo>
                <a:lnTo>
                  <a:pt x="18276179" y="0"/>
                </a:lnTo>
                <a:lnTo>
                  <a:pt x="18276179" y="839876"/>
                </a:lnTo>
                <a:lnTo>
                  <a:pt x="0" y="8398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03243" y="9766373"/>
            <a:ext cx="582584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152228" y="5285022"/>
            <a:ext cx="3687699" cy="3687699"/>
          </a:xfrm>
          <a:custGeom>
            <a:avLst/>
            <a:gdLst/>
            <a:ahLst/>
            <a:cxnLst/>
            <a:rect r="r" b="b" t="t" l="l"/>
            <a:pathLst>
              <a:path h="3687699" w="3687699">
                <a:moveTo>
                  <a:pt x="0" y="0"/>
                </a:moveTo>
                <a:lnTo>
                  <a:pt x="3687699" y="0"/>
                </a:lnTo>
                <a:lnTo>
                  <a:pt x="3687699" y="3687699"/>
                </a:lnTo>
                <a:lnTo>
                  <a:pt x="0" y="36876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766998" y="-1551927"/>
            <a:ext cx="3687699" cy="3687699"/>
          </a:xfrm>
          <a:custGeom>
            <a:avLst/>
            <a:gdLst/>
            <a:ahLst/>
            <a:cxnLst/>
            <a:rect r="r" b="b" t="t" l="l"/>
            <a:pathLst>
              <a:path h="3687699" w="3687699">
                <a:moveTo>
                  <a:pt x="0" y="0"/>
                </a:moveTo>
                <a:lnTo>
                  <a:pt x="3687699" y="0"/>
                </a:lnTo>
                <a:lnTo>
                  <a:pt x="3687699" y="3687699"/>
                </a:lnTo>
                <a:lnTo>
                  <a:pt x="0" y="36876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43000" y="3339465"/>
            <a:ext cx="609600" cy="57150"/>
            <a:chOff x="0" y="0"/>
            <a:chExt cx="8128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6200"/>
            </a:xfrm>
            <a:custGeom>
              <a:avLst/>
              <a:gdLst/>
              <a:ahLst/>
              <a:cxnLst/>
              <a:rect r="r" b="b" t="t" l="l"/>
              <a:pathLst>
                <a:path h="76200" w="812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774700" y="0"/>
                  </a:lnTo>
                  <a:cubicBezTo>
                    <a:pt x="795782" y="0"/>
                    <a:pt x="812800" y="17018"/>
                    <a:pt x="812800" y="38100"/>
                  </a:cubicBezTo>
                  <a:cubicBezTo>
                    <a:pt x="812800" y="59182"/>
                    <a:pt x="795782" y="76200"/>
                    <a:pt x="7747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718044" y="2391585"/>
            <a:ext cx="1996240" cy="265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50">
                <a:solidFill>
                  <a:srgbClr val="F8A900"/>
                </a:solidFill>
                <a:latin typeface="Arial Bold"/>
                <a:ea typeface="Arial Bold"/>
                <a:cs typeface="Arial Bold"/>
                <a:sym typeface="Arial Bold"/>
              </a:rPr>
              <a:t>ÍNDICE · 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36994" y="2926890"/>
            <a:ext cx="12312653" cy="142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51"/>
              </a:lnSpc>
            </a:pPr>
            <a:r>
              <a:rPr lang="en-US" b="true" sz="11850" spc="-225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PROBLEMÁTICA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36994" y="4552569"/>
            <a:ext cx="9563738" cy="100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sz="24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Por qué la desnutrición crónica infantil sigue siendo un problema de salud pública no resuelto en el Perú.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649239" y="971874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460735"/>
            <a:ext cx="18276179" cy="839876"/>
          </a:xfrm>
          <a:custGeom>
            <a:avLst/>
            <a:gdLst/>
            <a:ahLst/>
            <a:cxnLst/>
            <a:rect r="r" b="b" t="t" l="l"/>
            <a:pathLst>
              <a:path h="839876" w="18276179">
                <a:moveTo>
                  <a:pt x="0" y="0"/>
                </a:moveTo>
                <a:lnTo>
                  <a:pt x="18276179" y="0"/>
                </a:lnTo>
                <a:lnTo>
                  <a:pt x="18276179" y="839876"/>
                </a:lnTo>
                <a:lnTo>
                  <a:pt x="0" y="839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1500" y="9763077"/>
            <a:ext cx="582584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497300" y="3162300"/>
            <a:ext cx="3009900" cy="3009900"/>
            <a:chOff x="0" y="0"/>
            <a:chExt cx="4013200" cy="401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13200" cy="4013200"/>
            </a:xfrm>
            <a:custGeom>
              <a:avLst/>
              <a:gdLst/>
              <a:ahLst/>
              <a:cxnLst/>
              <a:rect r="r" b="b" t="t" l="l"/>
              <a:pathLst>
                <a:path h="4013200" w="4013200">
                  <a:moveTo>
                    <a:pt x="0" y="2006600"/>
                  </a:moveTo>
                  <a:cubicBezTo>
                    <a:pt x="0" y="898398"/>
                    <a:pt x="898398" y="0"/>
                    <a:pt x="2006600" y="0"/>
                  </a:cubicBezTo>
                  <a:cubicBezTo>
                    <a:pt x="3114802" y="0"/>
                    <a:pt x="4013200" y="898398"/>
                    <a:pt x="4013200" y="2006600"/>
                  </a:cubicBezTo>
                  <a:cubicBezTo>
                    <a:pt x="4013200" y="3114802"/>
                    <a:pt x="3114802" y="4013200"/>
                    <a:pt x="2006600" y="4013200"/>
                  </a:cubicBezTo>
                  <a:cubicBezTo>
                    <a:pt x="898398" y="4013200"/>
                    <a:pt x="0" y="3114802"/>
                    <a:pt x="0" y="200660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152400" cap="sq">
              <a:solidFill>
                <a:srgbClr val="F8A90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1524000" y="8001000"/>
            <a:ext cx="4191000" cy="4191000"/>
            <a:chOff x="0" y="0"/>
            <a:chExt cx="5588000" cy="558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0" y="2794000"/>
                  </a:moveTo>
                  <a:cubicBezTo>
                    <a:pt x="0" y="1250950"/>
                    <a:pt x="1250950" y="0"/>
                    <a:pt x="2794000" y="0"/>
                  </a:cubicBezTo>
                  <a:cubicBezTo>
                    <a:pt x="4337050" y="0"/>
                    <a:pt x="5588000" y="1250950"/>
                    <a:pt x="5588000" y="2794000"/>
                  </a:cubicBezTo>
                  <a:cubicBezTo>
                    <a:pt x="5588000" y="4337050"/>
                    <a:pt x="4337050" y="5588000"/>
                    <a:pt x="2794000" y="5588000"/>
                  </a:cubicBezTo>
                  <a:cubicBezTo>
                    <a:pt x="1250950" y="5588000"/>
                    <a:pt x="0" y="4337050"/>
                    <a:pt x="0" y="2794000"/>
                  </a:cubicBezTo>
                  <a:close/>
                </a:path>
              </a:pathLst>
            </a:custGeom>
            <a:solidFill>
              <a:srgbClr val="003865">
                <a:alpha val="0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236255" y="492109"/>
            <a:ext cx="3264341" cy="24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36255" y="801376"/>
            <a:ext cx="3264341" cy="12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2500" y="476250"/>
            <a:ext cx="7875737" cy="187709"/>
            <a:chOff x="0" y="0"/>
            <a:chExt cx="10500982" cy="2502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00995" cy="250393"/>
            </a:xfrm>
            <a:custGeom>
              <a:avLst/>
              <a:gdLst/>
              <a:ahLst/>
              <a:cxnLst/>
              <a:rect r="r" b="b" t="t" l="l"/>
              <a:pathLst>
                <a:path h="250393" w="10500995">
                  <a:moveTo>
                    <a:pt x="0" y="125161"/>
                  </a:moveTo>
                  <a:cubicBezTo>
                    <a:pt x="0" y="56043"/>
                    <a:pt x="151892" y="0"/>
                    <a:pt x="339217" y="0"/>
                  </a:cubicBezTo>
                  <a:lnTo>
                    <a:pt x="10161778" y="0"/>
                  </a:lnTo>
                  <a:cubicBezTo>
                    <a:pt x="10349103" y="0"/>
                    <a:pt x="10500995" y="56043"/>
                    <a:pt x="10500995" y="125161"/>
                  </a:cubicBezTo>
                  <a:cubicBezTo>
                    <a:pt x="10500995" y="194278"/>
                    <a:pt x="10349103" y="250393"/>
                    <a:pt x="10161778" y="250393"/>
                  </a:cubicBezTo>
                  <a:lnTo>
                    <a:pt x="339217" y="250393"/>
                  </a:lnTo>
                  <a:cubicBezTo>
                    <a:pt x="151892" y="250274"/>
                    <a:pt x="0" y="194231"/>
                    <a:pt x="0" y="12516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9152" y="663959"/>
            <a:ext cx="133321" cy="133321"/>
            <a:chOff x="0" y="0"/>
            <a:chExt cx="177762" cy="1777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cubicBezTo>
                    <a:pt x="138049" y="0"/>
                    <a:pt x="177800" y="39751"/>
                    <a:pt x="177800" y="88900"/>
                  </a:cubicBezTo>
                  <a:cubicBezTo>
                    <a:pt x="177800" y="138049"/>
                    <a:pt x="138049" y="177800"/>
                    <a:pt x="88900" y="177800"/>
                  </a:cubicBezTo>
                  <a:cubicBezTo>
                    <a:pt x="39751" y="177800"/>
                    <a:pt x="0" y="138049"/>
                    <a:pt x="0" y="8890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11198" y="615925"/>
            <a:ext cx="7732566" cy="24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EL PROBLEMA · LA DESNUTRICIÓN CRÓNICA EN CIFRAS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2500" y="1314402"/>
            <a:ext cx="14859000" cy="1857375"/>
            <a:chOff x="0" y="0"/>
            <a:chExt cx="19812000" cy="2476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120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9812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9685000" y="0"/>
                  </a:lnTo>
                  <a:cubicBezTo>
                    <a:pt x="19755104" y="0"/>
                    <a:pt x="19812000" y="56896"/>
                    <a:pt x="19812000" y="127000"/>
                  </a:cubicBezTo>
                  <a:lnTo>
                    <a:pt x="19812000" y="2349500"/>
                  </a:lnTo>
                  <a:cubicBezTo>
                    <a:pt x="19812000" y="2419604"/>
                    <a:pt x="19755104" y="2476500"/>
                    <a:pt x="19685000" y="2476500"/>
                  </a:cubicBezTo>
                  <a:lnTo>
                    <a:pt x="127000" y="2476500"/>
                  </a:lnTo>
                  <a:cubicBezTo>
                    <a:pt x="56896" y="2476500"/>
                    <a:pt x="0" y="2419604"/>
                    <a:pt x="0" y="2349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2500" y="1314402"/>
            <a:ext cx="63503" cy="1857375"/>
            <a:chOff x="0" y="0"/>
            <a:chExt cx="84671" cy="2476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709" cy="2476500"/>
            </a:xfrm>
            <a:custGeom>
              <a:avLst/>
              <a:gdLst/>
              <a:ahLst/>
              <a:cxnLst/>
              <a:rect r="r" b="b" t="t" l="l"/>
              <a:pathLst>
                <a:path h="2476500" w="84709">
                  <a:moveTo>
                    <a:pt x="0" y="0"/>
                  </a:moveTo>
                  <a:lnTo>
                    <a:pt x="84709" y="0"/>
                  </a:lnTo>
                  <a:lnTo>
                    <a:pt x="84709" y="2476500"/>
                  </a:lnTo>
                  <a:lnTo>
                    <a:pt x="0" y="2476500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22397" y="1482671"/>
            <a:ext cx="14403705" cy="141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En el Perú, la desnutrición crónica infantil </a:t>
            </a:r>
            <a:r>
              <a:rPr lang="en-US" sz="2250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volvió a aumentar </a:t>
            </a:r>
            <a:r>
              <a:rPr lang="en-US" sz="225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y golpea con más fuerza a las zonas rurales. Tres indicadores oficiales dimensionan un problema cuyo daño es </a:t>
            </a:r>
            <a:r>
              <a:rPr lang="en-US" sz="2250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irreversible </a:t>
            </a:r>
            <a:r>
              <a:rPr lang="en-US" sz="225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: el 80% del cerebro se forma antes de los 3 años.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2500" y="3067040"/>
            <a:ext cx="5207003" cy="6248362"/>
            <a:chOff x="0" y="0"/>
            <a:chExt cx="6942671" cy="83311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2709" cy="8331200"/>
            </a:xfrm>
            <a:custGeom>
              <a:avLst/>
              <a:gdLst/>
              <a:ahLst/>
              <a:cxnLst/>
              <a:rect r="r" b="b" t="t" l="l"/>
              <a:pathLst>
                <a:path h="8331200" w="6942709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6764909" y="0"/>
                  </a:lnTo>
                  <a:cubicBezTo>
                    <a:pt x="6863080" y="0"/>
                    <a:pt x="6942709" y="79629"/>
                    <a:pt x="6942709" y="177800"/>
                  </a:cubicBezTo>
                  <a:lnTo>
                    <a:pt x="6942709" y="8153400"/>
                  </a:lnTo>
                  <a:cubicBezTo>
                    <a:pt x="6942709" y="8251571"/>
                    <a:pt x="6863080" y="8331200"/>
                    <a:pt x="6764909" y="8331200"/>
                  </a:cubicBezTo>
                  <a:lnTo>
                    <a:pt x="177800" y="8331200"/>
                  </a:lnTo>
                  <a:cubicBezTo>
                    <a:pt x="79629" y="8331200"/>
                    <a:pt x="0" y="8251571"/>
                    <a:pt x="0" y="8153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52500" y="3067040"/>
            <a:ext cx="5207003" cy="1866862"/>
            <a:chOff x="0" y="0"/>
            <a:chExt cx="6942671" cy="24891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2709" cy="2489200"/>
            </a:xfrm>
            <a:custGeom>
              <a:avLst/>
              <a:gdLst/>
              <a:ahLst/>
              <a:cxnLst/>
              <a:rect r="r" b="b" t="t" l="l"/>
              <a:pathLst>
                <a:path h="2489200" w="6942709">
                  <a:moveTo>
                    <a:pt x="0" y="0"/>
                  </a:moveTo>
                  <a:lnTo>
                    <a:pt x="6942709" y="0"/>
                  </a:lnTo>
                  <a:lnTo>
                    <a:pt x="6942709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2500" y="3067040"/>
            <a:ext cx="5207003" cy="1866862"/>
            <a:chOff x="0" y="0"/>
            <a:chExt cx="6942671" cy="2489149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6942709" cy="2489200"/>
            </a:xfrm>
            <a:custGeom>
              <a:avLst/>
              <a:gdLst/>
              <a:ahLst/>
              <a:cxnLst/>
              <a:rect r="r" b="b" t="t" l="l"/>
              <a:pathLst>
                <a:path h="2489200" w="6942709">
                  <a:moveTo>
                    <a:pt x="0" y="0"/>
                  </a:moveTo>
                  <a:lnTo>
                    <a:pt x="6942709" y="0"/>
                  </a:lnTo>
                  <a:lnTo>
                    <a:pt x="6942709" y="2489200"/>
                  </a:lnTo>
                  <a:lnTo>
                    <a:pt x="0" y="248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80" r="0" b="-12143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8250" y="5162474"/>
            <a:ext cx="1603438" cy="265043"/>
            <a:chOff x="0" y="0"/>
            <a:chExt cx="2137918" cy="3533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37918" cy="353441"/>
            </a:xfrm>
            <a:custGeom>
              <a:avLst/>
              <a:gdLst/>
              <a:ahLst/>
              <a:cxnLst/>
              <a:rect r="r" b="b" t="t" l="l"/>
              <a:pathLst>
                <a:path h="353441" w="2137918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61718" y="0"/>
                  </a:lnTo>
                  <a:cubicBezTo>
                    <a:pt x="2103755" y="0"/>
                    <a:pt x="2137918" y="34163"/>
                    <a:pt x="2137918" y="76200"/>
                  </a:cubicBezTo>
                  <a:lnTo>
                    <a:pt x="2137918" y="277241"/>
                  </a:lnTo>
                  <a:cubicBezTo>
                    <a:pt x="2137918" y="319278"/>
                    <a:pt x="2103755" y="353441"/>
                    <a:pt x="2061718" y="353441"/>
                  </a:cubicBezTo>
                  <a:lnTo>
                    <a:pt x="76200" y="353441"/>
                  </a:lnTo>
                  <a:cubicBezTo>
                    <a:pt x="34163" y="353441"/>
                    <a:pt x="0" y="319278"/>
                    <a:pt x="0" y="277241"/>
                  </a:cubicBezTo>
                  <a:close/>
                </a:path>
              </a:pathLst>
            </a:custGeom>
            <a:solidFill>
              <a:srgbClr val="EEF0F2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87478" y="5235502"/>
            <a:ext cx="1381192" cy="14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1050" spc="150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FUENTE OFICIAL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3653" y="5595747"/>
            <a:ext cx="5048250" cy="29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Desnutrición crónica infantil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3653" y="5921959"/>
            <a:ext cx="5048250" cy="22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6B7280"/>
                </a:solidFill>
                <a:latin typeface="Arial Italics"/>
                <a:ea typeface="Arial Italics"/>
                <a:cs typeface="Arial Italics"/>
                <a:sym typeface="Arial Italics"/>
              </a:rPr>
              <a:t>ENDES 2024 · INEI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2500" y="7298655"/>
            <a:ext cx="5207003" cy="2016747"/>
            <a:chOff x="0" y="0"/>
            <a:chExt cx="6942671" cy="26889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42709" cy="2688971"/>
            </a:xfrm>
            <a:custGeom>
              <a:avLst/>
              <a:gdLst/>
              <a:ahLst/>
              <a:cxnLst/>
              <a:rect r="r" b="b" t="t" l="l"/>
              <a:pathLst>
                <a:path h="2688971" w="6942709">
                  <a:moveTo>
                    <a:pt x="0" y="0"/>
                  </a:moveTo>
                  <a:lnTo>
                    <a:pt x="6942709" y="0"/>
                  </a:lnTo>
                  <a:lnTo>
                    <a:pt x="6942709" y="2688971"/>
                  </a:lnTo>
                  <a:lnTo>
                    <a:pt x="0" y="2688971"/>
                  </a:lnTo>
                  <a:close/>
                </a:path>
              </a:pathLst>
            </a:custGeom>
            <a:solidFill>
              <a:srgbClr val="F4F6F8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31872" y="7524055"/>
            <a:ext cx="5048250" cy="87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6750" b="true">
                <a:solidFill>
                  <a:srgbClr val="C0504D"/>
                </a:solidFill>
                <a:latin typeface="Arial Bold"/>
                <a:ea typeface="Arial Bold"/>
                <a:cs typeface="Arial Bold"/>
                <a:sym typeface="Arial Bold"/>
              </a:rPr>
              <a:t>12,1%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1872" y="8457457"/>
            <a:ext cx="5048250" cy="28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Menores de 5 años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1872" y="8769353"/>
            <a:ext cx="5048250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 nivel nacional · subió desde 11,5% (2023)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40503" y="3067040"/>
            <a:ext cx="5207003" cy="6248362"/>
            <a:chOff x="0" y="0"/>
            <a:chExt cx="6942671" cy="83311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42709" cy="8331200"/>
            </a:xfrm>
            <a:custGeom>
              <a:avLst/>
              <a:gdLst/>
              <a:ahLst/>
              <a:cxnLst/>
              <a:rect r="r" b="b" t="t" l="l"/>
              <a:pathLst>
                <a:path h="8331200" w="6942709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6764909" y="0"/>
                  </a:lnTo>
                  <a:cubicBezTo>
                    <a:pt x="6863080" y="0"/>
                    <a:pt x="6942709" y="79629"/>
                    <a:pt x="6942709" y="177800"/>
                  </a:cubicBezTo>
                  <a:lnTo>
                    <a:pt x="6942709" y="8153400"/>
                  </a:lnTo>
                  <a:cubicBezTo>
                    <a:pt x="6942709" y="8251571"/>
                    <a:pt x="6863080" y="8331200"/>
                    <a:pt x="6764909" y="8331200"/>
                  </a:cubicBezTo>
                  <a:lnTo>
                    <a:pt x="177800" y="8331200"/>
                  </a:lnTo>
                  <a:cubicBezTo>
                    <a:pt x="79629" y="8331200"/>
                    <a:pt x="0" y="8251571"/>
                    <a:pt x="0" y="8153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540503" y="3067040"/>
            <a:ext cx="5207003" cy="1866862"/>
            <a:chOff x="0" y="0"/>
            <a:chExt cx="6942671" cy="248914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42709" cy="2489200"/>
            </a:xfrm>
            <a:custGeom>
              <a:avLst/>
              <a:gdLst/>
              <a:ahLst/>
              <a:cxnLst/>
              <a:rect r="r" b="b" t="t" l="l"/>
              <a:pathLst>
                <a:path h="2489200" w="6942709">
                  <a:moveTo>
                    <a:pt x="0" y="0"/>
                  </a:moveTo>
                  <a:lnTo>
                    <a:pt x="6942709" y="0"/>
                  </a:lnTo>
                  <a:lnTo>
                    <a:pt x="6942709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619875" y="3067040"/>
            <a:ext cx="5207003" cy="1866862"/>
            <a:chOff x="0" y="0"/>
            <a:chExt cx="6942671" cy="2489149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6942709" cy="2489200"/>
            </a:xfrm>
            <a:custGeom>
              <a:avLst/>
              <a:gdLst/>
              <a:ahLst/>
              <a:cxnLst/>
              <a:rect r="r" b="b" t="t" l="l"/>
              <a:pathLst>
                <a:path h="2489200" w="6942709">
                  <a:moveTo>
                    <a:pt x="0" y="0"/>
                  </a:moveTo>
                  <a:lnTo>
                    <a:pt x="6942709" y="0"/>
                  </a:lnTo>
                  <a:lnTo>
                    <a:pt x="6942709" y="2489200"/>
                  </a:lnTo>
                  <a:lnTo>
                    <a:pt x="0" y="248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2172" r="0" b="-8674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826253" y="5162474"/>
            <a:ext cx="1603438" cy="265043"/>
            <a:chOff x="0" y="0"/>
            <a:chExt cx="2137918" cy="35339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37918" cy="353441"/>
            </a:xfrm>
            <a:custGeom>
              <a:avLst/>
              <a:gdLst/>
              <a:ahLst/>
              <a:cxnLst/>
              <a:rect r="r" b="b" t="t" l="l"/>
              <a:pathLst>
                <a:path h="353441" w="2137918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61718" y="0"/>
                  </a:lnTo>
                  <a:cubicBezTo>
                    <a:pt x="2103755" y="0"/>
                    <a:pt x="2137918" y="34163"/>
                    <a:pt x="2137918" y="76200"/>
                  </a:cubicBezTo>
                  <a:lnTo>
                    <a:pt x="2137918" y="277241"/>
                  </a:lnTo>
                  <a:cubicBezTo>
                    <a:pt x="2137918" y="319278"/>
                    <a:pt x="2103755" y="353441"/>
                    <a:pt x="2061718" y="353441"/>
                  </a:cubicBezTo>
                  <a:lnTo>
                    <a:pt x="76200" y="353441"/>
                  </a:lnTo>
                  <a:cubicBezTo>
                    <a:pt x="34163" y="353441"/>
                    <a:pt x="0" y="319278"/>
                    <a:pt x="0" y="277241"/>
                  </a:cubicBezTo>
                  <a:close/>
                </a:path>
              </a:pathLst>
            </a:custGeom>
            <a:solidFill>
              <a:srgbClr val="EEF0F2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6975472" y="5235502"/>
            <a:ext cx="1381192" cy="14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1050" spc="150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FUENTE OFICIAL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51647" y="5595747"/>
            <a:ext cx="5048250" cy="29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Brecha rural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51647" y="5921959"/>
            <a:ext cx="5048250" cy="22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6B7280"/>
                </a:solidFill>
                <a:latin typeface="Arial Italics"/>
                <a:ea typeface="Arial Italics"/>
                <a:cs typeface="Arial Italics"/>
                <a:sym typeface="Arial Italics"/>
              </a:rPr>
              <a:t>INEI · ENDES 2024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540503" y="7298655"/>
            <a:ext cx="5207003" cy="2016747"/>
            <a:chOff x="0" y="0"/>
            <a:chExt cx="6942671" cy="26889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42709" cy="2688971"/>
            </a:xfrm>
            <a:custGeom>
              <a:avLst/>
              <a:gdLst/>
              <a:ahLst/>
              <a:cxnLst/>
              <a:rect r="r" b="b" t="t" l="l"/>
              <a:pathLst>
                <a:path h="2688971" w="6942709">
                  <a:moveTo>
                    <a:pt x="0" y="0"/>
                  </a:moveTo>
                  <a:lnTo>
                    <a:pt x="6942709" y="0"/>
                  </a:lnTo>
                  <a:lnTo>
                    <a:pt x="6942709" y="2688971"/>
                  </a:lnTo>
                  <a:lnTo>
                    <a:pt x="0" y="2688971"/>
                  </a:lnTo>
                  <a:close/>
                </a:path>
              </a:pathLst>
            </a:custGeom>
            <a:solidFill>
              <a:srgbClr val="F4F6F8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6619875" y="7524055"/>
            <a:ext cx="5048250" cy="87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6750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20,9%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619875" y="8457457"/>
            <a:ext cx="5048250" cy="28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En zonas rurales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619875" y="8769353"/>
            <a:ext cx="5048250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frente a 8,5% en zonas urbanas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128497" y="3067040"/>
            <a:ext cx="5207003" cy="6248362"/>
            <a:chOff x="0" y="0"/>
            <a:chExt cx="6942671" cy="833114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42709" cy="8331200"/>
            </a:xfrm>
            <a:custGeom>
              <a:avLst/>
              <a:gdLst/>
              <a:ahLst/>
              <a:cxnLst/>
              <a:rect r="r" b="b" t="t" l="l"/>
              <a:pathLst>
                <a:path h="8331200" w="6942709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6764909" y="0"/>
                  </a:lnTo>
                  <a:cubicBezTo>
                    <a:pt x="6863080" y="0"/>
                    <a:pt x="6942709" y="79629"/>
                    <a:pt x="6942709" y="177800"/>
                  </a:cubicBezTo>
                  <a:lnTo>
                    <a:pt x="6942709" y="8153400"/>
                  </a:lnTo>
                  <a:cubicBezTo>
                    <a:pt x="6942709" y="8251571"/>
                    <a:pt x="6863080" y="8331200"/>
                    <a:pt x="6764909" y="8331200"/>
                  </a:cubicBezTo>
                  <a:lnTo>
                    <a:pt x="177800" y="8331200"/>
                  </a:lnTo>
                  <a:cubicBezTo>
                    <a:pt x="79629" y="8331200"/>
                    <a:pt x="0" y="8251571"/>
                    <a:pt x="0" y="8153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128497" y="3067040"/>
            <a:ext cx="5207003" cy="1866862"/>
            <a:chOff x="0" y="0"/>
            <a:chExt cx="6942671" cy="248914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942709" cy="2489200"/>
            </a:xfrm>
            <a:custGeom>
              <a:avLst/>
              <a:gdLst/>
              <a:ahLst/>
              <a:cxnLst/>
              <a:rect r="r" b="b" t="t" l="l"/>
              <a:pathLst>
                <a:path h="2489200" w="6942709">
                  <a:moveTo>
                    <a:pt x="0" y="0"/>
                  </a:moveTo>
                  <a:lnTo>
                    <a:pt x="6942709" y="0"/>
                  </a:lnTo>
                  <a:lnTo>
                    <a:pt x="6942709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128497" y="3067040"/>
            <a:ext cx="5207003" cy="1866862"/>
            <a:chOff x="0" y="0"/>
            <a:chExt cx="6942671" cy="2489149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6942709" cy="2489200"/>
            </a:xfrm>
            <a:custGeom>
              <a:avLst/>
              <a:gdLst/>
              <a:ahLst/>
              <a:cxnLst/>
              <a:rect r="r" b="b" t="t" l="l"/>
              <a:pathLst>
                <a:path h="2489200" w="6942709">
                  <a:moveTo>
                    <a:pt x="0" y="0"/>
                  </a:moveTo>
                  <a:lnTo>
                    <a:pt x="6942709" y="0"/>
                  </a:lnTo>
                  <a:lnTo>
                    <a:pt x="6942709" y="2489200"/>
                  </a:lnTo>
                  <a:lnTo>
                    <a:pt x="0" y="248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0513" r="0" b="-12839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414247" y="5162474"/>
            <a:ext cx="1603438" cy="265043"/>
            <a:chOff x="0" y="0"/>
            <a:chExt cx="2137918" cy="35339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37918" cy="353441"/>
            </a:xfrm>
            <a:custGeom>
              <a:avLst/>
              <a:gdLst/>
              <a:ahLst/>
              <a:cxnLst/>
              <a:rect r="r" b="b" t="t" l="l"/>
              <a:pathLst>
                <a:path h="353441" w="2137918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61718" y="0"/>
                  </a:lnTo>
                  <a:cubicBezTo>
                    <a:pt x="2103755" y="0"/>
                    <a:pt x="2137918" y="34163"/>
                    <a:pt x="2137918" y="76200"/>
                  </a:cubicBezTo>
                  <a:lnTo>
                    <a:pt x="2137918" y="277241"/>
                  </a:lnTo>
                  <a:cubicBezTo>
                    <a:pt x="2137918" y="319278"/>
                    <a:pt x="2103755" y="353441"/>
                    <a:pt x="2061718" y="353441"/>
                  </a:cubicBezTo>
                  <a:lnTo>
                    <a:pt x="76200" y="353441"/>
                  </a:lnTo>
                  <a:cubicBezTo>
                    <a:pt x="34163" y="353441"/>
                    <a:pt x="0" y="319278"/>
                    <a:pt x="0" y="277241"/>
                  </a:cubicBezTo>
                  <a:close/>
                </a:path>
              </a:pathLst>
            </a:custGeom>
            <a:solidFill>
              <a:srgbClr val="EEF0F2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2563475" y="5235502"/>
            <a:ext cx="1381192" cy="14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1050" spc="150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FUENTE OFICIAL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439650" y="5595747"/>
            <a:ext cx="5048250" cy="29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Anemia infantil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39650" y="5921959"/>
            <a:ext cx="5048250" cy="22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true">
                <a:solidFill>
                  <a:srgbClr val="6B7280"/>
                </a:solidFill>
                <a:latin typeface="Arial Italics"/>
                <a:ea typeface="Arial Italics"/>
                <a:cs typeface="Arial Italics"/>
                <a:sym typeface="Arial Italics"/>
              </a:rPr>
              <a:t>ENDES 2024 · INEI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128497" y="7298655"/>
            <a:ext cx="5207003" cy="2016747"/>
            <a:chOff x="0" y="0"/>
            <a:chExt cx="6942671" cy="26889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942709" cy="2688971"/>
            </a:xfrm>
            <a:custGeom>
              <a:avLst/>
              <a:gdLst/>
              <a:ahLst/>
              <a:cxnLst/>
              <a:rect r="r" b="b" t="t" l="l"/>
              <a:pathLst>
                <a:path h="2688971" w="6942709">
                  <a:moveTo>
                    <a:pt x="0" y="0"/>
                  </a:moveTo>
                  <a:lnTo>
                    <a:pt x="6942709" y="0"/>
                  </a:lnTo>
                  <a:lnTo>
                    <a:pt x="6942709" y="2688971"/>
                  </a:lnTo>
                  <a:lnTo>
                    <a:pt x="0" y="2688971"/>
                  </a:lnTo>
                  <a:close/>
                </a:path>
              </a:pathLst>
            </a:custGeom>
            <a:solidFill>
              <a:srgbClr val="F4F6F8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2207878" y="7524055"/>
            <a:ext cx="5048250" cy="87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6750" b="true">
                <a:solidFill>
                  <a:srgbClr val="2F8F5B"/>
                </a:solidFill>
                <a:latin typeface="Arial Bold"/>
                <a:ea typeface="Arial Bold"/>
                <a:cs typeface="Arial Bold"/>
                <a:sym typeface="Arial Bold"/>
              </a:rPr>
              <a:t>43,7%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207878" y="8457457"/>
            <a:ext cx="5048250" cy="28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Niños de 6 a 35 meses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207878" y="8769353"/>
            <a:ext cx="5048250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carencia que agrava la desnutrición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5811500" y="971545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240000" y="7810500"/>
            <a:ext cx="4572000" cy="4572000"/>
            <a:chOff x="0" y="0"/>
            <a:chExt cx="6096000" cy="609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003865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240000" y="7810500"/>
            <a:ext cx="4572000" cy="4572000"/>
            <a:chOff x="0" y="0"/>
            <a:chExt cx="6096000" cy="609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003865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47750" y="1050608"/>
            <a:ext cx="457200" cy="47625"/>
            <a:chOff x="0" y="0"/>
            <a:chExt cx="609600" cy="63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00" cy="63500"/>
            </a:xfrm>
            <a:custGeom>
              <a:avLst/>
              <a:gdLst/>
              <a:ahLst/>
              <a:cxnLst/>
              <a:rect r="r" b="b" t="t" l="l"/>
              <a:pathLst>
                <a:path h="63500" w="609600">
                  <a:moveTo>
                    <a:pt x="0" y="31750"/>
                  </a:moveTo>
                  <a:cubicBezTo>
                    <a:pt x="0" y="14224"/>
                    <a:pt x="14224" y="0"/>
                    <a:pt x="31750" y="0"/>
                  </a:cubicBezTo>
                  <a:lnTo>
                    <a:pt x="577850" y="0"/>
                  </a:lnTo>
                  <a:cubicBezTo>
                    <a:pt x="595376" y="0"/>
                    <a:pt x="609600" y="14224"/>
                    <a:pt x="609600" y="31750"/>
                  </a:cubicBezTo>
                  <a:cubicBezTo>
                    <a:pt x="609600" y="49276"/>
                    <a:pt x="595376" y="63500"/>
                    <a:pt x="577850" y="63500"/>
                  </a:cubicBezTo>
                  <a:lnTo>
                    <a:pt x="31750" y="63500"/>
                  </a:lnTo>
                  <a:cubicBezTo>
                    <a:pt x="14224" y="63500"/>
                    <a:pt x="0" y="49276"/>
                    <a:pt x="0" y="3175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82753" y="930278"/>
            <a:ext cx="2334797" cy="31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375">
                <a:solidFill>
                  <a:srgbClr val="F8A9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PROBLEMÁTICA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3153" y="1431293"/>
            <a:ext cx="10426703" cy="66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7"/>
              </a:lnSpc>
            </a:pPr>
            <a:r>
              <a:rPr lang="en-US" b="true" sz="4950" spc="-75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Una crisis desigual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3153" y="2161261"/>
            <a:ext cx="9759953" cy="84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El promedio nacional esconde brechas de más de diez veces entre departamentos.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3153" y="3159128"/>
            <a:ext cx="9169403" cy="32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b="true" sz="1725" spc="150">
                <a:solidFill>
                  <a:srgbClr val="6B7280"/>
                </a:solidFill>
                <a:latin typeface="Poppins Bold"/>
                <a:ea typeface="Poppins Bold"/>
                <a:cs typeface="Poppins Bold"/>
                <a:sym typeface="Poppins Bold"/>
              </a:rPr>
              <a:t>DESNUTRICIÓN CRÓNICA POR DEPARTAMENTO (%)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3153" y="3713483"/>
            <a:ext cx="1835153" cy="3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E1E1E"/>
                </a:solidFill>
                <a:latin typeface="Poppins Bold"/>
                <a:ea typeface="Poppins Bold"/>
                <a:cs typeface="Poppins Bold"/>
                <a:sym typeface="Poppins Bold"/>
              </a:rPr>
              <a:t>Huancavelica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952750" y="3705225"/>
            <a:ext cx="5486400" cy="361950"/>
            <a:chOff x="0" y="0"/>
            <a:chExt cx="7315200" cy="482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0" cy="482600"/>
            </a:xfrm>
            <a:custGeom>
              <a:avLst/>
              <a:gdLst/>
              <a:ahLst/>
              <a:cxnLst/>
              <a:rect r="r" b="b" t="t" l="l"/>
              <a:pathLst>
                <a:path h="482600" w="73152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264400" y="0"/>
                  </a:lnTo>
                  <a:cubicBezTo>
                    <a:pt x="7292467" y="0"/>
                    <a:pt x="7315200" y="22733"/>
                    <a:pt x="7315200" y="50800"/>
                  </a:cubicBezTo>
                  <a:lnTo>
                    <a:pt x="7315200" y="431800"/>
                  </a:lnTo>
                  <a:cubicBezTo>
                    <a:pt x="7315200" y="459867"/>
                    <a:pt x="7292467" y="482600"/>
                    <a:pt x="7264400" y="482600"/>
                  </a:cubicBezTo>
                  <a:lnTo>
                    <a:pt x="50800" y="482600"/>
                  </a:lnTo>
                  <a:cubicBezTo>
                    <a:pt x="22733" y="482600"/>
                    <a:pt x="0" y="459867"/>
                    <a:pt x="0" y="4318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952750" y="3705225"/>
            <a:ext cx="5486400" cy="361950"/>
            <a:chOff x="0" y="0"/>
            <a:chExt cx="7315200" cy="482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0" cy="482600"/>
            </a:xfrm>
            <a:custGeom>
              <a:avLst/>
              <a:gdLst/>
              <a:ahLst/>
              <a:cxnLst/>
              <a:rect r="r" b="b" t="t" l="l"/>
              <a:pathLst>
                <a:path h="482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578853" y="3715388"/>
            <a:ext cx="825503" cy="37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26,1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3153" y="4258313"/>
            <a:ext cx="1835153" cy="3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E1E1E"/>
                </a:solidFill>
                <a:latin typeface="Poppins Bold"/>
                <a:ea typeface="Poppins Bold"/>
                <a:cs typeface="Poppins Bold"/>
                <a:sym typeface="Poppins Bold"/>
              </a:rPr>
              <a:t>Loreto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952750" y="4250055"/>
            <a:ext cx="5486400" cy="361950"/>
            <a:chOff x="0" y="0"/>
            <a:chExt cx="7315200" cy="482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482600"/>
            </a:xfrm>
            <a:custGeom>
              <a:avLst/>
              <a:gdLst/>
              <a:ahLst/>
              <a:cxnLst/>
              <a:rect r="r" b="b" t="t" l="l"/>
              <a:pathLst>
                <a:path h="482600" w="73152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264400" y="0"/>
                  </a:lnTo>
                  <a:cubicBezTo>
                    <a:pt x="7292467" y="0"/>
                    <a:pt x="7315200" y="22733"/>
                    <a:pt x="7315200" y="50800"/>
                  </a:cubicBezTo>
                  <a:lnTo>
                    <a:pt x="7315200" y="431800"/>
                  </a:lnTo>
                  <a:cubicBezTo>
                    <a:pt x="7315200" y="459867"/>
                    <a:pt x="7292467" y="482600"/>
                    <a:pt x="7264400" y="482600"/>
                  </a:cubicBezTo>
                  <a:lnTo>
                    <a:pt x="50800" y="482600"/>
                  </a:lnTo>
                  <a:cubicBezTo>
                    <a:pt x="22733" y="482600"/>
                    <a:pt x="0" y="459867"/>
                    <a:pt x="0" y="4318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952750" y="4250055"/>
            <a:ext cx="4553664" cy="361950"/>
            <a:chOff x="0" y="0"/>
            <a:chExt cx="6071552" cy="482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71489" cy="482600"/>
            </a:xfrm>
            <a:custGeom>
              <a:avLst/>
              <a:gdLst/>
              <a:ahLst/>
              <a:cxnLst/>
              <a:rect r="r" b="b" t="t" l="l"/>
              <a:pathLst>
                <a:path h="482600" w="6071489">
                  <a:moveTo>
                    <a:pt x="0" y="0"/>
                  </a:moveTo>
                  <a:lnTo>
                    <a:pt x="6071489" y="0"/>
                  </a:lnTo>
                  <a:lnTo>
                    <a:pt x="6071489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578853" y="4260218"/>
            <a:ext cx="825503" cy="37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21,7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3153" y="4803143"/>
            <a:ext cx="1835153" cy="3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E1E1E"/>
                </a:solidFill>
                <a:latin typeface="Poppins Bold"/>
                <a:ea typeface="Poppins Bold"/>
                <a:cs typeface="Poppins Bold"/>
                <a:sym typeface="Poppins Bold"/>
              </a:rPr>
              <a:t>Amazonas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952750" y="4794885"/>
            <a:ext cx="5486400" cy="361950"/>
            <a:chOff x="0" y="0"/>
            <a:chExt cx="7315200" cy="482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0" cy="482600"/>
            </a:xfrm>
            <a:custGeom>
              <a:avLst/>
              <a:gdLst/>
              <a:ahLst/>
              <a:cxnLst/>
              <a:rect r="r" b="b" t="t" l="l"/>
              <a:pathLst>
                <a:path h="482600" w="73152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264400" y="0"/>
                  </a:lnTo>
                  <a:cubicBezTo>
                    <a:pt x="7292467" y="0"/>
                    <a:pt x="7315200" y="22733"/>
                    <a:pt x="7315200" y="50800"/>
                  </a:cubicBezTo>
                  <a:lnTo>
                    <a:pt x="7315200" y="431800"/>
                  </a:lnTo>
                  <a:cubicBezTo>
                    <a:pt x="7315200" y="459867"/>
                    <a:pt x="7292467" y="482600"/>
                    <a:pt x="7264400" y="482600"/>
                  </a:cubicBezTo>
                  <a:lnTo>
                    <a:pt x="50800" y="482600"/>
                  </a:lnTo>
                  <a:cubicBezTo>
                    <a:pt x="22733" y="482600"/>
                    <a:pt x="0" y="459867"/>
                    <a:pt x="0" y="4318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952750" y="4794885"/>
            <a:ext cx="4169569" cy="361950"/>
            <a:chOff x="0" y="0"/>
            <a:chExt cx="5559425" cy="482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59425" cy="482600"/>
            </a:xfrm>
            <a:custGeom>
              <a:avLst/>
              <a:gdLst/>
              <a:ahLst/>
              <a:cxnLst/>
              <a:rect r="r" b="b" t="t" l="l"/>
              <a:pathLst>
                <a:path h="482600" w="5559425">
                  <a:moveTo>
                    <a:pt x="0" y="0"/>
                  </a:moveTo>
                  <a:lnTo>
                    <a:pt x="5559425" y="0"/>
                  </a:lnTo>
                  <a:lnTo>
                    <a:pt x="5559425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578853" y="4805048"/>
            <a:ext cx="825503" cy="37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19,9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3153" y="5347973"/>
            <a:ext cx="1835153" cy="3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9AA1A8"/>
                </a:solidFill>
                <a:latin typeface="Poppins Bold"/>
                <a:ea typeface="Poppins Bold"/>
                <a:cs typeface="Poppins Bold"/>
                <a:sym typeface="Poppins Bold"/>
              </a:rPr>
              <a:t>Arequipa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2952750" y="5339715"/>
            <a:ext cx="5486400" cy="361950"/>
            <a:chOff x="0" y="0"/>
            <a:chExt cx="7315200" cy="482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482600"/>
            </a:xfrm>
            <a:custGeom>
              <a:avLst/>
              <a:gdLst/>
              <a:ahLst/>
              <a:cxnLst/>
              <a:rect r="r" b="b" t="t" l="l"/>
              <a:pathLst>
                <a:path h="482600" w="73152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264400" y="0"/>
                  </a:lnTo>
                  <a:cubicBezTo>
                    <a:pt x="7292467" y="0"/>
                    <a:pt x="7315200" y="22733"/>
                    <a:pt x="7315200" y="50800"/>
                  </a:cubicBezTo>
                  <a:lnTo>
                    <a:pt x="7315200" y="431800"/>
                  </a:lnTo>
                  <a:cubicBezTo>
                    <a:pt x="7315200" y="459867"/>
                    <a:pt x="7292467" y="482600"/>
                    <a:pt x="7264400" y="482600"/>
                  </a:cubicBezTo>
                  <a:lnTo>
                    <a:pt x="50800" y="482600"/>
                  </a:lnTo>
                  <a:cubicBezTo>
                    <a:pt x="22733" y="482600"/>
                    <a:pt x="0" y="459867"/>
                    <a:pt x="0" y="4318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952750" y="5339715"/>
            <a:ext cx="987504" cy="361950"/>
            <a:chOff x="0" y="0"/>
            <a:chExt cx="1316672" cy="482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16609" cy="482600"/>
            </a:xfrm>
            <a:custGeom>
              <a:avLst/>
              <a:gdLst/>
              <a:ahLst/>
              <a:cxnLst/>
              <a:rect r="r" b="b" t="t" l="l"/>
              <a:pathLst>
                <a:path h="482600" w="1316609">
                  <a:moveTo>
                    <a:pt x="0" y="0"/>
                  </a:moveTo>
                  <a:lnTo>
                    <a:pt x="1316609" y="0"/>
                  </a:lnTo>
                  <a:lnTo>
                    <a:pt x="1316609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9DB2C4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578853" y="5349878"/>
            <a:ext cx="825503" cy="37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 b="true">
                <a:solidFill>
                  <a:srgbClr val="6B7280"/>
                </a:solidFill>
                <a:latin typeface="DM Sans Bold"/>
                <a:ea typeface="DM Sans Bold"/>
                <a:cs typeface="DM Sans Bold"/>
                <a:sym typeface="DM Sans Bold"/>
              </a:rPr>
              <a:t>4,7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73153" y="5892803"/>
            <a:ext cx="1835153" cy="3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9AA1A8"/>
                </a:solidFill>
                <a:latin typeface="Poppins Bold"/>
                <a:ea typeface="Poppins Bold"/>
                <a:cs typeface="Poppins Bold"/>
                <a:sym typeface="Poppins Bold"/>
              </a:rPr>
              <a:t>Tacna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2952750" y="5884545"/>
            <a:ext cx="5486400" cy="361950"/>
            <a:chOff x="0" y="0"/>
            <a:chExt cx="7315200" cy="482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0" cy="482600"/>
            </a:xfrm>
            <a:custGeom>
              <a:avLst/>
              <a:gdLst/>
              <a:ahLst/>
              <a:cxnLst/>
              <a:rect r="r" b="b" t="t" l="l"/>
              <a:pathLst>
                <a:path h="482600" w="73152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264400" y="0"/>
                  </a:lnTo>
                  <a:cubicBezTo>
                    <a:pt x="7292467" y="0"/>
                    <a:pt x="7315200" y="22733"/>
                    <a:pt x="7315200" y="50800"/>
                  </a:cubicBezTo>
                  <a:lnTo>
                    <a:pt x="7315200" y="431800"/>
                  </a:lnTo>
                  <a:cubicBezTo>
                    <a:pt x="7315200" y="459867"/>
                    <a:pt x="7292467" y="482600"/>
                    <a:pt x="7264400" y="482600"/>
                  </a:cubicBezTo>
                  <a:lnTo>
                    <a:pt x="50800" y="482600"/>
                  </a:lnTo>
                  <a:cubicBezTo>
                    <a:pt x="22733" y="482600"/>
                    <a:pt x="0" y="459867"/>
                    <a:pt x="0" y="4318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952750" y="5884545"/>
            <a:ext cx="658301" cy="361950"/>
            <a:chOff x="0" y="0"/>
            <a:chExt cx="877735" cy="482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7697" cy="482600"/>
            </a:xfrm>
            <a:custGeom>
              <a:avLst/>
              <a:gdLst/>
              <a:ahLst/>
              <a:cxnLst/>
              <a:rect r="r" b="b" t="t" l="l"/>
              <a:pathLst>
                <a:path h="482600" w="877697">
                  <a:moveTo>
                    <a:pt x="0" y="0"/>
                  </a:moveTo>
                  <a:lnTo>
                    <a:pt x="877697" y="0"/>
                  </a:lnTo>
                  <a:lnTo>
                    <a:pt x="877697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9DB2C4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8578853" y="5894708"/>
            <a:ext cx="825503" cy="37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 b="true">
                <a:solidFill>
                  <a:srgbClr val="6B7280"/>
                </a:solidFill>
                <a:latin typeface="DM Sans Bold"/>
                <a:ea typeface="DM Sans Bold"/>
                <a:cs typeface="DM Sans Bold"/>
                <a:sym typeface="DM Sans Bold"/>
              </a:rPr>
              <a:t>3,2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73153" y="6437633"/>
            <a:ext cx="1835153" cy="36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9AA1A8"/>
                </a:solidFill>
                <a:latin typeface="Poppins Bold"/>
                <a:ea typeface="Poppins Bold"/>
                <a:cs typeface="Poppins Bold"/>
                <a:sym typeface="Poppins Bold"/>
              </a:rPr>
              <a:t>Moquegua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2952750" y="6429375"/>
            <a:ext cx="5486400" cy="361950"/>
            <a:chOff x="0" y="0"/>
            <a:chExt cx="7315200" cy="482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0" cy="482600"/>
            </a:xfrm>
            <a:custGeom>
              <a:avLst/>
              <a:gdLst/>
              <a:ahLst/>
              <a:cxnLst/>
              <a:rect r="r" b="b" t="t" l="l"/>
              <a:pathLst>
                <a:path h="482600" w="73152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264400" y="0"/>
                  </a:lnTo>
                  <a:cubicBezTo>
                    <a:pt x="7292467" y="0"/>
                    <a:pt x="7315200" y="22733"/>
                    <a:pt x="7315200" y="50800"/>
                  </a:cubicBezTo>
                  <a:lnTo>
                    <a:pt x="7315200" y="431800"/>
                  </a:lnTo>
                  <a:cubicBezTo>
                    <a:pt x="7315200" y="459867"/>
                    <a:pt x="7292467" y="482600"/>
                    <a:pt x="7264400" y="482600"/>
                  </a:cubicBezTo>
                  <a:lnTo>
                    <a:pt x="50800" y="482600"/>
                  </a:lnTo>
                  <a:cubicBezTo>
                    <a:pt x="22733" y="482600"/>
                    <a:pt x="0" y="459867"/>
                    <a:pt x="0" y="4318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952750" y="6429375"/>
            <a:ext cx="548640" cy="361950"/>
            <a:chOff x="0" y="0"/>
            <a:chExt cx="731520" cy="482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482600"/>
            </a:xfrm>
            <a:custGeom>
              <a:avLst/>
              <a:gdLst/>
              <a:ahLst/>
              <a:cxnLst/>
              <a:rect r="r" b="b" t="t" l="l"/>
              <a:pathLst>
                <a:path h="4826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9DB2C4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8578853" y="6439538"/>
            <a:ext cx="825503" cy="37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 b="true">
                <a:solidFill>
                  <a:srgbClr val="6B7280"/>
                </a:solidFill>
                <a:latin typeface="DM Sans Bold"/>
                <a:ea typeface="DM Sans Bold"/>
                <a:cs typeface="DM Sans Bold"/>
                <a:sym typeface="DM Sans Bold"/>
              </a:rPr>
              <a:t>2,5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1144250" y="3143250"/>
            <a:ext cx="6286500" cy="2125980"/>
            <a:chOff x="0" y="0"/>
            <a:chExt cx="8382000" cy="2834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3820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382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255000" y="0"/>
                  </a:lnTo>
                  <a:cubicBezTo>
                    <a:pt x="8325104" y="0"/>
                    <a:pt x="8382000" y="56896"/>
                    <a:pt x="8382000" y="127000"/>
                  </a:cubicBezTo>
                  <a:lnTo>
                    <a:pt x="8382000" y="2707640"/>
                  </a:lnTo>
                  <a:cubicBezTo>
                    <a:pt x="8382000" y="2777744"/>
                    <a:pt x="8325104" y="2834640"/>
                    <a:pt x="8255000" y="2834640"/>
                  </a:cubicBezTo>
                  <a:lnTo>
                    <a:pt x="127000" y="2834640"/>
                  </a:lnTo>
                  <a:cubicBezTo>
                    <a:pt x="56896" y="2834640"/>
                    <a:pt x="0" y="2777744"/>
                    <a:pt x="0" y="2707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1493503" y="3444878"/>
            <a:ext cx="6151883" cy="31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150">
                <a:solidFill>
                  <a:srgbClr val="6B7280"/>
                </a:solidFill>
                <a:latin typeface="Poppins Bold"/>
                <a:ea typeface="Poppins Bold"/>
                <a:cs typeface="Poppins Bold"/>
                <a:sym typeface="Poppins Bold"/>
              </a:rPr>
              <a:t>BRECHA RURAL – URBANA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493503" y="4022093"/>
            <a:ext cx="2149869" cy="54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20,9%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493503" y="4639313"/>
            <a:ext cx="2149869" cy="35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Rural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875106" y="4172588"/>
            <a:ext cx="476526" cy="59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8A900"/>
                </a:solidFill>
                <a:latin typeface="Poppins Bold"/>
                <a:ea typeface="Poppins Bold"/>
                <a:cs typeface="Poppins Bold"/>
                <a:sym typeface="Poppins Bold"/>
              </a:rPr>
              <a:t>vs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707238" y="4022093"/>
            <a:ext cx="1657950" cy="54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true">
                <a:solidFill>
                  <a:srgbClr val="9DB2C4"/>
                </a:solidFill>
                <a:latin typeface="DM Sans Bold"/>
                <a:ea typeface="DM Sans Bold"/>
                <a:cs typeface="DM Sans Bold"/>
                <a:sym typeface="DM Sans Bold"/>
              </a:rPr>
              <a:t>8,5%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707238" y="4639313"/>
            <a:ext cx="1657950" cy="35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Urbano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144250" y="5497830"/>
            <a:ext cx="6286500" cy="2129790"/>
            <a:chOff x="0" y="0"/>
            <a:chExt cx="8382000" cy="2839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382000" cy="2839720"/>
            </a:xfrm>
            <a:custGeom>
              <a:avLst/>
              <a:gdLst/>
              <a:ahLst/>
              <a:cxnLst/>
              <a:rect r="r" b="b" t="t" l="l"/>
              <a:pathLst>
                <a:path h="2839720" w="8382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255000" y="0"/>
                  </a:lnTo>
                  <a:cubicBezTo>
                    <a:pt x="8325104" y="0"/>
                    <a:pt x="8382000" y="56896"/>
                    <a:pt x="8382000" y="127000"/>
                  </a:cubicBezTo>
                  <a:lnTo>
                    <a:pt x="8382000" y="2712720"/>
                  </a:lnTo>
                  <a:cubicBezTo>
                    <a:pt x="8382000" y="2782824"/>
                    <a:pt x="8325104" y="2839720"/>
                    <a:pt x="8255000" y="2839720"/>
                  </a:cubicBezTo>
                  <a:lnTo>
                    <a:pt x="127000" y="2839720"/>
                  </a:lnTo>
                  <a:cubicBezTo>
                    <a:pt x="56896" y="2839720"/>
                    <a:pt x="0" y="2782824"/>
                    <a:pt x="0" y="2712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1493503" y="5799458"/>
            <a:ext cx="6151883" cy="31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150">
                <a:solidFill>
                  <a:srgbClr val="6B7280"/>
                </a:solidFill>
                <a:latin typeface="Poppins Bold"/>
                <a:ea typeface="Poppins Bold"/>
                <a:cs typeface="Poppins Bold"/>
                <a:sym typeface="Poppins Bold"/>
              </a:rPr>
              <a:t>POR REGIÓN NATURAL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431143" y="6329048"/>
            <a:ext cx="1320965" cy="61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17,6%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431143" y="6997703"/>
            <a:ext cx="1320965" cy="35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Sierra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693359" y="6329048"/>
            <a:ext cx="1359732" cy="61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16,3%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693359" y="6997703"/>
            <a:ext cx="1359732" cy="35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Selva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018469" y="6329048"/>
            <a:ext cx="1101128" cy="61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9DB2C4"/>
                </a:solidFill>
                <a:latin typeface="DM Sans Bold"/>
                <a:ea typeface="DM Sans Bold"/>
                <a:cs typeface="DM Sans Bold"/>
                <a:sym typeface="DM Sans Bold"/>
              </a:rPr>
              <a:t>7,3%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6018469" y="6997703"/>
            <a:ext cx="1101128" cy="35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Costa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047750" y="8170545"/>
            <a:ext cx="16383000" cy="1087755"/>
            <a:chOff x="0" y="0"/>
            <a:chExt cx="21844000" cy="14503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844000" cy="1450340"/>
            </a:xfrm>
            <a:custGeom>
              <a:avLst/>
              <a:gdLst/>
              <a:ahLst/>
              <a:cxnLst/>
              <a:rect r="r" b="b" t="t" l="l"/>
              <a:pathLst>
                <a:path h="1450340" w="21844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1767800" y="0"/>
                  </a:lnTo>
                  <a:cubicBezTo>
                    <a:pt x="21809838" y="0"/>
                    <a:pt x="21844000" y="34163"/>
                    <a:pt x="21844000" y="76200"/>
                  </a:cubicBezTo>
                  <a:lnTo>
                    <a:pt x="21844000" y="1374140"/>
                  </a:lnTo>
                  <a:cubicBezTo>
                    <a:pt x="21844000" y="1416177"/>
                    <a:pt x="21809838" y="1450340"/>
                    <a:pt x="21767800" y="1450340"/>
                  </a:cubicBezTo>
                  <a:lnTo>
                    <a:pt x="76200" y="1450340"/>
                  </a:lnTo>
                  <a:cubicBezTo>
                    <a:pt x="34163" y="1450340"/>
                    <a:pt x="0" y="1416177"/>
                    <a:pt x="0" y="1374140"/>
                  </a:cubicBezTo>
                  <a:close/>
                </a:path>
              </a:pathLst>
            </a:custGeom>
            <a:solidFill>
              <a:srgbClr val="F8A900">
                <a:alpha val="1176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47750" y="8170545"/>
            <a:ext cx="53340" cy="1087755"/>
            <a:chOff x="0" y="0"/>
            <a:chExt cx="71120" cy="14503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1120" cy="1450340"/>
            </a:xfrm>
            <a:custGeom>
              <a:avLst/>
              <a:gdLst/>
              <a:ahLst/>
              <a:cxnLst/>
              <a:rect r="r" b="b" t="t" l="l"/>
              <a:pathLst>
                <a:path h="1450340" w="71120">
                  <a:moveTo>
                    <a:pt x="0" y="0"/>
                  </a:moveTo>
                  <a:lnTo>
                    <a:pt x="71120" y="0"/>
                  </a:lnTo>
                  <a:lnTo>
                    <a:pt x="71120" y="1450340"/>
                  </a:lnTo>
                  <a:lnTo>
                    <a:pt x="0" y="1450340"/>
                  </a:ln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412243" y="8310248"/>
            <a:ext cx="16180108" cy="75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1950" b="true">
                <a:solidFill>
                  <a:srgbClr val="003865"/>
                </a:solidFill>
                <a:latin typeface="Poppins Bold"/>
                <a:ea typeface="Poppins Bold"/>
                <a:cs typeface="Poppins Bold"/>
                <a:sym typeface="Poppins Bold"/>
              </a:rPr>
              <a:t>Es un problema estructural y nacional: </a:t>
            </a:r>
            <a:r>
              <a:rPr lang="en-US" sz="195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ningún territorio está exento y los mismos determinantes —pobreza, bajo peso al nacer, anemia— se repiten en todo el país.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236189" y="492128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236189" y="801453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5678001" y="96170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1409700" y="-1790700"/>
            <a:ext cx="4152900" cy="4152900"/>
            <a:chOff x="0" y="0"/>
            <a:chExt cx="5537200" cy="553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37200" cy="5537200"/>
            </a:xfrm>
            <a:custGeom>
              <a:avLst/>
              <a:gdLst/>
              <a:ahLst/>
              <a:cxnLst/>
              <a:rect r="r" b="b" t="t" l="l"/>
              <a:pathLst>
                <a:path h="5537200" w="5537200">
                  <a:moveTo>
                    <a:pt x="0" y="2768600"/>
                  </a:moveTo>
                  <a:cubicBezTo>
                    <a:pt x="0" y="1239520"/>
                    <a:pt x="1239520" y="0"/>
                    <a:pt x="2768600" y="0"/>
                  </a:cubicBezTo>
                  <a:cubicBezTo>
                    <a:pt x="4297680" y="0"/>
                    <a:pt x="5537200" y="1239520"/>
                    <a:pt x="5537200" y="2768600"/>
                  </a:cubicBezTo>
                  <a:cubicBezTo>
                    <a:pt x="5537200" y="4297680"/>
                    <a:pt x="4297680" y="5537200"/>
                    <a:pt x="2768600" y="5537200"/>
                  </a:cubicBezTo>
                  <a:cubicBezTo>
                    <a:pt x="1239520" y="5537200"/>
                    <a:pt x="0" y="4297680"/>
                    <a:pt x="0" y="276860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152400" cap="sq">
              <a:solidFill>
                <a:srgbClr val="F8A9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47750" y="1050608"/>
            <a:ext cx="457200" cy="47625"/>
            <a:chOff x="0" y="0"/>
            <a:chExt cx="609600" cy="63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" cy="63500"/>
            </a:xfrm>
            <a:custGeom>
              <a:avLst/>
              <a:gdLst/>
              <a:ahLst/>
              <a:cxnLst/>
              <a:rect r="r" b="b" t="t" l="l"/>
              <a:pathLst>
                <a:path h="63500" w="609600">
                  <a:moveTo>
                    <a:pt x="0" y="31750"/>
                  </a:moveTo>
                  <a:cubicBezTo>
                    <a:pt x="0" y="14224"/>
                    <a:pt x="14224" y="0"/>
                    <a:pt x="31750" y="0"/>
                  </a:cubicBezTo>
                  <a:lnTo>
                    <a:pt x="577850" y="0"/>
                  </a:lnTo>
                  <a:cubicBezTo>
                    <a:pt x="595376" y="0"/>
                    <a:pt x="609600" y="14224"/>
                    <a:pt x="609600" y="31750"/>
                  </a:cubicBezTo>
                  <a:cubicBezTo>
                    <a:pt x="609600" y="49276"/>
                    <a:pt x="595376" y="63500"/>
                    <a:pt x="577850" y="63500"/>
                  </a:cubicBezTo>
                  <a:lnTo>
                    <a:pt x="31750" y="63500"/>
                  </a:lnTo>
                  <a:cubicBezTo>
                    <a:pt x="14224" y="63500"/>
                    <a:pt x="0" y="49276"/>
                    <a:pt x="0" y="3175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82753" y="930278"/>
            <a:ext cx="2334797" cy="31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375">
                <a:solidFill>
                  <a:srgbClr val="F8A9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PROBLEMÁTICA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3153" y="1431293"/>
            <a:ext cx="10530297" cy="66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7"/>
              </a:lnSpc>
            </a:pPr>
            <a:r>
              <a:rPr lang="en-US" b="true" sz="4950" spc="-75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La brecha en la respuesta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3153" y="2161261"/>
            <a:ext cx="10530297" cy="47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Las estrategias vigentes dejan tres vacíos que impiden actuar a tiempo.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7750" y="3238500"/>
            <a:ext cx="5245065" cy="3914775"/>
            <a:chOff x="0" y="0"/>
            <a:chExt cx="6993420" cy="5219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93382" cy="5219700"/>
            </a:xfrm>
            <a:custGeom>
              <a:avLst/>
              <a:gdLst/>
              <a:ahLst/>
              <a:cxnLst/>
              <a:rect r="r" b="b" t="t" l="l"/>
              <a:pathLst>
                <a:path h="5219700" w="6993382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840982" y="0"/>
                  </a:lnTo>
                  <a:cubicBezTo>
                    <a:pt x="6925183" y="0"/>
                    <a:pt x="6993382" y="68199"/>
                    <a:pt x="6993382" y="152400"/>
                  </a:cubicBezTo>
                  <a:lnTo>
                    <a:pt x="6993382" y="5067300"/>
                  </a:lnTo>
                  <a:cubicBezTo>
                    <a:pt x="6993382" y="5151501"/>
                    <a:pt x="6925183" y="5219700"/>
                    <a:pt x="6840982" y="5219700"/>
                  </a:cubicBezTo>
                  <a:lnTo>
                    <a:pt x="152400" y="5219700"/>
                  </a:lnTo>
                  <a:cubicBezTo>
                    <a:pt x="68199" y="5219700"/>
                    <a:pt x="0" y="5151501"/>
                    <a:pt x="0" y="5067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35103" y="3644903"/>
            <a:ext cx="4922472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8A9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5103" y="4397378"/>
            <a:ext cx="4922472" cy="40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5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Detección tardía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5103" y="4874581"/>
            <a:ext cx="4605995" cy="1178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195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El diagnóstico se confirma cuando la baja talla ya es visible e irreversible, no antes.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616665" y="3238500"/>
            <a:ext cx="5245179" cy="3914775"/>
            <a:chOff x="0" y="0"/>
            <a:chExt cx="6993572" cy="5219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93509" cy="5219700"/>
            </a:xfrm>
            <a:custGeom>
              <a:avLst/>
              <a:gdLst/>
              <a:ahLst/>
              <a:cxnLst/>
              <a:rect r="r" b="b" t="t" l="l"/>
              <a:pathLst>
                <a:path h="5219700" w="699350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841109" y="0"/>
                  </a:lnTo>
                  <a:cubicBezTo>
                    <a:pt x="6925310" y="0"/>
                    <a:pt x="6993509" y="68199"/>
                    <a:pt x="6993509" y="152400"/>
                  </a:cubicBezTo>
                  <a:lnTo>
                    <a:pt x="6993509" y="5067300"/>
                  </a:lnTo>
                  <a:cubicBezTo>
                    <a:pt x="6993509" y="5151501"/>
                    <a:pt x="6925310" y="5219700"/>
                    <a:pt x="6841109" y="5219700"/>
                  </a:cubicBezTo>
                  <a:lnTo>
                    <a:pt x="152400" y="5219700"/>
                  </a:lnTo>
                  <a:cubicBezTo>
                    <a:pt x="68199" y="5219700"/>
                    <a:pt x="0" y="5151501"/>
                    <a:pt x="0" y="5067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004009" y="3644903"/>
            <a:ext cx="4922606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8A9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04009" y="4397378"/>
            <a:ext cx="4606119" cy="77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5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Depende de medición clínica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04009" y="4826956"/>
            <a:ext cx="4606119" cy="153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195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Evaluar el riesgo exige antropometría, laboratorio y personal de salud: poco accesible para muchas familias.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185694" y="3238500"/>
            <a:ext cx="5245065" cy="3914775"/>
            <a:chOff x="0" y="0"/>
            <a:chExt cx="6993420" cy="5219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93382" cy="5219700"/>
            </a:xfrm>
            <a:custGeom>
              <a:avLst/>
              <a:gdLst/>
              <a:ahLst/>
              <a:cxnLst/>
              <a:rect r="r" b="b" t="t" l="l"/>
              <a:pathLst>
                <a:path h="5219700" w="6993382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840982" y="0"/>
                  </a:lnTo>
                  <a:cubicBezTo>
                    <a:pt x="6925183" y="0"/>
                    <a:pt x="6993382" y="68199"/>
                    <a:pt x="6993382" y="152400"/>
                  </a:cubicBezTo>
                  <a:lnTo>
                    <a:pt x="6993382" y="5067300"/>
                  </a:lnTo>
                  <a:cubicBezTo>
                    <a:pt x="6993382" y="5151501"/>
                    <a:pt x="6925183" y="5219700"/>
                    <a:pt x="6840982" y="5219700"/>
                  </a:cubicBezTo>
                  <a:lnTo>
                    <a:pt x="152400" y="5219700"/>
                  </a:lnTo>
                  <a:cubicBezTo>
                    <a:pt x="68199" y="5219700"/>
                    <a:pt x="0" y="5151501"/>
                    <a:pt x="0" y="5067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573038" y="3644903"/>
            <a:ext cx="4922472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8A9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73038" y="4397378"/>
            <a:ext cx="4702731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5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F</a:t>
            </a:r>
            <a:r>
              <a:rPr lang="en-US" sz="2550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alta de estimación temprana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73038" y="4826956"/>
            <a:ext cx="4605995" cy="298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195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No se cuenta con una herramienta accesible que integre los principales factores asociados y estime anticipadamente la probabilidad de riesgo de cada niño.</a:t>
            </a:r>
          </a:p>
          <a:p>
            <a:pPr algn="l">
              <a:lnSpc>
                <a:spcPts val="3393"/>
              </a:lnSpc>
            </a:pPr>
          </a:p>
          <a:p>
            <a:pPr algn="l">
              <a:lnSpc>
                <a:spcPts val="3393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047750" y="7877175"/>
            <a:ext cx="16383000" cy="1419225"/>
            <a:chOff x="0" y="0"/>
            <a:chExt cx="21844000" cy="18923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844000" cy="1892300"/>
            </a:xfrm>
            <a:custGeom>
              <a:avLst/>
              <a:gdLst/>
              <a:ahLst/>
              <a:cxnLst/>
              <a:rect r="r" b="b" t="t" l="l"/>
              <a:pathLst>
                <a:path h="1892300" w="21844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1691600" y="0"/>
                  </a:lnTo>
                  <a:cubicBezTo>
                    <a:pt x="21775801" y="0"/>
                    <a:pt x="21844000" y="68199"/>
                    <a:pt x="21844000" y="152400"/>
                  </a:cubicBezTo>
                  <a:lnTo>
                    <a:pt x="21844000" y="1739900"/>
                  </a:lnTo>
                  <a:cubicBezTo>
                    <a:pt x="21844000" y="1824101"/>
                    <a:pt x="21775801" y="1892300"/>
                    <a:pt x="21691600" y="1892300"/>
                  </a:cubicBezTo>
                  <a:lnTo>
                    <a:pt x="152400" y="1892300"/>
                  </a:lnTo>
                  <a:cubicBezTo>
                    <a:pt x="68199" y="1892300"/>
                    <a:pt x="0" y="1824101"/>
                    <a:pt x="0" y="173990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66850" y="8320088"/>
            <a:ext cx="533400" cy="533400"/>
            <a:chOff x="0" y="0"/>
            <a:chExt cx="7112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cubicBezTo>
                    <a:pt x="551942" y="0"/>
                    <a:pt x="711200" y="159258"/>
                    <a:pt x="711200" y="355600"/>
                  </a:cubicBezTo>
                  <a:cubicBezTo>
                    <a:pt x="711200" y="551942"/>
                    <a:pt x="551942" y="711200"/>
                    <a:pt x="355600" y="711200"/>
                  </a:cubicBezTo>
                  <a:cubicBezTo>
                    <a:pt x="159258" y="711200"/>
                    <a:pt x="0" y="551942"/>
                    <a:pt x="0" y="35560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28750" y="8320088"/>
            <a:ext cx="609600" cy="571500"/>
            <a:chOff x="0" y="0"/>
            <a:chExt cx="812800" cy="762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762000"/>
            </a:xfrm>
            <a:custGeom>
              <a:avLst/>
              <a:gdLst/>
              <a:ahLst/>
              <a:cxnLst/>
              <a:rect r="r" b="b" t="t" l="l"/>
              <a:pathLst>
                <a:path h="7620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0284" t="0" r="-7028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128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→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292353" y="8112128"/>
            <a:ext cx="15136244" cy="87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necesita una herramienta </a:t>
            </a:r>
            <a:r>
              <a:rPr lang="en-US" sz="2250" b="true">
                <a:solidFill>
                  <a:srgbClr val="F8A900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predictiva y accesible </a:t>
            </a:r>
            <a:r>
              <a:rPr lang="en-US" sz="2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 anticipe el riesgo antes de que sea irreversible.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080628" y="455324"/>
            <a:ext cx="18126" cy="835600"/>
            <a:chOff x="0" y="0"/>
            <a:chExt cx="24168" cy="111413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388589" y="644528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388589" y="953853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10520153" y="-6876874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824908" y="-7307647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18343" y="976103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2" y="0"/>
                </a:lnTo>
                <a:lnTo>
                  <a:pt x="6933752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2372" y="2262020"/>
            <a:ext cx="13698751" cy="1508760"/>
            <a:chOff x="0" y="0"/>
            <a:chExt cx="18265002" cy="2011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6500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8265001">
                  <a:moveTo>
                    <a:pt x="0" y="128016"/>
                  </a:moveTo>
                  <a:cubicBezTo>
                    <a:pt x="0" y="57277"/>
                    <a:pt x="47277" y="0"/>
                    <a:pt x="105665" y="0"/>
                  </a:cubicBezTo>
                  <a:lnTo>
                    <a:pt x="18159337" y="0"/>
                  </a:lnTo>
                  <a:cubicBezTo>
                    <a:pt x="18217724" y="0"/>
                    <a:pt x="18265001" y="57277"/>
                    <a:pt x="18265001" y="128016"/>
                  </a:cubicBezTo>
                  <a:lnTo>
                    <a:pt x="18265001" y="1883664"/>
                  </a:lnTo>
                  <a:cubicBezTo>
                    <a:pt x="18265001" y="1954403"/>
                    <a:pt x="18217724" y="2011680"/>
                    <a:pt x="18159337" y="2011680"/>
                  </a:cubicBezTo>
                  <a:lnTo>
                    <a:pt x="105665" y="2011680"/>
                  </a:lnTo>
                  <a:cubicBezTo>
                    <a:pt x="47277" y="2011680"/>
                    <a:pt x="0" y="1954403"/>
                    <a:pt x="0" y="188366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5E5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22119" y="2550056"/>
            <a:ext cx="803345" cy="822960"/>
            <a:chOff x="0" y="0"/>
            <a:chExt cx="1071127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1127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1127">
                  <a:moveTo>
                    <a:pt x="0" y="548640"/>
                  </a:moveTo>
                  <a:cubicBezTo>
                    <a:pt x="0" y="245618"/>
                    <a:pt x="239764" y="0"/>
                    <a:pt x="535564" y="0"/>
                  </a:cubicBezTo>
                  <a:cubicBezTo>
                    <a:pt x="831363" y="0"/>
                    <a:pt x="1071127" y="245618"/>
                    <a:pt x="1071127" y="548640"/>
                  </a:cubicBezTo>
                  <a:cubicBezTo>
                    <a:pt x="1071127" y="851662"/>
                    <a:pt x="831363" y="1097280"/>
                    <a:pt x="535564" y="1097280"/>
                  </a:cubicBezTo>
                  <a:cubicBezTo>
                    <a:pt x="239764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7F7F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962791" y="2372106"/>
            <a:ext cx="11717147" cy="519969"/>
            <a:chOff x="0" y="0"/>
            <a:chExt cx="15622863" cy="6932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622863" cy="693292"/>
            </a:xfrm>
            <a:custGeom>
              <a:avLst/>
              <a:gdLst/>
              <a:ahLst/>
              <a:cxnLst/>
              <a:rect r="r" b="b" t="t" l="l"/>
              <a:pathLst>
                <a:path h="693292" w="15622863">
                  <a:moveTo>
                    <a:pt x="0" y="0"/>
                  </a:moveTo>
                  <a:lnTo>
                    <a:pt x="15622863" y="0"/>
                  </a:lnTo>
                  <a:lnTo>
                    <a:pt x="15622863" y="693292"/>
                  </a:lnTo>
                  <a:lnTo>
                    <a:pt x="0" y="6932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0397" r="-25253" b="-48953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5622863" cy="712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b="true" sz="2124" spc="184">
                  <a:solidFill>
                    <a:srgbClr val="1E1E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Objetivo general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34779" y="2769512"/>
            <a:ext cx="12002983" cy="946938"/>
            <a:chOff x="0" y="0"/>
            <a:chExt cx="16003977" cy="12625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003978" cy="1262584"/>
            </a:xfrm>
            <a:custGeom>
              <a:avLst/>
              <a:gdLst/>
              <a:ahLst/>
              <a:cxnLst/>
              <a:rect r="r" b="b" t="t" l="l"/>
              <a:pathLst>
                <a:path h="1262584" w="16003978">
                  <a:moveTo>
                    <a:pt x="0" y="0"/>
                  </a:moveTo>
                  <a:lnTo>
                    <a:pt x="16003978" y="0"/>
                  </a:lnTo>
                  <a:lnTo>
                    <a:pt x="16003978" y="1262584"/>
                  </a:lnTo>
                  <a:lnTo>
                    <a:pt x="0" y="126258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54914" r="-22270" b="-24906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003977" cy="1310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08"/>
                </a:lnSpc>
              </a:pPr>
              <a:r>
                <a:rPr lang="en-US" sz="1600">
                  <a:solidFill>
                    <a:srgbClr val="21303A"/>
                  </a:solidFill>
                  <a:latin typeface="Poppins"/>
                  <a:ea typeface="Poppins"/>
                  <a:cs typeface="Poppins"/>
                  <a:sym typeface="Poppins"/>
                </a:rPr>
                <a:t>Desarrollar un Sistema de Predicción de Riesgo de Desnutrición Crónica Infantil en el Perú, entrenando y comparando distintos modelos de Machine Learning sobre datos nacionales, e interpretando sus resultados.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22353" y="4180044"/>
            <a:ext cx="3713789" cy="4119292"/>
            <a:chOff x="0" y="0"/>
            <a:chExt cx="4951718" cy="54923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51718" cy="5492389"/>
            </a:xfrm>
            <a:custGeom>
              <a:avLst/>
              <a:gdLst/>
              <a:ahLst/>
              <a:cxnLst/>
              <a:rect r="r" b="b" t="t" l="l"/>
              <a:pathLst>
                <a:path h="5492389" w="4951718">
                  <a:moveTo>
                    <a:pt x="0" y="99996"/>
                  </a:moveTo>
                  <a:cubicBezTo>
                    <a:pt x="0" y="44717"/>
                    <a:pt x="53094" y="0"/>
                    <a:pt x="118730" y="0"/>
                  </a:cubicBezTo>
                  <a:lnTo>
                    <a:pt x="4832989" y="0"/>
                  </a:lnTo>
                  <a:cubicBezTo>
                    <a:pt x="4898507" y="0"/>
                    <a:pt x="4951718" y="44717"/>
                    <a:pt x="4951718" y="99996"/>
                  </a:cubicBezTo>
                  <a:lnTo>
                    <a:pt x="4951718" y="5392393"/>
                  </a:lnTo>
                  <a:cubicBezTo>
                    <a:pt x="4951718" y="5447574"/>
                    <a:pt x="4898624" y="5492389"/>
                    <a:pt x="4832989" y="5492389"/>
                  </a:cubicBezTo>
                  <a:lnTo>
                    <a:pt x="118730" y="5492389"/>
                  </a:lnTo>
                  <a:cubicBezTo>
                    <a:pt x="53094" y="5492389"/>
                    <a:pt x="0" y="5447672"/>
                    <a:pt x="0" y="539239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7F7F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47600" y="3411426"/>
            <a:ext cx="1072879" cy="2859305"/>
            <a:chOff x="0" y="0"/>
            <a:chExt cx="1430505" cy="38124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30505" cy="3812406"/>
            </a:xfrm>
            <a:custGeom>
              <a:avLst/>
              <a:gdLst/>
              <a:ahLst/>
              <a:cxnLst/>
              <a:rect r="r" b="b" t="t" l="l"/>
              <a:pathLst>
                <a:path h="3812406" w="1430505">
                  <a:moveTo>
                    <a:pt x="0" y="0"/>
                  </a:moveTo>
                  <a:lnTo>
                    <a:pt x="1430505" y="0"/>
                  </a:lnTo>
                  <a:lnTo>
                    <a:pt x="1430505" y="3812406"/>
                  </a:lnTo>
                  <a:lnTo>
                    <a:pt x="0" y="38124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901" t="0" r="-60528" b="7361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430505" cy="3812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E8DCC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10098" y="5242031"/>
            <a:ext cx="3063295" cy="1028700"/>
            <a:chOff x="0" y="0"/>
            <a:chExt cx="4084394" cy="137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84394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84394">
                  <a:moveTo>
                    <a:pt x="0" y="0"/>
                  </a:moveTo>
                  <a:lnTo>
                    <a:pt x="4084394" y="0"/>
                  </a:lnTo>
                  <a:lnTo>
                    <a:pt x="408439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871" r="-8356" b="-1287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084394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1B3A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Analizar las variables determinantes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7600" y="6452709"/>
            <a:ext cx="3063295" cy="1783621"/>
            <a:chOff x="0" y="0"/>
            <a:chExt cx="4084394" cy="23781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84394" cy="2378161"/>
            </a:xfrm>
            <a:custGeom>
              <a:avLst/>
              <a:gdLst/>
              <a:ahLst/>
              <a:cxnLst/>
              <a:rect r="r" b="b" t="t" l="l"/>
              <a:pathLst>
                <a:path h="2378161" w="4084394">
                  <a:moveTo>
                    <a:pt x="0" y="0"/>
                  </a:moveTo>
                  <a:lnTo>
                    <a:pt x="4084394" y="0"/>
                  </a:lnTo>
                  <a:lnTo>
                    <a:pt x="4084394" y="2378161"/>
                  </a:lnTo>
                  <a:lnTo>
                    <a:pt x="0" y="237816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9121" t="0" r="-37478" b="-1150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084394" cy="242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6"/>
                </a:lnSpc>
              </a:pPr>
              <a:r>
                <a:rPr lang="en-US" sz="147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rPr>
                <a:t>Establecer los determinantes asociados a la DCI en el Perú a partir de microdatos oficiales a nivel nacional.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321093" y="4180044"/>
            <a:ext cx="3713789" cy="4119292"/>
            <a:chOff x="0" y="0"/>
            <a:chExt cx="4951718" cy="549238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51718" cy="5492389"/>
            </a:xfrm>
            <a:custGeom>
              <a:avLst/>
              <a:gdLst/>
              <a:ahLst/>
              <a:cxnLst/>
              <a:rect r="r" b="b" t="t" l="l"/>
              <a:pathLst>
                <a:path h="5492389" w="4951718">
                  <a:moveTo>
                    <a:pt x="0" y="99996"/>
                  </a:moveTo>
                  <a:cubicBezTo>
                    <a:pt x="0" y="44717"/>
                    <a:pt x="53094" y="0"/>
                    <a:pt x="118730" y="0"/>
                  </a:cubicBezTo>
                  <a:lnTo>
                    <a:pt x="4832989" y="0"/>
                  </a:lnTo>
                  <a:cubicBezTo>
                    <a:pt x="4898507" y="0"/>
                    <a:pt x="4951718" y="44717"/>
                    <a:pt x="4951718" y="99996"/>
                  </a:cubicBezTo>
                  <a:lnTo>
                    <a:pt x="4951718" y="5392393"/>
                  </a:lnTo>
                  <a:cubicBezTo>
                    <a:pt x="4951718" y="5447574"/>
                    <a:pt x="4898624" y="5492389"/>
                    <a:pt x="4832989" y="5492389"/>
                  </a:cubicBezTo>
                  <a:lnTo>
                    <a:pt x="118730" y="5492389"/>
                  </a:lnTo>
                  <a:cubicBezTo>
                    <a:pt x="53094" y="5492389"/>
                    <a:pt x="0" y="5447672"/>
                    <a:pt x="0" y="539239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5E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646340" y="3411426"/>
            <a:ext cx="1392407" cy="2859305"/>
            <a:chOff x="0" y="0"/>
            <a:chExt cx="1856543" cy="381240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56543" cy="3812406"/>
            </a:xfrm>
            <a:custGeom>
              <a:avLst/>
              <a:gdLst/>
              <a:ahLst/>
              <a:cxnLst/>
              <a:rect r="r" b="b" t="t" l="l"/>
              <a:pathLst>
                <a:path h="3812406" w="1856543">
                  <a:moveTo>
                    <a:pt x="0" y="0"/>
                  </a:moveTo>
                  <a:lnTo>
                    <a:pt x="1856543" y="0"/>
                  </a:lnTo>
                  <a:lnTo>
                    <a:pt x="1856543" y="3812406"/>
                  </a:lnTo>
                  <a:lnTo>
                    <a:pt x="0" y="38124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34" t="0" r="-23690" b="7361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856543" cy="3812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E8DCC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507099" y="5157309"/>
            <a:ext cx="3063295" cy="1028700"/>
            <a:chOff x="0" y="0"/>
            <a:chExt cx="4084394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84394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84394">
                  <a:moveTo>
                    <a:pt x="0" y="0"/>
                  </a:moveTo>
                  <a:lnTo>
                    <a:pt x="4084394" y="0"/>
                  </a:lnTo>
                  <a:lnTo>
                    <a:pt x="408439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871" r="-8356" b="-1287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084394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1B3A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Depurar y estructurar el corpus de datos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646340" y="6452709"/>
            <a:ext cx="3063295" cy="1783621"/>
            <a:chOff x="0" y="0"/>
            <a:chExt cx="4084394" cy="237816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84394" cy="2378161"/>
            </a:xfrm>
            <a:custGeom>
              <a:avLst/>
              <a:gdLst/>
              <a:ahLst/>
              <a:cxnLst/>
              <a:rect r="r" b="b" t="t" l="l"/>
              <a:pathLst>
                <a:path h="2378161" w="4084394">
                  <a:moveTo>
                    <a:pt x="0" y="0"/>
                  </a:moveTo>
                  <a:lnTo>
                    <a:pt x="4084394" y="0"/>
                  </a:lnTo>
                  <a:lnTo>
                    <a:pt x="4084394" y="2378161"/>
                  </a:lnTo>
                  <a:lnTo>
                    <a:pt x="0" y="237816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9121" t="0" r="-37478" b="-1150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084394" cy="242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6"/>
                </a:lnSpc>
              </a:pPr>
              <a:r>
                <a:rPr lang="en-US" sz="147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rPr>
                <a:t>Integrar el estado nutricional infantil de todo el país en una única base consistente, lista para el modelado.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19833" y="4180044"/>
            <a:ext cx="3713789" cy="4119292"/>
            <a:chOff x="0" y="0"/>
            <a:chExt cx="4951718" cy="54923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51718" cy="5492389"/>
            </a:xfrm>
            <a:custGeom>
              <a:avLst/>
              <a:gdLst/>
              <a:ahLst/>
              <a:cxnLst/>
              <a:rect r="r" b="b" t="t" l="l"/>
              <a:pathLst>
                <a:path h="5492389" w="4951718">
                  <a:moveTo>
                    <a:pt x="0" y="99996"/>
                  </a:moveTo>
                  <a:cubicBezTo>
                    <a:pt x="0" y="44717"/>
                    <a:pt x="53094" y="0"/>
                    <a:pt x="118730" y="0"/>
                  </a:cubicBezTo>
                  <a:lnTo>
                    <a:pt x="4832989" y="0"/>
                  </a:lnTo>
                  <a:cubicBezTo>
                    <a:pt x="4898507" y="0"/>
                    <a:pt x="4951718" y="44717"/>
                    <a:pt x="4951718" y="99996"/>
                  </a:cubicBezTo>
                  <a:lnTo>
                    <a:pt x="4951718" y="5392393"/>
                  </a:lnTo>
                  <a:cubicBezTo>
                    <a:pt x="4951718" y="5447574"/>
                    <a:pt x="4898624" y="5492389"/>
                    <a:pt x="4832989" y="5492389"/>
                  </a:cubicBezTo>
                  <a:lnTo>
                    <a:pt x="118730" y="5492389"/>
                  </a:lnTo>
                  <a:cubicBezTo>
                    <a:pt x="53094" y="5492389"/>
                    <a:pt x="0" y="5447672"/>
                    <a:pt x="0" y="539239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5E5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545079" y="3411426"/>
            <a:ext cx="1392407" cy="2859305"/>
            <a:chOff x="0" y="0"/>
            <a:chExt cx="1856543" cy="38124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56543" cy="3812406"/>
            </a:xfrm>
            <a:custGeom>
              <a:avLst/>
              <a:gdLst/>
              <a:ahLst/>
              <a:cxnLst/>
              <a:rect r="r" b="b" t="t" l="l"/>
              <a:pathLst>
                <a:path h="3812406" w="1856543">
                  <a:moveTo>
                    <a:pt x="0" y="0"/>
                  </a:moveTo>
                  <a:lnTo>
                    <a:pt x="1856543" y="0"/>
                  </a:lnTo>
                  <a:lnTo>
                    <a:pt x="1856543" y="3812406"/>
                  </a:lnTo>
                  <a:lnTo>
                    <a:pt x="0" y="38124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34" t="0" r="-23690" b="7361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856543" cy="3812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E8DCC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536289" y="5242031"/>
            <a:ext cx="3063295" cy="1088250"/>
            <a:chOff x="0" y="0"/>
            <a:chExt cx="4084394" cy="1451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84394" cy="1451000"/>
            </a:xfrm>
            <a:custGeom>
              <a:avLst/>
              <a:gdLst/>
              <a:ahLst/>
              <a:cxnLst/>
              <a:rect r="r" b="b" t="t" l="l"/>
              <a:pathLst>
                <a:path h="1451000" w="4084394">
                  <a:moveTo>
                    <a:pt x="0" y="0"/>
                  </a:moveTo>
                  <a:lnTo>
                    <a:pt x="4084394" y="0"/>
                  </a:lnTo>
                  <a:lnTo>
                    <a:pt x="4084394" y="1451000"/>
                  </a:lnTo>
                  <a:lnTo>
                    <a:pt x="0" y="14510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167" r="-8356" b="-66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4084394" cy="147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1B3A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Comparar algoritmos y seleccionar el modelo óptimo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545079" y="6452709"/>
            <a:ext cx="3063295" cy="1783621"/>
            <a:chOff x="0" y="0"/>
            <a:chExt cx="4084394" cy="237816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84394" cy="2378161"/>
            </a:xfrm>
            <a:custGeom>
              <a:avLst/>
              <a:gdLst/>
              <a:ahLst/>
              <a:cxnLst/>
              <a:rect r="r" b="b" t="t" l="l"/>
              <a:pathLst>
                <a:path h="2378161" w="4084394">
                  <a:moveTo>
                    <a:pt x="0" y="0"/>
                  </a:moveTo>
                  <a:lnTo>
                    <a:pt x="4084394" y="0"/>
                  </a:lnTo>
                  <a:lnTo>
                    <a:pt x="4084394" y="2378161"/>
                  </a:lnTo>
                  <a:lnTo>
                    <a:pt x="0" y="237816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9121" t="0" r="-37478" b="-1150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4084394" cy="242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6"/>
                </a:lnSpc>
              </a:pPr>
              <a:r>
                <a:rPr lang="en-US" sz="147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rPr>
                <a:t>Entrenar y evaluar varios modelos de Machine Learning sobre la base nacional para seleccionar el de mejor desempeño.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118572" y="4180044"/>
            <a:ext cx="3360530" cy="4119292"/>
            <a:chOff x="0" y="0"/>
            <a:chExt cx="4480706" cy="549238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480706" cy="5492389"/>
            </a:xfrm>
            <a:custGeom>
              <a:avLst/>
              <a:gdLst/>
              <a:ahLst/>
              <a:cxnLst/>
              <a:rect r="r" b="b" t="t" l="l"/>
              <a:pathLst>
                <a:path h="5492389" w="4480706">
                  <a:moveTo>
                    <a:pt x="0" y="99996"/>
                  </a:moveTo>
                  <a:cubicBezTo>
                    <a:pt x="0" y="44717"/>
                    <a:pt x="48044" y="0"/>
                    <a:pt x="107436" y="0"/>
                  </a:cubicBezTo>
                  <a:lnTo>
                    <a:pt x="4373270" y="0"/>
                  </a:lnTo>
                  <a:cubicBezTo>
                    <a:pt x="4432556" y="0"/>
                    <a:pt x="4480706" y="44717"/>
                    <a:pt x="4480706" y="99996"/>
                  </a:cubicBezTo>
                  <a:lnTo>
                    <a:pt x="4480706" y="5392393"/>
                  </a:lnTo>
                  <a:cubicBezTo>
                    <a:pt x="4480706" y="5447574"/>
                    <a:pt x="4432662" y="5492389"/>
                    <a:pt x="4373270" y="5492389"/>
                  </a:cubicBezTo>
                  <a:lnTo>
                    <a:pt x="107436" y="5492389"/>
                  </a:lnTo>
                  <a:cubicBezTo>
                    <a:pt x="48044" y="5492389"/>
                    <a:pt x="0" y="5447672"/>
                    <a:pt x="0" y="539239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5E5E5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443819" y="3411426"/>
            <a:ext cx="1392407" cy="2859305"/>
            <a:chOff x="0" y="0"/>
            <a:chExt cx="1856543" cy="38124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56543" cy="3812406"/>
            </a:xfrm>
            <a:custGeom>
              <a:avLst/>
              <a:gdLst/>
              <a:ahLst/>
              <a:cxnLst/>
              <a:rect r="r" b="b" t="t" l="l"/>
              <a:pathLst>
                <a:path h="3812406" w="1856543">
                  <a:moveTo>
                    <a:pt x="0" y="0"/>
                  </a:moveTo>
                  <a:lnTo>
                    <a:pt x="1856543" y="0"/>
                  </a:lnTo>
                  <a:lnTo>
                    <a:pt x="1856543" y="3812406"/>
                  </a:lnTo>
                  <a:lnTo>
                    <a:pt x="0" y="38124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34" t="0" r="-23690" b="7361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856543" cy="3812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E8DCC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274774" y="5157309"/>
            <a:ext cx="3063295" cy="1028700"/>
            <a:chOff x="0" y="0"/>
            <a:chExt cx="4084394" cy="1371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84394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84394">
                  <a:moveTo>
                    <a:pt x="0" y="0"/>
                  </a:moveTo>
                  <a:lnTo>
                    <a:pt x="4084394" y="0"/>
                  </a:lnTo>
                  <a:lnTo>
                    <a:pt x="4084394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871" r="-8356" b="-1287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4084394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1B3A4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Evaluar precisión y capacidad explicativa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443819" y="6452709"/>
            <a:ext cx="3063295" cy="1783621"/>
            <a:chOff x="0" y="0"/>
            <a:chExt cx="4084394" cy="237816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84394" cy="2378161"/>
            </a:xfrm>
            <a:custGeom>
              <a:avLst/>
              <a:gdLst/>
              <a:ahLst/>
              <a:cxnLst/>
              <a:rect r="r" b="b" t="t" l="l"/>
              <a:pathLst>
                <a:path h="2378161" w="4084394">
                  <a:moveTo>
                    <a:pt x="0" y="0"/>
                  </a:moveTo>
                  <a:lnTo>
                    <a:pt x="4084394" y="0"/>
                  </a:lnTo>
                  <a:lnTo>
                    <a:pt x="4084394" y="2378161"/>
                  </a:lnTo>
                  <a:lnTo>
                    <a:pt x="0" y="237816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9121" t="0" r="-37478" b="-1150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4084394" cy="242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6"/>
                </a:lnSpc>
              </a:pPr>
              <a:r>
                <a:rPr lang="en-US" sz="147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rPr>
                <a:t>Determinar la eficacia del modelo y su interpretabilidad geográfica mediante métricas de validación y SHAP.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039353" y="2701148"/>
            <a:ext cx="581053" cy="541832"/>
          </a:xfrm>
          <a:custGeom>
            <a:avLst/>
            <a:gdLst/>
            <a:ahLst/>
            <a:cxnLst/>
            <a:rect r="r" b="b" t="t" l="l"/>
            <a:pathLst>
              <a:path h="541832" w="581053">
                <a:moveTo>
                  <a:pt x="0" y="0"/>
                </a:moveTo>
                <a:lnTo>
                  <a:pt x="581053" y="0"/>
                </a:lnTo>
                <a:lnTo>
                  <a:pt x="581053" y="541832"/>
                </a:lnTo>
                <a:lnTo>
                  <a:pt x="0" y="5418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3592320" y="664089"/>
            <a:ext cx="7407135" cy="81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5"/>
              </a:lnSpc>
            </a:pPr>
            <a:r>
              <a:rPr lang="en-US" sz="6628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OBJETIVOS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8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5080628" y="455324"/>
            <a:ext cx="18126" cy="835600"/>
            <a:chOff x="0" y="0"/>
            <a:chExt cx="24168" cy="111413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69" id="69"/>
          <p:cNvSpPr txBox="true"/>
          <p:nvPr/>
        </p:nvSpPr>
        <p:spPr>
          <a:xfrm rot="0">
            <a:off x="14388589" y="644528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388589" y="953853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20322" y="903922"/>
            <a:ext cx="10154817" cy="81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5"/>
              </a:lnSpc>
            </a:pPr>
            <a:r>
              <a:rPr lang="en-US" sz="6628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Metodología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26166" y="2700480"/>
            <a:ext cx="16135000" cy="6407980"/>
          </a:xfrm>
          <a:custGeom>
            <a:avLst/>
            <a:gdLst/>
            <a:ahLst/>
            <a:cxnLst/>
            <a:rect r="r" b="b" t="t" l="l"/>
            <a:pathLst>
              <a:path h="6407980" w="16135000">
                <a:moveTo>
                  <a:pt x="0" y="0"/>
                </a:moveTo>
                <a:lnTo>
                  <a:pt x="16135000" y="0"/>
                </a:lnTo>
                <a:lnTo>
                  <a:pt x="16135000" y="6407980"/>
                </a:lnTo>
                <a:lnTo>
                  <a:pt x="0" y="64079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946" t="-997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9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080628" y="455324"/>
            <a:ext cx="18126" cy="835600"/>
            <a:chOff x="0" y="0"/>
            <a:chExt cx="24168" cy="11141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5233028" y="607724"/>
            <a:ext cx="18126" cy="835600"/>
            <a:chOff x="0" y="0"/>
            <a:chExt cx="24168" cy="11141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4540989" y="796928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40989" y="1106253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384565" y="5985967"/>
            <a:ext cx="66675" cy="495757"/>
            <a:chOff x="0" y="0"/>
            <a:chExt cx="88900" cy="6610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900" cy="661035"/>
            </a:xfrm>
            <a:custGeom>
              <a:avLst/>
              <a:gdLst/>
              <a:ahLst/>
              <a:cxnLst/>
              <a:rect r="r" b="b" t="t" l="l"/>
              <a:pathLst>
                <a:path h="661035" w="88900">
                  <a:moveTo>
                    <a:pt x="0" y="0"/>
                  </a:moveTo>
                  <a:lnTo>
                    <a:pt x="88900" y="661035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903992" t="0" r="-903992" b="3"/>
              </a:stretch>
            </a:blipFill>
            <a:ln w="66675" cap="sq">
              <a:solidFill>
                <a:srgbClr val="183685"/>
              </a:solidFill>
              <a:prstDash val="lgDash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707118" y="1510602"/>
            <a:ext cx="5839961" cy="7747698"/>
            <a:chOff x="0" y="0"/>
            <a:chExt cx="7786615" cy="10330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9708740"/>
              <a:ext cx="7760907" cy="621524"/>
            </a:xfrm>
            <a:custGeom>
              <a:avLst/>
              <a:gdLst/>
              <a:ahLst/>
              <a:cxnLst/>
              <a:rect r="r" b="b" t="t" l="l"/>
              <a:pathLst>
                <a:path h="621524" w="7760907">
                  <a:moveTo>
                    <a:pt x="0" y="0"/>
                  </a:moveTo>
                  <a:lnTo>
                    <a:pt x="7760907" y="0"/>
                  </a:lnTo>
                  <a:lnTo>
                    <a:pt x="7760907" y="621524"/>
                  </a:lnTo>
                  <a:lnTo>
                    <a:pt x="0" y="621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596" t="-1282932" r="-5442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60907" cy="9899468"/>
            </a:xfrm>
            <a:custGeom>
              <a:avLst/>
              <a:gdLst/>
              <a:ahLst/>
              <a:cxnLst/>
              <a:rect r="r" b="b" t="t" l="l"/>
              <a:pathLst>
                <a:path h="9899468" w="7760907">
                  <a:moveTo>
                    <a:pt x="0" y="0"/>
                  </a:moveTo>
                  <a:lnTo>
                    <a:pt x="7760907" y="0"/>
                  </a:lnTo>
                  <a:lnTo>
                    <a:pt x="7760907" y="9899468"/>
                  </a:lnTo>
                  <a:lnTo>
                    <a:pt x="0" y="9899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4183507" y="3454984"/>
              <a:ext cx="634776" cy="253910"/>
              <a:chOff x="0" y="0"/>
              <a:chExt cx="666750" cy="2667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36124" y="50800"/>
                <a:ext cx="579826" cy="188334"/>
              </a:xfrm>
              <a:custGeom>
                <a:avLst/>
                <a:gdLst/>
                <a:ahLst/>
                <a:cxnLst/>
                <a:rect r="r" b="b" t="t" l="l"/>
                <a:pathLst>
                  <a:path h="188334" w="579826">
                    <a:moveTo>
                      <a:pt x="14676" y="0"/>
                    </a:moveTo>
                    <a:cubicBezTo>
                      <a:pt x="539186" y="19050"/>
                      <a:pt x="549346" y="25400"/>
                      <a:pt x="560776" y="38100"/>
                    </a:cubicBezTo>
                    <a:cubicBezTo>
                      <a:pt x="572206" y="50800"/>
                      <a:pt x="579826" y="72390"/>
                      <a:pt x="579826" y="88900"/>
                    </a:cubicBezTo>
                    <a:cubicBezTo>
                      <a:pt x="579826" y="105410"/>
                      <a:pt x="572206" y="127000"/>
                      <a:pt x="559506" y="139700"/>
                    </a:cubicBezTo>
                    <a:cubicBezTo>
                      <a:pt x="545536" y="153670"/>
                      <a:pt x="493466" y="161290"/>
                      <a:pt x="493466" y="163830"/>
                    </a:cubicBezTo>
                    <a:cubicBezTo>
                      <a:pt x="493466" y="165100"/>
                      <a:pt x="501086" y="166370"/>
                      <a:pt x="503626" y="163830"/>
                    </a:cubicBezTo>
                    <a:cubicBezTo>
                      <a:pt x="513786" y="154940"/>
                      <a:pt x="484576" y="24130"/>
                      <a:pt x="503626" y="11430"/>
                    </a:cubicBezTo>
                    <a:cubicBezTo>
                      <a:pt x="515056" y="3810"/>
                      <a:pt x="548076" y="22860"/>
                      <a:pt x="560776" y="38100"/>
                    </a:cubicBezTo>
                    <a:cubicBezTo>
                      <a:pt x="573476" y="53340"/>
                      <a:pt x="579826" y="88900"/>
                      <a:pt x="577286" y="106680"/>
                    </a:cubicBezTo>
                    <a:cubicBezTo>
                      <a:pt x="576016" y="120650"/>
                      <a:pt x="568396" y="129540"/>
                      <a:pt x="559506" y="139700"/>
                    </a:cubicBezTo>
                    <a:cubicBezTo>
                      <a:pt x="549346" y="149860"/>
                      <a:pt x="537916" y="157480"/>
                      <a:pt x="511246" y="163830"/>
                    </a:cubicBezTo>
                    <a:cubicBezTo>
                      <a:pt x="433776" y="181610"/>
                      <a:pt x="74366" y="213360"/>
                      <a:pt x="14676" y="153670"/>
                    </a:cubicBezTo>
                    <a:cubicBezTo>
                      <a:pt x="-18344" y="119380"/>
                      <a:pt x="14676" y="0"/>
                      <a:pt x="14676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4831583" y="5113864"/>
              <a:ext cx="1458170" cy="273256"/>
              <a:chOff x="0" y="0"/>
              <a:chExt cx="1531620" cy="28702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36124" y="20357"/>
                <a:ext cx="1471366" cy="234445"/>
              </a:xfrm>
              <a:custGeom>
                <a:avLst/>
                <a:gdLst/>
                <a:ahLst/>
                <a:cxnLst/>
                <a:rect r="r" b="b" t="t" l="l"/>
                <a:pathLst>
                  <a:path h="234445" w="1471366">
                    <a:moveTo>
                      <a:pt x="14676" y="46953"/>
                    </a:moveTo>
                    <a:cubicBezTo>
                      <a:pt x="841446" y="60923"/>
                      <a:pt x="1359606" y="-52107"/>
                      <a:pt x="1444696" y="30443"/>
                    </a:cubicBezTo>
                    <a:cubicBezTo>
                      <a:pt x="1480256" y="64733"/>
                      <a:pt x="1480256" y="146013"/>
                      <a:pt x="1444696" y="182843"/>
                    </a:cubicBezTo>
                    <a:cubicBezTo>
                      <a:pt x="1359606" y="270473"/>
                      <a:pt x="841446" y="213323"/>
                      <a:pt x="583636" y="214593"/>
                    </a:cubicBezTo>
                    <a:cubicBezTo>
                      <a:pt x="374086" y="215863"/>
                      <a:pt x="79446" y="266663"/>
                      <a:pt x="14676" y="200623"/>
                    </a:cubicBezTo>
                    <a:cubicBezTo>
                      <a:pt x="-18344" y="166333"/>
                      <a:pt x="14676" y="46953"/>
                      <a:pt x="14676" y="46953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6226880" y="5064291"/>
              <a:ext cx="1559734" cy="298647"/>
              <a:chOff x="0" y="0"/>
              <a:chExt cx="1638300" cy="3136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36689" y="49031"/>
                <a:ext cx="1550811" cy="237293"/>
              </a:xfrm>
              <a:custGeom>
                <a:avLst/>
                <a:gdLst/>
                <a:ahLst/>
                <a:cxnLst/>
                <a:rect r="r" b="b" t="t" l="l"/>
                <a:pathLst>
                  <a:path h="237293" w="1550811">
                    <a:moveTo>
                      <a:pt x="14111" y="60189"/>
                    </a:moveTo>
                    <a:cubicBezTo>
                      <a:pt x="685941" y="44949"/>
                      <a:pt x="1163461" y="4309"/>
                      <a:pt x="1298081" y="1769"/>
                    </a:cubicBezTo>
                    <a:cubicBezTo>
                      <a:pt x="1339991" y="499"/>
                      <a:pt x="1348881" y="-2041"/>
                      <a:pt x="1380631" y="3039"/>
                    </a:cubicBezTo>
                    <a:cubicBezTo>
                      <a:pt x="1427621" y="11929"/>
                      <a:pt x="1550811" y="43679"/>
                      <a:pt x="1550811" y="62729"/>
                    </a:cubicBezTo>
                    <a:cubicBezTo>
                      <a:pt x="1550811" y="81779"/>
                      <a:pt x="1432701" y="94479"/>
                      <a:pt x="1407301" y="116069"/>
                    </a:cubicBezTo>
                    <a:cubicBezTo>
                      <a:pt x="1393331" y="128769"/>
                      <a:pt x="1402221" y="146549"/>
                      <a:pt x="1385711" y="156709"/>
                    </a:cubicBezTo>
                    <a:cubicBezTo>
                      <a:pt x="1339991" y="184649"/>
                      <a:pt x="1172351" y="156709"/>
                      <a:pt x="1044081" y="163059"/>
                    </a:cubicBezTo>
                    <a:cubicBezTo>
                      <a:pt x="873901" y="170679"/>
                      <a:pt x="638951" y="197349"/>
                      <a:pt x="456071" y="206239"/>
                    </a:cubicBezTo>
                    <a:cubicBezTo>
                      <a:pt x="298591" y="213859"/>
                      <a:pt x="68721" y="267199"/>
                      <a:pt x="14111" y="213859"/>
                    </a:cubicBezTo>
                    <a:cubicBezTo>
                      <a:pt x="-17639" y="182109"/>
                      <a:pt x="14111" y="60189"/>
                      <a:pt x="14111" y="60189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725491" y="5336338"/>
              <a:ext cx="949141" cy="253910"/>
              <a:chOff x="0" y="0"/>
              <a:chExt cx="996950" cy="2667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34431" y="60960"/>
                <a:ext cx="921131" cy="213452"/>
              </a:xfrm>
              <a:custGeom>
                <a:avLst/>
                <a:gdLst/>
                <a:ahLst/>
                <a:cxnLst/>
                <a:rect r="r" b="b" t="t" l="l"/>
                <a:pathLst>
                  <a:path h="213452" w="921131">
                    <a:moveTo>
                      <a:pt x="16369" y="0"/>
                    </a:moveTo>
                    <a:cubicBezTo>
                      <a:pt x="946009" y="24130"/>
                      <a:pt x="946009" y="105410"/>
                      <a:pt x="910449" y="142240"/>
                    </a:cubicBezTo>
                    <a:cubicBezTo>
                      <a:pt x="822819" y="229870"/>
                      <a:pt x="102729" y="240030"/>
                      <a:pt x="16369" y="153670"/>
                    </a:cubicBezTo>
                    <a:cubicBezTo>
                      <a:pt x="-20461" y="118110"/>
                      <a:pt x="16369" y="0"/>
                      <a:pt x="16369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1576695" y="5297647"/>
              <a:ext cx="1917627" cy="281719"/>
              <a:chOff x="0" y="0"/>
              <a:chExt cx="2014220" cy="29591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37253" y="13698"/>
                <a:ext cx="1951410" cy="251594"/>
              </a:xfrm>
              <a:custGeom>
                <a:avLst/>
                <a:gdLst/>
                <a:ahLst/>
                <a:cxnLst/>
                <a:rect r="r" b="b" t="t" l="l"/>
                <a:pathLst>
                  <a:path h="251594" w="1951410">
                    <a:moveTo>
                      <a:pt x="13547" y="77742"/>
                    </a:moveTo>
                    <a:cubicBezTo>
                      <a:pt x="550757" y="68852"/>
                      <a:pt x="807297" y="43452"/>
                      <a:pt x="1051137" y="37102"/>
                    </a:cubicBezTo>
                    <a:cubicBezTo>
                      <a:pt x="1325457" y="30752"/>
                      <a:pt x="1839807" y="-45448"/>
                      <a:pt x="1924897" y="40912"/>
                    </a:cubicBezTo>
                    <a:cubicBezTo>
                      <a:pt x="1960457" y="76472"/>
                      <a:pt x="1960457" y="157752"/>
                      <a:pt x="1923627" y="193312"/>
                    </a:cubicBezTo>
                    <a:cubicBezTo>
                      <a:pt x="1838537" y="278402"/>
                      <a:pt x="1327997" y="183152"/>
                      <a:pt x="1054947" y="189502"/>
                    </a:cubicBezTo>
                    <a:cubicBezTo>
                      <a:pt x="811107" y="195852"/>
                      <a:pt x="554567" y="221252"/>
                      <a:pt x="362797" y="227602"/>
                    </a:cubicBezTo>
                    <a:cubicBezTo>
                      <a:pt x="226907" y="231412"/>
                      <a:pt x="60537" y="277132"/>
                      <a:pt x="13547" y="231412"/>
                    </a:cubicBezTo>
                    <a:cubicBezTo>
                      <a:pt x="-16933" y="200932"/>
                      <a:pt x="13547" y="77742"/>
                      <a:pt x="13547" y="77742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3424195" y="5336338"/>
              <a:ext cx="2020400" cy="268419"/>
              <a:chOff x="0" y="0"/>
              <a:chExt cx="2122170" cy="28194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33867" y="34432"/>
                <a:ext cx="2058675" cy="239381"/>
              </a:xfrm>
              <a:custGeom>
                <a:avLst/>
                <a:gdLst/>
                <a:ahLst/>
                <a:cxnLst/>
                <a:rect r="r" b="b" t="t" l="l"/>
                <a:pathLst>
                  <a:path h="239381" w="2058675">
                    <a:moveTo>
                      <a:pt x="16933" y="37958"/>
                    </a:moveTo>
                    <a:cubicBezTo>
                      <a:pt x="1304713" y="37958"/>
                      <a:pt x="1453303" y="17638"/>
                      <a:pt x="1615863" y="16368"/>
                    </a:cubicBezTo>
                    <a:cubicBezTo>
                      <a:pt x="1761913" y="13828"/>
                      <a:pt x="1979083" y="-25542"/>
                      <a:pt x="2032423" y="27798"/>
                    </a:cubicBezTo>
                    <a:cubicBezTo>
                      <a:pt x="2065443" y="60818"/>
                      <a:pt x="2067983" y="148448"/>
                      <a:pt x="2036233" y="180198"/>
                    </a:cubicBezTo>
                    <a:cubicBezTo>
                      <a:pt x="1979083" y="237348"/>
                      <a:pt x="1700953" y="166228"/>
                      <a:pt x="1540933" y="168768"/>
                    </a:cubicBezTo>
                    <a:cubicBezTo>
                      <a:pt x="1389803" y="171308"/>
                      <a:pt x="1281853" y="190358"/>
                      <a:pt x="1102783" y="195438"/>
                    </a:cubicBezTo>
                    <a:cubicBezTo>
                      <a:pt x="822113" y="203058"/>
                      <a:pt x="115993" y="291958"/>
                      <a:pt x="16933" y="192898"/>
                    </a:cubicBezTo>
                    <a:cubicBezTo>
                      <a:pt x="-21167" y="154798"/>
                      <a:pt x="16933" y="37958"/>
                      <a:pt x="16933" y="37958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5496586" y="5319411"/>
              <a:ext cx="2209019" cy="284138"/>
              <a:chOff x="0" y="0"/>
              <a:chExt cx="2320290" cy="29845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34431" y="22406"/>
                <a:ext cx="2255684" cy="261854"/>
              </a:xfrm>
              <a:custGeom>
                <a:avLst/>
                <a:gdLst/>
                <a:ahLst/>
                <a:cxnLst/>
                <a:rect r="r" b="b" t="t" l="l"/>
                <a:pathLst>
                  <a:path h="261854" w="2255684">
                    <a:moveTo>
                      <a:pt x="16369" y="70304"/>
                    </a:moveTo>
                    <a:cubicBezTo>
                      <a:pt x="1160639" y="47444"/>
                      <a:pt x="1262239" y="30934"/>
                      <a:pt x="1433689" y="28394"/>
                    </a:cubicBezTo>
                    <a:cubicBezTo>
                      <a:pt x="1661019" y="23314"/>
                      <a:pt x="2137269" y="-40186"/>
                      <a:pt x="2223629" y="41094"/>
                    </a:cubicBezTo>
                    <a:cubicBezTo>
                      <a:pt x="2261729" y="76654"/>
                      <a:pt x="2266809" y="159204"/>
                      <a:pt x="2233789" y="193494"/>
                    </a:cubicBezTo>
                    <a:cubicBezTo>
                      <a:pt x="2158859" y="272234"/>
                      <a:pt x="1666099" y="175714"/>
                      <a:pt x="1437499" y="179524"/>
                    </a:cubicBezTo>
                    <a:cubicBezTo>
                      <a:pt x="1264779" y="183334"/>
                      <a:pt x="1163179" y="199844"/>
                      <a:pt x="984109" y="206194"/>
                    </a:cubicBezTo>
                    <a:cubicBezTo>
                      <a:pt x="722489" y="216354"/>
                      <a:pt x="109079" y="314144"/>
                      <a:pt x="16369" y="223974"/>
                    </a:cubicBezTo>
                    <a:cubicBezTo>
                      <a:pt x="-20461" y="188414"/>
                      <a:pt x="16369" y="70304"/>
                      <a:pt x="16369" y="70304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697682" y="5561230"/>
              <a:ext cx="872968" cy="258747"/>
              <a:chOff x="0" y="0"/>
              <a:chExt cx="916940" cy="27178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35929" y="49758"/>
                <a:ext cx="830191" cy="206458"/>
              </a:xfrm>
              <a:custGeom>
                <a:avLst/>
                <a:gdLst/>
                <a:ahLst/>
                <a:cxnLst/>
                <a:rect r="r" b="b" t="t" l="l"/>
                <a:pathLst>
                  <a:path h="206458" w="830191">
                    <a:moveTo>
                      <a:pt x="14871" y="16282"/>
                    </a:moveTo>
                    <a:cubicBezTo>
                      <a:pt x="742581" y="12472"/>
                      <a:pt x="754011" y="-228"/>
                      <a:pt x="771791" y="3582"/>
                    </a:cubicBezTo>
                    <a:cubicBezTo>
                      <a:pt x="789571" y="7392"/>
                      <a:pt x="807351" y="20092"/>
                      <a:pt x="816241" y="34062"/>
                    </a:cubicBezTo>
                    <a:cubicBezTo>
                      <a:pt x="826401" y="48032"/>
                      <a:pt x="831481" y="69622"/>
                      <a:pt x="828941" y="87402"/>
                    </a:cubicBezTo>
                    <a:cubicBezTo>
                      <a:pt x="827671" y="103912"/>
                      <a:pt x="817511" y="122962"/>
                      <a:pt x="804811" y="134392"/>
                    </a:cubicBezTo>
                    <a:cubicBezTo>
                      <a:pt x="792111" y="145822"/>
                      <a:pt x="764171" y="161062"/>
                      <a:pt x="754011" y="153442"/>
                    </a:cubicBezTo>
                    <a:cubicBezTo>
                      <a:pt x="736231" y="142012"/>
                      <a:pt x="737501" y="12472"/>
                      <a:pt x="755281" y="1042"/>
                    </a:cubicBezTo>
                    <a:cubicBezTo>
                      <a:pt x="767981" y="-5308"/>
                      <a:pt x="804811" y="18822"/>
                      <a:pt x="816241" y="34062"/>
                    </a:cubicBezTo>
                    <a:cubicBezTo>
                      <a:pt x="827671" y="48032"/>
                      <a:pt x="832751" y="69622"/>
                      <a:pt x="828941" y="87402"/>
                    </a:cubicBezTo>
                    <a:cubicBezTo>
                      <a:pt x="826401" y="106452"/>
                      <a:pt x="808621" y="131852"/>
                      <a:pt x="789571" y="144552"/>
                    </a:cubicBezTo>
                    <a:cubicBezTo>
                      <a:pt x="769251" y="159792"/>
                      <a:pt x="750201" y="162332"/>
                      <a:pt x="710831" y="167412"/>
                    </a:cubicBezTo>
                    <a:cubicBezTo>
                      <a:pt x="593991" y="183922"/>
                      <a:pt x="91071" y="244882"/>
                      <a:pt x="16141" y="169952"/>
                    </a:cubicBezTo>
                    <a:cubicBezTo>
                      <a:pt x="-19419" y="135662"/>
                      <a:pt x="14871" y="16282"/>
                      <a:pt x="14871" y="16282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00388" y="7847632"/>
              <a:ext cx="2407311" cy="325247"/>
              <a:chOff x="0" y="0"/>
              <a:chExt cx="2528570" cy="34163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33867" y="50800"/>
                <a:ext cx="2471208" cy="271190"/>
              </a:xfrm>
              <a:custGeom>
                <a:avLst/>
                <a:gdLst/>
                <a:ahLst/>
                <a:cxnLst/>
                <a:rect r="r" b="b" t="t" l="l"/>
                <a:pathLst>
                  <a:path h="271190" w="2471208">
                    <a:moveTo>
                      <a:pt x="16933" y="0"/>
                    </a:moveTo>
                    <a:cubicBezTo>
                      <a:pt x="1720003" y="20320"/>
                      <a:pt x="2343573" y="-20320"/>
                      <a:pt x="2442633" y="87630"/>
                    </a:cubicBezTo>
                    <a:cubicBezTo>
                      <a:pt x="2480733" y="127000"/>
                      <a:pt x="2480733" y="204470"/>
                      <a:pt x="2442633" y="240030"/>
                    </a:cubicBezTo>
                    <a:cubicBezTo>
                      <a:pt x="2334683" y="340360"/>
                      <a:pt x="1600623" y="167640"/>
                      <a:pt x="1190413" y="152400"/>
                    </a:cubicBezTo>
                    <a:cubicBezTo>
                      <a:pt x="792903" y="139700"/>
                      <a:pt x="121073" y="257810"/>
                      <a:pt x="16933" y="153670"/>
                    </a:cubicBezTo>
                    <a:cubicBezTo>
                      <a:pt x="-21167" y="115570"/>
                      <a:pt x="16933" y="0"/>
                      <a:pt x="16933" y="0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3820370" y="5262403"/>
              <a:ext cx="12091" cy="580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2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8851879" y="3356798"/>
            <a:ext cx="8027194" cy="5016996"/>
          </a:xfrm>
          <a:custGeom>
            <a:avLst/>
            <a:gdLst/>
            <a:ahLst/>
            <a:cxnLst/>
            <a:rect r="r" b="b" t="t" l="l"/>
            <a:pathLst>
              <a:path h="5016996" w="8027194">
                <a:moveTo>
                  <a:pt x="0" y="0"/>
                </a:moveTo>
                <a:lnTo>
                  <a:pt x="8027195" y="0"/>
                </a:lnTo>
                <a:lnTo>
                  <a:pt x="8027195" y="5016996"/>
                </a:lnTo>
                <a:lnTo>
                  <a:pt x="0" y="50169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968097" y="1019175"/>
            <a:ext cx="5809189" cy="33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  <a:spcBef>
                <a:spcPct val="0"/>
              </a:spcBef>
            </a:pPr>
            <a:r>
              <a:rPr lang="en-US" sz="218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Definición del Target (El problema a resolver)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9370" y="9302760"/>
            <a:ext cx="6564521" cy="35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2" tooltip="https://www.who.int/tools/child-growth-standards/software"/>
              </a:rPr>
              <a:t>https://www.who.int/tools/child-growth-standards/software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83440" y="2778088"/>
            <a:ext cx="4946291" cy="43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7"/>
              </a:lnSpc>
              <a:spcBef>
                <a:spcPct val="0"/>
              </a:spcBef>
            </a:pP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Mapeo Temático de Módulos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482973" y="282573"/>
            <a:ext cx="45004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7"/>
              </a:lnSpc>
              <a:spcBef>
                <a:spcPct val="0"/>
              </a:spcBef>
            </a:pPr>
            <a:r>
              <a:rPr lang="en-US" b="true" sz="2689">
                <a:solidFill>
                  <a:srgbClr val="12315F"/>
                </a:solidFill>
                <a:latin typeface="Poppins Bold"/>
                <a:ea typeface="Poppins Bold"/>
                <a:cs typeface="Poppins Bold"/>
                <a:sym typeface="Poppins Bold"/>
              </a:rPr>
              <a:t>Comprensión del negocio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10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5080628" y="455324"/>
            <a:ext cx="18126" cy="835600"/>
            <a:chOff x="0" y="0"/>
            <a:chExt cx="24168" cy="111413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5233028" y="607724"/>
            <a:ext cx="18126" cy="835600"/>
            <a:chOff x="0" y="0"/>
            <a:chExt cx="24168" cy="111413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4540989" y="796928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540989" y="1106253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533400" y="9820275"/>
            <a:ext cx="5537362" cy="31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3"/>
              </a:lnSpc>
            </a:pPr>
            <a:r>
              <a:rPr lang="en-US" sz="171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5" tooltip="https://www.who.int/tools/child-growth-standards/software"/>
              </a:rPr>
              <a:t>https://www.who.int/tools/child-growth-standards/software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716250" y="8191500"/>
            <a:ext cx="4000500" cy="4000500"/>
            <a:chOff x="0" y="0"/>
            <a:chExt cx="5334000" cy="533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5334000">
                  <a:moveTo>
                    <a:pt x="0" y="2667000"/>
                  </a:moveTo>
                  <a:cubicBezTo>
                    <a:pt x="0" y="1194054"/>
                    <a:pt x="1194054" y="0"/>
                    <a:pt x="2667000" y="0"/>
                  </a:cubicBezTo>
                  <a:cubicBezTo>
                    <a:pt x="4139946" y="0"/>
                    <a:pt x="5334000" y="1194054"/>
                    <a:pt x="5334000" y="2667000"/>
                  </a:cubicBezTo>
                  <a:cubicBezTo>
                    <a:pt x="5334000" y="4139946"/>
                    <a:pt x="4139946" y="5334000"/>
                    <a:pt x="2667000" y="5334000"/>
                  </a:cubicBezTo>
                  <a:cubicBezTo>
                    <a:pt x="1194054" y="5334000"/>
                    <a:pt x="0" y="4139946"/>
                    <a:pt x="0" y="2667000"/>
                  </a:cubicBezTo>
                  <a:close/>
                </a:path>
              </a:pathLst>
            </a:custGeom>
            <a:solidFill>
              <a:srgbClr val="003865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3400" y="463868"/>
            <a:ext cx="400050" cy="47625"/>
            <a:chOff x="0" y="0"/>
            <a:chExt cx="533400" cy="63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" cy="63500"/>
            </a:xfrm>
            <a:custGeom>
              <a:avLst/>
              <a:gdLst/>
              <a:ahLst/>
              <a:cxnLst/>
              <a:rect r="r" b="b" t="t" l="l"/>
              <a:pathLst>
                <a:path h="63500" w="533400">
                  <a:moveTo>
                    <a:pt x="0" y="31750"/>
                  </a:moveTo>
                  <a:cubicBezTo>
                    <a:pt x="0" y="14224"/>
                    <a:pt x="14224" y="0"/>
                    <a:pt x="31750" y="0"/>
                  </a:cubicBezTo>
                  <a:lnTo>
                    <a:pt x="501650" y="0"/>
                  </a:lnTo>
                  <a:cubicBezTo>
                    <a:pt x="519176" y="0"/>
                    <a:pt x="533400" y="14224"/>
                    <a:pt x="533400" y="31750"/>
                  </a:cubicBezTo>
                  <a:cubicBezTo>
                    <a:pt x="533400" y="49276"/>
                    <a:pt x="519176" y="63500"/>
                    <a:pt x="501650" y="63500"/>
                  </a:cubicBezTo>
                  <a:lnTo>
                    <a:pt x="31750" y="63500"/>
                  </a:lnTo>
                  <a:cubicBezTo>
                    <a:pt x="14224" y="63500"/>
                    <a:pt x="0" y="49276"/>
                    <a:pt x="0" y="3175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33400" y="1718310"/>
            <a:ext cx="4205288" cy="693420"/>
            <a:chOff x="0" y="0"/>
            <a:chExt cx="5607050" cy="92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7050" cy="924560"/>
            </a:xfrm>
            <a:custGeom>
              <a:avLst/>
              <a:gdLst/>
              <a:ahLst/>
              <a:cxnLst/>
              <a:rect r="r" b="b" t="t" l="l"/>
              <a:pathLst>
                <a:path h="924560" w="56070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492750" y="0"/>
                  </a:lnTo>
                  <a:cubicBezTo>
                    <a:pt x="5555869" y="0"/>
                    <a:pt x="5607050" y="51181"/>
                    <a:pt x="5607050" y="114300"/>
                  </a:cubicBezTo>
                  <a:lnTo>
                    <a:pt x="5607050" y="810260"/>
                  </a:lnTo>
                  <a:cubicBezTo>
                    <a:pt x="5607050" y="873379"/>
                    <a:pt x="5555869" y="924560"/>
                    <a:pt x="5492750" y="924560"/>
                  </a:cubicBezTo>
                  <a:lnTo>
                    <a:pt x="114300" y="924560"/>
                  </a:lnTo>
                  <a:cubicBezTo>
                    <a:pt x="51181" y="924560"/>
                    <a:pt x="0" y="873379"/>
                    <a:pt x="0" y="810260"/>
                  </a:cubicBezTo>
                  <a:close/>
                </a:path>
              </a:pathLst>
            </a:custGeom>
            <a:solidFill>
              <a:srgbClr val="EFEFE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04850" y="1889760"/>
            <a:ext cx="114300" cy="114300"/>
            <a:chOff x="0" y="0"/>
            <a:chExt cx="152400" cy="152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F8F5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872038" y="1718310"/>
            <a:ext cx="4205288" cy="693420"/>
            <a:chOff x="0" y="0"/>
            <a:chExt cx="5607050" cy="924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07050" cy="924560"/>
            </a:xfrm>
            <a:custGeom>
              <a:avLst/>
              <a:gdLst/>
              <a:ahLst/>
              <a:cxnLst/>
              <a:rect r="r" b="b" t="t" l="l"/>
              <a:pathLst>
                <a:path h="924560" w="56070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492750" y="0"/>
                  </a:lnTo>
                  <a:cubicBezTo>
                    <a:pt x="5555869" y="0"/>
                    <a:pt x="5607050" y="51181"/>
                    <a:pt x="5607050" y="114300"/>
                  </a:cubicBezTo>
                  <a:lnTo>
                    <a:pt x="5607050" y="810260"/>
                  </a:lnTo>
                  <a:cubicBezTo>
                    <a:pt x="5607050" y="873379"/>
                    <a:pt x="5555869" y="924560"/>
                    <a:pt x="5492750" y="924560"/>
                  </a:cubicBezTo>
                  <a:lnTo>
                    <a:pt x="114300" y="924560"/>
                  </a:lnTo>
                  <a:cubicBezTo>
                    <a:pt x="51181" y="924560"/>
                    <a:pt x="0" y="873379"/>
                    <a:pt x="0" y="810260"/>
                  </a:cubicBezTo>
                  <a:close/>
                </a:path>
              </a:pathLst>
            </a:custGeom>
            <a:solidFill>
              <a:srgbClr val="FBF1D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43488" y="1889760"/>
            <a:ext cx="114300" cy="114300"/>
            <a:chOff x="0" y="0"/>
            <a:chExt cx="152400" cy="152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10675" y="1718310"/>
            <a:ext cx="4205288" cy="693420"/>
            <a:chOff x="0" y="0"/>
            <a:chExt cx="5607050" cy="924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07050" cy="924560"/>
            </a:xfrm>
            <a:custGeom>
              <a:avLst/>
              <a:gdLst/>
              <a:ahLst/>
              <a:cxnLst/>
              <a:rect r="r" b="b" t="t" l="l"/>
              <a:pathLst>
                <a:path h="924560" w="56070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492750" y="0"/>
                  </a:lnTo>
                  <a:cubicBezTo>
                    <a:pt x="5555869" y="0"/>
                    <a:pt x="5607050" y="51181"/>
                    <a:pt x="5607050" y="114300"/>
                  </a:cubicBezTo>
                  <a:lnTo>
                    <a:pt x="5607050" y="810260"/>
                  </a:lnTo>
                  <a:cubicBezTo>
                    <a:pt x="5607050" y="873379"/>
                    <a:pt x="5555869" y="924560"/>
                    <a:pt x="5492750" y="924560"/>
                  </a:cubicBezTo>
                  <a:lnTo>
                    <a:pt x="114300" y="924560"/>
                  </a:lnTo>
                  <a:cubicBezTo>
                    <a:pt x="51181" y="924560"/>
                    <a:pt x="0" y="873379"/>
                    <a:pt x="0" y="810260"/>
                  </a:cubicBezTo>
                  <a:close/>
                </a:path>
              </a:pathLst>
            </a:custGeom>
            <a:solidFill>
              <a:srgbClr val="F7E7E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82125" y="1889760"/>
            <a:ext cx="114300" cy="114300"/>
            <a:chOff x="0" y="0"/>
            <a:chExt cx="152400" cy="152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C0504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549312" y="1718310"/>
            <a:ext cx="4205288" cy="693420"/>
            <a:chOff x="0" y="0"/>
            <a:chExt cx="5607050" cy="9245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07050" cy="924560"/>
            </a:xfrm>
            <a:custGeom>
              <a:avLst/>
              <a:gdLst/>
              <a:ahLst/>
              <a:cxnLst/>
              <a:rect r="r" b="b" t="t" l="l"/>
              <a:pathLst>
                <a:path h="924560" w="56070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492750" y="0"/>
                  </a:lnTo>
                  <a:cubicBezTo>
                    <a:pt x="5555869" y="0"/>
                    <a:pt x="5607050" y="51181"/>
                    <a:pt x="5607050" y="114300"/>
                  </a:cubicBezTo>
                  <a:lnTo>
                    <a:pt x="5607050" y="810260"/>
                  </a:lnTo>
                  <a:cubicBezTo>
                    <a:pt x="5607050" y="873379"/>
                    <a:pt x="5555869" y="924560"/>
                    <a:pt x="5492750" y="924560"/>
                  </a:cubicBezTo>
                  <a:lnTo>
                    <a:pt x="114300" y="924560"/>
                  </a:lnTo>
                  <a:cubicBezTo>
                    <a:pt x="51181" y="924560"/>
                    <a:pt x="0" y="873379"/>
                    <a:pt x="0" y="81026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20762" y="1889760"/>
            <a:ext cx="114300" cy="114300"/>
            <a:chOff x="0" y="0"/>
            <a:chExt cx="152400" cy="152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33400" y="2583180"/>
            <a:ext cx="5613321" cy="1482090"/>
            <a:chOff x="0" y="0"/>
            <a:chExt cx="7484428" cy="1976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84364" cy="1976120"/>
            </a:xfrm>
            <a:custGeom>
              <a:avLst/>
              <a:gdLst/>
              <a:ahLst/>
              <a:cxnLst/>
              <a:rect r="r" b="b" t="t" l="l"/>
              <a:pathLst>
                <a:path h="1976120" w="748436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364" y="0"/>
                  </a:lnTo>
                  <a:cubicBezTo>
                    <a:pt x="7427468" y="0"/>
                    <a:pt x="7484364" y="56896"/>
                    <a:pt x="7484364" y="127000"/>
                  </a:cubicBezTo>
                  <a:lnTo>
                    <a:pt x="7484364" y="1849120"/>
                  </a:lnTo>
                  <a:cubicBezTo>
                    <a:pt x="7484364" y="1919224"/>
                    <a:pt x="7427468" y="1976120"/>
                    <a:pt x="7357364" y="1976120"/>
                  </a:cubicBezTo>
                  <a:lnTo>
                    <a:pt x="127000" y="1976120"/>
                  </a:lnTo>
                  <a:cubicBezTo>
                    <a:pt x="56896" y="1976120"/>
                    <a:pt x="0" y="1919224"/>
                    <a:pt x="0" y="1849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04850" y="2810828"/>
            <a:ext cx="85725" cy="85725"/>
            <a:chOff x="0" y="0"/>
            <a:chExt cx="114300" cy="1143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2F8F5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402580" y="2735580"/>
            <a:ext cx="572691" cy="236220"/>
            <a:chOff x="0" y="0"/>
            <a:chExt cx="763588" cy="314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3651" cy="314960"/>
            </a:xfrm>
            <a:custGeom>
              <a:avLst/>
              <a:gdLst/>
              <a:ahLst/>
              <a:cxnLst/>
              <a:rect r="r" b="b" t="t" l="l"/>
              <a:pathLst>
                <a:path h="314960" w="763651">
                  <a:moveTo>
                    <a:pt x="0" y="157480"/>
                  </a:moveTo>
                  <a:cubicBezTo>
                    <a:pt x="0" y="70485"/>
                    <a:pt x="70485" y="0"/>
                    <a:pt x="157480" y="0"/>
                  </a:cubicBezTo>
                  <a:lnTo>
                    <a:pt x="606171" y="0"/>
                  </a:lnTo>
                  <a:cubicBezTo>
                    <a:pt x="693166" y="0"/>
                    <a:pt x="763651" y="70485"/>
                    <a:pt x="763651" y="157480"/>
                  </a:cubicBezTo>
                  <a:cubicBezTo>
                    <a:pt x="763651" y="244475"/>
                    <a:pt x="693166" y="314960"/>
                    <a:pt x="606171" y="314960"/>
                  </a:cubicBezTo>
                  <a:lnTo>
                    <a:pt x="157480" y="314960"/>
                  </a:lnTo>
                  <a:cubicBezTo>
                    <a:pt x="70485" y="314960"/>
                    <a:pt x="0" y="244475"/>
                    <a:pt x="0" y="15748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30253" y="3681098"/>
            <a:ext cx="574666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125" i="true">
                <a:solidFill>
                  <a:srgbClr val="6B7280"/>
                </a:solidFill>
                <a:latin typeface="Arial Italics"/>
                <a:ea typeface="Arial Italics"/>
                <a:cs typeface="Arial Italics"/>
                <a:sym typeface="Arial Italics"/>
              </a:rPr>
              <a:t>HC60 y HC51: cuidado con códigos 0 / 993–995 como falsos numéricos en joins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33400" y="4217670"/>
            <a:ext cx="5613321" cy="1482090"/>
            <a:chOff x="0" y="0"/>
            <a:chExt cx="7484428" cy="1976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84364" cy="1976120"/>
            </a:xfrm>
            <a:custGeom>
              <a:avLst/>
              <a:gdLst/>
              <a:ahLst/>
              <a:cxnLst/>
              <a:rect r="r" b="b" t="t" l="l"/>
              <a:pathLst>
                <a:path h="1976120" w="748436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364" y="0"/>
                  </a:lnTo>
                  <a:cubicBezTo>
                    <a:pt x="7427468" y="0"/>
                    <a:pt x="7484364" y="56896"/>
                    <a:pt x="7484364" y="127000"/>
                  </a:cubicBezTo>
                  <a:lnTo>
                    <a:pt x="7484364" y="1849120"/>
                  </a:lnTo>
                  <a:cubicBezTo>
                    <a:pt x="7484364" y="1919224"/>
                    <a:pt x="7427468" y="1976120"/>
                    <a:pt x="7357364" y="1976120"/>
                  </a:cubicBezTo>
                  <a:lnTo>
                    <a:pt x="127000" y="1976120"/>
                  </a:lnTo>
                  <a:cubicBezTo>
                    <a:pt x="56896" y="1976120"/>
                    <a:pt x="0" y="1919224"/>
                    <a:pt x="0" y="1849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04850" y="4445318"/>
            <a:ext cx="85725" cy="85725"/>
            <a:chOff x="0" y="0"/>
            <a:chExt cx="114300" cy="1143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2F8F5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402580" y="4370070"/>
            <a:ext cx="572691" cy="236220"/>
            <a:chOff x="0" y="0"/>
            <a:chExt cx="763588" cy="31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3651" cy="314960"/>
            </a:xfrm>
            <a:custGeom>
              <a:avLst/>
              <a:gdLst/>
              <a:ahLst/>
              <a:cxnLst/>
              <a:rect r="r" b="b" t="t" l="l"/>
              <a:pathLst>
                <a:path h="314960" w="763651">
                  <a:moveTo>
                    <a:pt x="0" y="157480"/>
                  </a:moveTo>
                  <a:cubicBezTo>
                    <a:pt x="0" y="70485"/>
                    <a:pt x="70485" y="0"/>
                    <a:pt x="157480" y="0"/>
                  </a:cubicBezTo>
                  <a:lnTo>
                    <a:pt x="606171" y="0"/>
                  </a:lnTo>
                  <a:cubicBezTo>
                    <a:pt x="693166" y="0"/>
                    <a:pt x="763651" y="70485"/>
                    <a:pt x="763651" y="157480"/>
                  </a:cubicBezTo>
                  <a:cubicBezTo>
                    <a:pt x="763651" y="244475"/>
                    <a:pt x="693166" y="314960"/>
                    <a:pt x="606171" y="314960"/>
                  </a:cubicBezTo>
                  <a:lnTo>
                    <a:pt x="157480" y="314960"/>
                  </a:lnTo>
                  <a:cubicBezTo>
                    <a:pt x="70485" y="314960"/>
                    <a:pt x="0" y="244475"/>
                    <a:pt x="0" y="15748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30253" y="5315588"/>
            <a:ext cx="574666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125" i="true">
                <a:solidFill>
                  <a:srgbClr val="6B7280"/>
                </a:solidFill>
                <a:latin typeface="Arial Italics"/>
                <a:ea typeface="Arial Italics"/>
                <a:cs typeface="Arial Italics"/>
                <a:sym typeface="Arial Italics"/>
              </a:rPr>
              <a:t>Mutaciones mayormente por traducción, series estables 18 años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33400" y="5852160"/>
            <a:ext cx="5613321" cy="1482090"/>
            <a:chOff x="0" y="0"/>
            <a:chExt cx="7484428" cy="1976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84364" cy="1976120"/>
            </a:xfrm>
            <a:custGeom>
              <a:avLst/>
              <a:gdLst/>
              <a:ahLst/>
              <a:cxnLst/>
              <a:rect r="r" b="b" t="t" l="l"/>
              <a:pathLst>
                <a:path h="1976120" w="748436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364" y="0"/>
                  </a:lnTo>
                  <a:cubicBezTo>
                    <a:pt x="7427468" y="0"/>
                    <a:pt x="7484364" y="56896"/>
                    <a:pt x="7484364" y="127000"/>
                  </a:cubicBezTo>
                  <a:lnTo>
                    <a:pt x="7484364" y="1849120"/>
                  </a:lnTo>
                  <a:cubicBezTo>
                    <a:pt x="7484364" y="1919224"/>
                    <a:pt x="7427468" y="1976120"/>
                    <a:pt x="7357364" y="1976120"/>
                  </a:cubicBezTo>
                  <a:lnTo>
                    <a:pt x="127000" y="1976120"/>
                  </a:lnTo>
                  <a:cubicBezTo>
                    <a:pt x="56896" y="1976120"/>
                    <a:pt x="0" y="1919224"/>
                    <a:pt x="0" y="1849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04850" y="6079808"/>
            <a:ext cx="85725" cy="85725"/>
            <a:chOff x="0" y="0"/>
            <a:chExt cx="114300" cy="1143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2F8F5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402580" y="6004560"/>
            <a:ext cx="572691" cy="236220"/>
            <a:chOff x="0" y="0"/>
            <a:chExt cx="763588" cy="314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3651" cy="314960"/>
            </a:xfrm>
            <a:custGeom>
              <a:avLst/>
              <a:gdLst/>
              <a:ahLst/>
              <a:cxnLst/>
              <a:rect r="r" b="b" t="t" l="l"/>
              <a:pathLst>
                <a:path h="314960" w="763651">
                  <a:moveTo>
                    <a:pt x="0" y="157480"/>
                  </a:moveTo>
                  <a:cubicBezTo>
                    <a:pt x="0" y="70485"/>
                    <a:pt x="70485" y="0"/>
                    <a:pt x="157480" y="0"/>
                  </a:cubicBezTo>
                  <a:lnTo>
                    <a:pt x="606171" y="0"/>
                  </a:lnTo>
                  <a:cubicBezTo>
                    <a:pt x="693166" y="0"/>
                    <a:pt x="763651" y="70485"/>
                    <a:pt x="763651" y="157480"/>
                  </a:cubicBezTo>
                  <a:cubicBezTo>
                    <a:pt x="763651" y="244475"/>
                    <a:pt x="693166" y="314960"/>
                    <a:pt x="606171" y="314960"/>
                  </a:cubicBezTo>
                  <a:lnTo>
                    <a:pt x="157480" y="314960"/>
                  </a:lnTo>
                  <a:cubicBezTo>
                    <a:pt x="70485" y="314960"/>
                    <a:pt x="0" y="244475"/>
                    <a:pt x="0" y="15748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730253" y="6950078"/>
            <a:ext cx="5746661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125" i="true">
                <a:solidFill>
                  <a:srgbClr val="6B7280"/>
                </a:solidFill>
                <a:latin typeface="Arial Italics"/>
                <a:ea typeface="Arial Italics"/>
                <a:cs typeface="Arial Italics"/>
                <a:sym typeface="Arial Italics"/>
              </a:rPr>
              <a:t>HC68 candidata a DROP tras evaluar correlación con HC61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337221" y="2583180"/>
            <a:ext cx="5613444" cy="1406842"/>
            <a:chOff x="0" y="0"/>
            <a:chExt cx="7484593" cy="187579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484618" cy="1875790"/>
            </a:xfrm>
            <a:custGeom>
              <a:avLst/>
              <a:gdLst/>
              <a:ahLst/>
              <a:cxnLst/>
              <a:rect r="r" b="b" t="t" l="l"/>
              <a:pathLst>
                <a:path h="1875790" w="748461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618" y="0"/>
                  </a:lnTo>
                  <a:cubicBezTo>
                    <a:pt x="7427723" y="0"/>
                    <a:pt x="7484618" y="56896"/>
                    <a:pt x="7484618" y="127000"/>
                  </a:cubicBezTo>
                  <a:lnTo>
                    <a:pt x="7484618" y="1748790"/>
                  </a:lnTo>
                  <a:cubicBezTo>
                    <a:pt x="7484618" y="1818894"/>
                    <a:pt x="7427723" y="1875790"/>
                    <a:pt x="7357618" y="1875790"/>
                  </a:cubicBezTo>
                  <a:lnTo>
                    <a:pt x="127000" y="1875790"/>
                  </a:lnTo>
                  <a:cubicBezTo>
                    <a:pt x="56896" y="1875790"/>
                    <a:pt x="0" y="1818894"/>
                    <a:pt x="0" y="17487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508671" y="2810828"/>
            <a:ext cx="85725" cy="85725"/>
            <a:chOff x="0" y="0"/>
            <a:chExt cx="114300" cy="1143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2F8F5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206515" y="2735580"/>
            <a:ext cx="572691" cy="236220"/>
            <a:chOff x="0" y="0"/>
            <a:chExt cx="763588" cy="314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3651" cy="314960"/>
            </a:xfrm>
            <a:custGeom>
              <a:avLst/>
              <a:gdLst/>
              <a:ahLst/>
              <a:cxnLst/>
              <a:rect r="r" b="b" t="t" l="l"/>
              <a:pathLst>
                <a:path h="314960" w="763651">
                  <a:moveTo>
                    <a:pt x="0" y="157480"/>
                  </a:moveTo>
                  <a:cubicBezTo>
                    <a:pt x="0" y="70485"/>
                    <a:pt x="70485" y="0"/>
                    <a:pt x="157480" y="0"/>
                  </a:cubicBezTo>
                  <a:lnTo>
                    <a:pt x="606171" y="0"/>
                  </a:lnTo>
                  <a:cubicBezTo>
                    <a:pt x="693166" y="0"/>
                    <a:pt x="763651" y="70485"/>
                    <a:pt x="763651" y="157480"/>
                  </a:cubicBezTo>
                  <a:cubicBezTo>
                    <a:pt x="763651" y="244475"/>
                    <a:pt x="693166" y="314960"/>
                    <a:pt x="606171" y="314960"/>
                  </a:cubicBezTo>
                  <a:lnTo>
                    <a:pt x="157480" y="314960"/>
                  </a:lnTo>
                  <a:cubicBezTo>
                    <a:pt x="70485" y="314960"/>
                    <a:pt x="0" y="244475"/>
                    <a:pt x="0" y="15748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337221" y="4142422"/>
            <a:ext cx="5613444" cy="1482090"/>
            <a:chOff x="0" y="0"/>
            <a:chExt cx="7484593" cy="19761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484618" cy="1976120"/>
            </a:xfrm>
            <a:custGeom>
              <a:avLst/>
              <a:gdLst/>
              <a:ahLst/>
              <a:cxnLst/>
              <a:rect r="r" b="b" t="t" l="l"/>
              <a:pathLst>
                <a:path h="1976120" w="748461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618" y="0"/>
                  </a:lnTo>
                  <a:cubicBezTo>
                    <a:pt x="7427723" y="0"/>
                    <a:pt x="7484618" y="56896"/>
                    <a:pt x="7484618" y="127000"/>
                  </a:cubicBezTo>
                  <a:lnTo>
                    <a:pt x="7484618" y="1849120"/>
                  </a:lnTo>
                  <a:cubicBezTo>
                    <a:pt x="7484618" y="1919224"/>
                    <a:pt x="7427723" y="1976120"/>
                    <a:pt x="7357618" y="1976120"/>
                  </a:cubicBezTo>
                  <a:lnTo>
                    <a:pt x="127000" y="1976120"/>
                  </a:lnTo>
                  <a:cubicBezTo>
                    <a:pt x="56896" y="1976120"/>
                    <a:pt x="0" y="1919224"/>
                    <a:pt x="0" y="1849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508671" y="4370070"/>
            <a:ext cx="85725" cy="85725"/>
            <a:chOff x="0" y="0"/>
            <a:chExt cx="114300" cy="1143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2F8F5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132344" y="4294822"/>
            <a:ext cx="646871" cy="236220"/>
            <a:chOff x="0" y="0"/>
            <a:chExt cx="862495" cy="314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62457" cy="314960"/>
            </a:xfrm>
            <a:custGeom>
              <a:avLst/>
              <a:gdLst/>
              <a:ahLst/>
              <a:cxnLst/>
              <a:rect r="r" b="b" t="t" l="l"/>
              <a:pathLst>
                <a:path h="314960" w="862457">
                  <a:moveTo>
                    <a:pt x="0" y="157480"/>
                  </a:moveTo>
                  <a:cubicBezTo>
                    <a:pt x="0" y="70485"/>
                    <a:pt x="70485" y="0"/>
                    <a:pt x="157480" y="0"/>
                  </a:cubicBezTo>
                  <a:lnTo>
                    <a:pt x="704977" y="0"/>
                  </a:lnTo>
                  <a:cubicBezTo>
                    <a:pt x="791972" y="0"/>
                    <a:pt x="862457" y="70485"/>
                    <a:pt x="862457" y="157480"/>
                  </a:cubicBezTo>
                  <a:cubicBezTo>
                    <a:pt x="862457" y="244475"/>
                    <a:pt x="791972" y="314960"/>
                    <a:pt x="704977" y="314960"/>
                  </a:cubicBezTo>
                  <a:lnTo>
                    <a:pt x="157480" y="314960"/>
                  </a:lnTo>
                  <a:cubicBezTo>
                    <a:pt x="70485" y="314960"/>
                    <a:pt x="0" y="244475"/>
                    <a:pt x="0" y="15748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6534074" y="5240341"/>
            <a:ext cx="5746794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125" i="true">
                <a:solidFill>
                  <a:srgbClr val="6B7280"/>
                </a:solidFill>
                <a:latin typeface="Arial Italics"/>
                <a:ea typeface="Arial Italics"/>
                <a:cs typeface="Arial Italics"/>
                <a:sym typeface="Arial Italics"/>
              </a:rPr>
              <a:t>Códigos 9996–9998 / 99998 deben mapearse a NaN antes de dividir entre 100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6337221" y="5776912"/>
            <a:ext cx="5613444" cy="1482090"/>
            <a:chOff x="0" y="0"/>
            <a:chExt cx="7484593" cy="1976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484618" cy="1976120"/>
            </a:xfrm>
            <a:custGeom>
              <a:avLst/>
              <a:gdLst/>
              <a:ahLst/>
              <a:cxnLst/>
              <a:rect r="r" b="b" t="t" l="l"/>
              <a:pathLst>
                <a:path h="1976120" w="748461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618" y="0"/>
                  </a:lnTo>
                  <a:cubicBezTo>
                    <a:pt x="7427723" y="0"/>
                    <a:pt x="7484618" y="56896"/>
                    <a:pt x="7484618" y="127000"/>
                  </a:cubicBezTo>
                  <a:lnTo>
                    <a:pt x="7484618" y="1849120"/>
                  </a:lnTo>
                  <a:cubicBezTo>
                    <a:pt x="7484618" y="1919224"/>
                    <a:pt x="7427723" y="1976120"/>
                    <a:pt x="7357618" y="1976120"/>
                  </a:cubicBezTo>
                  <a:lnTo>
                    <a:pt x="127000" y="1976120"/>
                  </a:lnTo>
                  <a:cubicBezTo>
                    <a:pt x="56896" y="1976120"/>
                    <a:pt x="0" y="1919224"/>
                    <a:pt x="0" y="18491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508671" y="6004560"/>
            <a:ext cx="85725" cy="85725"/>
            <a:chOff x="0" y="0"/>
            <a:chExt cx="114300" cy="1143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2F8F5B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206515" y="5929312"/>
            <a:ext cx="572691" cy="236220"/>
            <a:chOff x="0" y="0"/>
            <a:chExt cx="763588" cy="3149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3651" cy="314960"/>
            </a:xfrm>
            <a:custGeom>
              <a:avLst/>
              <a:gdLst/>
              <a:ahLst/>
              <a:cxnLst/>
              <a:rect r="r" b="b" t="t" l="l"/>
              <a:pathLst>
                <a:path h="314960" w="763651">
                  <a:moveTo>
                    <a:pt x="0" y="157480"/>
                  </a:moveTo>
                  <a:cubicBezTo>
                    <a:pt x="0" y="70485"/>
                    <a:pt x="70485" y="0"/>
                    <a:pt x="157480" y="0"/>
                  </a:cubicBezTo>
                  <a:lnTo>
                    <a:pt x="606171" y="0"/>
                  </a:lnTo>
                  <a:cubicBezTo>
                    <a:pt x="693166" y="0"/>
                    <a:pt x="763651" y="70485"/>
                    <a:pt x="763651" y="157480"/>
                  </a:cubicBezTo>
                  <a:cubicBezTo>
                    <a:pt x="763651" y="244475"/>
                    <a:pt x="693166" y="314960"/>
                    <a:pt x="606171" y="314960"/>
                  </a:cubicBezTo>
                  <a:lnTo>
                    <a:pt x="157480" y="314960"/>
                  </a:lnTo>
                  <a:cubicBezTo>
                    <a:pt x="70485" y="314960"/>
                    <a:pt x="0" y="244475"/>
                    <a:pt x="0" y="15748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6534074" y="6874831"/>
            <a:ext cx="5746794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125" i="true">
                <a:solidFill>
                  <a:srgbClr val="6B7280"/>
                </a:solidFill>
                <a:latin typeface="Arial Italics"/>
                <a:ea typeface="Arial Italics"/>
                <a:cs typeface="Arial Italics"/>
                <a:sym typeface="Arial Italics"/>
              </a:rPr>
              <a:t>HC13 es clave para analizar sesgo MNAR en nulos de peso/talla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141156" y="2583180"/>
            <a:ext cx="5613444" cy="1190625"/>
            <a:chOff x="0" y="0"/>
            <a:chExt cx="7484593" cy="15875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484618" cy="1587500"/>
            </a:xfrm>
            <a:custGeom>
              <a:avLst/>
              <a:gdLst/>
              <a:ahLst/>
              <a:cxnLst/>
              <a:rect r="r" b="b" t="t" l="l"/>
              <a:pathLst>
                <a:path h="1587500" w="748461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618" y="0"/>
                  </a:lnTo>
                  <a:cubicBezTo>
                    <a:pt x="7427723" y="0"/>
                    <a:pt x="7484618" y="56896"/>
                    <a:pt x="7484618" y="127000"/>
                  </a:cubicBezTo>
                  <a:lnTo>
                    <a:pt x="7484618" y="1460500"/>
                  </a:lnTo>
                  <a:cubicBezTo>
                    <a:pt x="7484618" y="1530604"/>
                    <a:pt x="7427723" y="1587500"/>
                    <a:pt x="7357618" y="1587500"/>
                  </a:cubicBezTo>
                  <a:lnTo>
                    <a:pt x="127000" y="1587500"/>
                  </a:lnTo>
                  <a:cubicBezTo>
                    <a:pt x="56896" y="1587500"/>
                    <a:pt x="0" y="1530604"/>
                    <a:pt x="0" y="1460500"/>
                  </a:cubicBezTo>
                  <a:close/>
                </a:path>
              </a:pathLst>
            </a:custGeom>
            <a:solidFill>
              <a:srgbClr val="F7E7E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312606" y="2810828"/>
            <a:ext cx="85725" cy="85725"/>
            <a:chOff x="0" y="0"/>
            <a:chExt cx="114300" cy="1143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504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7077134" y="2735580"/>
            <a:ext cx="506016" cy="236220"/>
            <a:chOff x="0" y="0"/>
            <a:chExt cx="674688" cy="3149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74751" cy="314960"/>
            </a:xfrm>
            <a:custGeom>
              <a:avLst/>
              <a:gdLst/>
              <a:ahLst/>
              <a:cxnLst/>
              <a:rect r="r" b="b" t="t" l="l"/>
              <a:pathLst>
                <a:path h="314960" w="674751">
                  <a:moveTo>
                    <a:pt x="0" y="157480"/>
                  </a:moveTo>
                  <a:cubicBezTo>
                    <a:pt x="0" y="70485"/>
                    <a:pt x="70485" y="0"/>
                    <a:pt x="157480" y="0"/>
                  </a:cubicBezTo>
                  <a:lnTo>
                    <a:pt x="517271" y="0"/>
                  </a:lnTo>
                  <a:cubicBezTo>
                    <a:pt x="604266" y="0"/>
                    <a:pt x="674751" y="70485"/>
                    <a:pt x="674751" y="157480"/>
                  </a:cubicBezTo>
                  <a:cubicBezTo>
                    <a:pt x="674751" y="244475"/>
                    <a:pt x="604266" y="314960"/>
                    <a:pt x="517271" y="314960"/>
                  </a:cubicBezTo>
                  <a:lnTo>
                    <a:pt x="157480" y="314960"/>
                  </a:lnTo>
                  <a:cubicBezTo>
                    <a:pt x="70485" y="314960"/>
                    <a:pt x="0" y="244475"/>
                    <a:pt x="0" y="157480"/>
                  </a:cubicBezTo>
                  <a:close/>
                </a:path>
              </a:pathLst>
            </a:custGeom>
            <a:solidFill>
              <a:srgbClr val="C0504D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141156" y="3926205"/>
            <a:ext cx="5613444" cy="1682115"/>
            <a:chOff x="0" y="0"/>
            <a:chExt cx="7484593" cy="22428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484618" cy="2242820"/>
            </a:xfrm>
            <a:custGeom>
              <a:avLst/>
              <a:gdLst/>
              <a:ahLst/>
              <a:cxnLst/>
              <a:rect r="r" b="b" t="t" l="l"/>
              <a:pathLst>
                <a:path h="2242820" w="748461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618" y="0"/>
                  </a:lnTo>
                  <a:cubicBezTo>
                    <a:pt x="7427723" y="0"/>
                    <a:pt x="7484618" y="56896"/>
                    <a:pt x="7484618" y="127000"/>
                  </a:cubicBezTo>
                  <a:lnTo>
                    <a:pt x="7484618" y="2115820"/>
                  </a:lnTo>
                  <a:cubicBezTo>
                    <a:pt x="7484618" y="2185924"/>
                    <a:pt x="7427723" y="2242820"/>
                    <a:pt x="7357618" y="2242820"/>
                  </a:cubicBezTo>
                  <a:lnTo>
                    <a:pt x="127000" y="2242820"/>
                  </a:lnTo>
                  <a:cubicBezTo>
                    <a:pt x="56896" y="2242820"/>
                    <a:pt x="0" y="2185924"/>
                    <a:pt x="0" y="2115820"/>
                  </a:cubicBezTo>
                  <a:close/>
                </a:path>
              </a:pathLst>
            </a:custGeom>
            <a:solidFill>
              <a:srgbClr val="FBF1DC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312606" y="4153853"/>
            <a:ext cx="85725" cy="85725"/>
            <a:chOff x="0" y="0"/>
            <a:chExt cx="114300" cy="1143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7010459" y="4078605"/>
            <a:ext cx="572691" cy="236220"/>
            <a:chOff x="0" y="0"/>
            <a:chExt cx="763588" cy="3149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63651" cy="314960"/>
            </a:xfrm>
            <a:custGeom>
              <a:avLst/>
              <a:gdLst/>
              <a:ahLst/>
              <a:cxnLst/>
              <a:rect r="r" b="b" t="t" l="l"/>
              <a:pathLst>
                <a:path h="314960" w="763651">
                  <a:moveTo>
                    <a:pt x="0" y="157480"/>
                  </a:moveTo>
                  <a:cubicBezTo>
                    <a:pt x="0" y="70485"/>
                    <a:pt x="70485" y="0"/>
                    <a:pt x="157480" y="0"/>
                  </a:cubicBezTo>
                  <a:lnTo>
                    <a:pt x="606171" y="0"/>
                  </a:lnTo>
                  <a:cubicBezTo>
                    <a:pt x="693166" y="0"/>
                    <a:pt x="763651" y="70485"/>
                    <a:pt x="763651" y="157480"/>
                  </a:cubicBezTo>
                  <a:cubicBezTo>
                    <a:pt x="763651" y="244475"/>
                    <a:pt x="693166" y="314960"/>
                    <a:pt x="606171" y="314960"/>
                  </a:cubicBezTo>
                  <a:lnTo>
                    <a:pt x="157480" y="314960"/>
                  </a:lnTo>
                  <a:cubicBezTo>
                    <a:pt x="70485" y="314960"/>
                    <a:pt x="0" y="244475"/>
                    <a:pt x="0" y="15748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141156" y="5760720"/>
            <a:ext cx="5613444" cy="1449705"/>
            <a:chOff x="0" y="0"/>
            <a:chExt cx="7484593" cy="19329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484618" cy="1932940"/>
            </a:xfrm>
            <a:custGeom>
              <a:avLst/>
              <a:gdLst/>
              <a:ahLst/>
              <a:cxnLst/>
              <a:rect r="r" b="b" t="t" l="l"/>
              <a:pathLst>
                <a:path h="1932940" w="748461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618" y="0"/>
                  </a:lnTo>
                  <a:cubicBezTo>
                    <a:pt x="7427723" y="0"/>
                    <a:pt x="7484618" y="56896"/>
                    <a:pt x="7484618" y="127000"/>
                  </a:cubicBezTo>
                  <a:lnTo>
                    <a:pt x="7484618" y="1805940"/>
                  </a:lnTo>
                  <a:cubicBezTo>
                    <a:pt x="7484618" y="1876044"/>
                    <a:pt x="7427723" y="1932940"/>
                    <a:pt x="7357618" y="1932940"/>
                  </a:cubicBezTo>
                  <a:lnTo>
                    <a:pt x="127000" y="1932940"/>
                  </a:lnTo>
                  <a:cubicBezTo>
                    <a:pt x="56896" y="1932940"/>
                    <a:pt x="0" y="1876044"/>
                    <a:pt x="0" y="1805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312606" y="5988368"/>
            <a:ext cx="85725" cy="85725"/>
            <a:chOff x="0" y="0"/>
            <a:chExt cx="114300" cy="1143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7077134" y="5913120"/>
            <a:ext cx="506016" cy="236220"/>
            <a:chOff x="0" y="0"/>
            <a:chExt cx="674688" cy="3149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74751" cy="314960"/>
            </a:xfrm>
            <a:custGeom>
              <a:avLst/>
              <a:gdLst/>
              <a:ahLst/>
              <a:cxnLst/>
              <a:rect r="r" b="b" t="t" l="l"/>
              <a:pathLst>
                <a:path h="314960" w="674751">
                  <a:moveTo>
                    <a:pt x="0" y="157480"/>
                  </a:moveTo>
                  <a:cubicBezTo>
                    <a:pt x="0" y="70485"/>
                    <a:pt x="70485" y="0"/>
                    <a:pt x="157480" y="0"/>
                  </a:cubicBezTo>
                  <a:lnTo>
                    <a:pt x="517271" y="0"/>
                  </a:lnTo>
                  <a:cubicBezTo>
                    <a:pt x="604266" y="0"/>
                    <a:pt x="674751" y="70485"/>
                    <a:pt x="674751" y="157480"/>
                  </a:cubicBezTo>
                  <a:cubicBezTo>
                    <a:pt x="674751" y="244475"/>
                    <a:pt x="604266" y="314960"/>
                    <a:pt x="517271" y="314960"/>
                  </a:cubicBezTo>
                  <a:lnTo>
                    <a:pt x="157480" y="314960"/>
                  </a:lnTo>
                  <a:cubicBezTo>
                    <a:pt x="70485" y="314960"/>
                    <a:pt x="0" y="244475"/>
                    <a:pt x="0" y="15748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2137346" y="7359015"/>
            <a:ext cx="5621064" cy="1129665"/>
            <a:chOff x="0" y="0"/>
            <a:chExt cx="7494753" cy="15062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494778" cy="1506220"/>
            </a:xfrm>
            <a:custGeom>
              <a:avLst/>
              <a:gdLst/>
              <a:ahLst/>
              <a:cxnLst/>
              <a:rect r="r" b="b" t="t" l="l"/>
              <a:pathLst>
                <a:path h="1506220" w="7494778">
                  <a:moveTo>
                    <a:pt x="0" y="127889"/>
                  </a:moveTo>
                  <a:cubicBezTo>
                    <a:pt x="0" y="57277"/>
                    <a:pt x="57277" y="0"/>
                    <a:pt x="127889" y="0"/>
                  </a:cubicBezTo>
                  <a:lnTo>
                    <a:pt x="7366889" y="0"/>
                  </a:lnTo>
                  <a:cubicBezTo>
                    <a:pt x="7437501" y="0"/>
                    <a:pt x="7494778" y="57277"/>
                    <a:pt x="7494778" y="127889"/>
                  </a:cubicBezTo>
                  <a:lnTo>
                    <a:pt x="7494778" y="1378331"/>
                  </a:lnTo>
                  <a:cubicBezTo>
                    <a:pt x="7494778" y="1448943"/>
                    <a:pt x="7437501" y="1506220"/>
                    <a:pt x="7366889" y="1506220"/>
                  </a:cubicBezTo>
                  <a:lnTo>
                    <a:pt x="127889" y="1506220"/>
                  </a:lnTo>
                  <a:cubicBezTo>
                    <a:pt x="57277" y="1506220"/>
                    <a:pt x="0" y="1448943"/>
                    <a:pt x="0" y="1378331"/>
                  </a:cubicBez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B7C2CE"/>
              </a:solidFill>
              <a:prstDash val="dash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533400" y="8656320"/>
            <a:ext cx="5613321" cy="1011555"/>
            <a:chOff x="0" y="0"/>
            <a:chExt cx="7484428" cy="13487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484491" cy="1348740"/>
            </a:xfrm>
            <a:custGeom>
              <a:avLst/>
              <a:gdLst/>
              <a:ahLst/>
              <a:cxnLst/>
              <a:rect r="r" b="b" t="t" l="l"/>
              <a:pathLst>
                <a:path h="1348740" w="748449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491" y="0"/>
                  </a:lnTo>
                  <a:cubicBezTo>
                    <a:pt x="7427595" y="0"/>
                    <a:pt x="7484491" y="56896"/>
                    <a:pt x="7484491" y="127000"/>
                  </a:cubicBezTo>
                  <a:lnTo>
                    <a:pt x="7484491" y="1221740"/>
                  </a:lnTo>
                  <a:cubicBezTo>
                    <a:pt x="7484491" y="1291844"/>
                    <a:pt x="7427595" y="1348740"/>
                    <a:pt x="7357491" y="1348740"/>
                  </a:cubicBezTo>
                  <a:lnTo>
                    <a:pt x="127000" y="1348740"/>
                  </a:lnTo>
                  <a:cubicBezTo>
                    <a:pt x="56896" y="1348740"/>
                    <a:pt x="0" y="1291844"/>
                    <a:pt x="0" y="12217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33400" y="8656320"/>
            <a:ext cx="5613321" cy="38100"/>
            <a:chOff x="0" y="0"/>
            <a:chExt cx="7484428" cy="508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484491" cy="50800"/>
            </a:xfrm>
            <a:custGeom>
              <a:avLst/>
              <a:gdLst/>
              <a:ahLst/>
              <a:cxnLst/>
              <a:rect r="r" b="b" t="t" l="l"/>
              <a:pathLst>
                <a:path h="50800" w="7484491">
                  <a:moveTo>
                    <a:pt x="0" y="0"/>
                  </a:moveTo>
                  <a:lnTo>
                    <a:pt x="7484491" y="0"/>
                  </a:lnTo>
                  <a:lnTo>
                    <a:pt x="74844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730253" y="8834123"/>
            <a:ext cx="5746661" cy="20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Hallazgo · variables target potenciales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6337221" y="8656320"/>
            <a:ext cx="5613444" cy="1011555"/>
            <a:chOff x="0" y="0"/>
            <a:chExt cx="7484593" cy="13487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484618" cy="1348740"/>
            </a:xfrm>
            <a:custGeom>
              <a:avLst/>
              <a:gdLst/>
              <a:ahLst/>
              <a:cxnLst/>
              <a:rect r="r" b="b" t="t" l="l"/>
              <a:pathLst>
                <a:path h="1348740" w="748461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618" y="0"/>
                  </a:lnTo>
                  <a:cubicBezTo>
                    <a:pt x="7427723" y="0"/>
                    <a:pt x="7484618" y="56896"/>
                    <a:pt x="7484618" y="127000"/>
                  </a:cubicBezTo>
                  <a:lnTo>
                    <a:pt x="7484618" y="1221740"/>
                  </a:lnTo>
                  <a:cubicBezTo>
                    <a:pt x="7484618" y="1291844"/>
                    <a:pt x="7427723" y="1348740"/>
                    <a:pt x="7357618" y="1348740"/>
                  </a:cubicBezTo>
                  <a:lnTo>
                    <a:pt x="127000" y="1348740"/>
                  </a:lnTo>
                  <a:cubicBezTo>
                    <a:pt x="56896" y="1348740"/>
                    <a:pt x="0" y="1291844"/>
                    <a:pt x="0" y="12217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337221" y="8656320"/>
            <a:ext cx="5613444" cy="38100"/>
            <a:chOff x="0" y="0"/>
            <a:chExt cx="7484593" cy="50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484618" cy="50800"/>
            </a:xfrm>
            <a:custGeom>
              <a:avLst/>
              <a:gdLst/>
              <a:ahLst/>
              <a:cxnLst/>
              <a:rect r="r" b="b" t="t" l="l"/>
              <a:pathLst>
                <a:path h="50800" w="7484618">
                  <a:moveTo>
                    <a:pt x="0" y="0"/>
                  </a:moveTo>
                  <a:lnTo>
                    <a:pt x="7484618" y="0"/>
                  </a:lnTo>
                  <a:lnTo>
                    <a:pt x="748461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6534074" y="8834123"/>
            <a:ext cx="5746794" cy="20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Hallazgo · quiebre metodológico 2024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12141156" y="8656320"/>
            <a:ext cx="5613444" cy="1011555"/>
            <a:chOff x="0" y="0"/>
            <a:chExt cx="7484593" cy="13487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4618" cy="1348740"/>
            </a:xfrm>
            <a:custGeom>
              <a:avLst/>
              <a:gdLst/>
              <a:ahLst/>
              <a:cxnLst/>
              <a:rect r="r" b="b" t="t" l="l"/>
              <a:pathLst>
                <a:path h="1348740" w="748461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7357618" y="0"/>
                  </a:lnTo>
                  <a:cubicBezTo>
                    <a:pt x="7427723" y="0"/>
                    <a:pt x="7484618" y="56896"/>
                    <a:pt x="7484618" y="127000"/>
                  </a:cubicBezTo>
                  <a:lnTo>
                    <a:pt x="7484618" y="1221740"/>
                  </a:lnTo>
                  <a:cubicBezTo>
                    <a:pt x="7484618" y="1291844"/>
                    <a:pt x="7427723" y="1348740"/>
                    <a:pt x="7357618" y="1348740"/>
                  </a:cubicBezTo>
                  <a:lnTo>
                    <a:pt x="127000" y="1348740"/>
                  </a:lnTo>
                  <a:cubicBezTo>
                    <a:pt x="56896" y="1348740"/>
                    <a:pt x="0" y="1291844"/>
                    <a:pt x="0" y="12217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141156" y="8656320"/>
            <a:ext cx="5613444" cy="38100"/>
            <a:chOff x="0" y="0"/>
            <a:chExt cx="7484593" cy="508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484618" cy="50800"/>
            </a:xfrm>
            <a:custGeom>
              <a:avLst/>
              <a:gdLst/>
              <a:ahLst/>
              <a:cxnLst/>
              <a:rect r="r" b="b" t="t" l="l"/>
              <a:pathLst>
                <a:path h="50800" w="7484618">
                  <a:moveTo>
                    <a:pt x="0" y="0"/>
                  </a:moveTo>
                  <a:lnTo>
                    <a:pt x="7484618" y="0"/>
                  </a:lnTo>
                  <a:lnTo>
                    <a:pt x="748461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103" id="103"/>
          <p:cNvSpPr txBox="true"/>
          <p:nvPr/>
        </p:nvSpPr>
        <p:spPr>
          <a:xfrm rot="0">
            <a:off x="1092203" y="406403"/>
            <a:ext cx="7945364" cy="1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spc="150">
                <a:solidFill>
                  <a:srgbClr val="F8A900"/>
                </a:solidFill>
                <a:latin typeface="Arial Bold"/>
                <a:ea typeface="Arial Bold"/>
                <a:cs typeface="Arial Bold"/>
                <a:sym typeface="Arial Bold"/>
              </a:rPr>
              <a:t>FASE 2 · COMPRENSIÓN DE LOS DATOS — AUDITORÍA LONGITUDINAL 2007–2024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533400" y="713975"/>
            <a:ext cx="18892523" cy="44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b="true" sz="3450" spc="-75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Decisiones de limpieza: módulo RECH6 (Antropometría)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558803" y="1238888"/>
            <a:ext cx="1889252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39 variables auditadas sobre 18 años de encuestas ENDES · Reglas aplicadas: DROP, KEEP, SPLIT, COALESCE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949328" y="1858013"/>
            <a:ext cx="2412463" cy="20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KEEP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49328" y="2056133"/>
            <a:ext cx="2412463" cy="23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Variable estable, se conserva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5287966" y="1858013"/>
            <a:ext cx="2867187" cy="20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COALESCE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5287966" y="2056133"/>
            <a:ext cx="2867187" cy="23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Fusionar con variable predecesora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9626603" y="1858013"/>
            <a:ext cx="3198400" cy="20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DROP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9626603" y="2056133"/>
            <a:ext cx="3198400" cy="23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Candidata a eliminar por redundancia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3965241" y="1858013"/>
            <a:ext cx="2895209" cy="20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Falsos numéricos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3965241" y="2056133"/>
            <a:ext cx="2895209" cy="23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Códigos SPSS a mapear como NaN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901703" y="2751458"/>
            <a:ext cx="2040379" cy="23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Identificadores (keys)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5532758" y="2789558"/>
            <a:ext cx="388544" cy="15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5 vars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730253" y="2978153"/>
            <a:ext cx="5377729" cy="66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HHID HC0 HC51 HC60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— llaves de cruce hogar/madre/persona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901703" y="4385948"/>
            <a:ext cx="1795986" cy="23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Demografía básica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5532758" y="4424048"/>
            <a:ext cx="388544" cy="15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6 vars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30253" y="4612643"/>
            <a:ext cx="5377729" cy="66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HC1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edad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HC27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sexo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HC30/HC31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nacimiento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HC63/HC64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orden e intervalo de partos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901703" y="6020438"/>
            <a:ext cx="2541727" cy="23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Sociodemográfico (madre)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5532758" y="6058538"/>
            <a:ext cx="388544" cy="15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 vars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730253" y="6247133"/>
            <a:ext cx="5377729" cy="66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HC61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nivel educativo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HC62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años de estudio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HC68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(redundante con HC61)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6705524" y="2751458"/>
            <a:ext cx="2040636" cy="23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Antropometría básica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1336693" y="2789558"/>
            <a:ext cx="388544" cy="15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 vars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6534074" y="2978153"/>
            <a:ext cx="5377853" cy="386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HC2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peso (kg)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HC3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talla (cm)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6534074" y="3405826"/>
            <a:ext cx="5377853" cy="44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125" i="true">
                <a:solidFill>
                  <a:srgbClr val="6B7280"/>
                </a:solidFill>
                <a:latin typeface="Arial Italics"/>
                <a:ea typeface="Arial Italics"/>
                <a:cs typeface="Arial Italics"/>
                <a:sym typeface="Arial Italics"/>
              </a:rPr>
              <a:t>Frecuentemente enteros (125 = 12.5 kg): limpiar falsos numéricos antes de dividir entre 10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6705524" y="4310701"/>
            <a:ext cx="3287335" cy="23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Índices derivados (Z-scores OMS)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1262522" y="4348801"/>
            <a:ext cx="462715" cy="15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10 vars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6534074" y="4537396"/>
            <a:ext cx="5377853" cy="66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HC4–HC12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percentiles y desviaciones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HC70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HAZ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HC71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WAZ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HC72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WHZ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HC73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IMC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6705524" y="5945191"/>
            <a:ext cx="2982439" cy="23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Control de calidad y metadatos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1336693" y="5983291"/>
            <a:ext cx="388544" cy="15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6 vars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6534074" y="6171886"/>
            <a:ext cx="5377853" cy="66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HC13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razón no medido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HC15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postura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HC19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año medición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HC32/HC33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fecha ·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HC55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resultado prueba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2509459" y="2751458"/>
            <a:ext cx="1453772" cy="23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A23C39"/>
                </a:solidFill>
                <a:latin typeface="Arial Bold"/>
                <a:ea typeface="Arial Bold"/>
                <a:cs typeface="Arial Bold"/>
                <a:sym typeface="Arial Bold"/>
              </a:rPr>
              <a:t>Target absoluto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7207313" y="2789558"/>
            <a:ext cx="321869" cy="15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 var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2338009" y="2997203"/>
            <a:ext cx="5377853" cy="35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275">
                <a:solidFill>
                  <a:srgbClr val="A23C39"/>
                </a:solidFill>
                <a:latin typeface="Arial"/>
                <a:ea typeface="Arial"/>
                <a:cs typeface="Arial"/>
                <a:sym typeface="Arial"/>
              </a:rPr>
              <a:t>HC70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— Talla/Edad Desviación Estándar (HAZ, estándar OMS)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2338009" y="3389633"/>
            <a:ext cx="5746794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125" i="true">
                <a:solidFill>
                  <a:srgbClr val="8A6361"/>
                </a:solidFill>
                <a:latin typeface="Arial Italics"/>
                <a:ea typeface="Arial Italics"/>
                <a:cs typeface="Arial Italics"/>
                <a:sym typeface="Arial Italics"/>
              </a:rPr>
              <a:t>Base del indicador de desnutrición crónica infantil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2509459" y="4094483"/>
            <a:ext cx="3814477" cy="23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Anemia y hemoglobina — quiebre 2024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7140638" y="4132583"/>
            <a:ext cx="388544" cy="15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1E1E1E"/>
                </a:solidFill>
                <a:latin typeface="Arial Bold"/>
                <a:ea typeface="Arial Bold"/>
                <a:cs typeface="Arial Bold"/>
                <a:sym typeface="Arial Bold"/>
              </a:rPr>
              <a:t>4 vars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2338009" y="4321178"/>
            <a:ext cx="5377853" cy="66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275">
                <a:solidFill>
                  <a:srgbClr val="7A5A12"/>
                </a:solidFill>
                <a:latin typeface="Arial"/>
                <a:ea typeface="Arial"/>
                <a:cs typeface="Arial"/>
                <a:sym typeface="Arial"/>
              </a:rPr>
              <a:t>HC53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hemoglobina bruta · </a:t>
            </a:r>
            <a:r>
              <a:rPr lang="en-US" sz="1275">
                <a:solidFill>
                  <a:srgbClr val="7A5A12"/>
                </a:solidFill>
                <a:latin typeface="Arial"/>
                <a:ea typeface="Arial"/>
                <a:cs typeface="Arial"/>
                <a:sym typeface="Arial"/>
              </a:rPr>
              <a:t>HC56→HC56A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lang="en-US" sz="1275">
                <a:solidFill>
                  <a:srgbClr val="7A5A12"/>
                </a:solidFill>
                <a:latin typeface="Arial"/>
                <a:ea typeface="Arial"/>
                <a:cs typeface="Arial"/>
                <a:sym typeface="Arial"/>
              </a:rPr>
              <a:t>HC57→HC57A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nivel de anemia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2338009" y="5024123"/>
            <a:ext cx="5377853" cy="44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125" i="true">
                <a:solidFill>
                  <a:srgbClr val="8A7333"/>
                </a:solidFill>
                <a:latin typeface="Arial Italics"/>
                <a:ea typeface="Arial Italics"/>
                <a:cs typeface="Arial Italics"/>
                <a:sym typeface="Arial Italics"/>
              </a:rPr>
              <a:t>Directriz MINSA RM 363-2022 reemplaza HC56/HC57 desde 2024 — requiere COALESCE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2509459" y="5928998"/>
            <a:ext cx="1331052" cy="23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Administrativo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7207313" y="5967098"/>
            <a:ext cx="321869" cy="15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 var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2338009" y="6174743"/>
            <a:ext cx="5377853" cy="610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HC52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consentimiento informado — candidata a DROP por ruido administrativo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2338009" y="6826253"/>
            <a:ext cx="5746794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125" i="true">
                <a:solidFill>
                  <a:srgbClr val="6B7280"/>
                </a:solidFill>
                <a:latin typeface="Arial Italics"/>
                <a:ea typeface="Arial Italics"/>
                <a:cs typeface="Arial Italics"/>
                <a:sym typeface="Arial Italics"/>
              </a:rPr>
              <a:t>Mutación semántica histórica: “Rechazada” → “Rechazó/otro”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2345629" y="7519673"/>
            <a:ext cx="5730030" cy="23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Llave de unión clínica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2345629" y="7746368"/>
            <a:ext cx="5362156" cy="610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HC55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resultado de la prueba sirve para imputar nulos en </a:t>
            </a:r>
            <a:r>
              <a:rPr lang="en-US" sz="1275">
                <a:solidFill>
                  <a:srgbClr val="003865"/>
                </a:solidFill>
                <a:latin typeface="Arial"/>
                <a:ea typeface="Arial"/>
                <a:cs typeface="Arial"/>
                <a:sym typeface="Arial"/>
              </a:rPr>
              <a:t>HC53 </a:t>
            </a:r>
            <a:r>
              <a:rPr lang="en-US" sz="1275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(hemoglobina)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730253" y="9041768"/>
            <a:ext cx="5377729" cy="50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2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HC57 y HC57A comparten exactamente las mismas categorías (1–4), facilitando el COALESCE de anemia.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6534074" y="9041768"/>
            <a:ext cx="5377853" cy="50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2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La coexistencia de HC56/HC57 con HC56A/HC57A confirma un cambio oficial de criterio MINSA en 2024.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2338009" y="8834123"/>
            <a:ext cx="5746794" cy="20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Regla general de limpieza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2338009" y="9041768"/>
            <a:ext cx="5377853" cy="50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2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Mapear códigos SPSS (8, 97, 98, 9996–9998, 99998) a NaN antes de cualquier transformación numérica (ej. ÷10, ÷100).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5678001" y="97821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11</a:t>
            </a:r>
          </a:p>
        </p:txBody>
      </p:sp>
      <p:grpSp>
        <p:nvGrpSpPr>
          <p:cNvPr name="Group 152" id="152"/>
          <p:cNvGrpSpPr/>
          <p:nvPr/>
        </p:nvGrpSpPr>
        <p:grpSpPr>
          <a:xfrm rot="0">
            <a:off x="15233028" y="607724"/>
            <a:ext cx="18126" cy="835600"/>
            <a:chOff x="0" y="0"/>
            <a:chExt cx="24168" cy="1114133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54" id="154"/>
          <p:cNvSpPr txBox="true"/>
          <p:nvPr/>
        </p:nvSpPr>
        <p:spPr>
          <a:xfrm rot="0">
            <a:off x="14540989" y="796928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4540989" y="1106253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55723" y="4779348"/>
            <a:ext cx="7191308" cy="3751822"/>
          </a:xfrm>
          <a:custGeom>
            <a:avLst/>
            <a:gdLst/>
            <a:ahLst/>
            <a:cxnLst/>
            <a:rect r="r" b="b" t="t" l="l"/>
            <a:pathLst>
              <a:path h="3751822" w="7191308">
                <a:moveTo>
                  <a:pt x="0" y="0"/>
                </a:moveTo>
                <a:lnTo>
                  <a:pt x="7191308" y="0"/>
                </a:lnTo>
                <a:lnTo>
                  <a:pt x="7191308" y="3751823"/>
                </a:lnTo>
                <a:lnTo>
                  <a:pt x="0" y="37518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5" r="0" b="-1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41221" y="1447227"/>
            <a:ext cx="5816575" cy="7090415"/>
          </a:xfrm>
          <a:custGeom>
            <a:avLst/>
            <a:gdLst/>
            <a:ahLst/>
            <a:cxnLst/>
            <a:rect r="r" b="b" t="t" l="l"/>
            <a:pathLst>
              <a:path h="7090415" w="5816575">
                <a:moveTo>
                  <a:pt x="0" y="0"/>
                </a:moveTo>
                <a:lnTo>
                  <a:pt x="5816575" y="0"/>
                </a:lnTo>
                <a:lnTo>
                  <a:pt x="5816575" y="7090415"/>
                </a:lnTo>
                <a:lnTo>
                  <a:pt x="0" y="70904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5723" y="1561529"/>
            <a:ext cx="6227725" cy="3103518"/>
          </a:xfrm>
          <a:custGeom>
            <a:avLst/>
            <a:gdLst/>
            <a:ahLst/>
            <a:cxnLst/>
            <a:rect r="r" b="b" t="t" l="l"/>
            <a:pathLst>
              <a:path h="3103518" w="6227725">
                <a:moveTo>
                  <a:pt x="0" y="0"/>
                </a:moveTo>
                <a:lnTo>
                  <a:pt x="6227725" y="0"/>
                </a:lnTo>
                <a:lnTo>
                  <a:pt x="6227725" y="3103518"/>
                </a:lnTo>
                <a:lnTo>
                  <a:pt x="0" y="3103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25450" y="8985266"/>
            <a:ext cx="5778516" cy="32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7"/>
              </a:lnSpc>
            </a:pPr>
            <a:r>
              <a:rPr lang="en-US" sz="1791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1" tooltip="https://www.who.int/tools/child-growth-standards/software"/>
              </a:rPr>
              <a:t>https://www.who.int/tools/child-growth-standards/software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10349" y="834819"/>
            <a:ext cx="341672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3"/>
              </a:lnSpc>
              <a:spcBef>
                <a:spcPct val="0"/>
              </a:spcBef>
            </a:pPr>
            <a:r>
              <a:rPr lang="en-US" b="true" sz="2127">
                <a:solidFill>
                  <a:srgbClr val="12315F"/>
                </a:solidFill>
                <a:latin typeface="DM Sans Bold"/>
                <a:ea typeface="DM Sans Bold"/>
                <a:cs typeface="DM Sans Bold"/>
                <a:sym typeface="DM Sans Bold"/>
              </a:rPr>
              <a:t>Comprensión de los datos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78001" y="976157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40989" y="796928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40989" y="1106253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46107" y="1915795"/>
            <a:ext cx="7671679" cy="2953597"/>
          </a:xfrm>
          <a:custGeom>
            <a:avLst/>
            <a:gdLst/>
            <a:ahLst/>
            <a:cxnLst/>
            <a:rect r="r" b="b" t="t" l="l"/>
            <a:pathLst>
              <a:path h="2953597" w="7671679">
                <a:moveTo>
                  <a:pt x="0" y="0"/>
                </a:moveTo>
                <a:lnTo>
                  <a:pt x="7671679" y="0"/>
                </a:lnTo>
                <a:lnTo>
                  <a:pt x="7671679" y="2953597"/>
                </a:lnTo>
                <a:lnTo>
                  <a:pt x="0" y="29535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6107" y="5015679"/>
            <a:ext cx="8162963" cy="3321305"/>
          </a:xfrm>
          <a:custGeom>
            <a:avLst/>
            <a:gdLst/>
            <a:ahLst/>
            <a:cxnLst/>
            <a:rect r="r" b="b" t="t" l="l"/>
            <a:pathLst>
              <a:path h="3321305" w="8162963">
                <a:moveTo>
                  <a:pt x="0" y="0"/>
                </a:moveTo>
                <a:lnTo>
                  <a:pt x="8162963" y="0"/>
                </a:lnTo>
                <a:lnTo>
                  <a:pt x="8162963" y="3321306"/>
                </a:lnTo>
                <a:lnTo>
                  <a:pt x="0" y="33213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09070" y="2009149"/>
            <a:ext cx="5548727" cy="1848420"/>
          </a:xfrm>
          <a:custGeom>
            <a:avLst/>
            <a:gdLst/>
            <a:ahLst/>
            <a:cxnLst/>
            <a:rect r="r" b="b" t="t" l="l"/>
            <a:pathLst>
              <a:path h="1848420" w="5548727">
                <a:moveTo>
                  <a:pt x="0" y="0"/>
                </a:moveTo>
                <a:lnTo>
                  <a:pt x="5548726" y="0"/>
                </a:lnTo>
                <a:lnTo>
                  <a:pt x="5548726" y="1848419"/>
                </a:lnTo>
                <a:lnTo>
                  <a:pt x="0" y="18484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39856" y="4104741"/>
            <a:ext cx="3903886" cy="3920427"/>
          </a:xfrm>
          <a:custGeom>
            <a:avLst/>
            <a:gdLst/>
            <a:ahLst/>
            <a:cxnLst/>
            <a:rect r="r" b="b" t="t" l="l"/>
            <a:pathLst>
              <a:path h="3920427" w="3903886">
                <a:moveTo>
                  <a:pt x="0" y="0"/>
                </a:moveTo>
                <a:lnTo>
                  <a:pt x="3903885" y="0"/>
                </a:lnTo>
                <a:lnTo>
                  <a:pt x="3903885" y="3920428"/>
                </a:lnTo>
                <a:lnTo>
                  <a:pt x="0" y="39204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96900" y="8837285"/>
            <a:ext cx="5540374" cy="315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717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3" tooltip="https://www.who.int/tools/child-growth-standards/software"/>
              </a:rPr>
              <a:t>https://www.who.int/tools/child-growth-standards/software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69453" y="1329909"/>
            <a:ext cx="2814204" cy="27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b="true" sz="1848">
                <a:solidFill>
                  <a:srgbClr val="12315F"/>
                </a:solidFill>
                <a:latin typeface="DM Sans Bold"/>
                <a:ea typeface="DM Sans Bold"/>
                <a:cs typeface="DM Sans Bold"/>
                <a:sym typeface="DM Sans Bold"/>
              </a:rPr>
              <a:t>Preparación de los datos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13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40989" y="796928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40989" y="1106253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42890" y="1585428"/>
            <a:ext cx="7688922" cy="3167354"/>
          </a:xfrm>
          <a:custGeom>
            <a:avLst/>
            <a:gdLst/>
            <a:ahLst/>
            <a:cxnLst/>
            <a:rect r="r" b="b" t="t" l="l"/>
            <a:pathLst>
              <a:path h="3167354" w="7688922">
                <a:moveTo>
                  <a:pt x="0" y="0"/>
                </a:moveTo>
                <a:lnTo>
                  <a:pt x="7688922" y="0"/>
                </a:lnTo>
                <a:lnTo>
                  <a:pt x="7688922" y="3167354"/>
                </a:lnTo>
                <a:lnTo>
                  <a:pt x="0" y="31673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9618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29331" y="4732469"/>
            <a:ext cx="7323720" cy="4229448"/>
          </a:xfrm>
          <a:custGeom>
            <a:avLst/>
            <a:gdLst/>
            <a:ahLst/>
            <a:cxnLst/>
            <a:rect r="r" b="b" t="t" l="l"/>
            <a:pathLst>
              <a:path h="4229448" w="7323720">
                <a:moveTo>
                  <a:pt x="0" y="0"/>
                </a:moveTo>
                <a:lnTo>
                  <a:pt x="7323721" y="0"/>
                </a:lnTo>
                <a:lnTo>
                  <a:pt x="7323721" y="4229448"/>
                </a:lnTo>
                <a:lnTo>
                  <a:pt x="0" y="42294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2890" y="5078504"/>
            <a:ext cx="6059395" cy="3883413"/>
          </a:xfrm>
          <a:custGeom>
            <a:avLst/>
            <a:gdLst/>
            <a:ahLst/>
            <a:cxnLst/>
            <a:rect r="r" b="b" t="t" l="l"/>
            <a:pathLst>
              <a:path h="3883413" w="6059395">
                <a:moveTo>
                  <a:pt x="0" y="0"/>
                </a:moveTo>
                <a:lnTo>
                  <a:pt x="6059395" y="0"/>
                </a:lnTo>
                <a:lnTo>
                  <a:pt x="6059395" y="3883413"/>
                </a:lnTo>
                <a:lnTo>
                  <a:pt x="0" y="3883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380971" y="976103"/>
            <a:ext cx="2896722" cy="28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2"/>
              </a:lnSpc>
              <a:spcBef>
                <a:spcPct val="0"/>
              </a:spcBef>
            </a:pPr>
            <a:r>
              <a:rPr lang="en-US" b="true" sz="1902">
                <a:solidFill>
                  <a:srgbClr val="12315F"/>
                </a:solidFill>
                <a:latin typeface="DM Sans Bold"/>
                <a:ea typeface="DM Sans Bold"/>
                <a:cs typeface="DM Sans Bold"/>
                <a:sym typeface="DM Sans Bold"/>
              </a:rPr>
              <a:t>Preparación de los datos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14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40989" y="796928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40989" y="1106253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959392" y="-6001817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985873" y="5085283"/>
            <a:ext cx="620030" cy="66675"/>
            <a:chOff x="0" y="0"/>
            <a:chExt cx="826706" cy="88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6770" cy="88900"/>
            </a:xfrm>
            <a:custGeom>
              <a:avLst/>
              <a:gdLst/>
              <a:ahLst/>
              <a:cxnLst/>
              <a:rect r="r" b="b" t="t" l="l"/>
              <a:pathLst>
                <a:path h="88900" w="826770">
                  <a:moveTo>
                    <a:pt x="0" y="0"/>
                  </a:moveTo>
                  <a:lnTo>
                    <a:pt x="826770" y="8890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0" t="-131196" r="7" b="-131196"/>
              </a:stretch>
            </a:blipFill>
            <a:ln w="66675" cap="sq">
              <a:solidFill>
                <a:srgbClr val="183685"/>
              </a:solidFill>
              <a:prstDash val="lgDash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aphicFrame>
        <p:nvGraphicFramePr>
          <p:cNvPr name="Object 11" id="11"/>
          <p:cNvGraphicFramePr/>
          <p:nvPr/>
        </p:nvGraphicFramePr>
        <p:xfrm>
          <a:off x="515030" y="2619488"/>
          <a:ext cx="5657850" cy="6915150"/>
        </p:xfrm>
        <a:graphic>
          <a:graphicData uri="http://schemas.openxmlformats.org/presentationml/2006/ole">
            <p:oleObj imgW="7035800" imgH="82931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2" id="12"/>
          <p:cNvGraphicFramePr/>
          <p:nvPr/>
        </p:nvGraphicFramePr>
        <p:xfrm>
          <a:off x="4096577" y="2619488"/>
          <a:ext cx="5657850" cy="6915150"/>
        </p:xfrm>
        <a:graphic>
          <a:graphicData uri="http://schemas.openxmlformats.org/presentationml/2006/ole">
            <p:oleObj imgW="7035800" imgH="82931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3" id="13"/>
          <p:cNvGraphicFramePr/>
          <p:nvPr/>
        </p:nvGraphicFramePr>
        <p:xfrm>
          <a:off x="7786878" y="2619488"/>
          <a:ext cx="5657850" cy="6915150"/>
        </p:xfrm>
        <a:graphic>
          <a:graphicData uri="http://schemas.openxmlformats.org/presentationml/2006/ole">
            <p:oleObj imgW="7035800" imgH="8293100" r:id="rId1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4" id="14"/>
          <p:cNvGraphicFramePr/>
          <p:nvPr/>
        </p:nvGraphicFramePr>
        <p:xfrm>
          <a:off x="11323505" y="2619488"/>
          <a:ext cx="5657850" cy="6915150"/>
        </p:xfrm>
        <a:graphic>
          <a:graphicData uri="http://schemas.openxmlformats.org/presentationml/2006/ole">
            <p:oleObj imgW="7035800" imgH="8293100" r:id="rId1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5" id="15"/>
          <p:cNvGraphicFramePr/>
          <p:nvPr/>
        </p:nvGraphicFramePr>
        <p:xfrm>
          <a:off x="14937291" y="2791681"/>
          <a:ext cx="5657850" cy="2514600"/>
        </p:xfrm>
        <a:graphic>
          <a:graphicData uri="http://schemas.openxmlformats.org/presentationml/2006/ole">
            <p:oleObj imgW="6781800" imgH="3644900" r:id="rId1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433957" y="1468060"/>
            <a:ext cx="9152578" cy="2061685"/>
            <a:chOff x="0" y="0"/>
            <a:chExt cx="12203437" cy="274891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986913"/>
              <a:ext cx="10781546" cy="762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25"/>
                </a:lnSpc>
                <a:spcBef>
                  <a:spcPct val="0"/>
                </a:spcBef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52400"/>
              <a:ext cx="12203437" cy="762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25"/>
                </a:lnSpc>
              </a:pPr>
              <a:r>
                <a:rPr lang="en-US" sz="4500">
                  <a:solidFill>
                    <a:srgbClr val="12315F"/>
                  </a:solidFill>
                  <a:latin typeface="Open Sans"/>
                  <a:ea typeface="Open Sans"/>
                  <a:cs typeface="Open Sans"/>
                  <a:sym typeface="Open Sans"/>
                </a:rPr>
                <a:t>Variables seleccionadas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749495" y="589558"/>
            <a:ext cx="8244518" cy="7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5"/>
              </a:lnSpc>
            </a:pPr>
            <a:r>
              <a:rPr lang="en-US" sz="5728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PRODUCTO INGENIERIL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15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40989" y="796928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40989" y="1106253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10093666" y="-6090712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841133" y="976103"/>
            <a:ext cx="5753081" cy="8065877"/>
          </a:xfrm>
          <a:custGeom>
            <a:avLst/>
            <a:gdLst/>
            <a:ahLst/>
            <a:cxnLst/>
            <a:rect r="r" b="b" t="t" l="l"/>
            <a:pathLst>
              <a:path h="8065877" w="5753081">
                <a:moveTo>
                  <a:pt x="0" y="0"/>
                </a:moveTo>
                <a:lnTo>
                  <a:pt x="5753080" y="0"/>
                </a:lnTo>
                <a:lnTo>
                  <a:pt x="5753080" y="8065877"/>
                </a:lnTo>
                <a:lnTo>
                  <a:pt x="0" y="80658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586764" y="1603547"/>
          <a:ext cx="9429750" cy="3143250"/>
        </p:xfrm>
        <a:graphic>
          <a:graphicData uri="http://schemas.openxmlformats.org/presentationml/2006/ole">
            <p:oleObj imgW="11315700" imgH="50292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49392" y="9498005"/>
            <a:ext cx="5896570" cy="31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b="true" sz="2000" spc="43" u="sng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  <a:hlinkClick r:id="rId12" tooltip="https://doi.org/10.1186/s40795-020-00378-z"/>
              </a:rPr>
              <a:t>https://doi.org/10.1186/s40795-020-00378-z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16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080628" y="455324"/>
            <a:ext cx="18126" cy="835600"/>
            <a:chOff x="0" y="0"/>
            <a:chExt cx="24168" cy="11141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4693389" y="949328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93389" y="1258653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959392" y="-5943135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aphicFrame>
        <p:nvGraphicFramePr>
          <p:cNvPr name="Object 9" id="9"/>
          <p:cNvGraphicFramePr/>
          <p:nvPr/>
        </p:nvGraphicFramePr>
        <p:xfrm>
          <a:off x="628526" y="2965858"/>
          <a:ext cx="9429750" cy="1885950"/>
        </p:xfrm>
        <a:graphic>
          <a:graphicData uri="http://schemas.openxmlformats.org/presentationml/2006/ole">
            <p:oleObj imgW="11315700" imgH="37719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0" id="10"/>
          <p:cNvSpPr/>
          <p:nvPr/>
        </p:nvSpPr>
        <p:spPr>
          <a:xfrm flipH="false" flipV="false" rot="0">
            <a:off x="7860294" y="7344502"/>
            <a:ext cx="6400955" cy="1211448"/>
          </a:xfrm>
          <a:custGeom>
            <a:avLst/>
            <a:gdLst/>
            <a:ahLst/>
            <a:cxnLst/>
            <a:rect r="r" b="b" t="t" l="l"/>
            <a:pathLst>
              <a:path h="1211448" w="6400955">
                <a:moveTo>
                  <a:pt x="0" y="0"/>
                </a:moveTo>
                <a:lnTo>
                  <a:pt x="6400955" y="0"/>
                </a:lnTo>
                <a:lnTo>
                  <a:pt x="6400955" y="1211448"/>
                </a:lnTo>
                <a:lnTo>
                  <a:pt x="0" y="12114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09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36127" y="1615659"/>
            <a:ext cx="6425122" cy="5521658"/>
          </a:xfrm>
          <a:custGeom>
            <a:avLst/>
            <a:gdLst/>
            <a:ahLst/>
            <a:cxnLst/>
            <a:rect r="r" b="b" t="t" l="l"/>
            <a:pathLst>
              <a:path h="5521658" w="6425122">
                <a:moveTo>
                  <a:pt x="0" y="0"/>
                </a:moveTo>
                <a:lnTo>
                  <a:pt x="6425122" y="0"/>
                </a:lnTo>
                <a:lnTo>
                  <a:pt x="6425122" y="5521658"/>
                </a:lnTo>
                <a:lnTo>
                  <a:pt x="0" y="55216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95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95512" y="9239250"/>
            <a:ext cx="3391049" cy="31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b="true" sz="2000" spc="43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10.1186/s13052-017-0433-1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17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93389" y="471721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93389" y="777064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959392" y="-5934739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aphicFrame>
        <p:nvGraphicFramePr>
          <p:cNvPr name="Object 9" id="9"/>
          <p:cNvGraphicFramePr/>
          <p:nvPr/>
        </p:nvGraphicFramePr>
        <p:xfrm>
          <a:off x="211036" y="1306680"/>
          <a:ext cx="9429750" cy="6286500"/>
        </p:xfrm>
        <a:graphic>
          <a:graphicData uri="http://schemas.openxmlformats.org/presentationml/2006/ole">
            <p:oleObj imgW="11315700" imgH="81661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0" id="10"/>
          <p:cNvSpPr/>
          <p:nvPr/>
        </p:nvSpPr>
        <p:spPr>
          <a:xfrm flipH="false" flipV="false" rot="0">
            <a:off x="6100189" y="287141"/>
            <a:ext cx="6398650" cy="5282490"/>
          </a:xfrm>
          <a:custGeom>
            <a:avLst/>
            <a:gdLst/>
            <a:ahLst/>
            <a:cxnLst/>
            <a:rect r="r" b="b" t="t" l="l"/>
            <a:pathLst>
              <a:path h="5282490" w="6398650">
                <a:moveTo>
                  <a:pt x="0" y="0"/>
                </a:moveTo>
                <a:lnTo>
                  <a:pt x="6398649" y="0"/>
                </a:lnTo>
                <a:lnTo>
                  <a:pt x="6398649" y="5282490"/>
                </a:lnTo>
                <a:lnTo>
                  <a:pt x="0" y="5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291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85286" y="8500240"/>
            <a:ext cx="6449603" cy="1064331"/>
          </a:xfrm>
          <a:custGeom>
            <a:avLst/>
            <a:gdLst/>
            <a:ahLst/>
            <a:cxnLst/>
            <a:rect r="r" b="b" t="t" l="l"/>
            <a:pathLst>
              <a:path h="1064331" w="6449603">
                <a:moveTo>
                  <a:pt x="0" y="0"/>
                </a:moveTo>
                <a:lnTo>
                  <a:pt x="6449604" y="0"/>
                </a:lnTo>
                <a:lnTo>
                  <a:pt x="6449604" y="1064331"/>
                </a:lnTo>
                <a:lnTo>
                  <a:pt x="0" y="10643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0085" r="-8999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111258" y="6859941"/>
            <a:ext cx="6397659" cy="1287969"/>
          </a:xfrm>
          <a:custGeom>
            <a:avLst/>
            <a:gdLst/>
            <a:ahLst/>
            <a:cxnLst/>
            <a:rect r="r" b="b" t="t" l="l"/>
            <a:pathLst>
              <a:path h="1287969" w="6397659">
                <a:moveTo>
                  <a:pt x="0" y="0"/>
                </a:moveTo>
                <a:lnTo>
                  <a:pt x="6397659" y="0"/>
                </a:lnTo>
                <a:lnTo>
                  <a:pt x="6397659" y="1287968"/>
                </a:lnTo>
                <a:lnTo>
                  <a:pt x="0" y="128796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-11373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111258" y="5801983"/>
            <a:ext cx="6387580" cy="825605"/>
          </a:xfrm>
          <a:custGeom>
            <a:avLst/>
            <a:gdLst/>
            <a:ahLst/>
            <a:cxnLst/>
            <a:rect r="r" b="b" t="t" l="l"/>
            <a:pathLst>
              <a:path h="825605" w="6387580">
                <a:moveTo>
                  <a:pt x="0" y="0"/>
                </a:moveTo>
                <a:lnTo>
                  <a:pt x="6387580" y="0"/>
                </a:lnTo>
                <a:lnTo>
                  <a:pt x="6387580" y="825605"/>
                </a:lnTo>
                <a:lnTo>
                  <a:pt x="0" y="8256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3290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546647" y="9796462"/>
            <a:ext cx="5526881" cy="31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b="true" sz="2000" spc="43" u="sng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  <a:hlinkClick r:id="rId14" tooltip="https://doi.org/10.1186/s12937-019-0505-8"/>
              </a:rPr>
              <a:t>https://doi.org/10.1186/s12937-019-0505-8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18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080628" y="455324"/>
            <a:ext cx="18126" cy="835600"/>
            <a:chOff x="0" y="0"/>
            <a:chExt cx="24168" cy="11141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4698212" y="581935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98212" y="905666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959392" y="-6096562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aphicFrame>
        <p:nvGraphicFramePr>
          <p:cNvPr name="Object 9" id="9"/>
          <p:cNvGraphicFramePr/>
          <p:nvPr/>
        </p:nvGraphicFramePr>
        <p:xfrm>
          <a:off x="471848" y="2428932"/>
          <a:ext cx="9429750" cy="5029200"/>
        </p:xfrm>
        <a:graphic>
          <a:graphicData uri="http://schemas.openxmlformats.org/presentationml/2006/ole">
            <p:oleObj imgW="11315700" imgH="69088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0" id="10"/>
          <p:cNvSpPr/>
          <p:nvPr/>
        </p:nvSpPr>
        <p:spPr>
          <a:xfrm flipH="false" flipV="false" rot="0">
            <a:off x="7780470" y="2280331"/>
            <a:ext cx="8300787" cy="1056464"/>
          </a:xfrm>
          <a:custGeom>
            <a:avLst/>
            <a:gdLst/>
            <a:ahLst/>
            <a:cxnLst/>
            <a:rect r="r" b="b" t="t" l="l"/>
            <a:pathLst>
              <a:path h="1056464" w="8300787">
                <a:moveTo>
                  <a:pt x="0" y="0"/>
                </a:moveTo>
                <a:lnTo>
                  <a:pt x="8300787" y="0"/>
                </a:lnTo>
                <a:lnTo>
                  <a:pt x="8300787" y="1056464"/>
                </a:lnTo>
                <a:lnTo>
                  <a:pt x="0" y="10564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80470" y="3435828"/>
            <a:ext cx="8233998" cy="876470"/>
          </a:xfrm>
          <a:custGeom>
            <a:avLst/>
            <a:gdLst/>
            <a:ahLst/>
            <a:cxnLst/>
            <a:rect r="r" b="b" t="t" l="l"/>
            <a:pathLst>
              <a:path h="876470" w="8233998">
                <a:moveTo>
                  <a:pt x="0" y="0"/>
                </a:moveTo>
                <a:lnTo>
                  <a:pt x="8233998" y="0"/>
                </a:lnTo>
                <a:lnTo>
                  <a:pt x="8233998" y="876470"/>
                </a:lnTo>
                <a:lnTo>
                  <a:pt x="0" y="8764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780470" y="4535260"/>
            <a:ext cx="8300787" cy="870310"/>
          </a:xfrm>
          <a:custGeom>
            <a:avLst/>
            <a:gdLst/>
            <a:ahLst/>
            <a:cxnLst/>
            <a:rect r="r" b="b" t="t" l="l"/>
            <a:pathLst>
              <a:path h="870310" w="8300787">
                <a:moveTo>
                  <a:pt x="0" y="0"/>
                </a:moveTo>
                <a:lnTo>
                  <a:pt x="8300787" y="0"/>
                </a:lnTo>
                <a:lnTo>
                  <a:pt x="8300787" y="870310"/>
                </a:lnTo>
                <a:lnTo>
                  <a:pt x="0" y="8703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773470" y="5695604"/>
            <a:ext cx="8240998" cy="888468"/>
          </a:xfrm>
          <a:custGeom>
            <a:avLst/>
            <a:gdLst/>
            <a:ahLst/>
            <a:cxnLst/>
            <a:rect r="r" b="b" t="t" l="l"/>
            <a:pathLst>
              <a:path h="888468" w="8240998">
                <a:moveTo>
                  <a:pt x="0" y="0"/>
                </a:moveTo>
                <a:lnTo>
                  <a:pt x="8240998" y="0"/>
                </a:lnTo>
                <a:lnTo>
                  <a:pt x="8240998" y="888468"/>
                </a:lnTo>
                <a:lnTo>
                  <a:pt x="0" y="88846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773470" y="6805117"/>
            <a:ext cx="8189409" cy="821620"/>
          </a:xfrm>
          <a:custGeom>
            <a:avLst/>
            <a:gdLst/>
            <a:ahLst/>
            <a:cxnLst/>
            <a:rect r="r" b="b" t="t" l="l"/>
            <a:pathLst>
              <a:path h="821620" w="8189409">
                <a:moveTo>
                  <a:pt x="0" y="0"/>
                </a:moveTo>
                <a:lnTo>
                  <a:pt x="8189409" y="0"/>
                </a:lnTo>
                <a:lnTo>
                  <a:pt x="8189409" y="821620"/>
                </a:lnTo>
                <a:lnTo>
                  <a:pt x="0" y="82162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19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080628" y="455324"/>
            <a:ext cx="18126" cy="835600"/>
            <a:chOff x="0" y="0"/>
            <a:chExt cx="24168" cy="11141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233028" y="607724"/>
            <a:ext cx="18126" cy="835600"/>
            <a:chOff x="0" y="0"/>
            <a:chExt cx="24168" cy="11141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4850612" y="579149"/>
            <a:ext cx="3264408" cy="24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50612" y="902489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959392" y="-6035731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744698" y="4310220"/>
            <a:ext cx="9870480" cy="5848260"/>
          </a:xfrm>
          <a:custGeom>
            <a:avLst/>
            <a:gdLst/>
            <a:ahLst/>
            <a:cxnLst/>
            <a:rect r="r" b="b" t="t" l="l"/>
            <a:pathLst>
              <a:path h="5848260" w="9870480">
                <a:moveTo>
                  <a:pt x="0" y="0"/>
                </a:moveTo>
                <a:lnTo>
                  <a:pt x="9870480" y="0"/>
                </a:lnTo>
                <a:lnTo>
                  <a:pt x="9870480" y="5848259"/>
                </a:lnTo>
                <a:lnTo>
                  <a:pt x="0" y="58482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150" y="287141"/>
            <a:ext cx="9669056" cy="5728916"/>
          </a:xfrm>
          <a:custGeom>
            <a:avLst/>
            <a:gdLst/>
            <a:ahLst/>
            <a:cxnLst/>
            <a:rect r="r" b="b" t="t" l="l"/>
            <a:pathLst>
              <a:path h="5728916" w="9669056">
                <a:moveTo>
                  <a:pt x="0" y="0"/>
                </a:moveTo>
                <a:lnTo>
                  <a:pt x="9669056" y="0"/>
                </a:lnTo>
                <a:lnTo>
                  <a:pt x="9669056" y="5728916"/>
                </a:lnTo>
                <a:lnTo>
                  <a:pt x="0" y="57289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7800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Página 20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785474" y="-1876"/>
            <a:ext cx="18126" cy="835600"/>
            <a:chOff x="0" y="0"/>
            <a:chExt cx="24168" cy="11141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937874" y="150524"/>
            <a:ext cx="18126" cy="835600"/>
            <a:chOff x="0" y="0"/>
            <a:chExt cx="24168" cy="11141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5090274" y="302924"/>
            <a:ext cx="18126" cy="835600"/>
            <a:chOff x="0" y="0"/>
            <a:chExt cx="24168" cy="11141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4919256" y="387348"/>
            <a:ext cx="3053011" cy="29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07858" y="720309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16291" y="2142304"/>
            <a:ext cx="4818809" cy="2666820"/>
          </a:xfrm>
          <a:custGeom>
            <a:avLst/>
            <a:gdLst/>
            <a:ahLst/>
            <a:cxnLst/>
            <a:rect r="r" b="b" t="t" l="l"/>
            <a:pathLst>
              <a:path h="2666820" w="4818809">
                <a:moveTo>
                  <a:pt x="0" y="0"/>
                </a:moveTo>
                <a:lnTo>
                  <a:pt x="4818809" y="0"/>
                </a:lnTo>
                <a:lnTo>
                  <a:pt x="4818809" y="2666820"/>
                </a:lnTo>
                <a:lnTo>
                  <a:pt x="0" y="26668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07288" y="2624280"/>
            <a:ext cx="7279655" cy="7083841"/>
          </a:xfrm>
          <a:custGeom>
            <a:avLst/>
            <a:gdLst/>
            <a:ahLst/>
            <a:cxnLst/>
            <a:rect r="r" b="b" t="t" l="l"/>
            <a:pathLst>
              <a:path h="7083841" w="7279655">
                <a:moveTo>
                  <a:pt x="0" y="0"/>
                </a:moveTo>
                <a:lnTo>
                  <a:pt x="7279654" y="0"/>
                </a:lnTo>
                <a:lnTo>
                  <a:pt x="7279654" y="7083841"/>
                </a:lnTo>
                <a:lnTo>
                  <a:pt x="0" y="70838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16291" y="4809124"/>
            <a:ext cx="5255197" cy="2618062"/>
          </a:xfrm>
          <a:custGeom>
            <a:avLst/>
            <a:gdLst/>
            <a:ahLst/>
            <a:cxnLst/>
            <a:rect r="r" b="b" t="t" l="l"/>
            <a:pathLst>
              <a:path h="2618062" w="5255197">
                <a:moveTo>
                  <a:pt x="0" y="0"/>
                </a:moveTo>
                <a:lnTo>
                  <a:pt x="5255198" y="0"/>
                </a:lnTo>
                <a:lnTo>
                  <a:pt x="5255198" y="2618062"/>
                </a:lnTo>
                <a:lnTo>
                  <a:pt x="0" y="26180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157" t="0" r="-11008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58746" y="1656973"/>
            <a:ext cx="2035799" cy="298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12315F"/>
                </a:solidFill>
                <a:latin typeface="DM Sans Bold"/>
                <a:ea typeface="DM Sans Bold"/>
                <a:cs typeface="DM Sans Bold"/>
                <a:sym typeface="DM Sans Bold"/>
              </a:rPr>
              <a:t>MODELAMIENTO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16291" y="7427186"/>
            <a:ext cx="1494689" cy="2214475"/>
          </a:xfrm>
          <a:custGeom>
            <a:avLst/>
            <a:gdLst/>
            <a:ahLst/>
            <a:cxnLst/>
            <a:rect r="r" b="b" t="t" l="l"/>
            <a:pathLst>
              <a:path h="2214475" w="1494689">
                <a:moveTo>
                  <a:pt x="0" y="0"/>
                </a:moveTo>
                <a:lnTo>
                  <a:pt x="1494689" y="0"/>
                </a:lnTo>
                <a:lnTo>
                  <a:pt x="1494689" y="2214476"/>
                </a:lnTo>
                <a:lnTo>
                  <a:pt x="0" y="22144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7586" t="-18224" r="-638647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710980" y="7427186"/>
            <a:ext cx="3606061" cy="2214475"/>
          </a:xfrm>
          <a:custGeom>
            <a:avLst/>
            <a:gdLst/>
            <a:ahLst/>
            <a:cxnLst/>
            <a:rect r="r" b="b" t="t" l="l"/>
            <a:pathLst>
              <a:path h="2214475" w="3606061">
                <a:moveTo>
                  <a:pt x="0" y="0"/>
                </a:moveTo>
                <a:lnTo>
                  <a:pt x="3606060" y="0"/>
                </a:lnTo>
                <a:lnTo>
                  <a:pt x="3606060" y="2214476"/>
                </a:lnTo>
                <a:lnTo>
                  <a:pt x="0" y="22144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43400" t="-18224" r="-65908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21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49495" y="589558"/>
            <a:ext cx="8244518" cy="7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5"/>
              </a:lnSpc>
            </a:pPr>
            <a:r>
              <a:rPr lang="en-US" sz="5728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RESULTADOS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4785474" y="-1876"/>
            <a:ext cx="18126" cy="835600"/>
            <a:chOff x="0" y="0"/>
            <a:chExt cx="24168" cy="11141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937874" y="150524"/>
            <a:ext cx="18126" cy="835600"/>
            <a:chOff x="0" y="0"/>
            <a:chExt cx="24168" cy="11141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5090274" y="302924"/>
            <a:ext cx="18126" cy="835600"/>
            <a:chOff x="0" y="0"/>
            <a:chExt cx="24168" cy="11141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4919256" y="387348"/>
            <a:ext cx="3053011" cy="29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b="true" sz="1800" spc="37">
                <a:solidFill>
                  <a:srgbClr val="003865"/>
                </a:solidFill>
                <a:latin typeface="Arial Bold"/>
                <a:ea typeface="Arial Bold"/>
                <a:cs typeface="Arial Bold"/>
                <a:sym typeface="Arial Bold"/>
              </a:rPr>
              <a:t>INGENIERÍA DE SISTEMAS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07858" y="720309"/>
            <a:ext cx="3264408" cy="12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3"/>
              </a:lnSpc>
            </a:pPr>
            <a:r>
              <a:rPr lang="en-US" b="true" sz="975" spc="225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528302" y="860612"/>
            <a:ext cx="229438" cy="256623"/>
            <a:chOff x="0" y="0"/>
            <a:chExt cx="305918" cy="3421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5943" cy="342138"/>
            </a:xfrm>
            <a:custGeom>
              <a:avLst/>
              <a:gdLst/>
              <a:ahLst/>
              <a:cxnLst/>
              <a:rect r="r" b="b" t="t" l="l"/>
              <a:pathLst>
                <a:path h="342138" w="305943">
                  <a:moveTo>
                    <a:pt x="305943" y="0"/>
                  </a:moveTo>
                  <a:lnTo>
                    <a:pt x="305943" y="189992"/>
                  </a:lnTo>
                  <a:cubicBezTo>
                    <a:pt x="305943" y="299974"/>
                    <a:pt x="247015" y="342138"/>
                    <a:pt x="152908" y="342138"/>
                  </a:cubicBezTo>
                  <a:cubicBezTo>
                    <a:pt x="58801" y="342138"/>
                    <a:pt x="0" y="299974"/>
                    <a:pt x="0" y="189992"/>
                  </a:cubicBezTo>
                  <a:lnTo>
                    <a:pt x="0" y="0"/>
                  </a:lnTo>
                  <a:lnTo>
                    <a:pt x="84328" y="0"/>
                  </a:lnTo>
                  <a:lnTo>
                    <a:pt x="84328" y="168910"/>
                  </a:lnTo>
                  <a:cubicBezTo>
                    <a:pt x="84328" y="240919"/>
                    <a:pt x="111252" y="268351"/>
                    <a:pt x="153035" y="268351"/>
                  </a:cubicBezTo>
                  <a:cubicBezTo>
                    <a:pt x="194818" y="268351"/>
                    <a:pt x="221742" y="240919"/>
                    <a:pt x="221742" y="168910"/>
                  </a:cubicBezTo>
                  <a:lnTo>
                    <a:pt x="221742" y="0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679938" y="1140809"/>
            <a:ext cx="1162622" cy="14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"/>
              </a:lnSpc>
            </a:pPr>
            <a:r>
              <a:rPr lang="en-US" sz="701">
                <a:solidFill>
                  <a:srgbClr val="12315F"/>
                </a:solidFill>
                <a:latin typeface="Arimo"/>
                <a:ea typeface="Arimo"/>
                <a:cs typeface="Arimo"/>
                <a:sym typeface="Arimo"/>
              </a:rPr>
              <a:t>UNIVERSIDAD PERUANA UNIÓN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82466" y="2331534"/>
            <a:ext cx="7709392" cy="6172332"/>
          </a:xfrm>
          <a:custGeom>
            <a:avLst/>
            <a:gdLst/>
            <a:ahLst/>
            <a:cxnLst/>
            <a:rect r="r" b="b" t="t" l="l"/>
            <a:pathLst>
              <a:path h="6172332" w="7709392">
                <a:moveTo>
                  <a:pt x="0" y="0"/>
                </a:moveTo>
                <a:lnTo>
                  <a:pt x="7709391" y="0"/>
                </a:lnTo>
                <a:lnTo>
                  <a:pt x="7709391" y="6172332"/>
                </a:lnTo>
                <a:lnTo>
                  <a:pt x="0" y="61723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554894" y="2331534"/>
            <a:ext cx="7932314" cy="6172332"/>
          </a:xfrm>
          <a:custGeom>
            <a:avLst/>
            <a:gdLst/>
            <a:ahLst/>
            <a:cxnLst/>
            <a:rect r="r" b="b" t="t" l="l"/>
            <a:pathLst>
              <a:path h="6172332" w="7932314">
                <a:moveTo>
                  <a:pt x="0" y="0"/>
                </a:moveTo>
                <a:lnTo>
                  <a:pt x="7932314" y="0"/>
                </a:lnTo>
                <a:lnTo>
                  <a:pt x="7932314" y="6172332"/>
                </a:lnTo>
                <a:lnTo>
                  <a:pt x="0" y="6172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437183" y="1606134"/>
            <a:ext cx="1909349" cy="3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7"/>
              </a:lnSpc>
              <a:spcBef>
                <a:spcPct val="0"/>
              </a:spcBef>
            </a:pPr>
            <a:r>
              <a:rPr lang="en-US" b="true" sz="2148">
                <a:solidFill>
                  <a:srgbClr val="12315F"/>
                </a:solidFill>
                <a:latin typeface="DM Sans Bold"/>
                <a:ea typeface="DM Sans Bold"/>
                <a:cs typeface="DM Sans Bold"/>
                <a:sym typeface="DM Sans Bold"/>
              </a:rPr>
              <a:t>Modelamiento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965774" y="287141"/>
            <a:ext cx="590950" cy="538039"/>
          </a:xfrm>
          <a:custGeom>
            <a:avLst/>
            <a:gdLst/>
            <a:ahLst/>
            <a:cxnLst/>
            <a:rect r="r" b="b" t="t" l="l"/>
            <a:pathLst>
              <a:path h="538039" w="590950">
                <a:moveTo>
                  <a:pt x="0" y="0"/>
                </a:moveTo>
                <a:lnTo>
                  <a:pt x="590950" y="0"/>
                </a:lnTo>
                <a:lnTo>
                  <a:pt x="590950" y="538038"/>
                </a:lnTo>
                <a:lnTo>
                  <a:pt x="0" y="5380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764749" y="860612"/>
            <a:ext cx="229438" cy="256623"/>
            <a:chOff x="0" y="0"/>
            <a:chExt cx="305918" cy="3421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5943" cy="342138"/>
            </a:xfrm>
            <a:custGeom>
              <a:avLst/>
              <a:gdLst/>
              <a:ahLst/>
              <a:cxnLst/>
              <a:rect r="r" b="b" t="t" l="l"/>
              <a:pathLst>
                <a:path h="342138" w="305943">
                  <a:moveTo>
                    <a:pt x="305943" y="0"/>
                  </a:moveTo>
                  <a:lnTo>
                    <a:pt x="305943" y="189992"/>
                  </a:lnTo>
                  <a:cubicBezTo>
                    <a:pt x="305943" y="299974"/>
                    <a:pt x="247015" y="342138"/>
                    <a:pt x="152908" y="342138"/>
                  </a:cubicBezTo>
                  <a:cubicBezTo>
                    <a:pt x="58801" y="342138"/>
                    <a:pt x="0" y="299974"/>
                    <a:pt x="0" y="189992"/>
                  </a:cubicBezTo>
                  <a:lnTo>
                    <a:pt x="0" y="0"/>
                  </a:lnTo>
                  <a:lnTo>
                    <a:pt x="84328" y="0"/>
                  </a:lnTo>
                  <a:lnTo>
                    <a:pt x="84328" y="168910"/>
                  </a:lnTo>
                  <a:cubicBezTo>
                    <a:pt x="84328" y="240919"/>
                    <a:pt x="111252" y="268351"/>
                    <a:pt x="153035" y="268351"/>
                  </a:cubicBezTo>
                  <a:cubicBezTo>
                    <a:pt x="194818" y="268351"/>
                    <a:pt x="221742" y="240919"/>
                    <a:pt x="221742" y="168910"/>
                  </a:cubicBezTo>
                  <a:lnTo>
                    <a:pt x="221742" y="0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041603" y="860603"/>
            <a:ext cx="455066" cy="255984"/>
          </a:xfrm>
          <a:custGeom>
            <a:avLst/>
            <a:gdLst/>
            <a:ahLst/>
            <a:cxnLst/>
            <a:rect r="r" b="b" t="t" l="l"/>
            <a:pathLst>
              <a:path h="255984" w="455066">
                <a:moveTo>
                  <a:pt x="0" y="0"/>
                </a:moveTo>
                <a:lnTo>
                  <a:pt x="455066" y="0"/>
                </a:lnTo>
                <a:lnTo>
                  <a:pt x="455066" y="255984"/>
                </a:lnTo>
                <a:lnTo>
                  <a:pt x="0" y="2559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528302" y="860612"/>
            <a:ext cx="229438" cy="256623"/>
            <a:chOff x="0" y="0"/>
            <a:chExt cx="305918" cy="3421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5943" cy="342138"/>
            </a:xfrm>
            <a:custGeom>
              <a:avLst/>
              <a:gdLst/>
              <a:ahLst/>
              <a:cxnLst/>
              <a:rect r="r" b="b" t="t" l="l"/>
              <a:pathLst>
                <a:path h="342138" w="305943">
                  <a:moveTo>
                    <a:pt x="305943" y="0"/>
                  </a:moveTo>
                  <a:lnTo>
                    <a:pt x="305943" y="189992"/>
                  </a:lnTo>
                  <a:cubicBezTo>
                    <a:pt x="305943" y="299974"/>
                    <a:pt x="247015" y="342138"/>
                    <a:pt x="152908" y="342138"/>
                  </a:cubicBezTo>
                  <a:cubicBezTo>
                    <a:pt x="58801" y="342138"/>
                    <a:pt x="0" y="299974"/>
                    <a:pt x="0" y="189992"/>
                  </a:cubicBezTo>
                  <a:lnTo>
                    <a:pt x="0" y="0"/>
                  </a:lnTo>
                  <a:lnTo>
                    <a:pt x="84328" y="0"/>
                  </a:lnTo>
                  <a:lnTo>
                    <a:pt x="84328" y="168910"/>
                  </a:lnTo>
                  <a:cubicBezTo>
                    <a:pt x="84328" y="240919"/>
                    <a:pt x="111252" y="268351"/>
                    <a:pt x="153035" y="268351"/>
                  </a:cubicBezTo>
                  <a:cubicBezTo>
                    <a:pt x="194818" y="268351"/>
                    <a:pt x="221742" y="240919"/>
                    <a:pt x="221742" y="168910"/>
                  </a:cubicBezTo>
                  <a:lnTo>
                    <a:pt x="221742" y="0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057796" y="261985"/>
            <a:ext cx="2858824" cy="57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486" spc="282">
                <a:solidFill>
                  <a:srgbClr val="12315F"/>
                </a:solidFill>
                <a:latin typeface="Prompt Light"/>
                <a:ea typeface="Prompt Light"/>
                <a:cs typeface="Prompt Light"/>
                <a:sym typeface="Prompt Light"/>
              </a:rPr>
              <a:t>INGENIERÍA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57796" y="675322"/>
            <a:ext cx="560546" cy="56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b="true" sz="3267" spc="71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79845" y="675322"/>
            <a:ext cx="2162642" cy="56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b="true" sz="3267" spc="98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SISTEMAS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79938" y="1140809"/>
            <a:ext cx="1162622" cy="14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"/>
              </a:lnSpc>
            </a:pPr>
            <a:r>
              <a:rPr lang="en-US" sz="701">
                <a:solidFill>
                  <a:srgbClr val="12315F"/>
                </a:solidFill>
                <a:latin typeface="Arimo"/>
                <a:ea typeface="Arimo"/>
                <a:cs typeface="Arimo"/>
                <a:sym typeface="Arimo"/>
              </a:rPr>
              <a:t>UNIVERSIDAD PERUANA UNIÓN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043461" y="1499594"/>
            <a:ext cx="12714279" cy="7946424"/>
          </a:xfrm>
          <a:custGeom>
            <a:avLst/>
            <a:gdLst/>
            <a:ahLst/>
            <a:cxnLst/>
            <a:rect r="r" b="b" t="t" l="l"/>
            <a:pathLst>
              <a:path h="7946424" w="12714279">
                <a:moveTo>
                  <a:pt x="0" y="0"/>
                </a:moveTo>
                <a:lnTo>
                  <a:pt x="12714279" y="0"/>
                </a:lnTo>
                <a:lnTo>
                  <a:pt x="12714279" y="7946425"/>
                </a:lnTo>
                <a:lnTo>
                  <a:pt x="0" y="79464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443180" y="834819"/>
            <a:ext cx="1914840" cy="32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5"/>
              </a:lnSpc>
              <a:spcBef>
                <a:spcPct val="0"/>
              </a:spcBef>
            </a:pPr>
            <a:r>
              <a:rPr lang="en-US" b="true" sz="2154">
                <a:solidFill>
                  <a:srgbClr val="12315F"/>
                </a:solidFill>
                <a:latin typeface="DM Sans Bold"/>
                <a:ea typeface="DM Sans Bold"/>
                <a:cs typeface="DM Sans Bold"/>
                <a:sym typeface="DM Sans Bold"/>
              </a:rPr>
              <a:t>Modelamiento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0000">
            <a:off x="9596904" y="-5853703"/>
            <a:ext cx="9973923" cy="9964522"/>
            <a:chOff x="0" y="0"/>
            <a:chExt cx="13298564" cy="13286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2"/>
              <a:ext cx="13298551" cy="13285914"/>
            </a:xfrm>
            <a:custGeom>
              <a:avLst/>
              <a:gdLst/>
              <a:ahLst/>
              <a:cxnLst/>
              <a:rect r="r" b="b" t="t" l="l"/>
              <a:pathLst>
                <a:path h="13285914" w="13298551">
                  <a:moveTo>
                    <a:pt x="7469632" y="339566"/>
                  </a:moveTo>
                  <a:lnTo>
                    <a:pt x="12958826" y="5823426"/>
                  </a:lnTo>
                  <a:cubicBezTo>
                    <a:pt x="13176377" y="6040723"/>
                    <a:pt x="13298551" y="6335490"/>
                    <a:pt x="13298551" y="6642957"/>
                  </a:cubicBezTo>
                  <a:cubicBezTo>
                    <a:pt x="13298551" y="6950424"/>
                    <a:pt x="13176377" y="7245191"/>
                    <a:pt x="12958826" y="7462488"/>
                  </a:cubicBezTo>
                  <a:lnTo>
                    <a:pt x="7469632" y="12946348"/>
                  </a:lnTo>
                  <a:cubicBezTo>
                    <a:pt x="7016369" y="13399102"/>
                    <a:pt x="6282182" y="13399102"/>
                    <a:pt x="5828919" y="12946348"/>
                  </a:cubicBezTo>
                  <a:lnTo>
                    <a:pt x="339725" y="7462488"/>
                  </a:lnTo>
                  <a:cubicBezTo>
                    <a:pt x="122174" y="7245318"/>
                    <a:pt x="0" y="6950424"/>
                    <a:pt x="0" y="6642957"/>
                  </a:cubicBezTo>
                  <a:cubicBezTo>
                    <a:pt x="0" y="6335490"/>
                    <a:pt x="122174" y="6040723"/>
                    <a:pt x="339725" y="5823426"/>
                  </a:cubicBezTo>
                  <a:lnTo>
                    <a:pt x="5828919" y="339566"/>
                  </a:lnTo>
                  <a:cubicBezTo>
                    <a:pt x="6282055" y="-113189"/>
                    <a:pt x="7016369" y="-113189"/>
                    <a:pt x="7469632" y="339566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711897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7653" y="843344"/>
            <a:ext cx="6933752" cy="6933752"/>
          </a:xfrm>
          <a:custGeom>
            <a:avLst/>
            <a:gdLst/>
            <a:ahLst/>
            <a:cxnLst/>
            <a:rect r="r" b="b" t="t" l="l"/>
            <a:pathLst>
              <a:path h="6933752" w="6933752">
                <a:moveTo>
                  <a:pt x="0" y="0"/>
                </a:moveTo>
                <a:lnTo>
                  <a:pt x="6933753" y="0"/>
                </a:lnTo>
                <a:lnTo>
                  <a:pt x="6933753" y="6933752"/>
                </a:lnTo>
                <a:lnTo>
                  <a:pt x="0" y="6933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05097" y="7214359"/>
            <a:ext cx="2038502" cy="2043941"/>
          </a:xfrm>
          <a:custGeom>
            <a:avLst/>
            <a:gdLst/>
            <a:ahLst/>
            <a:cxnLst/>
            <a:rect r="r" b="b" t="t" l="l"/>
            <a:pathLst>
              <a:path h="2043941" w="2038502">
                <a:moveTo>
                  <a:pt x="0" y="0"/>
                </a:moveTo>
                <a:lnTo>
                  <a:pt x="2038503" y="0"/>
                </a:lnTo>
                <a:lnTo>
                  <a:pt x="2038503" y="2043941"/>
                </a:lnTo>
                <a:lnTo>
                  <a:pt x="0" y="2043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928228" y="302924"/>
            <a:ext cx="18126" cy="835600"/>
            <a:chOff x="0" y="0"/>
            <a:chExt cx="24168" cy="11141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" cy="1114171"/>
            </a:xfrm>
            <a:custGeom>
              <a:avLst/>
              <a:gdLst/>
              <a:ahLst/>
              <a:cxnLst/>
              <a:rect r="r" b="b" t="t" l="l"/>
              <a:pathLst>
                <a:path h="1114171" w="24130">
                  <a:moveTo>
                    <a:pt x="0" y="1114171"/>
                  </a:moveTo>
                  <a:lnTo>
                    <a:pt x="24130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5873967" t="0" r="-5874125" b="3"/>
              </a:stretch>
            </a:blipFill>
            <a:ln w="24169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965774" y="287141"/>
            <a:ext cx="590950" cy="538039"/>
          </a:xfrm>
          <a:custGeom>
            <a:avLst/>
            <a:gdLst/>
            <a:ahLst/>
            <a:cxnLst/>
            <a:rect r="r" b="b" t="t" l="l"/>
            <a:pathLst>
              <a:path h="538039" w="590950">
                <a:moveTo>
                  <a:pt x="0" y="0"/>
                </a:moveTo>
                <a:lnTo>
                  <a:pt x="590950" y="0"/>
                </a:lnTo>
                <a:lnTo>
                  <a:pt x="590950" y="538038"/>
                </a:lnTo>
                <a:lnTo>
                  <a:pt x="0" y="5380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764749" y="860612"/>
            <a:ext cx="229438" cy="256623"/>
            <a:chOff x="0" y="0"/>
            <a:chExt cx="305918" cy="3421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5943" cy="342138"/>
            </a:xfrm>
            <a:custGeom>
              <a:avLst/>
              <a:gdLst/>
              <a:ahLst/>
              <a:cxnLst/>
              <a:rect r="r" b="b" t="t" l="l"/>
              <a:pathLst>
                <a:path h="342138" w="305943">
                  <a:moveTo>
                    <a:pt x="305943" y="0"/>
                  </a:moveTo>
                  <a:lnTo>
                    <a:pt x="305943" y="189992"/>
                  </a:lnTo>
                  <a:cubicBezTo>
                    <a:pt x="305943" y="299974"/>
                    <a:pt x="247015" y="342138"/>
                    <a:pt x="152908" y="342138"/>
                  </a:cubicBezTo>
                  <a:cubicBezTo>
                    <a:pt x="58801" y="342138"/>
                    <a:pt x="0" y="299974"/>
                    <a:pt x="0" y="189992"/>
                  </a:cubicBezTo>
                  <a:lnTo>
                    <a:pt x="0" y="0"/>
                  </a:lnTo>
                  <a:lnTo>
                    <a:pt x="84328" y="0"/>
                  </a:lnTo>
                  <a:lnTo>
                    <a:pt x="84328" y="168910"/>
                  </a:lnTo>
                  <a:cubicBezTo>
                    <a:pt x="84328" y="240919"/>
                    <a:pt x="111252" y="268351"/>
                    <a:pt x="153035" y="268351"/>
                  </a:cubicBezTo>
                  <a:cubicBezTo>
                    <a:pt x="194818" y="268351"/>
                    <a:pt x="221742" y="240919"/>
                    <a:pt x="221742" y="168910"/>
                  </a:cubicBezTo>
                  <a:lnTo>
                    <a:pt x="221742" y="0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041603" y="860603"/>
            <a:ext cx="455066" cy="255984"/>
          </a:xfrm>
          <a:custGeom>
            <a:avLst/>
            <a:gdLst/>
            <a:ahLst/>
            <a:cxnLst/>
            <a:rect r="r" b="b" t="t" l="l"/>
            <a:pathLst>
              <a:path h="255984" w="455066">
                <a:moveTo>
                  <a:pt x="0" y="0"/>
                </a:moveTo>
                <a:lnTo>
                  <a:pt x="455066" y="0"/>
                </a:lnTo>
                <a:lnTo>
                  <a:pt x="455066" y="255984"/>
                </a:lnTo>
                <a:lnTo>
                  <a:pt x="0" y="2559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528302" y="860612"/>
            <a:ext cx="229438" cy="256623"/>
            <a:chOff x="0" y="0"/>
            <a:chExt cx="305918" cy="3421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5943" cy="342138"/>
            </a:xfrm>
            <a:custGeom>
              <a:avLst/>
              <a:gdLst/>
              <a:ahLst/>
              <a:cxnLst/>
              <a:rect r="r" b="b" t="t" l="l"/>
              <a:pathLst>
                <a:path h="342138" w="305943">
                  <a:moveTo>
                    <a:pt x="305943" y="0"/>
                  </a:moveTo>
                  <a:lnTo>
                    <a:pt x="305943" y="189992"/>
                  </a:lnTo>
                  <a:cubicBezTo>
                    <a:pt x="305943" y="299974"/>
                    <a:pt x="247015" y="342138"/>
                    <a:pt x="152908" y="342138"/>
                  </a:cubicBezTo>
                  <a:cubicBezTo>
                    <a:pt x="58801" y="342138"/>
                    <a:pt x="0" y="299974"/>
                    <a:pt x="0" y="189992"/>
                  </a:cubicBezTo>
                  <a:lnTo>
                    <a:pt x="0" y="0"/>
                  </a:lnTo>
                  <a:lnTo>
                    <a:pt x="84328" y="0"/>
                  </a:lnTo>
                  <a:lnTo>
                    <a:pt x="84328" y="168910"/>
                  </a:lnTo>
                  <a:cubicBezTo>
                    <a:pt x="84328" y="240919"/>
                    <a:pt x="111252" y="268351"/>
                    <a:pt x="153035" y="268351"/>
                  </a:cubicBezTo>
                  <a:cubicBezTo>
                    <a:pt x="194818" y="268351"/>
                    <a:pt x="221742" y="240919"/>
                    <a:pt x="221742" y="168910"/>
                  </a:cubicBezTo>
                  <a:lnTo>
                    <a:pt x="221742" y="0"/>
                  </a:ln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057796" y="261985"/>
            <a:ext cx="2858824" cy="57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486" spc="282">
                <a:solidFill>
                  <a:srgbClr val="12315F"/>
                </a:solidFill>
                <a:latin typeface="Prompt Light"/>
                <a:ea typeface="Prompt Light"/>
                <a:cs typeface="Prompt Light"/>
                <a:sym typeface="Prompt Light"/>
              </a:rPr>
              <a:t>INGENIERÍA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57796" y="675322"/>
            <a:ext cx="560546" cy="56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b="true" sz="3267" spc="71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79845" y="675322"/>
            <a:ext cx="2162642" cy="56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b="true" sz="3267" spc="98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SISTEMAS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79938" y="1140809"/>
            <a:ext cx="1162622" cy="14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"/>
              </a:lnSpc>
            </a:pPr>
            <a:r>
              <a:rPr lang="en-US" sz="701">
                <a:solidFill>
                  <a:srgbClr val="12315F"/>
                </a:solidFill>
                <a:latin typeface="Arimo"/>
                <a:ea typeface="Arimo"/>
                <a:cs typeface="Arimo"/>
                <a:sym typeface="Arimo"/>
              </a:rPr>
              <a:t>UNIVERSIDAD PERUANA UNIÓN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42305" y="1945063"/>
            <a:ext cx="5412403" cy="1920530"/>
          </a:xfrm>
          <a:custGeom>
            <a:avLst/>
            <a:gdLst/>
            <a:ahLst/>
            <a:cxnLst/>
            <a:rect r="r" b="b" t="t" l="l"/>
            <a:pathLst>
              <a:path h="1920530" w="5412403">
                <a:moveTo>
                  <a:pt x="0" y="0"/>
                </a:moveTo>
                <a:lnTo>
                  <a:pt x="5412403" y="0"/>
                </a:lnTo>
                <a:lnTo>
                  <a:pt x="5412403" y="1920530"/>
                </a:lnTo>
                <a:lnTo>
                  <a:pt x="0" y="192053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11036" y="4844294"/>
            <a:ext cx="7001339" cy="4161421"/>
          </a:xfrm>
          <a:custGeom>
            <a:avLst/>
            <a:gdLst/>
            <a:ahLst/>
            <a:cxnLst/>
            <a:rect r="r" b="b" t="t" l="l"/>
            <a:pathLst>
              <a:path h="4161421" w="7001339">
                <a:moveTo>
                  <a:pt x="0" y="0"/>
                </a:moveTo>
                <a:lnTo>
                  <a:pt x="7001339" y="0"/>
                </a:lnTo>
                <a:lnTo>
                  <a:pt x="7001339" y="4161421"/>
                </a:lnTo>
                <a:lnTo>
                  <a:pt x="0" y="416142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472244" y="2190255"/>
            <a:ext cx="9967766" cy="6815460"/>
          </a:xfrm>
          <a:custGeom>
            <a:avLst/>
            <a:gdLst/>
            <a:ahLst/>
            <a:cxnLst/>
            <a:rect r="r" b="b" t="t" l="l"/>
            <a:pathLst>
              <a:path h="6815460" w="9967766">
                <a:moveTo>
                  <a:pt x="0" y="0"/>
                </a:moveTo>
                <a:lnTo>
                  <a:pt x="9967765" y="0"/>
                </a:lnTo>
                <a:lnTo>
                  <a:pt x="9967765" y="6815460"/>
                </a:lnTo>
                <a:lnTo>
                  <a:pt x="0" y="681546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678001" y="978855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Página 24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85859" y="1656973"/>
            <a:ext cx="1581574" cy="298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>
                <a:solidFill>
                  <a:srgbClr val="12315F"/>
                </a:solidFill>
                <a:latin typeface="DM Sans Bold"/>
                <a:ea typeface="DM Sans Bold"/>
                <a:cs typeface="DM Sans Bold"/>
                <a:sym typeface="DM Sans Bold"/>
              </a:rPr>
              <a:t>VALIIDACIÓN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02079" y="4616520"/>
            <a:ext cx="18324719" cy="9861594"/>
            <a:chOff x="0" y="0"/>
            <a:chExt cx="24432958" cy="131487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8" y="0"/>
              <a:ext cx="24432876" cy="13148818"/>
            </a:xfrm>
            <a:custGeom>
              <a:avLst/>
              <a:gdLst/>
              <a:ahLst/>
              <a:cxnLst/>
              <a:rect r="r" b="b" t="t" l="l"/>
              <a:pathLst>
                <a:path h="13148818" w="24432876">
                  <a:moveTo>
                    <a:pt x="12889248" y="290703"/>
                  </a:moveTo>
                  <a:lnTo>
                    <a:pt x="24317597" y="12433935"/>
                  </a:lnTo>
                  <a:cubicBezTo>
                    <a:pt x="24433548" y="12557125"/>
                    <a:pt x="24465171" y="12737592"/>
                    <a:pt x="24398115" y="12892913"/>
                  </a:cubicBezTo>
                  <a:cubicBezTo>
                    <a:pt x="24331060" y="13048233"/>
                    <a:pt x="24178024" y="13148818"/>
                    <a:pt x="24008734" y="13148818"/>
                  </a:cubicBezTo>
                  <a:lnTo>
                    <a:pt x="424198" y="13148818"/>
                  </a:lnTo>
                  <a:cubicBezTo>
                    <a:pt x="255034" y="13148818"/>
                    <a:pt x="101999" y="13048233"/>
                    <a:pt x="34816" y="12892913"/>
                  </a:cubicBezTo>
                  <a:cubicBezTo>
                    <a:pt x="-32367" y="12737592"/>
                    <a:pt x="-617" y="12557251"/>
                    <a:pt x="115334" y="12433935"/>
                  </a:cubicBezTo>
                  <a:lnTo>
                    <a:pt x="11543683" y="290703"/>
                  </a:lnTo>
                  <a:cubicBezTo>
                    <a:pt x="11718308" y="105156"/>
                    <a:pt x="11961767" y="0"/>
                    <a:pt x="12216529" y="0"/>
                  </a:cubicBezTo>
                  <a:cubicBezTo>
                    <a:pt x="12471291" y="0"/>
                    <a:pt x="12714750" y="105156"/>
                    <a:pt x="12889248" y="290703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953292" y="-2195770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4" y="0"/>
                </a:lnTo>
                <a:lnTo>
                  <a:pt x="18309574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80799"/>
            <a:ext cx="8988457" cy="84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7"/>
              </a:lnSpc>
            </a:pPr>
            <a:r>
              <a:rPr lang="en-US" sz="9075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830071" y="3312462"/>
            <a:ext cx="1474108" cy="1474108"/>
          </a:xfrm>
          <a:custGeom>
            <a:avLst/>
            <a:gdLst/>
            <a:ahLst/>
            <a:cxnLst/>
            <a:rect r="r" b="b" t="t" l="l"/>
            <a:pathLst>
              <a:path h="1474108" w="1474108">
                <a:moveTo>
                  <a:pt x="0" y="0"/>
                </a:moveTo>
                <a:lnTo>
                  <a:pt x="1474108" y="0"/>
                </a:lnTo>
                <a:lnTo>
                  <a:pt x="1474108" y="1474108"/>
                </a:lnTo>
                <a:lnTo>
                  <a:pt x="0" y="1474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137216" y="191386"/>
            <a:ext cx="19050" cy="836524"/>
            <a:chOff x="0" y="0"/>
            <a:chExt cx="25400" cy="11153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" cy="1115314"/>
            </a:xfrm>
            <a:custGeom>
              <a:avLst/>
              <a:gdLst/>
              <a:ahLst/>
              <a:cxnLst/>
              <a:rect r="r" b="b" t="t" l="l"/>
              <a:pathLst>
                <a:path h="1115314" w="25400">
                  <a:moveTo>
                    <a:pt x="0" y="1115314"/>
                  </a:moveTo>
                  <a:lnTo>
                    <a:pt x="25400" y="0"/>
                  </a:lnTo>
                </a:path>
              </a:pathLst>
            </a:custGeom>
            <a:blipFill>
              <a:blip r:embed="rId6">
                <a:alphaModFix amt="0"/>
              </a:blip>
              <a:stretch>
                <a:fillRect l="-5584066" t="0" r="-5584066" b="-4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4175229" y="176060"/>
            <a:ext cx="590950" cy="538039"/>
          </a:xfrm>
          <a:custGeom>
            <a:avLst/>
            <a:gdLst/>
            <a:ahLst/>
            <a:cxnLst/>
            <a:rect r="r" b="b" t="t" l="l"/>
            <a:pathLst>
              <a:path h="538039" w="590950">
                <a:moveTo>
                  <a:pt x="0" y="0"/>
                </a:moveTo>
                <a:lnTo>
                  <a:pt x="590950" y="0"/>
                </a:lnTo>
                <a:lnTo>
                  <a:pt x="590950" y="538039"/>
                </a:lnTo>
                <a:lnTo>
                  <a:pt x="0" y="5380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74204" y="749532"/>
            <a:ext cx="992991" cy="256632"/>
          </a:xfrm>
          <a:custGeom>
            <a:avLst/>
            <a:gdLst/>
            <a:ahLst/>
            <a:cxnLst/>
            <a:rect r="r" b="b" t="t" l="l"/>
            <a:pathLst>
              <a:path h="256632" w="992991">
                <a:moveTo>
                  <a:pt x="0" y="0"/>
                </a:moveTo>
                <a:lnTo>
                  <a:pt x="992990" y="0"/>
                </a:lnTo>
                <a:lnTo>
                  <a:pt x="992990" y="256632"/>
                </a:lnTo>
                <a:lnTo>
                  <a:pt x="0" y="2566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267251" y="143761"/>
            <a:ext cx="2858824" cy="57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486" spc="282">
                <a:solidFill>
                  <a:srgbClr val="12315F"/>
                </a:solidFill>
                <a:latin typeface="Prompt Light"/>
                <a:ea typeface="Prompt Light"/>
                <a:cs typeface="Prompt Light"/>
                <a:sym typeface="Prompt Light"/>
              </a:rPr>
              <a:t>INGENIERÍA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67251" y="554717"/>
            <a:ext cx="560546" cy="57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b="true" sz="3267" spc="71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89300" y="554717"/>
            <a:ext cx="2162642" cy="57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b="true" sz="3267" spc="98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SISTEMAS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89384" y="1022585"/>
            <a:ext cx="1162622" cy="14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"/>
              </a:lnSpc>
            </a:pPr>
            <a:r>
              <a:rPr lang="en-US" sz="701">
                <a:solidFill>
                  <a:srgbClr val="12315F"/>
                </a:solidFill>
                <a:latin typeface="Arimo"/>
                <a:ea typeface="Arimo"/>
                <a:cs typeface="Arimo"/>
                <a:sym typeface="Arimo"/>
              </a:rPr>
              <a:t>UNIVERSIDAD PERUANA UNIÓN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1036" y="9815512"/>
            <a:ext cx="582584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8193" y="2264022"/>
            <a:ext cx="12172731" cy="558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867" spc="62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CONCLUSIONES</a:t>
            </a:r>
          </a:p>
          <a:p>
            <a:pPr algn="l" marL="618987" indent="-309494" lvl="1">
              <a:lnSpc>
                <a:spcPts val="3727"/>
              </a:lnSpc>
              <a:buFont typeface="Arial"/>
              <a:buChar char="•"/>
            </a:pPr>
            <a:r>
              <a:rPr lang="en-US" sz="2867" spc="62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Se consolidaron y depuraron los datos históricos de la ENDES para construir una base adecuada para el análisis.</a:t>
            </a:r>
          </a:p>
          <a:p>
            <a:pPr algn="l" marL="618987" indent="-309494" lvl="1">
              <a:lnSpc>
                <a:spcPts val="3727"/>
              </a:lnSpc>
              <a:buFont typeface="Arial"/>
              <a:buChar char="•"/>
            </a:pPr>
            <a:r>
              <a:rPr lang="en-US" sz="2867" spc="62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Se identificaron los principales factores asociados con la desnutrición crónica infantil.</a:t>
            </a:r>
          </a:p>
          <a:p>
            <a:pPr algn="l" marL="618987" indent="-309494" lvl="1">
              <a:lnSpc>
                <a:spcPts val="3727"/>
              </a:lnSpc>
              <a:buFont typeface="Arial"/>
              <a:buChar char="•"/>
            </a:pPr>
            <a:r>
              <a:rPr lang="en-US" sz="2867" spc="62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El análisis departamental permitió visualizar el perfil y los factores predominantes de cada región.</a:t>
            </a:r>
          </a:p>
          <a:p>
            <a:pPr algn="l" marL="618987" indent="-309494" lvl="1">
              <a:lnSpc>
                <a:spcPts val="3727"/>
              </a:lnSpc>
              <a:buFont typeface="Arial"/>
              <a:buChar char="•"/>
            </a:pPr>
            <a:r>
              <a:rPr lang="en-US" sz="2867" spc="62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LightGBM fue seleccionado como el modelo con mejor desempeño predictivo.</a:t>
            </a:r>
          </a:p>
          <a:p>
            <a:pPr algn="l" marL="618987" indent="-309494" lvl="1">
              <a:lnSpc>
                <a:spcPts val="3727"/>
              </a:lnSpc>
              <a:buFont typeface="Arial"/>
              <a:buChar char="•"/>
            </a:pPr>
            <a:r>
              <a:rPr lang="en-US" sz="2867" spc="62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El sistema integra un análisis territorial y un predictor individual que estima el riesgo y explica los factores más influyentes.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7800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Página 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5891" y="9090374"/>
            <a:ext cx="21518861" cy="2241080"/>
          </a:xfrm>
          <a:custGeom>
            <a:avLst/>
            <a:gdLst/>
            <a:ahLst/>
            <a:cxnLst/>
            <a:rect r="r" b="b" t="t" l="l"/>
            <a:pathLst>
              <a:path h="2241080" w="21518861">
                <a:moveTo>
                  <a:pt x="0" y="0"/>
                </a:moveTo>
                <a:lnTo>
                  <a:pt x="21518861" y="0"/>
                </a:lnTo>
                <a:lnTo>
                  <a:pt x="21518861" y="2241080"/>
                </a:lnTo>
                <a:lnTo>
                  <a:pt x="0" y="224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812459" y="1937766"/>
            <a:ext cx="12205021" cy="12095236"/>
            <a:chOff x="0" y="0"/>
            <a:chExt cx="16273361" cy="161269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64"/>
              <a:ext cx="16273272" cy="16126969"/>
            </a:xfrm>
            <a:custGeom>
              <a:avLst/>
              <a:gdLst/>
              <a:ahLst/>
              <a:cxnLst/>
              <a:rect r="r" b="b" t="t" l="l"/>
              <a:pathLst>
                <a:path h="16126969" w="16273272">
                  <a:moveTo>
                    <a:pt x="9002776" y="356425"/>
                  </a:moveTo>
                  <a:lnTo>
                    <a:pt x="15915514" y="7205281"/>
                  </a:lnTo>
                  <a:cubicBezTo>
                    <a:pt x="16144494" y="7432103"/>
                    <a:pt x="16273272" y="7741094"/>
                    <a:pt x="16273272" y="8063421"/>
                  </a:cubicBezTo>
                  <a:cubicBezTo>
                    <a:pt x="16273272" y="8385747"/>
                    <a:pt x="16144494" y="8694737"/>
                    <a:pt x="15915514" y="8921560"/>
                  </a:cubicBezTo>
                  <a:lnTo>
                    <a:pt x="9002776" y="15770542"/>
                  </a:lnTo>
                  <a:cubicBezTo>
                    <a:pt x="8523097" y="16245777"/>
                    <a:pt x="7750175" y="16245777"/>
                    <a:pt x="7270497" y="15770542"/>
                  </a:cubicBezTo>
                  <a:lnTo>
                    <a:pt x="357759" y="8921559"/>
                  </a:lnTo>
                  <a:cubicBezTo>
                    <a:pt x="128778" y="8694737"/>
                    <a:pt x="0" y="8385746"/>
                    <a:pt x="0" y="8063420"/>
                  </a:cubicBezTo>
                  <a:cubicBezTo>
                    <a:pt x="0" y="7741094"/>
                    <a:pt x="128778" y="7432103"/>
                    <a:pt x="357759" y="7205281"/>
                  </a:cubicBezTo>
                  <a:lnTo>
                    <a:pt x="7270496" y="356425"/>
                  </a:lnTo>
                  <a:cubicBezTo>
                    <a:pt x="7750175" y="-118809"/>
                    <a:pt x="8523097" y="-118809"/>
                    <a:pt x="9002776" y="356425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663605" y="-6859972"/>
            <a:ext cx="18309574" cy="9160402"/>
          </a:xfrm>
          <a:custGeom>
            <a:avLst/>
            <a:gdLst/>
            <a:ahLst/>
            <a:cxnLst/>
            <a:rect r="r" b="b" t="t" l="l"/>
            <a:pathLst>
              <a:path h="9160402" w="18309574">
                <a:moveTo>
                  <a:pt x="0" y="0"/>
                </a:moveTo>
                <a:lnTo>
                  <a:pt x="18309575" y="0"/>
                </a:lnTo>
                <a:lnTo>
                  <a:pt x="18309575" y="9160402"/>
                </a:lnTo>
                <a:lnTo>
                  <a:pt x="0" y="9160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59610" y="4366412"/>
            <a:ext cx="9294990" cy="149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8"/>
              </a:lnSpc>
            </a:pPr>
            <a:r>
              <a:rPr lang="en-US" sz="15687" b="true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GRACIAS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088067" y="3835165"/>
            <a:ext cx="1371543" cy="1516209"/>
          </a:xfrm>
          <a:custGeom>
            <a:avLst/>
            <a:gdLst/>
            <a:ahLst/>
            <a:cxnLst/>
            <a:rect r="r" b="b" t="t" l="l"/>
            <a:pathLst>
              <a:path h="1516209" w="1371543">
                <a:moveTo>
                  <a:pt x="0" y="0"/>
                </a:moveTo>
                <a:lnTo>
                  <a:pt x="1371543" y="0"/>
                </a:lnTo>
                <a:lnTo>
                  <a:pt x="1371543" y="1516209"/>
                </a:lnTo>
                <a:lnTo>
                  <a:pt x="0" y="15162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4305443" y="2675296"/>
            <a:ext cx="10980715" cy="11098701"/>
            <a:chOff x="0" y="0"/>
            <a:chExt cx="14640954" cy="147982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0941" cy="14798167"/>
            </a:xfrm>
            <a:custGeom>
              <a:avLst/>
              <a:gdLst/>
              <a:ahLst/>
              <a:cxnLst/>
              <a:rect r="r" b="b" t="t" l="l"/>
              <a:pathLst>
                <a:path h="14798167" w="14640941">
                  <a:moveTo>
                    <a:pt x="8262239" y="393065"/>
                  </a:moveTo>
                  <a:lnTo>
                    <a:pt x="14249654" y="6446901"/>
                  </a:lnTo>
                  <a:cubicBezTo>
                    <a:pt x="14771370" y="6974459"/>
                    <a:pt x="14771370" y="7823708"/>
                    <a:pt x="14249654" y="8351266"/>
                  </a:cubicBezTo>
                  <a:lnTo>
                    <a:pt x="8262239" y="14405102"/>
                  </a:lnTo>
                  <a:cubicBezTo>
                    <a:pt x="8013446" y="14656690"/>
                    <a:pt x="7674356" y="14798167"/>
                    <a:pt x="7320534" y="14798167"/>
                  </a:cubicBezTo>
                  <a:cubicBezTo>
                    <a:pt x="6966712" y="14798167"/>
                    <a:pt x="6627622" y="14656563"/>
                    <a:pt x="6378829" y="14405102"/>
                  </a:cubicBezTo>
                  <a:lnTo>
                    <a:pt x="391287" y="8351266"/>
                  </a:lnTo>
                  <a:cubicBezTo>
                    <a:pt x="-130429" y="7823708"/>
                    <a:pt x="-130429" y="6974460"/>
                    <a:pt x="391287" y="6446901"/>
                  </a:cubicBezTo>
                  <a:lnTo>
                    <a:pt x="6378702" y="393065"/>
                  </a:lnTo>
                  <a:cubicBezTo>
                    <a:pt x="6627622" y="141605"/>
                    <a:pt x="6966712" y="0"/>
                    <a:pt x="7320534" y="0"/>
                  </a:cubicBezTo>
                  <a:cubicBezTo>
                    <a:pt x="7674356" y="0"/>
                    <a:pt x="8013446" y="141605"/>
                    <a:pt x="8262239" y="393065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1036" y="236077"/>
            <a:ext cx="582584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DAHNO6VRmmI</dc:identifier>
  <dcterms:modified xsi:type="dcterms:W3CDTF">2011-08-01T06:04:30Z</dcterms:modified>
  <cp:revision>1</cp:revision>
  <dc:title>Investigación IV</dc:title>
</cp:coreProperties>
</file>