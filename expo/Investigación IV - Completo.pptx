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image11.svg" ContentType="image/svg+xml"/>
  <Override PartName="/ppt/media/image13.svg" ContentType="image/svg+xml"/>
  <Override PartName="/ppt/media/image15.svg" ContentType="image/svg+xml"/>
  <Override PartName="/ppt/media/image17.svg" ContentType="image/svg+xml"/>
  <Override PartName="/ppt/media/image2.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7.svg" ContentType="image/svg+xml"/>
  <Override PartName="/ppt/media/image85.svg" ContentType="image/svg+xml"/>
  <Override PartName="/ppt/media/image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47"/>
    <p:sldId id="283" r:id="rId49"/>
    <p:sldId id="284" r:id="rId50"/>
    <p:sldId id="285" r:id="rId51"/>
    <p:sldId id="286" r:id="rId52"/>
    <p:sldId id="287" r:id="rId53"/>
    <p:sldId id="288" r:id="rId54"/>
    <p:sldId id="289" r:id="rId55"/>
    <p:sldId id="290" r:id="rId56"/>
    <p:sldId id="291" r:id="rId57"/>
    <p:sldId id="292" r:id="rId58"/>
    <p:sldId id="293" r:id="rId59"/>
    <p:sldId id="294" r:id="rId60"/>
    <p:sldId id="295" r:id="rId61"/>
    <p:sldId id="296" r:id="rId62"/>
    <p:sldId id="297" r:id="rId63"/>
    <p:sldId id="298" r:id="rId64"/>
    <p:sldId id="299" r:id="rId65"/>
  </p:sldIdLst>
  <p:sldSz cx="18288000" cy="10287000"/>
  <p:notesSz cx="6858000" cy="9144000"/>
  <p:embeddedFontLst>
    <p:embeddedFont>
      <p:font typeface="DM Sans Bold" charset="1" panose="00000000000000000000"/>
      <p:regular r:id="rId32"/>
    </p:embeddedFont>
    <p:embeddedFont>
      <p:font typeface="DM Sans" charset="1" panose="00000000000000000000"/>
      <p:regular r:id="rId33"/>
    </p:embeddedFont>
    <p:embeddedFont>
      <p:font typeface="Arial Bold" charset="1" panose="020B0704020202020204"/>
      <p:regular r:id="rId34"/>
    </p:embeddedFont>
    <p:embeddedFont>
      <p:font typeface="Open Sauce" charset="1" panose="00000500000000000000"/>
      <p:regular r:id="rId35"/>
    </p:embeddedFont>
    <p:embeddedFont>
      <p:font typeface="Open Sans" charset="1" panose="020B0606030504020204"/>
      <p:regular r:id="rId36"/>
    </p:embeddedFont>
    <p:embeddedFont>
      <p:font typeface="Open Sauce Bold" charset="1" panose="00000800000000000000"/>
      <p:regular r:id="rId37"/>
    </p:embeddedFont>
    <p:embeddedFont>
      <p:font typeface="Prompt Light" charset="1" panose="00000400000000000000"/>
      <p:regular r:id="rId38"/>
    </p:embeddedFont>
    <p:embeddedFont>
      <p:font typeface="Prompt Bold" charset="1" panose="00000800000000000000"/>
      <p:regular r:id="rId39"/>
    </p:embeddedFont>
    <p:embeddedFont>
      <p:font typeface="Arimo" charset="1" panose="020B0604020202020204"/>
      <p:regular r:id="rId40"/>
    </p:embeddedFont>
    <p:embeddedFont>
      <p:font typeface="Arial" charset="1" panose="020B0604020202020204"/>
      <p:regular r:id="rId41"/>
    </p:embeddedFont>
    <p:embeddedFont>
      <p:font typeface="Arial Italics" charset="1" panose="020B0604020202090204"/>
      <p:regular r:id="rId42"/>
    </p:embeddedFont>
    <p:embeddedFont>
      <p:font typeface="Poppins Bold" charset="1" panose="00000800000000000000"/>
      <p:regular r:id="rId43"/>
    </p:embeddedFont>
    <p:embeddedFont>
      <p:font typeface="Poppins" charset="1" panose="00000500000000000000"/>
      <p:regular r:id="rId44"/>
    </p:embeddedFont>
    <p:embeddedFont>
      <p:font typeface="Cambria Bold" charset="1" panose="02040803050406030204"/>
      <p:regular r:id="rId45"/>
    </p:embeddedFont>
    <p:embeddedFont>
      <p:font typeface="Prompt" charset="1" panose="0000050000000000000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font32.fntdata"/><Relationship Id="rId33" Type="http://schemas.openxmlformats.org/officeDocument/2006/relationships/font" Target="fonts/font33.fntdata"/><Relationship Id="rId34" Type="http://schemas.openxmlformats.org/officeDocument/2006/relationships/font" Target="fonts/font34.fntdata"/><Relationship Id="rId35" Type="http://schemas.openxmlformats.org/officeDocument/2006/relationships/font" Target="fonts/font35.fntdata"/><Relationship Id="rId36" Type="http://schemas.openxmlformats.org/officeDocument/2006/relationships/font" Target="fonts/font36.fntdata"/><Relationship Id="rId37" Type="http://schemas.openxmlformats.org/officeDocument/2006/relationships/font" Target="fonts/font37.fntdata"/><Relationship Id="rId38" Type="http://schemas.openxmlformats.org/officeDocument/2006/relationships/font" Target="fonts/font38.fntdata"/><Relationship Id="rId39" Type="http://schemas.openxmlformats.org/officeDocument/2006/relationships/font" Target="fonts/font39.fntdata"/><Relationship Id="rId40" Type="http://schemas.openxmlformats.org/officeDocument/2006/relationships/font" Target="fonts/font40.fntdata"/><Relationship Id="rId41" Type="http://schemas.openxmlformats.org/officeDocument/2006/relationships/font" Target="fonts/font41.fntdata"/><Relationship Id="rId42" Type="http://schemas.openxmlformats.org/officeDocument/2006/relationships/font" Target="fonts/font42.fntdata"/><Relationship Id="rId43" Type="http://schemas.openxmlformats.org/officeDocument/2006/relationships/font" Target="fonts/font43.fntdata"/><Relationship Id="rId44" Type="http://schemas.openxmlformats.org/officeDocument/2006/relationships/font" Target="fonts/font44.fntdata"/><Relationship Id="rId45" Type="http://schemas.openxmlformats.org/officeDocument/2006/relationships/font" Target="fonts/font45.fntdata"/><Relationship Id="rId46" Type="http://schemas.openxmlformats.org/officeDocument/2006/relationships/font" Target="fonts/font46.fntdata"/><Relationship Id="rId47" Type="http://schemas.openxmlformats.org/officeDocument/2006/relationships/slide" Target="slides/slide27.xml"/><Relationship Id="rId48" Type="http://schemas.openxmlformats.org/officeDocument/2006/relationships/notesMaster" Target="notesMasters/notesMaster1.xml"/><Relationship Id="rId49" Type="http://schemas.openxmlformats.org/officeDocument/2006/relationships/slide" Target="slides/slide28.xml"/><Relationship Id="rId50" Type="http://schemas.openxmlformats.org/officeDocument/2006/relationships/slide" Target="slides/slide29.xml"/><Relationship Id="rId51" Type="http://schemas.openxmlformats.org/officeDocument/2006/relationships/slide" Target="slides/slide30.xml"/><Relationship Id="rId52" Type="http://schemas.openxmlformats.org/officeDocument/2006/relationships/slide" Target="slides/slide31.xml"/><Relationship Id="rId53" Type="http://schemas.openxmlformats.org/officeDocument/2006/relationships/slide" Target="slides/slide32.xml"/><Relationship Id="rId54" Type="http://schemas.openxmlformats.org/officeDocument/2006/relationships/slide" Target="slides/slide33.xml"/><Relationship Id="rId55" Type="http://schemas.openxmlformats.org/officeDocument/2006/relationships/slide" Target="slides/slide34.xml"/><Relationship Id="rId56" Type="http://schemas.openxmlformats.org/officeDocument/2006/relationships/slide" Target="slides/slide35.xml"/><Relationship Id="rId57" Type="http://schemas.openxmlformats.org/officeDocument/2006/relationships/slide" Target="slides/slide36.xml"/><Relationship Id="rId58" Type="http://schemas.openxmlformats.org/officeDocument/2006/relationships/slide" Target="slides/slide37.xml"/><Relationship Id="rId59" Type="http://schemas.openxmlformats.org/officeDocument/2006/relationships/slide" Target="slides/slide38.xml"/><Relationship Id="rId60" Type="http://schemas.openxmlformats.org/officeDocument/2006/relationships/slide" Target="slides/slide39.xml"/><Relationship Id="rId61" Type="http://schemas.openxmlformats.org/officeDocument/2006/relationships/slide" Target="slides/slide40.xml"/><Relationship Id="rId62" Type="http://schemas.openxmlformats.org/officeDocument/2006/relationships/slide" Target="slides/slide41.xml"/><Relationship Id="rId63" Type="http://schemas.openxmlformats.org/officeDocument/2006/relationships/slide" Target="slides/slide42.xml"/><Relationship Id="rId64" Type="http://schemas.openxmlformats.org/officeDocument/2006/relationships/slide" Target="slides/slide43.xml"/><Relationship Id="rId65"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hablar de cualquier algoritmo, hay que entender el problema real. La desnutrición crónica en el Perú no es un problema médico individual — es un problema estructural de asignación de recursos en salud pública. El cuello de botella no está en el diagnóstico clínico. Está en la focalización: ¿qué hogares se priorizan primero cuando el presupuesto no alcanza para todos? Esa es la pregunta que este proyecto intenta responder con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sistema no reemplaza a ningún médico ni a ninguna medición antropométrica. Su función es actuar como un radar previo: dado un perfil de hogar conocido, ¿cuál es la probabilidad de que el niño esté desnutrido? Ese radar permite priorizar qué hogares visitar primero, detectando una proporción alta de casos invirtiendo solo una fracción del presupuesto total. Y en ese contexto, la métrica que importa es el Recall — la Sensibilidad. Un niño desnutrido que el modelo no detecta es un caso que el sistema no alcanza. Ese es el error que tenemos que minimizar, no los falsos positivos.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hablar del umbral, hay que entender qué es un Z-score. Es simplemente una forma de medir cuán lejos está la talla de un niño respecto a la mediana de la población de referencia de la OMS, expresado en unidades de desviación estándar. Un Z-score de cero significa que el niño tiene exactamente la talla esperada. Un Z-score de -2 significa que está 2 desviaciones estándar por debajo — ese es el umbral internacional de desnutrición crónica, establecido por la OMS y adoptado formalmente por el INEI como KPI 4 del sistema de Programas Presupuestales. Un detalle técnico importante: en los archivos SPSS originales de la ENDES, este valor se almacena multiplicado por 100, entonces un -200 equivale a -2.0. Nuestro pipeline normaliza ese valor antes de cualquier procesamiento. Y tomamos una decisión crítica: descartamos el peso y la talla crudos del modelo. Si le damos al algoritmo la talla del niño, ya sabe el diagnóstico — eso no es predicción, es fuga de datos.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ENDES es la encuesta de salud más completa del Perú y la fuente oficial del INEI. Trabajar con 18 años de datos en formato SPSS implica un desafío de ingeniería concreto: los nombres de columnas y las etiquetas de valores cambian entre ediciones de la encuesta — no se puede simplemente concatenar archivos. Fue necesario auditar registro por registro, año por año, cómo evolucionó la estructura del dato antes de poder procesarlo. De los 13 módulos disponibles en la ENDES, seleccionamos estratégicamente 4, de los cuales extrajimos 5 registros activos: RECH0 y RECH1 comparten módulo pero capturan niveles distintos — uno el hogar como unidad y otro cada miembro de forma individual. La selección cubre los cuatro determinantes clave del ecosistema materno-infantil: la biometría del niño, el entorno del hogar, el contexto territorial y la historia clínica de la madre.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entrar a las fases del proceso, establecemos el marco formal del estudio. La investigación es cuantitativa y de nivel predictivo: buscamos estimar la probabilidad de un estado de salud a partir de variables de perfil. El diseño es no experimental porque no manipulamos ninguna variable — trabajamos con datos observacionales de la ENDES. Y es transversal porque cada niño representa una observación en un punto del tiempo; los 18 años de encuestas no implican seguimiento del mismo individuo, sino que amplían la diversidad poblacional del entrenamiento. El marco metodológico es CRISP-DM, el estándar de la industria para proyectos de ciencia de datos, que organiza el trabajo en seis fases iterativas. En cuanto al diseño del sistema de Machine Learning: el problema es de clasificación binaria supervisada — el modelo aprende de ejemplos etiquetados a distinguir entre desnutrido y sano. Evaluamos seis algoritmos representando tres familias distintas: gradient boosting, redes neuronales y regresión logística como baseline lineal. Todos se entrenaron con los mismos hiperparámetros por defecto para garantizar una comparación honesta. La validación cruzada estratificada de 5 folds asegura que cada evaluación respeta la proporción de clases y los pesos de expansión de la encuesta.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trabajar con 18 años de la ENDES, el primer obstáculo no fue estadístico sino de ingeniería de datos. Los archivos SPSS del INEI no son consistentes entre ediciones. En algunos años la misma variable se llama HV022, en otros hv022, y en otros Estrato. Los valores categóricos que un año están codificados como el número 1 aparecen otro año como texto 'Sí' o 'Si'. Y hay un problema más sutil: SPSS almacena códigos de control como si fueran números reales — el valor 9998 no significa 9998 unidades de talla, significa que el encuestador marcó 'No sabe'. Si no se detecta y neutraliza, el modelo aprende que algunos niños miden casi 10 metros. Fue necesario auditar registro por registro, año por año, cómo evolucionó cada variable antes de poder procesar un solo dato.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exploratorio arrojó hallazgos que impactaron directamente las decisiones de modelado. En RECH6, el hallazgo más crítico es el Target Drift: en 2007 casi uno de cada tres niños era desnutrido crónico; hoy es uno de cada nueve. El riesgo base cambió radicalmente con el tiempo, lo que hace inválido un split aleatorio clásico — necesitamos validación temporal. El desbalance de 16 contra 84 descarta el Accuracy. Y la curva de acumulación clínica confirma la ventana crítica de los primeros 1000 días: los niños caen entre el mes 6 y el 20 con una recuperación abrupta al mes 24 que es en parte un artefacto del cambio de protocolo de medición de la OMS entre longitud acostado y talla de pie. Esta no linealidad es la razón fundamental por la que necesitamos árboles de decisión. La anemia, en cambio, se mantiene estable como comorbilidad en todos los años. En cuanto al ecosistema socioeconómico, el hallazgo más importante es la Trinidad Biológica: piso de tierra, campo abierto y cocina con leña coexisten en un 25% de hogares en pleno 2024 y llevan 5 años sin bajar. Cuando estas tres condiciones coexisten, el cuerpo del niño desvía todos sus nutrientes a combatir infecciones en lugar de crecer. Sobre la altitud: a 4,000 metros el cuerpo produce más hemoglobina por hipoxia, entonces sin corregir este factor el modelo clasificaría como sanos a niños que en realidad están anémicos. Y sobre el celular: ya llegó al 96% de los hogares — ya no sirve para separar perfiles económicos. La refrigeradora sigue siendo el marcador real.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vez completado el análisis exploratorio, formalizamos las reglas de retención. La guillotina de nulos se aplicó en dos etapas: al consolidar el merge se usó un umbral del 70%, que eliminó 23 columnas; en la selección de variables se revisó al 60%, pero en ese punto las columnas esparsas ya habían sido removidas. El resultado neto fue el mismo: las variables sin señal histórica quedaron fuera. Para el target específicamente, los nulos no son aleatorios — son sistemáticos. Cuando una madre rechaza que midan a su hijo, el dato se pierde de forma estructural. Eso se llama MNAR, y intentar imputarlo con la media o con KNN sería inventar diagnósticos clínicos. Los eliminamos. El COALESCE resolvió el problema de las variables renombradas: en lugar de tener tres columnas distintas para el mismo concepto, las fusionamos en una sola serie continua de 18 años. Finalmente, tres categorías de variables fueron bloqueadas por fuga de datos antes de cualquier modelado: el peso y la talla crudos, porque con ellos el diagnóstico nutricional es matemáticamente directo; los Z-scores derivados, porque son el mismo cálculo que el target; y el método de medición, porque solo correlaciona con la edad del niño y no agrega información causal.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construcción del dataset tiene dos restricciones de inclusión. La primera es HV103 igual a 1 — solo residentes habituales del hogar. RECH1 contenía 2,291,232 individuos; aplicar este filtro dejó 2,177,190 residentes válidos. La segunda es que HC70 no sea nulo — los nulos son MNAR y no se imputan. RECH6 ya contiene por diseño solo niños menores de 5 años, así que no se necesitó un filtro adicional de edad. El desafío real del merge fue REC41. Los demás módulos comparten HHID y se unen directamente. REC41, en cambio, está organizado por embarazo de la madre. Para conectar cada parto en REC41 con el hijo correcto en RECH6, usamos el registro REC21 como tabla puente: extraemos el número de línea del hijo (campo B16) y lo cruzamos con HC0 en RECH6. La auditoría biológica validó el resultado: 99.99% de coincidencia de sexo y 99.67% de año de nacimiento. El merge completo produjo 211 columnas, de las cuales 23 fueron eliminadas por tener más del 70% de nulos — dejando 189 columnas en el dataset final.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ingeniería de variables tuvo dos frentes. El primero fue la hemoglobina. HC57 es la medición cruda en el campo, pero no es clínicamente comparable entre niños de distintas altitudes. A 4,000 metros el cuerpo produce más hemoglobina de forma natural por la hipoxia — si usamos ese valor crudo, el modelo aprende que los niños de la sierra están más sanos que los de la costa, cuando la realidad es exactamente la opuesta. El INEI publica HC56 como la hemoglobina ya ajustada por altitud según protocolo OMS, incluso actualizada en 2024 con la nueva directriz ministerial. Usamos HC56 directamente. El segundo frente fue el módulo materno REC41. Sus variables no vienen limpias: el peso al nacer está en gramos con valores SPSS especiales, las horas a la primera lactancia tienen una codificación geométrica propia del INEI, y el lugar del parto tiene múltiples categorías que agrupamos en dos — institucional o domiciliario. Esas transformaciones convierten variables de encuesta cruda en predictores utilizables.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punto de partida del notebook de selección es 129 columnas, no 189 — porque al cargar el merge lo primero que se hace es eliminar las variables de leakage y las filas donde HC70 es nulo. Eso reduce las filas de 294,109 a 285,284 y las columnas a 129. Desde ahí, el pipeline tiene cuatro pasos. La verificación de nulos al 60% no elimina nada, porque las columnas esparsas ya fueron removidas en el merge con umbral del 70%. El paso que más reduce el espacio es la colinealidad: con Pearson entre variables numéricas, se identifican pares como HV109 y HV106 que tienen correlación de 0.98 — son matemáticamente redundantes. Eso eliminó 43 columnas. La siguiente etapa son las pruebas bivariadas — aquí es importante aclarar el por qué de cada test. No se usa Pearson porque Pearson mide correlación lineal entre dos numéricas, y aquí el target es binario. De las 86 columnas que llegan a esta etapa, 41 son numéricas y 37 son categóricas. Para las numéricas se usa Kruskal-Wallis, que compara si la distribución de la variable difiere entre los grupos desnutrido y sano sin asumir que los datos son normales — lo cual sería inválido para datos de encuesta de salud. Para las categóricas se usa Chi-cuadrado, que prueba independencia en una tabla de contingencia. 74 variables pasan con p menor a 0.05. Las 10 que no, son marcadas. El paso final es un XGBoost entrenado en el espacio multivariado completo, que confirma que exactamente 7 variables tienen importancia cero — es decir, cuando las otras 78 están presentes, estas 7 no agregan ningún poder predictivo. Se eliminan. El resultado son 79 variables en total y 285,284 niños.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mostrar los resultados, hay que entender por qué la estrategia de validación importa tanto como el algoritmo. Si hacemos un split aleatorio del 70-30, el problema del Target Drift contamina todo: los datos de 2007 con 30% de prevalencia se mezclan con los de 2024 con 11%, y el modelo aprende una distribución que ya no existe. El desbalance de clases implica que predecir siempre 'sano' da un Accuracy del 84% — esa es la razón por la que el Accuracy está completamente prohibido como métrica en este proyecto. Y la ENDES no es una muestra aleatoria simple — es una muestra compleja con pesos de expansión. Si no aplicamos el factor HV005 al evaluar, estamos sobrerepresentando zonas urbanas donde los recursos son más accesibles. La solución fue Validación Cruzada Estratificada de 5 Folds: cada fold tiene exactamente la misma proporción de clases, y las métricas se calculan ponderadas por el factor de expansión del INEI.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6 modelos se entrenaron bajo las mismas condiciones: mismos folds, mismos pesos, misma semilla. El resultado tiene una enseñanza crítica que no está en los libros de texto. CatBoost tiene un AUC de 0.8302 — prácticamente igual que LightGBM. Pero su Recall es del 30%. Eso significa que de cada 10 niños desnutridos, CatBoost deja 7 sin detectar. La Red Neuronal tiene la misma patología: AUC alto, Recall del 25%. ¿Por qué? Porque el AUC mide la capacidad discriminativa del modelo a lo largo de todos los umbrales posibles — es una métrica del modelo puro. Pero lo que importa en producción es qué pasa al umbral de 0.5: CatBoost y NeuralNet son conservadores, necesitan estar muy seguros para etiquetar a un niño como desnutrido. En triaje de política pública ese conservadurismo es un error de diseño. LightGBM logra el AUC más alto y simultáneamente el Recall más alto — ese doble liderazgo es la razón matemática para elegirlo como campeón.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paso final del modelado fue verificar si todas las 74 variables eran necesarias. Entrenamos LightGBM sobre el dataset completo, extrajimos las importancias algorítmicas nativas y definimos tres umbrales de corte: 10, 30 y 50. El resultado es contraintuitivo pero bien documentado en la literatura: el modelo con 43 variables tiene un AUC de 0.830779 y un Recall del 76.49%, mientras que el modelo con las 74 variables originales tiene 0.830680 y 76.38%. Las 31 variables eliminadas no eran predictores — eran ruido que aumentaba la varianza del modelo. 43 es el número óptimo. El modelo final se entrena con esas 43 variables sobre el 100% de los datos y se exporta a producción. Una nota técnica importante: el umbral de clasificación está fijado en 0.5. El objetivo de política es alcanzar un Recall del 80%, lo que requeriría bajar ese umbral. Ese es el margen de mejora inmediata disponible sin reentrenar el modelo.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Hasta aquí sabemos que el modelo funciona. Pero en política pública no basta con que funcione — necesitamos saber por qué. Los valores SHAP nos dan esa respuesta, variable por variable, niño por niño. El gráfico que ven es el 'ADN de la desnutrición': las 15 variables más influyentes ordenadas de arriba hacia abajo. El índice de riqueza del hogar es el factor dominante — un punto bajo en este índice empuja fuertemente hacia la predicción de desnutrición. El segundo lugar es el peso al nacer: un bebé que nació con bajo peso ya parte con una desventaja biológica que el modelo detecta con claridad. El tercer lugar es la altitud — y aquí viene un hallazgo geográfico que vamos a ver en detalle en la siguiente diapositiva. La edad en meses en el puesto 4 captura la ventana crítica de los primeros 1000 días que describimos en el análisis exploratorio. Y el suplemento de hierro durante la gestación, en el puesto 9, confirma que las intervenciones prenatales tienen peso predictivo real sobre el resultado nutricional del niño.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hallazgo más importante de la explicabilidad regional es que la desnutrición en el Perú no tiene una causa única — tiene causas distintas según el territorio. En la Costa, el determinante es casi exclusivamente socioeconómico: el índice de riqueza lo explica casi todo. En la Sierra, la altitud entra como factor de riesgo adicional: a 4,000 metros la hemoglobina se comporta distinto, el desarrollo físico es más lento, y el modelo lo detecta con claridad. En la Selva, el factor diferencial es el peso al nacer — probablemente relacionado con la menor cobertura prenatal y el acceso más limitado a establecimientos de salud. El heatmap por departamento hace esto concreto a nivel político: Huancavelica y Apurímac tienen el rojo más intenso en altitud y hemoglobina. Lima y Callao tienen el rojo en riqueza pero verde en altitud. Cajamarca tiene una firma mixta. Este mapa es directamente accionable: un responsable regional en Puno va a intervenir de forma distinta a uno en Loreto, y el modelo le dice exactamente por qué.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resultados consolidados del sistema son los siguientes. El modelo LightGBM entrenado con las Top 43 variables seleccionadas algorítmicamente alcanza un AUC de 0.8308 en validación cruzada ponderada de 5 folds. Eso significa que dado un niño sano y uno desnutrido al azar, el modelo los ordena correctamente el 83% de las veces. El Recall del 76.49% significa que de cada 4 niños con desnutrición crónica, el modelo detecta 3 usando únicamente datos de encuesta de hogar — sin necesitar que nadie haya ido a medirlos previamente. El objetivo de política pública era alcanzar el 80% de Recall. El modelo actual llega al 76.49% con el umbral de clasificación fijo en 0.5. Ese umbral no fue optimizado — es una deuda técnica documentada, y bajar el umbral a aproximadamente 0.35 alcanzaría el objetivo sin necesidad de reentrenar. En cuanto a los factores de riesgo, el análisis SHAP confirma que la desnutrición crónica en el Perú es principalmente un problema de pobreza estructural — el índice de riqueza del hogar es el predictor dominante. El peso al nacer es el segundo factor, lo que señala que las intervenciones prenatales tienen impacto directo y medible sobre el resultado nutricional del niño a los 5 años. Y la altitud confirma el componente geográfico: la Sierra requiere una estrategia de intervención distinta a la Costa y la Selva.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no quedó en un notebook. Lo desplegamos como una aplicación web operativa con dos módulos. El primer módulo es el mapa de riesgo territorial: un tomador de decisiones a nivel regional puede seleccionar cualquiera de los 43 factores de riesgo del modelo y ver inmediatamente qué departamentos están más afectados por ese factor específico — no como una estadística general, sino como el impacto real que ese factor tiene sobre las predicciones del modelo. El segundo módulo es el predictor individual: dado el perfil de un niño —socioeconómico, biológico, materno— el sistema calcula en menos de un segundo la probabilidad de desnutrición crónica. Y hay un detalle que cambia completamente cómo se usa este sistema: el operador no ajusta un umbral técnico. Le dice al sistema cuántos niños desnutridos quiere detectar — por ejemplo el 80% — y el sistema encuentra automáticamente el punto de corte que logra esa cobertura, mostrando el costo en términos de visitas preventivas adicionales. Eso convierte una decisión técnica de Machine Learning en una decisión de política pública que cualquier gestor puede tomar.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jpeg"/><Relationship Id="rId7" Type="http://schemas.openxmlformats.org/officeDocument/2006/relationships/image" Target="../media/image6.png"/><Relationship Id="rId8" Type="http://schemas.openxmlformats.org/officeDocument/2006/relationships/image" Target="../media/image7.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png"/><Relationship Id="rId11" Type="http://schemas.openxmlformats.org/officeDocument/2006/relationships/image" Target="../media/image17.svg"/><Relationship Id="rId12" Type="http://schemas.openxmlformats.org/officeDocument/2006/relationships/image" Target="../media/image18.png"/><Relationship Id="rId13" Type="http://schemas.openxmlformats.org/officeDocument/2006/relationships/image" Target="../media/image19.jpeg"/><Relationship Id="rId14"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jpeg"/><Relationship Id="rId5" Type="http://schemas.openxmlformats.org/officeDocument/2006/relationships/image" Target="../media/image21.png"/><Relationship Id="rId6" Type="http://schemas.openxmlformats.org/officeDocument/2006/relationships/image" Target="../media/image2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12.png"/><Relationship Id="rId10" Type="http://schemas.openxmlformats.org/officeDocument/2006/relationships/image" Target="../media/image13.svg"/><Relationship Id="rId11" Type="http://schemas.openxmlformats.org/officeDocument/2006/relationships/image" Target="../media/image29.png"/><Relationship Id="rId12" Type="http://schemas.openxmlformats.org/officeDocument/2006/relationships/image" Target="../media/image30.svg"/><Relationship Id="rId13" Type="http://schemas.openxmlformats.org/officeDocument/2006/relationships/image" Target="../media/image31.png"/><Relationship Id="rId14" Type="http://schemas.openxmlformats.org/officeDocument/2006/relationships/image" Target="../media/image3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5.jpeg"/><Relationship Id="rId5" Type="http://schemas.openxmlformats.org/officeDocument/2006/relationships/image" Target="../media/image33.jpeg"/><Relationship Id="rId6" Type="http://schemas.openxmlformats.org/officeDocument/2006/relationships/image" Target="../media/image34.jpeg"/><Relationship Id="rId7" Type="http://schemas.openxmlformats.org/officeDocument/2006/relationships/image" Target="../media/image3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40.png"/><Relationship Id="rId10" Type="http://schemas.openxmlformats.org/officeDocument/2006/relationships/image" Target="../media/image4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42.png"/><Relationship Id="rId10" Type="http://schemas.openxmlformats.org/officeDocument/2006/relationships/image" Target="../media/image4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jpeg"/><Relationship Id="rId5" Type="http://schemas.openxmlformats.org/officeDocument/2006/relationships/image" Target="../media/image36.png"/><Relationship Id="rId6" Type="http://schemas.openxmlformats.org/officeDocument/2006/relationships/image" Target="../media/image37.svg"/><Relationship Id="rId7" Type="http://schemas.openxmlformats.org/officeDocument/2006/relationships/image" Target="../media/image38.png"/><Relationship Id="rId8" Type="http://schemas.openxmlformats.org/officeDocument/2006/relationships/image" Target="../media/image39.sv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hyperlink" Target="https://www.who.int/tools/child-growth-standards/softwar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image" Target="../media/image5.jpeg"/><Relationship Id="rId5" Type="http://schemas.openxmlformats.org/officeDocument/2006/relationships/hyperlink" Target="https://www.who.int/tools/child-growth-standards/softwar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49.png"/><Relationship Id="rId11" Type="http://schemas.openxmlformats.org/officeDocument/2006/relationships/hyperlink" Target="https://www.who.int/tools/child-growth-standards/softwar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50.png"/><Relationship Id="rId10" Type="http://schemas.openxmlformats.org/officeDocument/2006/relationships/image" Target="../media/image51.png"/><Relationship Id="rId11" Type="http://schemas.openxmlformats.org/officeDocument/2006/relationships/image" Target="../media/image52.png"/><Relationship Id="rId12" Type="http://schemas.openxmlformats.org/officeDocument/2006/relationships/image" Target="../media/image53.png"/><Relationship Id="rId13" Type="http://schemas.openxmlformats.org/officeDocument/2006/relationships/hyperlink" Target="https://www.who.int/tools/child-growth-standards/softwar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jpeg"/><Relationship Id="rId5" Type="http://schemas.openxmlformats.org/officeDocument/2006/relationships/image" Target="../media/image36.png"/><Relationship Id="rId6" Type="http://schemas.openxmlformats.org/officeDocument/2006/relationships/image" Target="../media/image37.svg"/><Relationship Id="rId7" Type="http://schemas.openxmlformats.org/officeDocument/2006/relationships/image" Target="../media/image38.png"/><Relationship Id="rId8" Type="http://schemas.openxmlformats.org/officeDocument/2006/relationships/image" Target="../media/image39.svg"/><Relationship Id="rId9" Type="http://schemas.openxmlformats.org/officeDocument/2006/relationships/image" Target="../media/image57.png"/><Relationship Id="rId10" Type="http://schemas.openxmlformats.org/officeDocument/2006/relationships/oleObject" Target="../embeddings/oleObject1.bin"/><Relationship Id="rId11" Type="http://schemas.openxmlformats.org/officeDocument/2006/relationships/image" Target="../media/image58.png"/><Relationship Id="rId12" Type="http://schemas.openxmlformats.org/officeDocument/2006/relationships/oleObject" Target="../embeddings/oleObject2.bin"/><Relationship Id="rId13" Type="http://schemas.openxmlformats.org/officeDocument/2006/relationships/image" Target="../media/image59.png"/><Relationship Id="rId14" Type="http://schemas.openxmlformats.org/officeDocument/2006/relationships/oleObject" Target="../embeddings/oleObject3.bin"/><Relationship Id="rId15" Type="http://schemas.openxmlformats.org/officeDocument/2006/relationships/image" Target="../media/image60.png"/><Relationship Id="rId16" Type="http://schemas.openxmlformats.org/officeDocument/2006/relationships/oleObject" Target="../embeddings/oleObject4.bin"/><Relationship Id="rId17" Type="http://schemas.openxmlformats.org/officeDocument/2006/relationships/image" Target="../media/image61.png"/><Relationship Id="rId18" Type="http://schemas.openxmlformats.org/officeDocument/2006/relationships/oleObject" Target="../embeddings/oleObject5.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62.png"/><Relationship Id="rId10" Type="http://schemas.openxmlformats.org/officeDocument/2006/relationships/image" Target="../media/image63.png"/><Relationship Id="rId11" Type="http://schemas.openxmlformats.org/officeDocument/2006/relationships/oleObject" Target="../embeddings/oleObject6.bin"/><Relationship Id="rId12" Type="http://schemas.openxmlformats.org/officeDocument/2006/relationships/hyperlink" Target="https://doi.org/10.1186/s40795-020-00378-z"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64.png"/><Relationship Id="rId10" Type="http://schemas.openxmlformats.org/officeDocument/2006/relationships/oleObject" Target="../embeddings/oleObject7.bin"/><Relationship Id="rId11" Type="http://schemas.openxmlformats.org/officeDocument/2006/relationships/image" Target="../media/image65.png"/><Relationship Id="rId12" Type="http://schemas.openxmlformats.org/officeDocument/2006/relationships/image" Target="../media/image6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67.png"/><Relationship Id="rId10" Type="http://schemas.openxmlformats.org/officeDocument/2006/relationships/oleObject" Target="../embeddings/oleObject8.bin"/><Relationship Id="rId11" Type="http://schemas.openxmlformats.org/officeDocument/2006/relationships/image" Target="../media/image68.png"/><Relationship Id="rId12" Type="http://schemas.openxmlformats.org/officeDocument/2006/relationships/image" Target="../media/image69.png"/><Relationship Id="rId13" Type="http://schemas.openxmlformats.org/officeDocument/2006/relationships/image" Target="../media/image70.png"/><Relationship Id="rId14" Type="http://schemas.openxmlformats.org/officeDocument/2006/relationships/hyperlink" Target="https://doi.org/10.1186/s12937-019-0505-8"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71.png"/><Relationship Id="rId10" Type="http://schemas.openxmlformats.org/officeDocument/2006/relationships/oleObject" Target="../embeddings/oleObject9.bin"/><Relationship Id="rId11" Type="http://schemas.openxmlformats.org/officeDocument/2006/relationships/image" Target="../media/image72.png"/><Relationship Id="rId12" Type="http://schemas.openxmlformats.org/officeDocument/2006/relationships/image" Target="../media/image73.png"/><Relationship Id="rId13" Type="http://schemas.openxmlformats.org/officeDocument/2006/relationships/image" Target="../media/image74.png"/><Relationship Id="rId14" Type="http://schemas.openxmlformats.org/officeDocument/2006/relationships/image" Target="../media/image75.png"/><Relationship Id="rId15" Type="http://schemas.openxmlformats.org/officeDocument/2006/relationships/image" Target="../media/image7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77.png"/><Relationship Id="rId10" Type="http://schemas.openxmlformats.org/officeDocument/2006/relationships/image" Target="../media/image7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79.png"/><Relationship Id="rId10" Type="http://schemas.openxmlformats.org/officeDocument/2006/relationships/image" Target="../media/image80.png"/><Relationship Id="rId11" Type="http://schemas.openxmlformats.org/officeDocument/2006/relationships/image" Target="../media/image8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82.png"/><Relationship Id="rId10" Type="http://schemas.openxmlformats.org/officeDocument/2006/relationships/image" Target="../media/image8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23.png"/><Relationship Id="rId10" Type="http://schemas.openxmlformats.org/officeDocument/2006/relationships/image" Target="../media/image24.svg"/><Relationship Id="rId11" Type="http://schemas.openxmlformats.org/officeDocument/2006/relationships/image" Target="../media/image84.png"/><Relationship Id="rId12" Type="http://schemas.openxmlformats.org/officeDocument/2006/relationships/image" Target="../media/image85.svg"/><Relationship Id="rId13" Type="http://schemas.openxmlformats.org/officeDocument/2006/relationships/image" Target="../media/image8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5.jpeg"/><Relationship Id="rId9" Type="http://schemas.openxmlformats.org/officeDocument/2006/relationships/image" Target="../media/image23.png"/><Relationship Id="rId10" Type="http://schemas.openxmlformats.org/officeDocument/2006/relationships/image" Target="../media/image24.svg"/><Relationship Id="rId11" Type="http://schemas.openxmlformats.org/officeDocument/2006/relationships/image" Target="../media/image84.png"/><Relationship Id="rId12" Type="http://schemas.openxmlformats.org/officeDocument/2006/relationships/image" Target="../media/image85.svg"/><Relationship Id="rId13" Type="http://schemas.openxmlformats.org/officeDocument/2006/relationships/image" Target="../media/image87.png"/><Relationship Id="rId14" Type="http://schemas.openxmlformats.org/officeDocument/2006/relationships/image" Target="../media/image88.png"/><Relationship Id="rId15" Type="http://schemas.openxmlformats.org/officeDocument/2006/relationships/image" Target="../media/image8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5.jpeg"/><Relationship Id="rId7" Type="http://schemas.openxmlformats.org/officeDocument/2006/relationships/image" Target="../media/image23.png"/><Relationship Id="rId8" Type="http://schemas.openxmlformats.org/officeDocument/2006/relationships/image" Target="../media/image24.svg"/><Relationship Id="rId9" Type="http://schemas.openxmlformats.org/officeDocument/2006/relationships/image" Target="../media/image25.png"/><Relationship Id="rId10" Type="http://schemas.openxmlformats.org/officeDocument/2006/relationships/image" Target="../media/image26.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image" Target="../media/image95.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96.png"/><Relationship Id="rId7" Type="http://schemas.openxmlformats.org/officeDocument/2006/relationships/image" Target="../media/image9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notesSlide" Target="../notesSlides/notesSlide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notesSlide" Target="../notesSlides/notesSlide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notesSlide" Target="../notesSlides/notesSlide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notesSlide" Target="../notesSlides/notesSlide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notesSlide" Target="../notesSlides/notesSlide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notesSlide" Target="../notesSlides/notesSlide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0">
            <a:off x="12749794" y="276015"/>
            <a:ext cx="11476825" cy="11465966"/>
            <a:chOff x="0" y="0"/>
            <a:chExt cx="15302433" cy="15287955"/>
          </a:xfrm>
        </p:grpSpPr>
        <p:sp>
          <p:nvSpPr>
            <p:cNvPr name="Freeform 3" id="3"/>
            <p:cNvSpPr/>
            <p:nvPr/>
          </p:nvSpPr>
          <p:spPr>
            <a:xfrm flipH="false" flipV="false" rot="0">
              <a:off x="0" y="32"/>
              <a:ext cx="15302357" cy="15287943"/>
            </a:xfrm>
            <a:custGeom>
              <a:avLst/>
              <a:gdLst/>
              <a:ahLst/>
              <a:cxnLst/>
              <a:rect r="r" b="b" t="t" l="l"/>
              <a:pathLst>
                <a:path h="15287943" w="15302357">
                  <a:moveTo>
                    <a:pt x="8471535" y="339566"/>
                  </a:moveTo>
                  <a:lnTo>
                    <a:pt x="14962632" y="6824440"/>
                  </a:lnTo>
                  <a:cubicBezTo>
                    <a:pt x="15180183" y="7041737"/>
                    <a:pt x="15302357" y="7336504"/>
                    <a:pt x="15302357" y="7643971"/>
                  </a:cubicBezTo>
                  <a:cubicBezTo>
                    <a:pt x="15302357" y="7951438"/>
                    <a:pt x="15180183" y="8246205"/>
                    <a:pt x="14962632" y="8463502"/>
                  </a:cubicBezTo>
                  <a:lnTo>
                    <a:pt x="8471535" y="14948376"/>
                  </a:lnTo>
                  <a:cubicBezTo>
                    <a:pt x="8018272" y="15401132"/>
                    <a:pt x="7284085" y="15401132"/>
                    <a:pt x="6830822" y="14948376"/>
                  </a:cubicBezTo>
                  <a:lnTo>
                    <a:pt x="339725" y="8463502"/>
                  </a:lnTo>
                  <a:cubicBezTo>
                    <a:pt x="122174" y="8246205"/>
                    <a:pt x="0" y="7951438"/>
                    <a:pt x="0" y="7643971"/>
                  </a:cubicBezTo>
                  <a:cubicBezTo>
                    <a:pt x="0" y="7336505"/>
                    <a:pt x="122174" y="7041737"/>
                    <a:pt x="339725" y="6824441"/>
                  </a:cubicBezTo>
                  <a:lnTo>
                    <a:pt x="6830822" y="339566"/>
                  </a:lnTo>
                  <a:cubicBezTo>
                    <a:pt x="7284085" y="-113189"/>
                    <a:pt x="8018272" y="-113189"/>
                    <a:pt x="8471535" y="339566"/>
                  </a:cubicBezTo>
                  <a:close/>
                </a:path>
              </a:pathLst>
            </a:custGeom>
            <a:solidFill>
              <a:srgbClr val="003865"/>
            </a:solidFill>
          </p:spPr>
        </p:sp>
      </p:grpSp>
      <p:sp>
        <p:nvSpPr>
          <p:cNvPr name="Freeform 4" id="4"/>
          <p:cNvSpPr/>
          <p:nvPr/>
        </p:nvSpPr>
        <p:spPr>
          <a:xfrm flipH="false" flipV="false" rot="0">
            <a:off x="3093615" y="7312523"/>
            <a:ext cx="19490817" cy="9746885"/>
          </a:xfrm>
          <a:custGeom>
            <a:avLst/>
            <a:gdLst/>
            <a:ahLst/>
            <a:cxnLst/>
            <a:rect r="r" b="b" t="t" l="l"/>
            <a:pathLst>
              <a:path h="9746885" w="19490817">
                <a:moveTo>
                  <a:pt x="0" y="0"/>
                </a:moveTo>
                <a:lnTo>
                  <a:pt x="19490817" y="0"/>
                </a:lnTo>
                <a:lnTo>
                  <a:pt x="19490817" y="9746885"/>
                </a:lnTo>
                <a:lnTo>
                  <a:pt x="0" y="97468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766730" y="-6493364"/>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6193679" y="8124311"/>
            <a:ext cx="2714073" cy="66675"/>
            <a:chOff x="0" y="0"/>
            <a:chExt cx="3618763" cy="88900"/>
          </a:xfrm>
        </p:grpSpPr>
        <p:sp>
          <p:nvSpPr>
            <p:cNvPr name="Freeform 7" id="7"/>
            <p:cNvSpPr/>
            <p:nvPr/>
          </p:nvSpPr>
          <p:spPr>
            <a:xfrm flipH="false" flipV="false" rot="0">
              <a:off x="0" y="0"/>
              <a:ext cx="3618738" cy="88900"/>
            </a:xfrm>
            <a:custGeom>
              <a:avLst/>
              <a:gdLst/>
              <a:ahLst/>
              <a:cxnLst/>
              <a:rect r="r" b="b" t="t" l="l"/>
              <a:pathLst>
                <a:path h="88900" w="3618738">
                  <a:moveTo>
                    <a:pt x="0" y="0"/>
                  </a:moveTo>
                  <a:lnTo>
                    <a:pt x="3618738" y="88900"/>
                  </a:lnTo>
                </a:path>
              </a:pathLst>
            </a:custGeom>
            <a:blipFill>
              <a:blip r:embed="rId6">
                <a:alphaModFix amt="0"/>
              </a:blip>
              <a:stretch>
                <a:fillRect l="0" t="-743157" r="0" b="-743157"/>
              </a:stretch>
            </a:blipFill>
            <a:ln w="66675" cap="sq">
              <a:solidFill>
                <a:srgbClr val="003865"/>
              </a:solidFill>
              <a:prstDash val="solid"/>
              <a:miter/>
            </a:ln>
          </p:spPr>
        </p:sp>
      </p:grpSp>
      <p:sp>
        <p:nvSpPr>
          <p:cNvPr name="TextBox 8" id="8"/>
          <p:cNvSpPr txBox="true"/>
          <p:nvPr/>
        </p:nvSpPr>
        <p:spPr>
          <a:xfrm rot="0">
            <a:off x="819207" y="3510915"/>
            <a:ext cx="10882940" cy="3436621"/>
          </a:xfrm>
          <a:prstGeom prst="rect">
            <a:avLst/>
          </a:prstGeom>
        </p:spPr>
        <p:txBody>
          <a:bodyPr anchor="t" rtlCol="false" tIns="0" lIns="0" bIns="0" rIns="0">
            <a:spAutoFit/>
          </a:bodyPr>
          <a:lstStyle/>
          <a:p>
            <a:pPr algn="l">
              <a:lnSpc>
                <a:spcPts val="5355"/>
              </a:lnSpc>
            </a:pPr>
            <a:r>
              <a:rPr lang="en-US" sz="5950" b="true">
                <a:solidFill>
                  <a:srgbClr val="003865"/>
                </a:solidFill>
                <a:latin typeface="DM Sans Bold"/>
                <a:ea typeface="DM Sans Bold"/>
                <a:cs typeface="DM Sans Bold"/>
                <a:sym typeface="DM Sans Bold"/>
              </a:rPr>
              <a:t>Sistema Predictivo</a:t>
            </a:r>
            <a:r>
              <a:rPr lang="en-US" sz="5950" b="true">
                <a:solidFill>
                  <a:srgbClr val="003865"/>
                </a:solidFill>
                <a:latin typeface="DM Sans Bold"/>
                <a:ea typeface="DM Sans Bold"/>
                <a:cs typeface="DM Sans Bold"/>
                <a:sym typeface="DM Sans Bold"/>
              </a:rPr>
              <a:t> de Riesgo de Desnutrición Crónica Infantil en el Perú mediante Machine Learning</a:t>
            </a:r>
          </a:p>
          <a:p>
            <a:pPr algn="l">
              <a:lnSpc>
                <a:spcPts val="5355"/>
              </a:lnSpc>
            </a:pPr>
          </a:p>
        </p:txBody>
      </p:sp>
      <p:sp>
        <p:nvSpPr>
          <p:cNvPr name="Freeform 9" id="9"/>
          <p:cNvSpPr/>
          <p:nvPr/>
        </p:nvSpPr>
        <p:spPr>
          <a:xfrm flipH="false" flipV="false" rot="0">
            <a:off x="11422608" y="1556538"/>
            <a:ext cx="3290773" cy="3290773"/>
          </a:xfrm>
          <a:custGeom>
            <a:avLst/>
            <a:gdLst/>
            <a:ahLst/>
            <a:cxnLst/>
            <a:rect r="r" b="b" t="t" l="l"/>
            <a:pathLst>
              <a:path h="3290773" w="3290773">
                <a:moveTo>
                  <a:pt x="0" y="0"/>
                </a:moveTo>
                <a:lnTo>
                  <a:pt x="3290773" y="0"/>
                </a:lnTo>
                <a:lnTo>
                  <a:pt x="3290773" y="3290773"/>
                </a:lnTo>
                <a:lnTo>
                  <a:pt x="0" y="329077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237896" y="9754410"/>
            <a:ext cx="5825842" cy="342900"/>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 Jornada Científica - EP. Ing. Sistemas</a:t>
            </a:r>
          </a:p>
        </p:txBody>
      </p:sp>
      <p:grpSp>
        <p:nvGrpSpPr>
          <p:cNvPr name="Group 11" id="11"/>
          <p:cNvGrpSpPr/>
          <p:nvPr/>
        </p:nvGrpSpPr>
        <p:grpSpPr>
          <a:xfrm rot="0">
            <a:off x="1511246" y="610900"/>
            <a:ext cx="18126" cy="835600"/>
            <a:chOff x="0" y="0"/>
            <a:chExt cx="24168" cy="1114133"/>
          </a:xfrm>
        </p:grpSpPr>
        <p:sp>
          <p:nvSpPr>
            <p:cNvPr name="Freeform 12" id="12"/>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6">
                <a:alphaModFix amt="0"/>
              </a:blip>
              <a:stretch>
                <a:fillRect l="-5873967" t="0" r="-5874125" b="3"/>
              </a:stretch>
            </a:blipFill>
            <a:ln w="24169" cap="sq">
              <a:solidFill>
                <a:srgbClr val="FFFFFF"/>
              </a:solidFill>
              <a:prstDash val="solid"/>
              <a:miter/>
            </a:ln>
          </p:spPr>
        </p:sp>
      </p:grpSp>
      <p:sp>
        <p:nvSpPr>
          <p:cNvPr name="TextBox 13" id="13"/>
          <p:cNvSpPr txBox="true"/>
          <p:nvPr/>
        </p:nvSpPr>
        <p:spPr>
          <a:xfrm rot="0">
            <a:off x="800157" y="950481"/>
            <a:ext cx="3053011" cy="299314"/>
          </a:xfrm>
          <a:prstGeom prst="rect">
            <a:avLst/>
          </a:prstGeom>
        </p:spPr>
        <p:txBody>
          <a:bodyPr anchor="t" rtlCol="false" tIns="0" lIns="0" bIns="0" rIns="0">
            <a:spAutoFit/>
          </a:bodyPr>
          <a:lstStyle/>
          <a:p>
            <a:pPr algn="l">
              <a:lnSpc>
                <a:spcPts val="2203"/>
              </a:lnSpc>
            </a:pPr>
            <a:r>
              <a:rPr lang="en-US" sz="1800" spc="37" b="true">
                <a:solidFill>
                  <a:srgbClr val="003865"/>
                </a:solidFill>
                <a:latin typeface="Arial Bold"/>
                <a:ea typeface="Arial Bold"/>
                <a:cs typeface="Arial Bold"/>
                <a:sym typeface="Arial Bold"/>
              </a:rPr>
              <a:t>INGENIERÍA DE SISTEMAS</a:t>
            </a:r>
          </a:p>
        </p:txBody>
      </p:sp>
      <p:sp>
        <p:nvSpPr>
          <p:cNvPr name="TextBox 14" id="14"/>
          <p:cNvSpPr txBox="true"/>
          <p:nvPr/>
        </p:nvSpPr>
        <p:spPr>
          <a:xfrm rot="0">
            <a:off x="819207" y="1297072"/>
            <a:ext cx="2647603" cy="149428"/>
          </a:xfrm>
          <a:prstGeom prst="rect">
            <a:avLst/>
          </a:prstGeom>
        </p:spPr>
        <p:txBody>
          <a:bodyPr anchor="t" rtlCol="false" tIns="0" lIns="0" bIns="0" rIns="0">
            <a:spAutoFit/>
          </a:bodyPr>
          <a:lstStyle/>
          <a:p>
            <a:pPr algn="l">
              <a:lnSpc>
                <a:spcPts val="1193"/>
              </a:lnSpc>
            </a:pPr>
            <a:r>
              <a:rPr lang="en-US" sz="975" spc="225" b="true">
                <a:solidFill>
                  <a:srgbClr val="6B7280"/>
                </a:solidFill>
                <a:latin typeface="Arial Bold"/>
                <a:ea typeface="Arial Bold"/>
                <a:cs typeface="Arial Bold"/>
                <a:sym typeface="Arial Bold"/>
              </a:rPr>
              <a:t>UNIVERSIDAD PERUANA UNIÓN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4110192" y="-7896"/>
            <a:ext cx="5245875" cy="4047563"/>
          </a:xfrm>
          <a:custGeom>
            <a:avLst/>
            <a:gdLst/>
            <a:ahLst/>
            <a:cxnLst/>
            <a:rect r="r" b="b" t="t" l="l"/>
            <a:pathLst>
              <a:path h="4047563" w="5245875">
                <a:moveTo>
                  <a:pt x="0" y="0"/>
                </a:moveTo>
                <a:lnTo>
                  <a:pt x="5245875" y="0"/>
                </a:lnTo>
                <a:lnTo>
                  <a:pt x="5245875" y="4047563"/>
                </a:lnTo>
                <a:lnTo>
                  <a:pt x="0" y="40475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886973" y="4395892"/>
            <a:ext cx="5389207" cy="5904709"/>
          </a:xfrm>
          <a:custGeom>
            <a:avLst/>
            <a:gdLst/>
            <a:ahLst/>
            <a:cxnLst/>
            <a:rect r="r" b="b" t="t" l="l"/>
            <a:pathLst>
              <a:path h="5904709" w="5389207">
                <a:moveTo>
                  <a:pt x="0" y="0"/>
                </a:moveTo>
                <a:lnTo>
                  <a:pt x="5389206" y="0"/>
                </a:lnTo>
                <a:lnTo>
                  <a:pt x="5389206" y="5904710"/>
                </a:lnTo>
                <a:lnTo>
                  <a:pt x="0" y="5904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9460735"/>
            <a:ext cx="18276179" cy="839876"/>
          </a:xfrm>
          <a:custGeom>
            <a:avLst/>
            <a:gdLst/>
            <a:ahLst/>
            <a:cxnLst/>
            <a:rect r="r" b="b" t="t" l="l"/>
            <a:pathLst>
              <a:path h="839876" w="18276179">
                <a:moveTo>
                  <a:pt x="0" y="0"/>
                </a:moveTo>
                <a:lnTo>
                  <a:pt x="18276179" y="0"/>
                </a:lnTo>
                <a:lnTo>
                  <a:pt x="18276179" y="839876"/>
                </a:lnTo>
                <a:lnTo>
                  <a:pt x="0" y="8398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733129" y="3862807"/>
            <a:ext cx="776849" cy="921515"/>
          </a:xfrm>
          <a:custGeom>
            <a:avLst/>
            <a:gdLst/>
            <a:ahLst/>
            <a:cxnLst/>
            <a:rect r="r" b="b" t="t" l="l"/>
            <a:pathLst>
              <a:path h="921515" w="776849">
                <a:moveTo>
                  <a:pt x="0" y="0"/>
                </a:moveTo>
                <a:lnTo>
                  <a:pt x="776850" y="0"/>
                </a:lnTo>
                <a:lnTo>
                  <a:pt x="776850" y="921515"/>
                </a:lnTo>
                <a:lnTo>
                  <a:pt x="0" y="9215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149177" y="6328696"/>
            <a:ext cx="3904335" cy="860933"/>
          </a:xfrm>
          <a:prstGeom prst="rect">
            <a:avLst/>
          </a:prstGeom>
        </p:spPr>
        <p:txBody>
          <a:bodyPr anchor="t" rtlCol="false" tIns="0" lIns="0" bIns="0" rIns="0">
            <a:spAutoFit/>
          </a:bodyPr>
          <a:lstStyle/>
          <a:p>
            <a:pPr algn="ctr">
              <a:lnSpc>
                <a:spcPts val="3470"/>
              </a:lnSpc>
            </a:pPr>
            <a:r>
              <a:rPr lang="en-US" sz="2478">
                <a:solidFill>
                  <a:srgbClr val="12315F"/>
                </a:solidFill>
                <a:latin typeface="Open Sauce"/>
                <a:ea typeface="Open Sauce"/>
                <a:cs typeface="Open Sauce"/>
                <a:sym typeface="Open Sauce"/>
              </a:rPr>
              <a:t>ABEL GUEVARA HUASCO</a:t>
            </a:r>
          </a:p>
          <a:p>
            <a:pPr algn="ctr">
              <a:lnSpc>
                <a:spcPts val="3470"/>
              </a:lnSpc>
            </a:pPr>
            <a:r>
              <a:rPr lang="en-US" sz="2478">
                <a:solidFill>
                  <a:srgbClr val="12315F"/>
                </a:solidFill>
                <a:latin typeface="Open Sauce"/>
                <a:ea typeface="Open Sauce"/>
                <a:cs typeface="Open Sauce"/>
                <a:sym typeface="Open Sauce"/>
              </a:rPr>
              <a:t>2026 - IX</a:t>
            </a:r>
          </a:p>
        </p:txBody>
      </p:sp>
      <p:sp>
        <p:nvSpPr>
          <p:cNvPr name="TextBox 7" id="7"/>
          <p:cNvSpPr txBox="true"/>
          <p:nvPr/>
        </p:nvSpPr>
        <p:spPr>
          <a:xfrm rot="0">
            <a:off x="6046185" y="6280934"/>
            <a:ext cx="4468749" cy="860933"/>
          </a:xfrm>
          <a:prstGeom prst="rect">
            <a:avLst/>
          </a:prstGeom>
        </p:spPr>
        <p:txBody>
          <a:bodyPr anchor="t" rtlCol="false" tIns="0" lIns="0" bIns="0" rIns="0">
            <a:spAutoFit/>
          </a:bodyPr>
          <a:lstStyle/>
          <a:p>
            <a:pPr algn="ctr">
              <a:lnSpc>
                <a:spcPts val="3470"/>
              </a:lnSpc>
            </a:pPr>
            <a:r>
              <a:rPr lang="en-US" sz="2478">
                <a:solidFill>
                  <a:srgbClr val="12315F"/>
                </a:solidFill>
                <a:latin typeface="Open Sauce"/>
                <a:ea typeface="Open Sauce"/>
                <a:cs typeface="Open Sauce"/>
                <a:sym typeface="Open Sauce"/>
              </a:rPr>
              <a:t>VERONICA VERGARA ROJAS </a:t>
            </a:r>
          </a:p>
          <a:p>
            <a:pPr algn="ctr">
              <a:lnSpc>
                <a:spcPts val="3470"/>
              </a:lnSpc>
            </a:pPr>
            <a:r>
              <a:rPr lang="en-US" sz="2478">
                <a:solidFill>
                  <a:srgbClr val="12315F"/>
                </a:solidFill>
                <a:latin typeface="Open Sauce"/>
                <a:ea typeface="Open Sauce"/>
                <a:cs typeface="Open Sauce"/>
                <a:sym typeface="Open Sauce"/>
              </a:rPr>
              <a:t>2026 - IX</a:t>
            </a:r>
          </a:p>
        </p:txBody>
      </p:sp>
      <p:grpSp>
        <p:nvGrpSpPr>
          <p:cNvPr name="Group 8" id="8"/>
          <p:cNvGrpSpPr/>
          <p:nvPr/>
        </p:nvGrpSpPr>
        <p:grpSpPr>
          <a:xfrm rot="0">
            <a:off x="1262805" y="2725845"/>
            <a:ext cx="3824460" cy="3842801"/>
            <a:chOff x="0" y="0"/>
            <a:chExt cx="5099280" cy="5123735"/>
          </a:xfrm>
        </p:grpSpPr>
        <p:sp>
          <p:nvSpPr>
            <p:cNvPr name="Freeform 9" id="9"/>
            <p:cNvSpPr/>
            <p:nvPr/>
          </p:nvSpPr>
          <p:spPr>
            <a:xfrm flipH="false" flipV="false" rot="-4202400">
              <a:off x="574383" y="590829"/>
              <a:ext cx="3950513" cy="3990416"/>
            </a:xfrm>
            <a:custGeom>
              <a:avLst/>
              <a:gdLst/>
              <a:ahLst/>
              <a:cxnLst/>
              <a:rect r="r" b="b" t="t" l="l"/>
              <a:pathLst>
                <a:path h="3990416" w="3950513">
                  <a:moveTo>
                    <a:pt x="0" y="0"/>
                  </a:moveTo>
                  <a:lnTo>
                    <a:pt x="3950513" y="0"/>
                  </a:lnTo>
                  <a:lnTo>
                    <a:pt x="3950513" y="3990417"/>
                  </a:lnTo>
                  <a:lnTo>
                    <a:pt x="0" y="3990417"/>
                  </a:lnTo>
                  <a:lnTo>
                    <a:pt x="0" y="0"/>
                  </a:lnTo>
                  <a:close/>
                </a:path>
              </a:pathLst>
            </a:custGeom>
            <a:blipFill>
              <a:blip r:embed="rId10">
                <a:extLst>
                  <a:ext uri="{96DAC541-7B7A-43D3-8B79-37D633B846F1}">
                    <asvg:svgBlip xmlns:asvg="http://schemas.microsoft.com/office/drawing/2016/SVG/main" r:embed="rId11"/>
                  </a:ext>
                </a:extLst>
              </a:blip>
              <a:stretch>
                <a:fillRect l="-505" t="0" r="-505" b="0"/>
              </a:stretch>
            </a:blipFill>
          </p:spPr>
        </p:sp>
        <p:grpSp>
          <p:nvGrpSpPr>
            <p:cNvPr name="Group 10" id="10"/>
            <p:cNvGrpSpPr/>
            <p:nvPr/>
          </p:nvGrpSpPr>
          <p:grpSpPr>
            <a:xfrm rot="0">
              <a:off x="665493" y="0"/>
              <a:ext cx="4242537" cy="4242537"/>
              <a:chOff x="0" y="0"/>
              <a:chExt cx="4242537" cy="4242537"/>
            </a:xfrm>
          </p:grpSpPr>
          <p:sp>
            <p:nvSpPr>
              <p:cNvPr name="Freeform 11" id="11"/>
              <p:cNvSpPr/>
              <p:nvPr/>
            </p:nvSpPr>
            <p:spPr>
              <a:xfrm flipH="false" flipV="false" rot="0">
                <a:off x="0" y="0"/>
                <a:ext cx="4242562" cy="4242562"/>
              </a:xfrm>
              <a:custGeom>
                <a:avLst/>
                <a:gdLst/>
                <a:ahLst/>
                <a:cxnLst/>
                <a:rect r="r" b="b" t="t" l="l"/>
                <a:pathLst>
                  <a:path h="4242562" w="4242562">
                    <a:moveTo>
                      <a:pt x="2121281" y="0"/>
                    </a:moveTo>
                    <a:cubicBezTo>
                      <a:pt x="949706" y="0"/>
                      <a:pt x="0" y="949706"/>
                      <a:pt x="0" y="2121281"/>
                    </a:cubicBezTo>
                    <a:cubicBezTo>
                      <a:pt x="0" y="3292856"/>
                      <a:pt x="949706" y="4242562"/>
                      <a:pt x="2121281" y="4242562"/>
                    </a:cubicBezTo>
                    <a:cubicBezTo>
                      <a:pt x="3292856" y="4242562"/>
                      <a:pt x="4242562" y="3292856"/>
                      <a:pt x="4242562" y="2121281"/>
                    </a:cubicBezTo>
                    <a:cubicBezTo>
                      <a:pt x="4242562" y="949706"/>
                      <a:pt x="3292856" y="0"/>
                      <a:pt x="2121281" y="0"/>
                    </a:cubicBezTo>
                    <a:close/>
                  </a:path>
                </a:pathLst>
              </a:custGeom>
              <a:blipFill>
                <a:blip r:embed="rId12"/>
                <a:stretch>
                  <a:fillRect l="0" t="-4058" r="0" b="-4058"/>
                </a:stretch>
              </a:blipFill>
            </p:spPr>
          </p:sp>
        </p:grpSp>
      </p:grpSp>
      <p:grpSp>
        <p:nvGrpSpPr>
          <p:cNvPr name="Group 12" id="12"/>
          <p:cNvGrpSpPr/>
          <p:nvPr/>
        </p:nvGrpSpPr>
        <p:grpSpPr>
          <a:xfrm rot="0">
            <a:off x="11711802" y="2689593"/>
            <a:ext cx="3824460" cy="3842801"/>
            <a:chOff x="0" y="0"/>
            <a:chExt cx="5099280" cy="5123735"/>
          </a:xfrm>
        </p:grpSpPr>
        <p:sp>
          <p:nvSpPr>
            <p:cNvPr name="Freeform 13" id="13"/>
            <p:cNvSpPr/>
            <p:nvPr/>
          </p:nvSpPr>
          <p:spPr>
            <a:xfrm flipH="false" flipV="false" rot="-4202400">
              <a:off x="574383" y="590829"/>
              <a:ext cx="3950513" cy="3990416"/>
            </a:xfrm>
            <a:custGeom>
              <a:avLst/>
              <a:gdLst/>
              <a:ahLst/>
              <a:cxnLst/>
              <a:rect r="r" b="b" t="t" l="l"/>
              <a:pathLst>
                <a:path h="3990416" w="3950513">
                  <a:moveTo>
                    <a:pt x="0" y="0"/>
                  </a:moveTo>
                  <a:lnTo>
                    <a:pt x="3950513" y="0"/>
                  </a:lnTo>
                  <a:lnTo>
                    <a:pt x="3950513" y="3990417"/>
                  </a:lnTo>
                  <a:lnTo>
                    <a:pt x="0" y="3990417"/>
                  </a:lnTo>
                  <a:lnTo>
                    <a:pt x="0" y="0"/>
                  </a:lnTo>
                  <a:close/>
                </a:path>
              </a:pathLst>
            </a:custGeom>
            <a:blipFill>
              <a:blip r:embed="rId10">
                <a:extLst>
                  <a:ext uri="{96DAC541-7B7A-43D3-8B79-37D633B846F1}">
                    <asvg:svgBlip xmlns:asvg="http://schemas.microsoft.com/office/drawing/2016/SVG/main" r:embed="rId11"/>
                  </a:ext>
                </a:extLst>
              </a:blip>
              <a:stretch>
                <a:fillRect l="-505" t="0" r="-505" b="0"/>
              </a:stretch>
            </a:blipFill>
          </p:spPr>
        </p:sp>
        <p:grpSp>
          <p:nvGrpSpPr>
            <p:cNvPr name="Group 14" id="14"/>
            <p:cNvGrpSpPr/>
            <p:nvPr/>
          </p:nvGrpSpPr>
          <p:grpSpPr>
            <a:xfrm rot="0">
              <a:off x="665480" y="0"/>
              <a:ext cx="4242537" cy="4242537"/>
              <a:chOff x="0" y="0"/>
              <a:chExt cx="4242537" cy="4242537"/>
            </a:xfrm>
          </p:grpSpPr>
          <p:sp>
            <p:nvSpPr>
              <p:cNvPr name="Freeform 15" id="15"/>
              <p:cNvSpPr/>
              <p:nvPr/>
            </p:nvSpPr>
            <p:spPr>
              <a:xfrm flipH="false" flipV="false" rot="0">
                <a:off x="0" y="0"/>
                <a:ext cx="4242562" cy="4242562"/>
              </a:xfrm>
              <a:custGeom>
                <a:avLst/>
                <a:gdLst/>
                <a:ahLst/>
                <a:cxnLst/>
                <a:rect r="r" b="b" t="t" l="l"/>
                <a:pathLst>
                  <a:path h="4242562" w="4242562">
                    <a:moveTo>
                      <a:pt x="2121281" y="0"/>
                    </a:moveTo>
                    <a:cubicBezTo>
                      <a:pt x="949706" y="0"/>
                      <a:pt x="0" y="949706"/>
                      <a:pt x="0" y="2121281"/>
                    </a:cubicBezTo>
                    <a:cubicBezTo>
                      <a:pt x="0" y="3292856"/>
                      <a:pt x="949706" y="4242562"/>
                      <a:pt x="2121281" y="4242562"/>
                    </a:cubicBezTo>
                    <a:cubicBezTo>
                      <a:pt x="3292856" y="4242562"/>
                      <a:pt x="4242562" y="3292856"/>
                      <a:pt x="4242562" y="2121281"/>
                    </a:cubicBezTo>
                    <a:cubicBezTo>
                      <a:pt x="4242562" y="949706"/>
                      <a:pt x="3292856" y="0"/>
                      <a:pt x="2121281" y="0"/>
                    </a:cubicBezTo>
                    <a:close/>
                  </a:path>
                </a:pathLst>
              </a:custGeom>
              <a:blipFill>
                <a:blip r:embed="rId13"/>
                <a:stretch>
                  <a:fillRect l="0" t="-16666" r="0" b="-16666"/>
                </a:stretch>
              </a:blipFill>
            </p:spPr>
          </p:sp>
        </p:grpSp>
      </p:grpSp>
      <p:grpSp>
        <p:nvGrpSpPr>
          <p:cNvPr name="Group 16" id="16"/>
          <p:cNvGrpSpPr/>
          <p:nvPr/>
        </p:nvGrpSpPr>
        <p:grpSpPr>
          <a:xfrm rot="0">
            <a:off x="6368329" y="2725845"/>
            <a:ext cx="3824460" cy="3842801"/>
            <a:chOff x="0" y="0"/>
            <a:chExt cx="5099280" cy="5123735"/>
          </a:xfrm>
        </p:grpSpPr>
        <p:sp>
          <p:nvSpPr>
            <p:cNvPr name="Freeform 17" id="17"/>
            <p:cNvSpPr/>
            <p:nvPr/>
          </p:nvSpPr>
          <p:spPr>
            <a:xfrm flipH="false" flipV="false" rot="-4202400">
              <a:off x="574383" y="590829"/>
              <a:ext cx="3950513" cy="3990416"/>
            </a:xfrm>
            <a:custGeom>
              <a:avLst/>
              <a:gdLst/>
              <a:ahLst/>
              <a:cxnLst/>
              <a:rect r="r" b="b" t="t" l="l"/>
              <a:pathLst>
                <a:path h="3990416" w="3950513">
                  <a:moveTo>
                    <a:pt x="0" y="0"/>
                  </a:moveTo>
                  <a:lnTo>
                    <a:pt x="3950513" y="0"/>
                  </a:lnTo>
                  <a:lnTo>
                    <a:pt x="3950513" y="3990417"/>
                  </a:lnTo>
                  <a:lnTo>
                    <a:pt x="0" y="3990417"/>
                  </a:lnTo>
                  <a:lnTo>
                    <a:pt x="0" y="0"/>
                  </a:lnTo>
                  <a:close/>
                </a:path>
              </a:pathLst>
            </a:custGeom>
            <a:blipFill>
              <a:blip r:embed="rId10">
                <a:extLst>
                  <a:ext uri="{96DAC541-7B7A-43D3-8B79-37D633B846F1}">
                    <asvg:svgBlip xmlns:asvg="http://schemas.microsoft.com/office/drawing/2016/SVG/main" r:embed="rId11"/>
                  </a:ext>
                </a:extLst>
              </a:blip>
              <a:stretch>
                <a:fillRect l="-505" t="0" r="-505" b="0"/>
              </a:stretch>
            </a:blipFill>
          </p:spPr>
        </p:sp>
        <p:grpSp>
          <p:nvGrpSpPr>
            <p:cNvPr name="Group 18" id="18"/>
            <p:cNvGrpSpPr/>
            <p:nvPr/>
          </p:nvGrpSpPr>
          <p:grpSpPr>
            <a:xfrm rot="0">
              <a:off x="665493" y="0"/>
              <a:ext cx="4242537" cy="4242537"/>
              <a:chOff x="0" y="0"/>
              <a:chExt cx="4242537" cy="4242537"/>
            </a:xfrm>
          </p:grpSpPr>
          <p:sp>
            <p:nvSpPr>
              <p:cNvPr name="Freeform 19" id="19"/>
              <p:cNvSpPr/>
              <p:nvPr/>
            </p:nvSpPr>
            <p:spPr>
              <a:xfrm flipH="false" flipV="false" rot="0">
                <a:off x="0" y="0"/>
                <a:ext cx="4242562" cy="4242562"/>
              </a:xfrm>
              <a:custGeom>
                <a:avLst/>
                <a:gdLst/>
                <a:ahLst/>
                <a:cxnLst/>
                <a:rect r="r" b="b" t="t" l="l"/>
                <a:pathLst>
                  <a:path h="4242562" w="4242562">
                    <a:moveTo>
                      <a:pt x="2121281" y="0"/>
                    </a:moveTo>
                    <a:cubicBezTo>
                      <a:pt x="949706" y="0"/>
                      <a:pt x="0" y="949706"/>
                      <a:pt x="0" y="2121281"/>
                    </a:cubicBezTo>
                    <a:cubicBezTo>
                      <a:pt x="0" y="3292856"/>
                      <a:pt x="949706" y="4242562"/>
                      <a:pt x="2121281" y="4242562"/>
                    </a:cubicBezTo>
                    <a:cubicBezTo>
                      <a:pt x="3292856" y="4242562"/>
                      <a:pt x="4242562" y="3292856"/>
                      <a:pt x="4242562" y="2121281"/>
                    </a:cubicBezTo>
                    <a:cubicBezTo>
                      <a:pt x="4242562" y="949706"/>
                      <a:pt x="3292856" y="0"/>
                      <a:pt x="2121281" y="0"/>
                    </a:cubicBezTo>
                    <a:close/>
                  </a:path>
                </a:pathLst>
              </a:custGeom>
              <a:blipFill>
                <a:blip r:embed="rId14"/>
                <a:stretch>
                  <a:fillRect l="-11019" t="-7628" r="-7628" b="-11019"/>
                </a:stretch>
              </a:blipFill>
            </p:spPr>
          </p:sp>
        </p:grpSp>
      </p:grpSp>
      <p:sp>
        <p:nvSpPr>
          <p:cNvPr name="TextBox 20" id="20"/>
          <p:cNvSpPr txBox="true"/>
          <p:nvPr/>
        </p:nvSpPr>
        <p:spPr>
          <a:xfrm rot="0">
            <a:off x="1028700" y="1466850"/>
            <a:ext cx="10954588" cy="714651"/>
          </a:xfrm>
          <a:prstGeom prst="rect">
            <a:avLst/>
          </a:prstGeom>
        </p:spPr>
        <p:txBody>
          <a:bodyPr anchor="t" rtlCol="false" tIns="0" lIns="0" bIns="0" rIns="0">
            <a:spAutoFit/>
          </a:bodyPr>
          <a:lstStyle/>
          <a:p>
            <a:pPr algn="l">
              <a:lnSpc>
                <a:spcPts val="6813"/>
              </a:lnSpc>
            </a:pPr>
            <a:r>
              <a:rPr lang="en-US" sz="7570" b="true">
                <a:solidFill>
                  <a:srgbClr val="003865"/>
                </a:solidFill>
                <a:latin typeface="DM Sans Bold"/>
                <a:ea typeface="DM Sans Bold"/>
                <a:cs typeface="DM Sans Bold"/>
                <a:sym typeface="DM Sans Bold"/>
              </a:rPr>
              <a:t>EQUIPO DE TRABAJO</a:t>
            </a:r>
          </a:p>
        </p:txBody>
      </p:sp>
      <p:sp>
        <p:nvSpPr>
          <p:cNvPr name="TextBox 21" id="21"/>
          <p:cNvSpPr txBox="true"/>
          <p:nvPr/>
        </p:nvSpPr>
        <p:spPr>
          <a:xfrm rot="0">
            <a:off x="188424" y="9799625"/>
            <a:ext cx="5825842" cy="342900"/>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 Jornada Científica - EP. Ing. Sistemas</a:t>
            </a:r>
          </a:p>
        </p:txBody>
      </p:sp>
      <p:sp>
        <p:nvSpPr>
          <p:cNvPr name="TextBox 22" id="22"/>
          <p:cNvSpPr txBox="true"/>
          <p:nvPr/>
        </p:nvSpPr>
        <p:spPr>
          <a:xfrm rot="0">
            <a:off x="11372183" y="6280934"/>
            <a:ext cx="4585487" cy="860933"/>
          </a:xfrm>
          <a:prstGeom prst="rect">
            <a:avLst/>
          </a:prstGeom>
        </p:spPr>
        <p:txBody>
          <a:bodyPr anchor="t" rtlCol="false" tIns="0" lIns="0" bIns="0" rIns="0">
            <a:spAutoFit/>
          </a:bodyPr>
          <a:lstStyle/>
          <a:p>
            <a:pPr algn="ctr">
              <a:lnSpc>
                <a:spcPts val="3470"/>
              </a:lnSpc>
            </a:pPr>
            <a:r>
              <a:rPr lang="en-US" sz="2478">
                <a:solidFill>
                  <a:srgbClr val="12315F"/>
                </a:solidFill>
                <a:latin typeface="Open Sauce"/>
                <a:ea typeface="Open Sauce"/>
                <a:cs typeface="Open Sauce"/>
                <a:sym typeface="Open Sauce"/>
              </a:rPr>
              <a:t>PAMELA VALLEJOS COTRINA</a:t>
            </a:r>
          </a:p>
          <a:p>
            <a:pPr algn="ctr">
              <a:lnSpc>
                <a:spcPts val="3470"/>
              </a:lnSpc>
            </a:pPr>
            <a:r>
              <a:rPr lang="en-US" sz="2478">
                <a:solidFill>
                  <a:srgbClr val="12315F"/>
                </a:solidFill>
                <a:latin typeface="Open Sauce"/>
                <a:ea typeface="Open Sauce"/>
                <a:cs typeface="Open Sauce"/>
                <a:sym typeface="Open Sauce"/>
              </a:rPr>
              <a:t>2026 </a:t>
            </a:r>
            <a:r>
              <a:rPr lang="en-US" sz="2478">
                <a:solidFill>
                  <a:srgbClr val="12315F"/>
                </a:solidFill>
                <a:latin typeface="Open Sauce"/>
                <a:ea typeface="Open Sauce"/>
                <a:cs typeface="Open Sauce"/>
                <a:sym typeface="Open Sauce"/>
              </a:rPr>
              <a:t>- IX</a:t>
            </a:r>
          </a:p>
        </p:txBody>
      </p:sp>
      <p:sp>
        <p:nvSpPr>
          <p:cNvPr name="TextBox 23" id="23"/>
          <p:cNvSpPr txBox="true"/>
          <p:nvPr/>
        </p:nvSpPr>
        <p:spPr>
          <a:xfrm rot="0">
            <a:off x="15727151" y="9729861"/>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81709" y="1082821"/>
            <a:ext cx="12406015" cy="1111631"/>
          </a:xfrm>
          <a:prstGeom prst="rect">
            <a:avLst/>
          </a:prstGeom>
        </p:spPr>
        <p:txBody>
          <a:bodyPr anchor="t" rtlCol="false" tIns="0" lIns="0" bIns="0" rIns="0">
            <a:spAutoFit/>
          </a:bodyPr>
          <a:lstStyle/>
          <a:p>
            <a:pPr algn="l">
              <a:lnSpc>
                <a:spcPts val="8032"/>
              </a:lnSpc>
            </a:pPr>
            <a:r>
              <a:rPr lang="en-US" sz="8925" b="true">
                <a:solidFill>
                  <a:srgbClr val="003865"/>
                </a:solidFill>
                <a:latin typeface="DM Sans Bold"/>
                <a:ea typeface="DM Sans Bold"/>
                <a:cs typeface="DM Sans Bold"/>
                <a:sym typeface="DM Sans Bold"/>
              </a:rPr>
              <a:t>INDICE DE CONTENIDO</a:t>
            </a:r>
          </a:p>
        </p:txBody>
      </p:sp>
      <p:grpSp>
        <p:nvGrpSpPr>
          <p:cNvPr name="Group 4" id="4"/>
          <p:cNvGrpSpPr/>
          <p:nvPr/>
        </p:nvGrpSpPr>
        <p:grpSpPr>
          <a:xfrm rot="0">
            <a:off x="5622112" y="3000467"/>
            <a:ext cx="4775940" cy="1488119"/>
            <a:chOff x="0" y="0"/>
            <a:chExt cx="6367920" cy="1984159"/>
          </a:xfrm>
        </p:grpSpPr>
        <p:sp>
          <p:nvSpPr>
            <p:cNvPr name="TextBox 5" id="5"/>
            <p:cNvSpPr txBox="true"/>
            <p:nvPr/>
          </p:nvSpPr>
          <p:spPr>
            <a:xfrm rot="0">
              <a:off x="2735961" y="359730"/>
              <a:ext cx="3631959" cy="632350"/>
            </a:xfrm>
            <a:prstGeom prst="rect">
              <a:avLst/>
            </a:prstGeom>
          </p:spPr>
          <p:txBody>
            <a:bodyPr anchor="t" rtlCol="false" tIns="0" lIns="0" bIns="0" rIns="0">
              <a:spAutoFit/>
            </a:bodyPr>
            <a:lstStyle/>
            <a:p>
              <a:pPr algn="just">
                <a:lnSpc>
                  <a:spcPts val="3916"/>
                </a:lnSpc>
              </a:pPr>
              <a:r>
                <a:rPr lang="en-US" sz="2797" b="true">
                  <a:solidFill>
                    <a:srgbClr val="1E1E1E"/>
                  </a:solidFill>
                  <a:latin typeface="Open Sauce Bold"/>
                  <a:ea typeface="Open Sauce Bold"/>
                  <a:cs typeface="Open Sauce Bold"/>
                  <a:sym typeface="Open Sauce Bold"/>
                </a:rPr>
                <a:t>Problema</a:t>
              </a:r>
            </a:p>
          </p:txBody>
        </p:sp>
        <p:grpSp>
          <p:nvGrpSpPr>
            <p:cNvPr name="Group 6" id="6"/>
            <p:cNvGrpSpPr/>
            <p:nvPr/>
          </p:nvGrpSpPr>
          <p:grpSpPr>
            <a:xfrm rot="0">
              <a:off x="0" y="0"/>
              <a:ext cx="1984159" cy="1984159"/>
              <a:chOff x="0" y="0"/>
              <a:chExt cx="1984159" cy="1984159"/>
            </a:xfrm>
          </p:grpSpPr>
          <p:sp>
            <p:nvSpPr>
              <p:cNvPr name="Freeform 7" id="7"/>
              <p:cNvSpPr/>
              <p:nvPr/>
            </p:nvSpPr>
            <p:spPr>
              <a:xfrm flipH="false" flipV="false" rot="0">
                <a:off x="-64" y="-64"/>
                <a:ext cx="1984248" cy="1984248"/>
              </a:xfrm>
              <a:custGeom>
                <a:avLst/>
                <a:gdLst/>
                <a:ahLst/>
                <a:cxnLst/>
                <a:rect r="r" b="b" t="t" l="l"/>
                <a:pathLst>
                  <a:path h="1984248" w="1984248">
                    <a:moveTo>
                      <a:pt x="1315403" y="133922"/>
                    </a:moveTo>
                    <a:lnTo>
                      <a:pt x="1850327" y="668846"/>
                    </a:lnTo>
                    <a:cubicBezTo>
                      <a:pt x="2028889" y="847408"/>
                      <a:pt x="2028889" y="1136841"/>
                      <a:pt x="1850327" y="1315403"/>
                    </a:cubicBezTo>
                    <a:lnTo>
                      <a:pt x="1315403" y="1850327"/>
                    </a:lnTo>
                    <a:cubicBezTo>
                      <a:pt x="1136841" y="2028889"/>
                      <a:pt x="847408" y="2028889"/>
                      <a:pt x="668846" y="1850327"/>
                    </a:cubicBezTo>
                    <a:lnTo>
                      <a:pt x="133922" y="1315403"/>
                    </a:lnTo>
                    <a:cubicBezTo>
                      <a:pt x="-44640" y="1136841"/>
                      <a:pt x="-44640" y="847408"/>
                      <a:pt x="133922" y="668846"/>
                    </a:cubicBezTo>
                    <a:lnTo>
                      <a:pt x="668846" y="133922"/>
                    </a:lnTo>
                    <a:cubicBezTo>
                      <a:pt x="847408" y="-44640"/>
                      <a:pt x="1136841" y="-44640"/>
                      <a:pt x="1315403" y="133922"/>
                    </a:cubicBezTo>
                    <a:close/>
                  </a:path>
                </a:pathLst>
              </a:custGeom>
              <a:solidFill>
                <a:srgbClr val="F8A900"/>
              </a:solidFill>
            </p:spPr>
          </p:sp>
        </p:grpSp>
        <p:grpSp>
          <p:nvGrpSpPr>
            <p:cNvPr name="Group 8" id="8"/>
            <p:cNvGrpSpPr/>
            <p:nvPr/>
          </p:nvGrpSpPr>
          <p:grpSpPr>
            <a:xfrm rot="0">
              <a:off x="216738" y="78295"/>
              <a:ext cx="1550670" cy="1689113"/>
              <a:chOff x="0" y="0"/>
              <a:chExt cx="1550670" cy="1689113"/>
            </a:xfrm>
          </p:grpSpPr>
          <p:sp>
            <p:nvSpPr>
              <p:cNvPr name="Freeform 9" id="9"/>
              <p:cNvSpPr/>
              <p:nvPr/>
            </p:nvSpPr>
            <p:spPr>
              <a:xfrm flipH="false" flipV="false" rot="0">
                <a:off x="0" y="0"/>
                <a:ext cx="1550665" cy="1689118"/>
              </a:xfrm>
              <a:custGeom>
                <a:avLst/>
                <a:gdLst/>
                <a:ahLst/>
                <a:cxnLst/>
                <a:rect r="r" b="b" t="t" l="l"/>
                <a:pathLst>
                  <a:path h="1689118" w="1550665">
                    <a:moveTo>
                      <a:pt x="0" y="0"/>
                    </a:moveTo>
                    <a:lnTo>
                      <a:pt x="1550665" y="0"/>
                    </a:lnTo>
                    <a:lnTo>
                      <a:pt x="1550665" y="1689118"/>
                    </a:lnTo>
                    <a:lnTo>
                      <a:pt x="0" y="1689118"/>
                    </a:lnTo>
                    <a:close/>
                  </a:path>
                </a:pathLst>
              </a:custGeom>
              <a:blipFill>
                <a:blip r:embed="rId4">
                  <a:alphaModFix amt="0"/>
                </a:blip>
                <a:stretch>
                  <a:fillRect l="-89758" t="0" r="-89758" b="0"/>
                </a:stretch>
              </a:blipFill>
            </p:spPr>
          </p:sp>
          <p:sp>
            <p:nvSpPr>
              <p:cNvPr name="TextBox 10" id="10"/>
              <p:cNvSpPr txBox="true"/>
              <p:nvPr/>
            </p:nvSpPr>
            <p:spPr>
              <a:xfrm>
                <a:off x="0" y="-47625"/>
                <a:ext cx="1550670" cy="1736738"/>
              </a:xfrm>
              <a:prstGeom prst="rect">
                <a:avLst/>
              </a:prstGeom>
            </p:spPr>
            <p:txBody>
              <a:bodyPr anchor="ctr" rtlCol="false" tIns="0" lIns="0" bIns="0" rIns="0"/>
              <a:lstStyle/>
              <a:p>
                <a:pPr algn="ctr">
                  <a:lnSpc>
                    <a:spcPts val="3357"/>
                  </a:lnSpc>
                </a:pPr>
                <a:r>
                  <a:rPr lang="en-US" sz="2398">
                    <a:solidFill>
                      <a:srgbClr val="F7F7F7"/>
                    </a:solidFill>
                    <a:latin typeface="Open Sauce"/>
                    <a:ea typeface="Open Sauce"/>
                    <a:cs typeface="Open Sauce"/>
                    <a:sym typeface="Open Sauce"/>
                  </a:rPr>
                  <a:t>01</a:t>
                </a:r>
              </a:p>
            </p:txBody>
          </p:sp>
        </p:grpSp>
      </p:grpSp>
      <p:grpSp>
        <p:nvGrpSpPr>
          <p:cNvPr name="Group 11" id="11"/>
          <p:cNvGrpSpPr/>
          <p:nvPr/>
        </p:nvGrpSpPr>
        <p:grpSpPr>
          <a:xfrm rot="0">
            <a:off x="-4932921" y="2578922"/>
            <a:ext cx="10555034" cy="10545080"/>
            <a:chOff x="0" y="0"/>
            <a:chExt cx="14073378" cy="14060106"/>
          </a:xfrm>
        </p:grpSpPr>
        <p:sp>
          <p:nvSpPr>
            <p:cNvPr name="Freeform 12" id="12"/>
            <p:cNvSpPr/>
            <p:nvPr/>
          </p:nvSpPr>
          <p:spPr>
            <a:xfrm flipH="false" flipV="false" rot="0">
              <a:off x="0" y="32"/>
              <a:ext cx="14073378" cy="14060107"/>
            </a:xfrm>
            <a:custGeom>
              <a:avLst/>
              <a:gdLst/>
              <a:ahLst/>
              <a:cxnLst/>
              <a:rect r="r" b="b" t="t" l="l"/>
              <a:pathLst>
                <a:path h="14060107" w="14073378">
                  <a:moveTo>
                    <a:pt x="7856982" y="339566"/>
                  </a:moveTo>
                  <a:lnTo>
                    <a:pt x="13733653" y="6210522"/>
                  </a:lnTo>
                  <a:cubicBezTo>
                    <a:pt x="13951204" y="6427819"/>
                    <a:pt x="14073378" y="6722586"/>
                    <a:pt x="14073378" y="7030053"/>
                  </a:cubicBezTo>
                  <a:cubicBezTo>
                    <a:pt x="14073378" y="7337520"/>
                    <a:pt x="13951204" y="7632287"/>
                    <a:pt x="13733653" y="7849584"/>
                  </a:cubicBezTo>
                  <a:lnTo>
                    <a:pt x="7856982" y="13720540"/>
                  </a:lnTo>
                  <a:cubicBezTo>
                    <a:pt x="7403719" y="14173295"/>
                    <a:pt x="6669405" y="14173295"/>
                    <a:pt x="6216269" y="13720540"/>
                  </a:cubicBezTo>
                  <a:lnTo>
                    <a:pt x="339725" y="7849584"/>
                  </a:lnTo>
                  <a:cubicBezTo>
                    <a:pt x="122174" y="7632287"/>
                    <a:pt x="0" y="7337393"/>
                    <a:pt x="0" y="7030053"/>
                  </a:cubicBezTo>
                  <a:cubicBezTo>
                    <a:pt x="0" y="6722713"/>
                    <a:pt x="122174" y="6427819"/>
                    <a:pt x="339725" y="6210522"/>
                  </a:cubicBezTo>
                  <a:lnTo>
                    <a:pt x="6216396" y="339566"/>
                  </a:lnTo>
                  <a:cubicBezTo>
                    <a:pt x="6669532" y="-113189"/>
                    <a:pt x="7403847" y="-113189"/>
                    <a:pt x="7857110" y="339566"/>
                  </a:cubicBezTo>
                  <a:close/>
                </a:path>
              </a:pathLst>
            </a:custGeom>
            <a:solidFill>
              <a:srgbClr val="F8A900"/>
            </a:solidFill>
          </p:spPr>
        </p:sp>
      </p:grpSp>
      <p:sp>
        <p:nvSpPr>
          <p:cNvPr name="Freeform 13" id="13"/>
          <p:cNvSpPr/>
          <p:nvPr/>
        </p:nvSpPr>
        <p:spPr>
          <a:xfrm flipH="false" flipV="false" rot="0">
            <a:off x="-3406864" y="2546785"/>
            <a:ext cx="8353777" cy="8508816"/>
          </a:xfrm>
          <a:custGeom>
            <a:avLst/>
            <a:gdLst/>
            <a:ahLst/>
            <a:cxnLst/>
            <a:rect r="r" b="b" t="t" l="l"/>
            <a:pathLst>
              <a:path h="8508816" w="8353777">
                <a:moveTo>
                  <a:pt x="0" y="0"/>
                </a:moveTo>
                <a:lnTo>
                  <a:pt x="8353778" y="0"/>
                </a:lnTo>
                <a:lnTo>
                  <a:pt x="8353778" y="8508816"/>
                </a:lnTo>
                <a:lnTo>
                  <a:pt x="0" y="85088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4564766" y="9588923"/>
            <a:ext cx="5568305" cy="342900"/>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15" id="15"/>
          <p:cNvGrpSpPr/>
          <p:nvPr/>
        </p:nvGrpSpPr>
        <p:grpSpPr>
          <a:xfrm rot="0">
            <a:off x="5622112" y="4733091"/>
            <a:ext cx="3899718" cy="1488119"/>
            <a:chOff x="0" y="0"/>
            <a:chExt cx="5199623" cy="1984159"/>
          </a:xfrm>
        </p:grpSpPr>
        <p:grpSp>
          <p:nvGrpSpPr>
            <p:cNvPr name="Group 16" id="16"/>
            <p:cNvGrpSpPr/>
            <p:nvPr/>
          </p:nvGrpSpPr>
          <p:grpSpPr>
            <a:xfrm rot="0">
              <a:off x="0" y="0"/>
              <a:ext cx="1984159" cy="1984159"/>
              <a:chOff x="0" y="0"/>
              <a:chExt cx="1984159" cy="1984159"/>
            </a:xfrm>
          </p:grpSpPr>
          <p:sp>
            <p:nvSpPr>
              <p:cNvPr name="Freeform 17" id="17"/>
              <p:cNvSpPr/>
              <p:nvPr/>
            </p:nvSpPr>
            <p:spPr>
              <a:xfrm flipH="false" flipV="false" rot="0">
                <a:off x="-64" y="-64"/>
                <a:ext cx="1984248" cy="1984248"/>
              </a:xfrm>
              <a:custGeom>
                <a:avLst/>
                <a:gdLst/>
                <a:ahLst/>
                <a:cxnLst/>
                <a:rect r="r" b="b" t="t" l="l"/>
                <a:pathLst>
                  <a:path h="1984248" w="1984248">
                    <a:moveTo>
                      <a:pt x="1315403" y="133922"/>
                    </a:moveTo>
                    <a:lnTo>
                      <a:pt x="1850327" y="668846"/>
                    </a:lnTo>
                    <a:cubicBezTo>
                      <a:pt x="2028889" y="847408"/>
                      <a:pt x="2028889" y="1136841"/>
                      <a:pt x="1850327" y="1315403"/>
                    </a:cubicBezTo>
                    <a:lnTo>
                      <a:pt x="1315403" y="1850327"/>
                    </a:lnTo>
                    <a:cubicBezTo>
                      <a:pt x="1136841" y="2028889"/>
                      <a:pt x="847408" y="2028889"/>
                      <a:pt x="668846" y="1850327"/>
                    </a:cubicBezTo>
                    <a:lnTo>
                      <a:pt x="133922" y="1315403"/>
                    </a:lnTo>
                    <a:cubicBezTo>
                      <a:pt x="-44640" y="1136841"/>
                      <a:pt x="-44640" y="847408"/>
                      <a:pt x="133922" y="668846"/>
                    </a:cubicBezTo>
                    <a:lnTo>
                      <a:pt x="668846" y="133922"/>
                    </a:lnTo>
                    <a:cubicBezTo>
                      <a:pt x="847408" y="-44640"/>
                      <a:pt x="1136841" y="-44640"/>
                      <a:pt x="1315403" y="133922"/>
                    </a:cubicBezTo>
                    <a:close/>
                  </a:path>
                </a:pathLst>
              </a:custGeom>
              <a:solidFill>
                <a:srgbClr val="F8A900"/>
              </a:solidFill>
            </p:spPr>
          </p:sp>
        </p:grpSp>
        <p:grpSp>
          <p:nvGrpSpPr>
            <p:cNvPr name="Group 18" id="18"/>
            <p:cNvGrpSpPr/>
            <p:nvPr/>
          </p:nvGrpSpPr>
          <p:grpSpPr>
            <a:xfrm rot="0">
              <a:off x="216738" y="78295"/>
              <a:ext cx="1550670" cy="1689113"/>
              <a:chOff x="0" y="0"/>
              <a:chExt cx="1550670" cy="1689113"/>
            </a:xfrm>
          </p:grpSpPr>
          <p:sp>
            <p:nvSpPr>
              <p:cNvPr name="Freeform 19" id="19"/>
              <p:cNvSpPr/>
              <p:nvPr/>
            </p:nvSpPr>
            <p:spPr>
              <a:xfrm flipH="false" flipV="false" rot="0">
                <a:off x="0" y="0"/>
                <a:ext cx="1550665" cy="1689118"/>
              </a:xfrm>
              <a:custGeom>
                <a:avLst/>
                <a:gdLst/>
                <a:ahLst/>
                <a:cxnLst/>
                <a:rect r="r" b="b" t="t" l="l"/>
                <a:pathLst>
                  <a:path h="1689118" w="1550665">
                    <a:moveTo>
                      <a:pt x="0" y="0"/>
                    </a:moveTo>
                    <a:lnTo>
                      <a:pt x="1550665" y="0"/>
                    </a:lnTo>
                    <a:lnTo>
                      <a:pt x="1550665" y="1689118"/>
                    </a:lnTo>
                    <a:lnTo>
                      <a:pt x="0" y="1689118"/>
                    </a:lnTo>
                    <a:close/>
                  </a:path>
                </a:pathLst>
              </a:custGeom>
              <a:blipFill>
                <a:blip r:embed="rId4">
                  <a:alphaModFix amt="0"/>
                </a:blip>
                <a:stretch>
                  <a:fillRect l="-89758" t="0" r="-89758" b="0"/>
                </a:stretch>
              </a:blipFill>
            </p:spPr>
          </p:sp>
          <p:sp>
            <p:nvSpPr>
              <p:cNvPr name="TextBox 20" id="20"/>
              <p:cNvSpPr txBox="true"/>
              <p:nvPr/>
            </p:nvSpPr>
            <p:spPr>
              <a:xfrm>
                <a:off x="0" y="-47625"/>
                <a:ext cx="1550670" cy="1736738"/>
              </a:xfrm>
              <a:prstGeom prst="rect">
                <a:avLst/>
              </a:prstGeom>
            </p:spPr>
            <p:txBody>
              <a:bodyPr anchor="ctr" rtlCol="false" tIns="0" lIns="0" bIns="0" rIns="0"/>
              <a:lstStyle/>
              <a:p>
                <a:pPr algn="ctr">
                  <a:lnSpc>
                    <a:spcPts val="3357"/>
                  </a:lnSpc>
                </a:pPr>
                <a:r>
                  <a:rPr lang="en-US" sz="2398">
                    <a:solidFill>
                      <a:srgbClr val="F7F7F7"/>
                    </a:solidFill>
                    <a:latin typeface="Open Sauce"/>
                    <a:ea typeface="Open Sauce"/>
                    <a:cs typeface="Open Sauce"/>
                    <a:sym typeface="Open Sauce"/>
                  </a:rPr>
                  <a:t>02</a:t>
                </a:r>
              </a:p>
            </p:txBody>
          </p:sp>
        </p:grpSp>
        <p:sp>
          <p:nvSpPr>
            <p:cNvPr name="TextBox 21" id="21"/>
            <p:cNvSpPr txBox="true"/>
            <p:nvPr/>
          </p:nvSpPr>
          <p:spPr>
            <a:xfrm rot="0">
              <a:off x="2735961" y="553707"/>
              <a:ext cx="2463662" cy="632350"/>
            </a:xfrm>
            <a:prstGeom prst="rect">
              <a:avLst/>
            </a:prstGeom>
          </p:spPr>
          <p:txBody>
            <a:bodyPr anchor="t" rtlCol="false" tIns="0" lIns="0" bIns="0" rIns="0">
              <a:spAutoFit/>
            </a:bodyPr>
            <a:lstStyle/>
            <a:p>
              <a:pPr algn="just">
                <a:lnSpc>
                  <a:spcPts val="3916"/>
                </a:lnSpc>
              </a:pPr>
              <a:r>
                <a:rPr lang="en-US" sz="2797" b="true">
                  <a:solidFill>
                    <a:srgbClr val="1E1E1E"/>
                  </a:solidFill>
                  <a:latin typeface="Open Sauce Bold"/>
                  <a:ea typeface="Open Sauce Bold"/>
                  <a:cs typeface="Open Sauce Bold"/>
                  <a:sym typeface="Open Sauce Bold"/>
                </a:rPr>
                <a:t>Objetivos</a:t>
              </a:r>
            </a:p>
          </p:txBody>
        </p:sp>
      </p:grpSp>
      <p:grpSp>
        <p:nvGrpSpPr>
          <p:cNvPr name="Group 22" id="22"/>
          <p:cNvGrpSpPr/>
          <p:nvPr/>
        </p:nvGrpSpPr>
        <p:grpSpPr>
          <a:xfrm rot="0">
            <a:off x="5622112" y="6468860"/>
            <a:ext cx="4510959" cy="1488119"/>
            <a:chOff x="0" y="0"/>
            <a:chExt cx="6014612" cy="1984159"/>
          </a:xfrm>
        </p:grpSpPr>
        <p:grpSp>
          <p:nvGrpSpPr>
            <p:cNvPr name="Group 23" id="23"/>
            <p:cNvGrpSpPr/>
            <p:nvPr/>
          </p:nvGrpSpPr>
          <p:grpSpPr>
            <a:xfrm rot="0">
              <a:off x="0" y="0"/>
              <a:ext cx="1984159" cy="1984159"/>
              <a:chOff x="0" y="0"/>
              <a:chExt cx="1984159" cy="1984159"/>
            </a:xfrm>
          </p:grpSpPr>
          <p:sp>
            <p:nvSpPr>
              <p:cNvPr name="Freeform 24" id="24"/>
              <p:cNvSpPr/>
              <p:nvPr/>
            </p:nvSpPr>
            <p:spPr>
              <a:xfrm flipH="false" flipV="false" rot="0">
                <a:off x="-64" y="-64"/>
                <a:ext cx="1984248" cy="1984248"/>
              </a:xfrm>
              <a:custGeom>
                <a:avLst/>
                <a:gdLst/>
                <a:ahLst/>
                <a:cxnLst/>
                <a:rect r="r" b="b" t="t" l="l"/>
                <a:pathLst>
                  <a:path h="1984248" w="1984248">
                    <a:moveTo>
                      <a:pt x="1315403" y="133922"/>
                    </a:moveTo>
                    <a:lnTo>
                      <a:pt x="1850327" y="668846"/>
                    </a:lnTo>
                    <a:cubicBezTo>
                      <a:pt x="2028889" y="847408"/>
                      <a:pt x="2028889" y="1136841"/>
                      <a:pt x="1850327" y="1315403"/>
                    </a:cubicBezTo>
                    <a:lnTo>
                      <a:pt x="1315403" y="1850327"/>
                    </a:lnTo>
                    <a:cubicBezTo>
                      <a:pt x="1136841" y="2028889"/>
                      <a:pt x="847408" y="2028889"/>
                      <a:pt x="668846" y="1850327"/>
                    </a:cubicBezTo>
                    <a:lnTo>
                      <a:pt x="133922" y="1315403"/>
                    </a:lnTo>
                    <a:cubicBezTo>
                      <a:pt x="-44640" y="1136841"/>
                      <a:pt x="-44640" y="847408"/>
                      <a:pt x="133922" y="668846"/>
                    </a:cubicBezTo>
                    <a:lnTo>
                      <a:pt x="668846" y="133922"/>
                    </a:lnTo>
                    <a:cubicBezTo>
                      <a:pt x="847408" y="-44640"/>
                      <a:pt x="1136841" y="-44640"/>
                      <a:pt x="1315403" y="133922"/>
                    </a:cubicBezTo>
                    <a:close/>
                  </a:path>
                </a:pathLst>
              </a:custGeom>
              <a:solidFill>
                <a:srgbClr val="F8A900"/>
              </a:solidFill>
            </p:spPr>
          </p:sp>
        </p:grpSp>
        <p:grpSp>
          <p:nvGrpSpPr>
            <p:cNvPr name="Group 25" id="25"/>
            <p:cNvGrpSpPr/>
            <p:nvPr/>
          </p:nvGrpSpPr>
          <p:grpSpPr>
            <a:xfrm rot="0">
              <a:off x="216738" y="78296"/>
              <a:ext cx="1550670" cy="1689113"/>
              <a:chOff x="0" y="0"/>
              <a:chExt cx="1550670" cy="1689113"/>
            </a:xfrm>
          </p:grpSpPr>
          <p:sp>
            <p:nvSpPr>
              <p:cNvPr name="Freeform 26" id="26"/>
              <p:cNvSpPr/>
              <p:nvPr/>
            </p:nvSpPr>
            <p:spPr>
              <a:xfrm flipH="false" flipV="false" rot="0">
                <a:off x="0" y="0"/>
                <a:ext cx="1550665" cy="1689118"/>
              </a:xfrm>
              <a:custGeom>
                <a:avLst/>
                <a:gdLst/>
                <a:ahLst/>
                <a:cxnLst/>
                <a:rect r="r" b="b" t="t" l="l"/>
                <a:pathLst>
                  <a:path h="1689118" w="1550665">
                    <a:moveTo>
                      <a:pt x="0" y="0"/>
                    </a:moveTo>
                    <a:lnTo>
                      <a:pt x="1550665" y="0"/>
                    </a:lnTo>
                    <a:lnTo>
                      <a:pt x="1550665" y="1689118"/>
                    </a:lnTo>
                    <a:lnTo>
                      <a:pt x="0" y="1689118"/>
                    </a:lnTo>
                    <a:close/>
                  </a:path>
                </a:pathLst>
              </a:custGeom>
              <a:blipFill>
                <a:blip r:embed="rId4">
                  <a:alphaModFix amt="0"/>
                </a:blip>
                <a:stretch>
                  <a:fillRect l="-89758" t="0" r="-89758" b="0"/>
                </a:stretch>
              </a:blipFill>
            </p:spPr>
          </p:sp>
          <p:sp>
            <p:nvSpPr>
              <p:cNvPr name="TextBox 27" id="27"/>
              <p:cNvSpPr txBox="true"/>
              <p:nvPr/>
            </p:nvSpPr>
            <p:spPr>
              <a:xfrm>
                <a:off x="0" y="-47625"/>
                <a:ext cx="1550670" cy="1736738"/>
              </a:xfrm>
              <a:prstGeom prst="rect">
                <a:avLst/>
              </a:prstGeom>
            </p:spPr>
            <p:txBody>
              <a:bodyPr anchor="ctr" rtlCol="false" tIns="0" lIns="0" bIns="0" rIns="0"/>
              <a:lstStyle/>
              <a:p>
                <a:pPr algn="ctr">
                  <a:lnSpc>
                    <a:spcPts val="3357"/>
                  </a:lnSpc>
                </a:pPr>
                <a:r>
                  <a:rPr lang="en-US" sz="2398">
                    <a:solidFill>
                      <a:srgbClr val="F7F7F7"/>
                    </a:solidFill>
                    <a:latin typeface="Open Sauce"/>
                    <a:ea typeface="Open Sauce"/>
                    <a:cs typeface="Open Sauce"/>
                    <a:sym typeface="Open Sauce"/>
                  </a:rPr>
                  <a:t>03</a:t>
                </a:r>
              </a:p>
            </p:txBody>
          </p:sp>
        </p:grpSp>
        <p:sp>
          <p:nvSpPr>
            <p:cNvPr name="TextBox 28" id="28"/>
            <p:cNvSpPr txBox="true"/>
            <p:nvPr/>
          </p:nvSpPr>
          <p:spPr>
            <a:xfrm rot="0">
              <a:off x="2735961" y="562420"/>
              <a:ext cx="3278651" cy="632350"/>
            </a:xfrm>
            <a:prstGeom prst="rect">
              <a:avLst/>
            </a:prstGeom>
          </p:spPr>
          <p:txBody>
            <a:bodyPr anchor="t" rtlCol="false" tIns="0" lIns="0" bIns="0" rIns="0">
              <a:spAutoFit/>
            </a:bodyPr>
            <a:lstStyle/>
            <a:p>
              <a:pPr algn="just">
                <a:lnSpc>
                  <a:spcPts val="3916"/>
                </a:lnSpc>
              </a:pPr>
              <a:r>
                <a:rPr lang="en-US" sz="2797" b="true">
                  <a:solidFill>
                    <a:srgbClr val="1E1E1E"/>
                  </a:solidFill>
                  <a:latin typeface="Open Sauce Bold"/>
                  <a:ea typeface="Open Sauce Bold"/>
                  <a:cs typeface="Open Sauce Bold"/>
                  <a:sym typeface="Open Sauce Bold"/>
                </a:rPr>
                <a:t>Metodología </a:t>
              </a:r>
            </a:p>
          </p:txBody>
        </p:sp>
      </p:grpSp>
      <p:grpSp>
        <p:nvGrpSpPr>
          <p:cNvPr name="Group 29" id="29"/>
          <p:cNvGrpSpPr/>
          <p:nvPr/>
        </p:nvGrpSpPr>
        <p:grpSpPr>
          <a:xfrm rot="0">
            <a:off x="11298823" y="3000467"/>
            <a:ext cx="5582074" cy="1488119"/>
            <a:chOff x="0" y="0"/>
            <a:chExt cx="7442766" cy="1984159"/>
          </a:xfrm>
        </p:grpSpPr>
        <p:grpSp>
          <p:nvGrpSpPr>
            <p:cNvPr name="Group 30" id="30"/>
            <p:cNvGrpSpPr/>
            <p:nvPr/>
          </p:nvGrpSpPr>
          <p:grpSpPr>
            <a:xfrm rot="0">
              <a:off x="0" y="0"/>
              <a:ext cx="1984159" cy="1984159"/>
              <a:chOff x="0" y="0"/>
              <a:chExt cx="1984159" cy="1984159"/>
            </a:xfrm>
          </p:grpSpPr>
          <p:sp>
            <p:nvSpPr>
              <p:cNvPr name="Freeform 31" id="31"/>
              <p:cNvSpPr/>
              <p:nvPr/>
            </p:nvSpPr>
            <p:spPr>
              <a:xfrm flipH="false" flipV="false" rot="0">
                <a:off x="-64" y="-64"/>
                <a:ext cx="1984248" cy="1984248"/>
              </a:xfrm>
              <a:custGeom>
                <a:avLst/>
                <a:gdLst/>
                <a:ahLst/>
                <a:cxnLst/>
                <a:rect r="r" b="b" t="t" l="l"/>
                <a:pathLst>
                  <a:path h="1984248" w="1984248">
                    <a:moveTo>
                      <a:pt x="1315403" y="133922"/>
                    </a:moveTo>
                    <a:lnTo>
                      <a:pt x="1850327" y="668846"/>
                    </a:lnTo>
                    <a:cubicBezTo>
                      <a:pt x="2028889" y="847408"/>
                      <a:pt x="2028889" y="1136841"/>
                      <a:pt x="1850327" y="1315403"/>
                    </a:cubicBezTo>
                    <a:lnTo>
                      <a:pt x="1315403" y="1850327"/>
                    </a:lnTo>
                    <a:cubicBezTo>
                      <a:pt x="1136841" y="2028889"/>
                      <a:pt x="847408" y="2028889"/>
                      <a:pt x="668846" y="1850327"/>
                    </a:cubicBezTo>
                    <a:lnTo>
                      <a:pt x="133922" y="1315403"/>
                    </a:lnTo>
                    <a:cubicBezTo>
                      <a:pt x="-44640" y="1136841"/>
                      <a:pt x="-44640" y="847408"/>
                      <a:pt x="133922" y="668846"/>
                    </a:cubicBezTo>
                    <a:lnTo>
                      <a:pt x="668846" y="133922"/>
                    </a:lnTo>
                    <a:cubicBezTo>
                      <a:pt x="847408" y="-44640"/>
                      <a:pt x="1136841" y="-44640"/>
                      <a:pt x="1315403" y="133922"/>
                    </a:cubicBezTo>
                    <a:close/>
                  </a:path>
                </a:pathLst>
              </a:custGeom>
              <a:solidFill>
                <a:srgbClr val="F8A900"/>
              </a:solidFill>
            </p:spPr>
          </p:sp>
        </p:grpSp>
        <p:grpSp>
          <p:nvGrpSpPr>
            <p:cNvPr name="Group 32" id="32"/>
            <p:cNvGrpSpPr/>
            <p:nvPr/>
          </p:nvGrpSpPr>
          <p:grpSpPr>
            <a:xfrm rot="0">
              <a:off x="216738" y="78296"/>
              <a:ext cx="1550670" cy="1689118"/>
              <a:chOff x="0" y="0"/>
              <a:chExt cx="1550670" cy="1689118"/>
            </a:xfrm>
          </p:grpSpPr>
          <p:sp>
            <p:nvSpPr>
              <p:cNvPr name="Freeform 33" id="33"/>
              <p:cNvSpPr/>
              <p:nvPr/>
            </p:nvSpPr>
            <p:spPr>
              <a:xfrm flipH="false" flipV="false" rot="0">
                <a:off x="0" y="0"/>
                <a:ext cx="1550665" cy="1689123"/>
              </a:xfrm>
              <a:custGeom>
                <a:avLst/>
                <a:gdLst/>
                <a:ahLst/>
                <a:cxnLst/>
                <a:rect r="r" b="b" t="t" l="l"/>
                <a:pathLst>
                  <a:path h="1689123" w="1550665">
                    <a:moveTo>
                      <a:pt x="0" y="0"/>
                    </a:moveTo>
                    <a:lnTo>
                      <a:pt x="1550665" y="0"/>
                    </a:lnTo>
                    <a:lnTo>
                      <a:pt x="1550665" y="1689123"/>
                    </a:lnTo>
                    <a:lnTo>
                      <a:pt x="0" y="1689123"/>
                    </a:lnTo>
                    <a:close/>
                  </a:path>
                </a:pathLst>
              </a:custGeom>
              <a:blipFill>
                <a:blip r:embed="rId4">
                  <a:alphaModFix amt="0"/>
                </a:blip>
                <a:stretch>
                  <a:fillRect l="-89758" t="0" r="-89758" b="0"/>
                </a:stretch>
              </a:blipFill>
            </p:spPr>
          </p:sp>
          <p:sp>
            <p:nvSpPr>
              <p:cNvPr name="TextBox 34" id="34"/>
              <p:cNvSpPr txBox="true"/>
              <p:nvPr/>
            </p:nvSpPr>
            <p:spPr>
              <a:xfrm>
                <a:off x="0" y="-47625"/>
                <a:ext cx="1550670" cy="1736743"/>
              </a:xfrm>
              <a:prstGeom prst="rect">
                <a:avLst/>
              </a:prstGeom>
            </p:spPr>
            <p:txBody>
              <a:bodyPr anchor="ctr" rtlCol="false" tIns="0" lIns="0" bIns="0" rIns="0"/>
              <a:lstStyle/>
              <a:p>
                <a:pPr algn="ctr">
                  <a:lnSpc>
                    <a:spcPts val="3357"/>
                  </a:lnSpc>
                </a:pPr>
                <a:r>
                  <a:rPr lang="en-US" sz="2398">
                    <a:solidFill>
                      <a:srgbClr val="F7F7F7"/>
                    </a:solidFill>
                    <a:latin typeface="Open Sauce"/>
                    <a:ea typeface="Open Sauce"/>
                    <a:cs typeface="Open Sauce"/>
                    <a:sym typeface="Open Sauce"/>
                  </a:rPr>
                  <a:t>04</a:t>
                </a:r>
              </a:p>
            </p:txBody>
          </p:sp>
        </p:grpSp>
        <p:sp>
          <p:nvSpPr>
            <p:cNvPr name="TextBox 35" id="35"/>
            <p:cNvSpPr txBox="true"/>
            <p:nvPr/>
          </p:nvSpPr>
          <p:spPr>
            <a:xfrm rot="0">
              <a:off x="2735961" y="562420"/>
              <a:ext cx="4706805" cy="632350"/>
            </a:xfrm>
            <a:prstGeom prst="rect">
              <a:avLst/>
            </a:prstGeom>
          </p:spPr>
          <p:txBody>
            <a:bodyPr anchor="t" rtlCol="false" tIns="0" lIns="0" bIns="0" rIns="0">
              <a:spAutoFit/>
            </a:bodyPr>
            <a:lstStyle/>
            <a:p>
              <a:pPr algn="just">
                <a:lnSpc>
                  <a:spcPts val="3916"/>
                </a:lnSpc>
              </a:pPr>
              <a:r>
                <a:rPr lang="en-US" sz="2797" b="true">
                  <a:solidFill>
                    <a:srgbClr val="1E1E1E"/>
                  </a:solidFill>
                  <a:latin typeface="Open Sauce Bold"/>
                  <a:ea typeface="Open Sauce Bold"/>
                  <a:cs typeface="Open Sauce Bold"/>
                  <a:sym typeface="Open Sauce Bold"/>
                </a:rPr>
                <a:t>Producto Ingenieril</a:t>
              </a:r>
            </a:p>
          </p:txBody>
        </p:sp>
      </p:grpSp>
      <p:grpSp>
        <p:nvGrpSpPr>
          <p:cNvPr name="Group 36" id="36"/>
          <p:cNvGrpSpPr/>
          <p:nvPr/>
        </p:nvGrpSpPr>
        <p:grpSpPr>
          <a:xfrm rot="0">
            <a:off x="11298823" y="4841011"/>
            <a:ext cx="4156294" cy="1488119"/>
            <a:chOff x="0" y="0"/>
            <a:chExt cx="5541725" cy="1984159"/>
          </a:xfrm>
        </p:grpSpPr>
        <p:grpSp>
          <p:nvGrpSpPr>
            <p:cNvPr name="Group 37" id="37"/>
            <p:cNvGrpSpPr/>
            <p:nvPr/>
          </p:nvGrpSpPr>
          <p:grpSpPr>
            <a:xfrm rot="0">
              <a:off x="0" y="0"/>
              <a:ext cx="1984159" cy="1984159"/>
              <a:chOff x="0" y="0"/>
              <a:chExt cx="1984159" cy="1984159"/>
            </a:xfrm>
          </p:grpSpPr>
          <p:sp>
            <p:nvSpPr>
              <p:cNvPr name="Freeform 38" id="38"/>
              <p:cNvSpPr/>
              <p:nvPr/>
            </p:nvSpPr>
            <p:spPr>
              <a:xfrm flipH="false" flipV="false" rot="0">
                <a:off x="-64" y="-64"/>
                <a:ext cx="1984248" cy="1984248"/>
              </a:xfrm>
              <a:custGeom>
                <a:avLst/>
                <a:gdLst/>
                <a:ahLst/>
                <a:cxnLst/>
                <a:rect r="r" b="b" t="t" l="l"/>
                <a:pathLst>
                  <a:path h="1984248" w="1984248">
                    <a:moveTo>
                      <a:pt x="1315403" y="133922"/>
                    </a:moveTo>
                    <a:lnTo>
                      <a:pt x="1850327" y="668846"/>
                    </a:lnTo>
                    <a:cubicBezTo>
                      <a:pt x="2028889" y="847408"/>
                      <a:pt x="2028889" y="1136841"/>
                      <a:pt x="1850327" y="1315403"/>
                    </a:cubicBezTo>
                    <a:lnTo>
                      <a:pt x="1315403" y="1850327"/>
                    </a:lnTo>
                    <a:cubicBezTo>
                      <a:pt x="1136841" y="2028889"/>
                      <a:pt x="847408" y="2028889"/>
                      <a:pt x="668846" y="1850327"/>
                    </a:cubicBezTo>
                    <a:lnTo>
                      <a:pt x="133922" y="1315403"/>
                    </a:lnTo>
                    <a:cubicBezTo>
                      <a:pt x="-44640" y="1136841"/>
                      <a:pt x="-44640" y="847408"/>
                      <a:pt x="133922" y="668846"/>
                    </a:cubicBezTo>
                    <a:lnTo>
                      <a:pt x="668846" y="133922"/>
                    </a:lnTo>
                    <a:cubicBezTo>
                      <a:pt x="847408" y="-44640"/>
                      <a:pt x="1136841" y="-44640"/>
                      <a:pt x="1315403" y="133922"/>
                    </a:cubicBezTo>
                    <a:close/>
                  </a:path>
                </a:pathLst>
              </a:custGeom>
              <a:solidFill>
                <a:srgbClr val="F8A900"/>
              </a:solidFill>
            </p:spPr>
          </p:sp>
        </p:grpSp>
        <p:grpSp>
          <p:nvGrpSpPr>
            <p:cNvPr name="Group 39" id="39"/>
            <p:cNvGrpSpPr/>
            <p:nvPr/>
          </p:nvGrpSpPr>
          <p:grpSpPr>
            <a:xfrm rot="0">
              <a:off x="216738" y="78295"/>
              <a:ext cx="1550670" cy="1689118"/>
              <a:chOff x="0" y="0"/>
              <a:chExt cx="1550670" cy="1689118"/>
            </a:xfrm>
          </p:grpSpPr>
          <p:sp>
            <p:nvSpPr>
              <p:cNvPr name="Freeform 40" id="40"/>
              <p:cNvSpPr/>
              <p:nvPr/>
            </p:nvSpPr>
            <p:spPr>
              <a:xfrm flipH="false" flipV="false" rot="0">
                <a:off x="0" y="0"/>
                <a:ext cx="1550665" cy="1689123"/>
              </a:xfrm>
              <a:custGeom>
                <a:avLst/>
                <a:gdLst/>
                <a:ahLst/>
                <a:cxnLst/>
                <a:rect r="r" b="b" t="t" l="l"/>
                <a:pathLst>
                  <a:path h="1689123" w="1550665">
                    <a:moveTo>
                      <a:pt x="0" y="0"/>
                    </a:moveTo>
                    <a:lnTo>
                      <a:pt x="1550665" y="0"/>
                    </a:lnTo>
                    <a:lnTo>
                      <a:pt x="1550665" y="1689123"/>
                    </a:lnTo>
                    <a:lnTo>
                      <a:pt x="0" y="1689123"/>
                    </a:lnTo>
                    <a:close/>
                  </a:path>
                </a:pathLst>
              </a:custGeom>
              <a:blipFill>
                <a:blip r:embed="rId4">
                  <a:alphaModFix amt="0"/>
                </a:blip>
                <a:stretch>
                  <a:fillRect l="-89758" t="0" r="-89758" b="0"/>
                </a:stretch>
              </a:blipFill>
            </p:spPr>
          </p:sp>
          <p:sp>
            <p:nvSpPr>
              <p:cNvPr name="TextBox 41" id="41"/>
              <p:cNvSpPr txBox="true"/>
              <p:nvPr/>
            </p:nvSpPr>
            <p:spPr>
              <a:xfrm>
                <a:off x="0" y="-47625"/>
                <a:ext cx="1550670" cy="1736743"/>
              </a:xfrm>
              <a:prstGeom prst="rect">
                <a:avLst/>
              </a:prstGeom>
            </p:spPr>
            <p:txBody>
              <a:bodyPr anchor="ctr" rtlCol="false" tIns="0" lIns="0" bIns="0" rIns="0"/>
              <a:lstStyle/>
              <a:p>
                <a:pPr algn="ctr">
                  <a:lnSpc>
                    <a:spcPts val="3357"/>
                  </a:lnSpc>
                </a:pPr>
                <a:r>
                  <a:rPr lang="en-US" sz="2398">
                    <a:solidFill>
                      <a:srgbClr val="F7F7F7"/>
                    </a:solidFill>
                    <a:latin typeface="Open Sauce"/>
                    <a:ea typeface="Open Sauce"/>
                    <a:cs typeface="Open Sauce"/>
                    <a:sym typeface="Open Sauce"/>
                  </a:rPr>
                  <a:t>05</a:t>
                </a:r>
              </a:p>
            </p:txBody>
          </p:sp>
        </p:grpSp>
        <p:sp>
          <p:nvSpPr>
            <p:cNvPr name="TextBox 42" id="42"/>
            <p:cNvSpPr txBox="true"/>
            <p:nvPr/>
          </p:nvSpPr>
          <p:spPr>
            <a:xfrm rot="0">
              <a:off x="2735961" y="562419"/>
              <a:ext cx="2805764" cy="632350"/>
            </a:xfrm>
            <a:prstGeom prst="rect">
              <a:avLst/>
            </a:prstGeom>
          </p:spPr>
          <p:txBody>
            <a:bodyPr anchor="t" rtlCol="false" tIns="0" lIns="0" bIns="0" rIns="0">
              <a:spAutoFit/>
            </a:bodyPr>
            <a:lstStyle/>
            <a:p>
              <a:pPr algn="just">
                <a:lnSpc>
                  <a:spcPts val="3916"/>
                </a:lnSpc>
              </a:pPr>
              <a:r>
                <a:rPr lang="en-US" sz="2797" b="true">
                  <a:solidFill>
                    <a:srgbClr val="1E1E1E"/>
                  </a:solidFill>
                  <a:latin typeface="Open Sauce Bold"/>
                  <a:ea typeface="Open Sauce Bold"/>
                  <a:cs typeface="Open Sauce Bold"/>
                  <a:sym typeface="Open Sauce Bold"/>
                </a:rPr>
                <a:t>Resultados </a:t>
              </a:r>
            </a:p>
          </p:txBody>
        </p:sp>
      </p:grpSp>
      <p:grpSp>
        <p:nvGrpSpPr>
          <p:cNvPr name="Group 43" id="43"/>
          <p:cNvGrpSpPr/>
          <p:nvPr/>
        </p:nvGrpSpPr>
        <p:grpSpPr>
          <a:xfrm rot="0">
            <a:off x="11298823" y="6468860"/>
            <a:ext cx="4535017" cy="1488119"/>
            <a:chOff x="0" y="0"/>
            <a:chExt cx="6046689" cy="1984159"/>
          </a:xfrm>
        </p:grpSpPr>
        <p:grpSp>
          <p:nvGrpSpPr>
            <p:cNvPr name="Group 44" id="44"/>
            <p:cNvGrpSpPr/>
            <p:nvPr/>
          </p:nvGrpSpPr>
          <p:grpSpPr>
            <a:xfrm rot="0">
              <a:off x="0" y="0"/>
              <a:ext cx="1984159" cy="1984159"/>
              <a:chOff x="0" y="0"/>
              <a:chExt cx="1984159" cy="1984159"/>
            </a:xfrm>
          </p:grpSpPr>
          <p:sp>
            <p:nvSpPr>
              <p:cNvPr name="Freeform 45" id="45"/>
              <p:cNvSpPr/>
              <p:nvPr/>
            </p:nvSpPr>
            <p:spPr>
              <a:xfrm flipH="false" flipV="false" rot="0">
                <a:off x="-64" y="-64"/>
                <a:ext cx="1984248" cy="1984248"/>
              </a:xfrm>
              <a:custGeom>
                <a:avLst/>
                <a:gdLst/>
                <a:ahLst/>
                <a:cxnLst/>
                <a:rect r="r" b="b" t="t" l="l"/>
                <a:pathLst>
                  <a:path h="1984248" w="1984248">
                    <a:moveTo>
                      <a:pt x="1315403" y="133922"/>
                    </a:moveTo>
                    <a:lnTo>
                      <a:pt x="1850327" y="668846"/>
                    </a:lnTo>
                    <a:cubicBezTo>
                      <a:pt x="2028889" y="847408"/>
                      <a:pt x="2028889" y="1136841"/>
                      <a:pt x="1850327" y="1315403"/>
                    </a:cubicBezTo>
                    <a:lnTo>
                      <a:pt x="1315403" y="1850327"/>
                    </a:lnTo>
                    <a:cubicBezTo>
                      <a:pt x="1136841" y="2028889"/>
                      <a:pt x="847408" y="2028889"/>
                      <a:pt x="668846" y="1850327"/>
                    </a:cubicBezTo>
                    <a:lnTo>
                      <a:pt x="133922" y="1315403"/>
                    </a:lnTo>
                    <a:cubicBezTo>
                      <a:pt x="-44640" y="1136841"/>
                      <a:pt x="-44640" y="847408"/>
                      <a:pt x="133922" y="668846"/>
                    </a:cubicBezTo>
                    <a:lnTo>
                      <a:pt x="668846" y="133922"/>
                    </a:lnTo>
                    <a:cubicBezTo>
                      <a:pt x="847408" y="-44640"/>
                      <a:pt x="1136841" y="-44640"/>
                      <a:pt x="1315403" y="133922"/>
                    </a:cubicBezTo>
                    <a:close/>
                  </a:path>
                </a:pathLst>
              </a:custGeom>
              <a:solidFill>
                <a:srgbClr val="F8A900"/>
              </a:solidFill>
            </p:spPr>
          </p:sp>
        </p:grpSp>
        <p:grpSp>
          <p:nvGrpSpPr>
            <p:cNvPr name="Group 46" id="46"/>
            <p:cNvGrpSpPr/>
            <p:nvPr/>
          </p:nvGrpSpPr>
          <p:grpSpPr>
            <a:xfrm rot="0">
              <a:off x="216738" y="78295"/>
              <a:ext cx="1550670" cy="1689118"/>
              <a:chOff x="0" y="0"/>
              <a:chExt cx="1550670" cy="1689118"/>
            </a:xfrm>
          </p:grpSpPr>
          <p:sp>
            <p:nvSpPr>
              <p:cNvPr name="Freeform 47" id="47"/>
              <p:cNvSpPr/>
              <p:nvPr/>
            </p:nvSpPr>
            <p:spPr>
              <a:xfrm flipH="false" flipV="false" rot="0">
                <a:off x="0" y="0"/>
                <a:ext cx="1550665" cy="1689123"/>
              </a:xfrm>
              <a:custGeom>
                <a:avLst/>
                <a:gdLst/>
                <a:ahLst/>
                <a:cxnLst/>
                <a:rect r="r" b="b" t="t" l="l"/>
                <a:pathLst>
                  <a:path h="1689123" w="1550665">
                    <a:moveTo>
                      <a:pt x="0" y="0"/>
                    </a:moveTo>
                    <a:lnTo>
                      <a:pt x="1550665" y="0"/>
                    </a:lnTo>
                    <a:lnTo>
                      <a:pt x="1550665" y="1689123"/>
                    </a:lnTo>
                    <a:lnTo>
                      <a:pt x="0" y="1689123"/>
                    </a:lnTo>
                    <a:close/>
                  </a:path>
                </a:pathLst>
              </a:custGeom>
              <a:blipFill>
                <a:blip r:embed="rId4">
                  <a:alphaModFix amt="0"/>
                </a:blip>
                <a:stretch>
                  <a:fillRect l="-89758" t="0" r="-89758" b="0"/>
                </a:stretch>
              </a:blipFill>
            </p:spPr>
          </p:sp>
          <p:sp>
            <p:nvSpPr>
              <p:cNvPr name="TextBox 48" id="48"/>
              <p:cNvSpPr txBox="true"/>
              <p:nvPr/>
            </p:nvSpPr>
            <p:spPr>
              <a:xfrm>
                <a:off x="0" y="-47625"/>
                <a:ext cx="1550670" cy="1736743"/>
              </a:xfrm>
              <a:prstGeom prst="rect">
                <a:avLst/>
              </a:prstGeom>
            </p:spPr>
            <p:txBody>
              <a:bodyPr anchor="ctr" rtlCol="false" tIns="0" lIns="0" bIns="0" rIns="0"/>
              <a:lstStyle/>
              <a:p>
                <a:pPr algn="ctr">
                  <a:lnSpc>
                    <a:spcPts val="3357"/>
                  </a:lnSpc>
                </a:pPr>
                <a:r>
                  <a:rPr lang="en-US" sz="2398">
                    <a:solidFill>
                      <a:srgbClr val="F7F7F7"/>
                    </a:solidFill>
                    <a:latin typeface="Open Sauce"/>
                    <a:ea typeface="Open Sauce"/>
                    <a:cs typeface="Open Sauce"/>
                    <a:sym typeface="Open Sauce"/>
                  </a:rPr>
                  <a:t>06</a:t>
                </a:r>
              </a:p>
            </p:txBody>
          </p:sp>
        </p:grpSp>
        <p:sp>
          <p:nvSpPr>
            <p:cNvPr name="TextBox 49" id="49"/>
            <p:cNvSpPr txBox="true"/>
            <p:nvPr/>
          </p:nvSpPr>
          <p:spPr>
            <a:xfrm rot="0">
              <a:off x="2735961" y="562419"/>
              <a:ext cx="3310728" cy="632350"/>
            </a:xfrm>
            <a:prstGeom prst="rect">
              <a:avLst/>
            </a:prstGeom>
          </p:spPr>
          <p:txBody>
            <a:bodyPr anchor="t" rtlCol="false" tIns="0" lIns="0" bIns="0" rIns="0">
              <a:spAutoFit/>
            </a:bodyPr>
            <a:lstStyle/>
            <a:p>
              <a:pPr algn="just">
                <a:lnSpc>
                  <a:spcPts val="3916"/>
                </a:lnSpc>
              </a:pPr>
              <a:r>
                <a:rPr lang="en-US" sz="2797" b="true">
                  <a:solidFill>
                    <a:srgbClr val="1E1E1E"/>
                  </a:solidFill>
                  <a:latin typeface="Open Sauce Bold"/>
                  <a:ea typeface="Open Sauce Bold"/>
                  <a:cs typeface="Open Sauce Bold"/>
                  <a:sym typeface="Open Sauce Bold"/>
                </a:rPr>
                <a:t>Conclusiones</a:t>
              </a:r>
            </a:p>
          </p:txBody>
        </p:sp>
      </p:grpSp>
      <p:sp>
        <p:nvSpPr>
          <p:cNvPr name="TextBox 50" id="50"/>
          <p:cNvSpPr txBox="true"/>
          <p:nvPr/>
        </p:nvSpPr>
        <p:spPr>
          <a:xfrm rot="0">
            <a:off x="15606774" y="971274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0">
            <a:off x="1526696" y="281826"/>
            <a:ext cx="19050" cy="836524"/>
            <a:chOff x="0" y="0"/>
            <a:chExt cx="25400" cy="1115365"/>
          </a:xfrm>
        </p:grpSpPr>
        <p:sp>
          <p:nvSpPr>
            <p:cNvPr name="Freeform 3" id="3"/>
            <p:cNvSpPr/>
            <p:nvPr/>
          </p:nvSpPr>
          <p:spPr>
            <a:xfrm flipH="false" flipV="false" rot="0">
              <a:off x="0" y="0"/>
              <a:ext cx="25400" cy="1115314"/>
            </a:xfrm>
            <a:custGeom>
              <a:avLst/>
              <a:gdLst/>
              <a:ahLst/>
              <a:cxnLst/>
              <a:rect r="r" b="b" t="t" l="l"/>
              <a:pathLst>
                <a:path h="1115314" w="25400">
                  <a:moveTo>
                    <a:pt x="0" y="1115314"/>
                  </a:moveTo>
                  <a:lnTo>
                    <a:pt x="25400" y="0"/>
                  </a:lnTo>
                </a:path>
              </a:pathLst>
            </a:custGeom>
            <a:blipFill>
              <a:blip r:embed="rId2">
                <a:alphaModFix amt="0"/>
              </a:blip>
              <a:stretch>
                <a:fillRect l="-5584066" t="0" r="-5584066" b="-4"/>
              </a:stretch>
            </a:blipFill>
            <a:ln w="19050" cap="sq">
              <a:solidFill>
                <a:srgbClr val="FFFFFF"/>
              </a:solidFill>
              <a:prstDash val="solid"/>
              <a:miter/>
            </a:ln>
          </p:spPr>
        </p:sp>
      </p:grpSp>
      <p:sp>
        <p:nvSpPr>
          <p:cNvPr name="Freeform 4" id="4"/>
          <p:cNvSpPr/>
          <p:nvPr/>
        </p:nvSpPr>
        <p:spPr>
          <a:xfrm flipH="false" flipV="false" rot="0">
            <a:off x="564699" y="266490"/>
            <a:ext cx="590950" cy="538039"/>
          </a:xfrm>
          <a:custGeom>
            <a:avLst/>
            <a:gdLst/>
            <a:ahLst/>
            <a:cxnLst/>
            <a:rect r="r" b="b" t="t" l="l"/>
            <a:pathLst>
              <a:path h="538039" w="590950">
                <a:moveTo>
                  <a:pt x="0" y="0"/>
                </a:moveTo>
                <a:lnTo>
                  <a:pt x="590950" y="0"/>
                </a:lnTo>
                <a:lnTo>
                  <a:pt x="590950" y="538039"/>
                </a:lnTo>
                <a:lnTo>
                  <a:pt x="0" y="5380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63674" y="839962"/>
            <a:ext cx="992991" cy="256632"/>
          </a:xfrm>
          <a:custGeom>
            <a:avLst/>
            <a:gdLst/>
            <a:ahLst/>
            <a:cxnLst/>
            <a:rect r="r" b="b" t="t" l="l"/>
            <a:pathLst>
              <a:path h="256632" w="992991">
                <a:moveTo>
                  <a:pt x="0" y="0"/>
                </a:moveTo>
                <a:lnTo>
                  <a:pt x="992991" y="0"/>
                </a:lnTo>
                <a:lnTo>
                  <a:pt x="992991" y="256632"/>
                </a:lnTo>
                <a:lnTo>
                  <a:pt x="0" y="2566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49394" y="1869148"/>
            <a:ext cx="3681698" cy="3687994"/>
          </a:xfrm>
          <a:custGeom>
            <a:avLst/>
            <a:gdLst/>
            <a:ahLst/>
            <a:cxnLst/>
            <a:rect r="r" b="b" t="t" l="l"/>
            <a:pathLst>
              <a:path h="3687994" w="3681698">
                <a:moveTo>
                  <a:pt x="0" y="0"/>
                </a:moveTo>
                <a:lnTo>
                  <a:pt x="3681699" y="0"/>
                </a:lnTo>
                <a:lnTo>
                  <a:pt x="3681699" y="3687994"/>
                </a:lnTo>
                <a:lnTo>
                  <a:pt x="0" y="36879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656721" y="234201"/>
            <a:ext cx="2858824" cy="579977"/>
          </a:xfrm>
          <a:prstGeom prst="rect">
            <a:avLst/>
          </a:prstGeom>
        </p:spPr>
        <p:txBody>
          <a:bodyPr anchor="t" rtlCol="false" tIns="0" lIns="0" bIns="0" rIns="0">
            <a:spAutoFit/>
          </a:bodyPr>
          <a:lstStyle/>
          <a:p>
            <a:pPr algn="l">
              <a:lnSpc>
                <a:spcPts val="4417"/>
              </a:lnSpc>
            </a:pPr>
            <a:r>
              <a:rPr lang="en-US" sz="3486" spc="282">
                <a:solidFill>
                  <a:srgbClr val="12315F"/>
                </a:solidFill>
                <a:latin typeface="Prompt Light"/>
                <a:ea typeface="Prompt Light"/>
                <a:cs typeface="Prompt Light"/>
                <a:sym typeface="Prompt Light"/>
              </a:rPr>
              <a:t>INGENIERÍA </a:t>
            </a:r>
          </a:p>
        </p:txBody>
      </p:sp>
      <p:sp>
        <p:nvSpPr>
          <p:cNvPr name="TextBox 8" id="8"/>
          <p:cNvSpPr txBox="true"/>
          <p:nvPr/>
        </p:nvSpPr>
        <p:spPr>
          <a:xfrm rot="0">
            <a:off x="1656721" y="645157"/>
            <a:ext cx="560546" cy="572986"/>
          </a:xfrm>
          <a:prstGeom prst="rect">
            <a:avLst/>
          </a:prstGeom>
        </p:spPr>
        <p:txBody>
          <a:bodyPr anchor="t" rtlCol="false" tIns="0" lIns="0" bIns="0" rIns="0">
            <a:spAutoFit/>
          </a:bodyPr>
          <a:lstStyle/>
          <a:p>
            <a:pPr algn="l">
              <a:lnSpc>
                <a:spcPts val="4246"/>
              </a:lnSpc>
            </a:pPr>
            <a:r>
              <a:rPr lang="en-US" b="true" sz="3267" spc="71">
                <a:solidFill>
                  <a:srgbClr val="12315F"/>
                </a:solidFill>
                <a:latin typeface="Prompt Bold"/>
                <a:ea typeface="Prompt Bold"/>
                <a:cs typeface="Prompt Bold"/>
                <a:sym typeface="Prompt Bold"/>
              </a:rPr>
              <a:t>DE</a:t>
            </a:r>
          </a:p>
        </p:txBody>
      </p:sp>
      <p:sp>
        <p:nvSpPr>
          <p:cNvPr name="TextBox 9" id="9"/>
          <p:cNvSpPr txBox="true"/>
          <p:nvPr/>
        </p:nvSpPr>
        <p:spPr>
          <a:xfrm rot="0">
            <a:off x="2278771" y="645157"/>
            <a:ext cx="2162642" cy="572986"/>
          </a:xfrm>
          <a:prstGeom prst="rect">
            <a:avLst/>
          </a:prstGeom>
        </p:spPr>
        <p:txBody>
          <a:bodyPr anchor="t" rtlCol="false" tIns="0" lIns="0" bIns="0" rIns="0">
            <a:spAutoFit/>
          </a:bodyPr>
          <a:lstStyle/>
          <a:p>
            <a:pPr algn="l">
              <a:lnSpc>
                <a:spcPts val="4246"/>
              </a:lnSpc>
            </a:pPr>
            <a:r>
              <a:rPr lang="en-US" b="true" sz="3267" spc="98">
                <a:solidFill>
                  <a:srgbClr val="12315F"/>
                </a:solidFill>
                <a:latin typeface="Prompt Bold"/>
                <a:ea typeface="Prompt Bold"/>
                <a:cs typeface="Prompt Bold"/>
                <a:sym typeface="Prompt Bold"/>
              </a:rPr>
              <a:t>SISTEMAS</a:t>
            </a:r>
          </a:p>
        </p:txBody>
      </p:sp>
      <p:sp>
        <p:nvSpPr>
          <p:cNvPr name="TextBox 10" id="10"/>
          <p:cNvSpPr txBox="true"/>
          <p:nvPr/>
        </p:nvSpPr>
        <p:spPr>
          <a:xfrm rot="0">
            <a:off x="278863" y="1113025"/>
            <a:ext cx="1162622" cy="148619"/>
          </a:xfrm>
          <a:prstGeom prst="rect">
            <a:avLst/>
          </a:prstGeom>
        </p:spPr>
        <p:txBody>
          <a:bodyPr anchor="t" rtlCol="false" tIns="0" lIns="0" bIns="0" rIns="0">
            <a:spAutoFit/>
          </a:bodyPr>
          <a:lstStyle/>
          <a:p>
            <a:pPr algn="l">
              <a:lnSpc>
                <a:spcPts val="981"/>
              </a:lnSpc>
            </a:pPr>
            <a:r>
              <a:rPr lang="en-US" sz="701">
                <a:solidFill>
                  <a:srgbClr val="12315F"/>
                </a:solidFill>
                <a:latin typeface="Arimo"/>
                <a:ea typeface="Arimo"/>
                <a:cs typeface="Arimo"/>
                <a:sym typeface="Arimo"/>
              </a:rPr>
              <a:t>UNIVERSIDAD PERUANA UNIÓN</a:t>
            </a:r>
          </a:p>
        </p:txBody>
      </p:sp>
      <p:sp>
        <p:nvSpPr>
          <p:cNvPr name="Freeform 11" id="11"/>
          <p:cNvSpPr/>
          <p:nvPr/>
        </p:nvSpPr>
        <p:spPr>
          <a:xfrm flipH="false" flipV="false" rot="0">
            <a:off x="0" y="9460735"/>
            <a:ext cx="18276179" cy="839876"/>
          </a:xfrm>
          <a:custGeom>
            <a:avLst/>
            <a:gdLst/>
            <a:ahLst/>
            <a:cxnLst/>
            <a:rect r="r" b="b" t="t" l="l"/>
            <a:pathLst>
              <a:path h="839876" w="18276179">
                <a:moveTo>
                  <a:pt x="0" y="0"/>
                </a:moveTo>
                <a:lnTo>
                  <a:pt x="18276179" y="0"/>
                </a:lnTo>
                <a:lnTo>
                  <a:pt x="18276179" y="839876"/>
                </a:lnTo>
                <a:lnTo>
                  <a:pt x="0" y="83987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803243" y="9766373"/>
            <a:ext cx="5825842" cy="342900"/>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 Jornada Científica - EP. Ing. Sistemas</a:t>
            </a:r>
          </a:p>
        </p:txBody>
      </p:sp>
      <p:sp>
        <p:nvSpPr>
          <p:cNvPr name="Freeform 13" id="13"/>
          <p:cNvSpPr/>
          <p:nvPr/>
        </p:nvSpPr>
        <p:spPr>
          <a:xfrm flipH="false" flipV="false" rot="0">
            <a:off x="16152228" y="5285022"/>
            <a:ext cx="3687699" cy="3687699"/>
          </a:xfrm>
          <a:custGeom>
            <a:avLst/>
            <a:gdLst/>
            <a:ahLst/>
            <a:cxnLst/>
            <a:rect r="r" b="b" t="t" l="l"/>
            <a:pathLst>
              <a:path h="3687699" w="3687699">
                <a:moveTo>
                  <a:pt x="0" y="0"/>
                </a:moveTo>
                <a:lnTo>
                  <a:pt x="3687699" y="0"/>
                </a:lnTo>
                <a:lnTo>
                  <a:pt x="3687699" y="3687699"/>
                </a:lnTo>
                <a:lnTo>
                  <a:pt x="0" y="368769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14766998" y="-1551927"/>
            <a:ext cx="3687699" cy="3687699"/>
          </a:xfrm>
          <a:custGeom>
            <a:avLst/>
            <a:gdLst/>
            <a:ahLst/>
            <a:cxnLst/>
            <a:rect r="r" b="b" t="t" l="l"/>
            <a:pathLst>
              <a:path h="3687699" w="3687699">
                <a:moveTo>
                  <a:pt x="0" y="0"/>
                </a:moveTo>
                <a:lnTo>
                  <a:pt x="3687699" y="0"/>
                </a:lnTo>
                <a:lnTo>
                  <a:pt x="3687699" y="3687699"/>
                </a:lnTo>
                <a:lnTo>
                  <a:pt x="0" y="368769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5" id="15"/>
          <p:cNvGrpSpPr/>
          <p:nvPr/>
        </p:nvGrpSpPr>
        <p:grpSpPr>
          <a:xfrm rot="0">
            <a:off x="1143000" y="3339465"/>
            <a:ext cx="609600" cy="57150"/>
            <a:chOff x="0" y="0"/>
            <a:chExt cx="812800" cy="76200"/>
          </a:xfrm>
        </p:grpSpPr>
        <p:sp>
          <p:nvSpPr>
            <p:cNvPr name="Freeform 16" id="16"/>
            <p:cNvSpPr/>
            <p:nvPr/>
          </p:nvSpPr>
          <p:spPr>
            <a:xfrm flipH="false" flipV="false" rot="0">
              <a:off x="0" y="0"/>
              <a:ext cx="812800" cy="76200"/>
            </a:xfrm>
            <a:custGeom>
              <a:avLst/>
              <a:gdLst/>
              <a:ahLst/>
              <a:cxnLst/>
              <a:rect r="r" b="b" t="t" l="l"/>
              <a:pathLst>
                <a:path h="76200" w="812800">
                  <a:moveTo>
                    <a:pt x="0" y="38100"/>
                  </a:moveTo>
                  <a:cubicBezTo>
                    <a:pt x="0" y="17018"/>
                    <a:pt x="17018" y="0"/>
                    <a:pt x="38100" y="0"/>
                  </a:cubicBezTo>
                  <a:lnTo>
                    <a:pt x="774700" y="0"/>
                  </a:lnTo>
                  <a:cubicBezTo>
                    <a:pt x="795782" y="0"/>
                    <a:pt x="812800" y="17018"/>
                    <a:pt x="812800" y="38100"/>
                  </a:cubicBezTo>
                  <a:cubicBezTo>
                    <a:pt x="812800" y="59182"/>
                    <a:pt x="795782" y="76200"/>
                    <a:pt x="774700" y="76200"/>
                  </a:cubicBezTo>
                  <a:lnTo>
                    <a:pt x="38100" y="76200"/>
                  </a:lnTo>
                  <a:cubicBezTo>
                    <a:pt x="17018" y="76200"/>
                    <a:pt x="0" y="59182"/>
                    <a:pt x="0" y="38100"/>
                  </a:cubicBezTo>
                  <a:close/>
                </a:path>
              </a:pathLst>
            </a:custGeom>
            <a:solidFill>
              <a:srgbClr val="F8A900"/>
            </a:solidFill>
          </p:spPr>
        </p:sp>
      </p:grpSp>
      <p:sp>
        <p:nvSpPr>
          <p:cNvPr name="TextBox 17" id="17"/>
          <p:cNvSpPr txBox="true"/>
          <p:nvPr/>
        </p:nvSpPr>
        <p:spPr>
          <a:xfrm rot="0">
            <a:off x="2718044" y="2391585"/>
            <a:ext cx="1996240" cy="265433"/>
          </a:xfrm>
          <a:prstGeom prst="rect">
            <a:avLst/>
          </a:prstGeom>
        </p:spPr>
        <p:txBody>
          <a:bodyPr anchor="t" rtlCol="false" tIns="0" lIns="0" bIns="0" rIns="0">
            <a:spAutoFit/>
          </a:bodyPr>
          <a:lstStyle/>
          <a:p>
            <a:pPr algn="l">
              <a:lnSpc>
                <a:spcPts val="2160"/>
              </a:lnSpc>
            </a:pPr>
            <a:r>
              <a:rPr lang="en-US" b="true" sz="1800" spc="450">
                <a:solidFill>
                  <a:srgbClr val="F8A900"/>
                </a:solidFill>
                <a:latin typeface="Arial Bold"/>
                <a:ea typeface="Arial Bold"/>
                <a:cs typeface="Arial Bold"/>
                <a:sym typeface="Arial Bold"/>
              </a:rPr>
              <a:t>ÍNDICE · 01</a:t>
            </a:r>
          </a:p>
        </p:txBody>
      </p:sp>
      <p:sp>
        <p:nvSpPr>
          <p:cNvPr name="TextBox 18" id="18"/>
          <p:cNvSpPr txBox="true"/>
          <p:nvPr/>
        </p:nvSpPr>
        <p:spPr>
          <a:xfrm rot="0">
            <a:off x="1936994" y="2926890"/>
            <a:ext cx="12312653" cy="1422483"/>
          </a:xfrm>
          <a:prstGeom prst="rect">
            <a:avLst/>
          </a:prstGeom>
        </p:spPr>
        <p:txBody>
          <a:bodyPr anchor="t" rtlCol="false" tIns="0" lIns="0" bIns="0" rIns="0">
            <a:spAutoFit/>
          </a:bodyPr>
          <a:lstStyle/>
          <a:p>
            <a:pPr algn="l">
              <a:lnSpc>
                <a:spcPts val="13651"/>
              </a:lnSpc>
            </a:pPr>
            <a:r>
              <a:rPr lang="en-US" b="true" sz="11850" spc="-225">
                <a:solidFill>
                  <a:srgbClr val="003865"/>
                </a:solidFill>
                <a:latin typeface="Arial Bold"/>
                <a:ea typeface="Arial Bold"/>
                <a:cs typeface="Arial Bold"/>
                <a:sym typeface="Arial Bold"/>
              </a:rPr>
              <a:t>PROBLEMÁTICA</a:t>
            </a:r>
          </a:p>
        </p:txBody>
      </p:sp>
      <p:sp>
        <p:nvSpPr>
          <p:cNvPr name="TextBox 19" id="19"/>
          <p:cNvSpPr txBox="true"/>
          <p:nvPr/>
        </p:nvSpPr>
        <p:spPr>
          <a:xfrm rot="0">
            <a:off x="1936994" y="4552569"/>
            <a:ext cx="9563738" cy="1004573"/>
          </a:xfrm>
          <a:prstGeom prst="rect">
            <a:avLst/>
          </a:prstGeom>
        </p:spPr>
        <p:txBody>
          <a:bodyPr anchor="t" rtlCol="false" tIns="0" lIns="0" bIns="0" rIns="0">
            <a:spAutoFit/>
          </a:bodyPr>
          <a:lstStyle/>
          <a:p>
            <a:pPr algn="l">
              <a:lnSpc>
                <a:spcPts val="4176"/>
              </a:lnSpc>
            </a:pPr>
            <a:r>
              <a:rPr lang="en-US" sz="2400">
                <a:solidFill>
                  <a:srgbClr val="1E1E1E"/>
                </a:solidFill>
                <a:latin typeface="Arial"/>
                <a:ea typeface="Arial"/>
                <a:cs typeface="Arial"/>
                <a:sym typeface="Arial"/>
              </a:rPr>
              <a:t>Por qué la desnutrición crónica infantil sigue siendo un problema de salud pública no resuelto en el Perú.</a:t>
            </a:r>
          </a:p>
        </p:txBody>
      </p:sp>
      <p:sp>
        <p:nvSpPr>
          <p:cNvPr name="TextBox 20" id="20"/>
          <p:cNvSpPr txBox="true"/>
          <p:nvPr/>
        </p:nvSpPr>
        <p:spPr>
          <a:xfrm rot="0">
            <a:off x="15649239" y="971874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0" y="9460735"/>
            <a:ext cx="18276179" cy="839876"/>
          </a:xfrm>
          <a:custGeom>
            <a:avLst/>
            <a:gdLst/>
            <a:ahLst/>
            <a:cxnLst/>
            <a:rect r="r" b="b" t="t" l="l"/>
            <a:pathLst>
              <a:path h="839876" w="18276179">
                <a:moveTo>
                  <a:pt x="0" y="0"/>
                </a:moveTo>
                <a:lnTo>
                  <a:pt x="18276179" y="0"/>
                </a:lnTo>
                <a:lnTo>
                  <a:pt x="18276179" y="839876"/>
                </a:lnTo>
                <a:lnTo>
                  <a:pt x="0" y="8398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71500" y="9763077"/>
            <a:ext cx="5825842" cy="342900"/>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 Jornada Científica - EP. Ing. Sistemas</a:t>
            </a:r>
          </a:p>
        </p:txBody>
      </p:sp>
      <p:grpSp>
        <p:nvGrpSpPr>
          <p:cNvPr name="Group 4" id="4"/>
          <p:cNvGrpSpPr/>
          <p:nvPr/>
        </p:nvGrpSpPr>
        <p:grpSpPr>
          <a:xfrm rot="0">
            <a:off x="16497300" y="3162300"/>
            <a:ext cx="3009900" cy="3009900"/>
            <a:chOff x="0" y="0"/>
            <a:chExt cx="4013200" cy="4013200"/>
          </a:xfrm>
        </p:grpSpPr>
        <p:sp>
          <p:nvSpPr>
            <p:cNvPr name="Freeform 5" id="5"/>
            <p:cNvSpPr/>
            <p:nvPr/>
          </p:nvSpPr>
          <p:spPr>
            <a:xfrm flipH="false" flipV="false" rot="0">
              <a:off x="0" y="0"/>
              <a:ext cx="4013200" cy="4013200"/>
            </a:xfrm>
            <a:custGeom>
              <a:avLst/>
              <a:gdLst/>
              <a:ahLst/>
              <a:cxnLst/>
              <a:rect r="r" b="b" t="t" l="l"/>
              <a:pathLst>
                <a:path h="4013200" w="4013200">
                  <a:moveTo>
                    <a:pt x="0" y="2006600"/>
                  </a:moveTo>
                  <a:cubicBezTo>
                    <a:pt x="0" y="898398"/>
                    <a:pt x="898398" y="0"/>
                    <a:pt x="2006600" y="0"/>
                  </a:cubicBezTo>
                  <a:cubicBezTo>
                    <a:pt x="3114802" y="0"/>
                    <a:pt x="4013200" y="898398"/>
                    <a:pt x="4013200" y="2006600"/>
                  </a:cubicBezTo>
                  <a:cubicBezTo>
                    <a:pt x="4013200" y="3114802"/>
                    <a:pt x="3114802" y="4013200"/>
                    <a:pt x="2006600" y="4013200"/>
                  </a:cubicBezTo>
                  <a:cubicBezTo>
                    <a:pt x="898398" y="4013200"/>
                    <a:pt x="0" y="3114802"/>
                    <a:pt x="0" y="2006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6" id="6"/>
          <p:cNvGrpSpPr/>
          <p:nvPr/>
        </p:nvGrpSpPr>
        <p:grpSpPr>
          <a:xfrm rot="0">
            <a:off x="-1524000" y="8001000"/>
            <a:ext cx="4191000" cy="4191000"/>
            <a:chOff x="0" y="0"/>
            <a:chExt cx="5588000" cy="5588000"/>
          </a:xfrm>
        </p:grpSpPr>
        <p:sp>
          <p:nvSpPr>
            <p:cNvPr name="Freeform 7" id="7"/>
            <p:cNvSpPr/>
            <p:nvPr/>
          </p:nvSpPr>
          <p:spPr>
            <a:xfrm flipH="false" flipV="false" rot="0">
              <a:off x="0" y="0"/>
              <a:ext cx="5588000" cy="5588000"/>
            </a:xfrm>
            <a:custGeom>
              <a:avLst/>
              <a:gdLst/>
              <a:ahLst/>
              <a:cxnLst/>
              <a:rect r="r" b="b" t="t" l="l"/>
              <a:pathLst>
                <a:path h="5588000" w="5588000">
                  <a:moveTo>
                    <a:pt x="0" y="2794000"/>
                  </a:moveTo>
                  <a:cubicBezTo>
                    <a:pt x="0" y="1250950"/>
                    <a:pt x="1250950" y="0"/>
                    <a:pt x="2794000" y="0"/>
                  </a:cubicBezTo>
                  <a:cubicBezTo>
                    <a:pt x="4337050" y="0"/>
                    <a:pt x="5588000" y="1250950"/>
                    <a:pt x="5588000" y="2794000"/>
                  </a:cubicBezTo>
                  <a:cubicBezTo>
                    <a:pt x="5588000" y="4337050"/>
                    <a:pt x="4337050" y="5588000"/>
                    <a:pt x="2794000" y="5588000"/>
                  </a:cubicBezTo>
                  <a:cubicBezTo>
                    <a:pt x="1250950" y="5588000"/>
                    <a:pt x="0" y="4337050"/>
                    <a:pt x="0" y="2794000"/>
                  </a:cubicBezTo>
                  <a:close/>
                </a:path>
              </a:pathLst>
            </a:custGeom>
            <a:solidFill>
              <a:srgbClr val="003865">
                <a:alpha val="0"/>
              </a:srgbClr>
            </a:solidFill>
          </p:spPr>
        </p:sp>
      </p:grpSp>
      <p:sp>
        <p:nvSpPr>
          <p:cNvPr name="TextBox 8" id="8"/>
          <p:cNvSpPr txBox="true"/>
          <p:nvPr/>
        </p:nvSpPr>
        <p:spPr>
          <a:xfrm rot="0">
            <a:off x="14236255" y="492109"/>
            <a:ext cx="3264341" cy="248974"/>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9" id="9"/>
          <p:cNvSpPr txBox="true"/>
          <p:nvPr/>
        </p:nvSpPr>
        <p:spPr>
          <a:xfrm rot="0">
            <a:off x="14236255" y="801376"/>
            <a:ext cx="3264341" cy="123082"/>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grpSp>
        <p:nvGrpSpPr>
          <p:cNvPr name="Group 10" id="10"/>
          <p:cNvGrpSpPr/>
          <p:nvPr/>
        </p:nvGrpSpPr>
        <p:grpSpPr>
          <a:xfrm rot="0">
            <a:off x="952500" y="476250"/>
            <a:ext cx="7875737" cy="187709"/>
            <a:chOff x="0" y="0"/>
            <a:chExt cx="10500982" cy="250279"/>
          </a:xfrm>
        </p:grpSpPr>
        <p:sp>
          <p:nvSpPr>
            <p:cNvPr name="Freeform 11" id="11"/>
            <p:cNvSpPr/>
            <p:nvPr/>
          </p:nvSpPr>
          <p:spPr>
            <a:xfrm flipH="false" flipV="false" rot="0">
              <a:off x="0" y="0"/>
              <a:ext cx="10500995" cy="250393"/>
            </a:xfrm>
            <a:custGeom>
              <a:avLst/>
              <a:gdLst/>
              <a:ahLst/>
              <a:cxnLst/>
              <a:rect r="r" b="b" t="t" l="l"/>
              <a:pathLst>
                <a:path h="250393" w="10500995">
                  <a:moveTo>
                    <a:pt x="0" y="125161"/>
                  </a:moveTo>
                  <a:cubicBezTo>
                    <a:pt x="0" y="56043"/>
                    <a:pt x="151892" y="0"/>
                    <a:pt x="339217" y="0"/>
                  </a:cubicBezTo>
                  <a:lnTo>
                    <a:pt x="10161778" y="0"/>
                  </a:lnTo>
                  <a:cubicBezTo>
                    <a:pt x="10349103" y="0"/>
                    <a:pt x="10500995" y="56043"/>
                    <a:pt x="10500995" y="125161"/>
                  </a:cubicBezTo>
                  <a:cubicBezTo>
                    <a:pt x="10500995" y="194278"/>
                    <a:pt x="10349103" y="250393"/>
                    <a:pt x="10161778" y="250393"/>
                  </a:cubicBezTo>
                  <a:lnTo>
                    <a:pt x="339217" y="250393"/>
                  </a:lnTo>
                  <a:cubicBezTo>
                    <a:pt x="151892" y="250274"/>
                    <a:pt x="0" y="194231"/>
                    <a:pt x="0" y="125161"/>
                  </a:cubicBezTo>
                  <a:close/>
                </a:path>
              </a:pathLst>
            </a:custGeom>
            <a:solidFill>
              <a:srgbClr val="FFFFFF"/>
            </a:solidFill>
          </p:spPr>
        </p:sp>
      </p:grpSp>
      <p:grpSp>
        <p:nvGrpSpPr>
          <p:cNvPr name="Group 12" id="12"/>
          <p:cNvGrpSpPr/>
          <p:nvPr/>
        </p:nvGrpSpPr>
        <p:grpSpPr>
          <a:xfrm rot="0">
            <a:off x="1219152" y="663959"/>
            <a:ext cx="133321" cy="133321"/>
            <a:chOff x="0" y="0"/>
            <a:chExt cx="177762" cy="177762"/>
          </a:xfrm>
        </p:grpSpPr>
        <p:sp>
          <p:nvSpPr>
            <p:cNvPr name="Freeform 13" id="13"/>
            <p:cNvSpPr/>
            <p:nvPr/>
          </p:nvSpPr>
          <p:spPr>
            <a:xfrm flipH="false" flipV="false" rot="0">
              <a:off x="0" y="0"/>
              <a:ext cx="177800" cy="177800"/>
            </a:xfrm>
            <a:custGeom>
              <a:avLst/>
              <a:gdLst/>
              <a:ahLst/>
              <a:cxnLst/>
              <a:rect r="r" b="b" t="t" l="l"/>
              <a:pathLst>
                <a:path h="177800" w="177800">
                  <a:moveTo>
                    <a:pt x="0" y="88900"/>
                  </a:moveTo>
                  <a:cubicBezTo>
                    <a:pt x="0" y="39751"/>
                    <a:pt x="39751" y="0"/>
                    <a:pt x="88900" y="0"/>
                  </a:cubicBezTo>
                  <a:cubicBezTo>
                    <a:pt x="138049" y="0"/>
                    <a:pt x="177800" y="39751"/>
                    <a:pt x="177800" y="88900"/>
                  </a:cubicBezTo>
                  <a:cubicBezTo>
                    <a:pt x="177800" y="138049"/>
                    <a:pt x="138049" y="177800"/>
                    <a:pt x="88900" y="177800"/>
                  </a:cubicBezTo>
                  <a:cubicBezTo>
                    <a:pt x="39751" y="177800"/>
                    <a:pt x="0" y="138049"/>
                    <a:pt x="0" y="88900"/>
                  </a:cubicBezTo>
                  <a:close/>
                </a:path>
              </a:pathLst>
            </a:custGeom>
            <a:solidFill>
              <a:srgbClr val="F8A900"/>
            </a:solidFill>
          </p:spPr>
        </p:sp>
      </p:grpSp>
      <p:sp>
        <p:nvSpPr>
          <p:cNvPr name="TextBox 14" id="14"/>
          <p:cNvSpPr txBox="true"/>
          <p:nvPr/>
        </p:nvSpPr>
        <p:spPr>
          <a:xfrm rot="0">
            <a:off x="1511198" y="615925"/>
            <a:ext cx="7732566" cy="248441"/>
          </a:xfrm>
          <a:prstGeom prst="rect">
            <a:avLst/>
          </a:prstGeom>
        </p:spPr>
        <p:txBody>
          <a:bodyPr anchor="t" rtlCol="false" tIns="0" lIns="0" bIns="0" rIns="0">
            <a:spAutoFit/>
          </a:bodyPr>
          <a:lstStyle/>
          <a:p>
            <a:pPr algn="l">
              <a:lnSpc>
                <a:spcPts val="1980"/>
              </a:lnSpc>
            </a:pPr>
            <a:r>
              <a:rPr lang="en-US" b="true" sz="1650" spc="225">
                <a:solidFill>
                  <a:srgbClr val="003865"/>
                </a:solidFill>
                <a:latin typeface="Arial Bold"/>
                <a:ea typeface="Arial Bold"/>
                <a:cs typeface="Arial Bold"/>
                <a:sym typeface="Arial Bold"/>
              </a:rPr>
              <a:t>EL PROBLEMA · LA DESNUTRICIÓN CRÓNICA EN CIFRAS</a:t>
            </a:r>
          </a:p>
        </p:txBody>
      </p:sp>
      <p:grpSp>
        <p:nvGrpSpPr>
          <p:cNvPr name="Group 15" id="15"/>
          <p:cNvGrpSpPr/>
          <p:nvPr/>
        </p:nvGrpSpPr>
        <p:grpSpPr>
          <a:xfrm rot="0">
            <a:off x="952500" y="1314402"/>
            <a:ext cx="14859000" cy="1857375"/>
            <a:chOff x="0" y="0"/>
            <a:chExt cx="19812000" cy="2476500"/>
          </a:xfrm>
        </p:grpSpPr>
        <p:sp>
          <p:nvSpPr>
            <p:cNvPr name="Freeform 16" id="16"/>
            <p:cNvSpPr/>
            <p:nvPr/>
          </p:nvSpPr>
          <p:spPr>
            <a:xfrm flipH="false" flipV="false" rot="0">
              <a:off x="0" y="0"/>
              <a:ext cx="19812000" cy="2476500"/>
            </a:xfrm>
            <a:custGeom>
              <a:avLst/>
              <a:gdLst/>
              <a:ahLst/>
              <a:cxnLst/>
              <a:rect r="r" b="b" t="t" l="l"/>
              <a:pathLst>
                <a:path h="2476500" w="19812000">
                  <a:moveTo>
                    <a:pt x="0" y="127000"/>
                  </a:moveTo>
                  <a:cubicBezTo>
                    <a:pt x="0" y="56896"/>
                    <a:pt x="56896" y="0"/>
                    <a:pt x="127000" y="0"/>
                  </a:cubicBezTo>
                  <a:lnTo>
                    <a:pt x="19685000" y="0"/>
                  </a:lnTo>
                  <a:cubicBezTo>
                    <a:pt x="19755104" y="0"/>
                    <a:pt x="19812000" y="56896"/>
                    <a:pt x="19812000" y="127000"/>
                  </a:cubicBezTo>
                  <a:lnTo>
                    <a:pt x="19812000" y="2349500"/>
                  </a:lnTo>
                  <a:cubicBezTo>
                    <a:pt x="19812000" y="2419604"/>
                    <a:pt x="19755104" y="2476500"/>
                    <a:pt x="19685000" y="2476500"/>
                  </a:cubicBezTo>
                  <a:lnTo>
                    <a:pt x="127000" y="2476500"/>
                  </a:lnTo>
                  <a:cubicBezTo>
                    <a:pt x="56896" y="2476500"/>
                    <a:pt x="0" y="2419604"/>
                    <a:pt x="0" y="2349500"/>
                  </a:cubicBezTo>
                  <a:close/>
                </a:path>
              </a:pathLst>
            </a:custGeom>
            <a:solidFill>
              <a:srgbClr val="FFFFFF"/>
            </a:solidFill>
          </p:spPr>
        </p:sp>
      </p:grpSp>
      <p:grpSp>
        <p:nvGrpSpPr>
          <p:cNvPr name="Group 17" id="17"/>
          <p:cNvGrpSpPr/>
          <p:nvPr/>
        </p:nvGrpSpPr>
        <p:grpSpPr>
          <a:xfrm rot="0">
            <a:off x="952500" y="1314402"/>
            <a:ext cx="63503" cy="1857375"/>
            <a:chOff x="0" y="0"/>
            <a:chExt cx="84671" cy="2476500"/>
          </a:xfrm>
        </p:grpSpPr>
        <p:sp>
          <p:nvSpPr>
            <p:cNvPr name="Freeform 18" id="18"/>
            <p:cNvSpPr/>
            <p:nvPr/>
          </p:nvSpPr>
          <p:spPr>
            <a:xfrm flipH="false" flipV="false" rot="0">
              <a:off x="0" y="0"/>
              <a:ext cx="84709" cy="2476500"/>
            </a:xfrm>
            <a:custGeom>
              <a:avLst/>
              <a:gdLst/>
              <a:ahLst/>
              <a:cxnLst/>
              <a:rect r="r" b="b" t="t" l="l"/>
              <a:pathLst>
                <a:path h="2476500" w="84709">
                  <a:moveTo>
                    <a:pt x="0" y="0"/>
                  </a:moveTo>
                  <a:lnTo>
                    <a:pt x="84709" y="0"/>
                  </a:lnTo>
                  <a:lnTo>
                    <a:pt x="84709" y="2476500"/>
                  </a:lnTo>
                  <a:lnTo>
                    <a:pt x="0" y="2476500"/>
                  </a:lnTo>
                  <a:close/>
                </a:path>
              </a:pathLst>
            </a:custGeom>
            <a:solidFill>
              <a:srgbClr val="003865"/>
            </a:solidFill>
          </p:spPr>
        </p:sp>
      </p:grpSp>
      <p:sp>
        <p:nvSpPr>
          <p:cNvPr name="TextBox 19" id="19"/>
          <p:cNvSpPr txBox="true"/>
          <p:nvPr/>
        </p:nvSpPr>
        <p:spPr>
          <a:xfrm rot="0">
            <a:off x="1422397" y="1482671"/>
            <a:ext cx="14403705" cy="1416053"/>
          </a:xfrm>
          <a:prstGeom prst="rect">
            <a:avLst/>
          </a:prstGeom>
        </p:spPr>
        <p:txBody>
          <a:bodyPr anchor="t" rtlCol="false" tIns="0" lIns="0" bIns="0" rIns="0">
            <a:spAutoFit/>
          </a:bodyPr>
          <a:lstStyle/>
          <a:p>
            <a:pPr algn="l">
              <a:lnSpc>
                <a:spcPts val="4050"/>
              </a:lnSpc>
            </a:pPr>
            <a:r>
              <a:rPr lang="en-US" sz="2250">
                <a:solidFill>
                  <a:srgbClr val="1E1E1E"/>
                </a:solidFill>
                <a:latin typeface="Arial"/>
                <a:ea typeface="Arial"/>
                <a:cs typeface="Arial"/>
                <a:sym typeface="Arial"/>
              </a:rPr>
              <a:t>En el Perú, la desnutrición crónica infantil </a:t>
            </a:r>
            <a:r>
              <a:rPr lang="en-US" sz="2250" b="true">
                <a:solidFill>
                  <a:srgbClr val="003865"/>
                </a:solidFill>
                <a:latin typeface="Arial Bold"/>
                <a:ea typeface="Arial Bold"/>
                <a:cs typeface="Arial Bold"/>
                <a:sym typeface="Arial Bold"/>
              </a:rPr>
              <a:t>volvió a aumentar </a:t>
            </a:r>
            <a:r>
              <a:rPr lang="en-US" sz="2250">
                <a:solidFill>
                  <a:srgbClr val="1E1E1E"/>
                </a:solidFill>
                <a:latin typeface="Arial"/>
                <a:ea typeface="Arial"/>
                <a:cs typeface="Arial"/>
                <a:sym typeface="Arial"/>
              </a:rPr>
              <a:t>y golpea con más fuerza a las zonas rurales. Tres indicadores oficiales dimensionan un problema cuyo daño es </a:t>
            </a:r>
            <a:r>
              <a:rPr lang="en-US" sz="2250" b="true">
                <a:solidFill>
                  <a:srgbClr val="003865"/>
                </a:solidFill>
                <a:latin typeface="Arial Bold"/>
                <a:ea typeface="Arial Bold"/>
                <a:cs typeface="Arial Bold"/>
                <a:sym typeface="Arial Bold"/>
              </a:rPr>
              <a:t>irreversible </a:t>
            </a:r>
            <a:r>
              <a:rPr lang="en-US" sz="2250">
                <a:solidFill>
                  <a:srgbClr val="1E1E1E"/>
                </a:solidFill>
                <a:latin typeface="Arial"/>
                <a:ea typeface="Arial"/>
                <a:cs typeface="Arial"/>
                <a:sym typeface="Arial"/>
              </a:rPr>
              <a:t>: el 80% del cerebro se forma antes de los 3 años.</a:t>
            </a:r>
          </a:p>
        </p:txBody>
      </p:sp>
      <p:grpSp>
        <p:nvGrpSpPr>
          <p:cNvPr name="Group 20" id="20"/>
          <p:cNvGrpSpPr/>
          <p:nvPr/>
        </p:nvGrpSpPr>
        <p:grpSpPr>
          <a:xfrm rot="0">
            <a:off x="952500" y="3067040"/>
            <a:ext cx="5207003" cy="6248362"/>
            <a:chOff x="0" y="0"/>
            <a:chExt cx="6942671" cy="8331149"/>
          </a:xfrm>
        </p:grpSpPr>
        <p:sp>
          <p:nvSpPr>
            <p:cNvPr name="Freeform 21" id="21"/>
            <p:cNvSpPr/>
            <p:nvPr/>
          </p:nvSpPr>
          <p:spPr>
            <a:xfrm flipH="false" flipV="false" rot="0">
              <a:off x="0" y="0"/>
              <a:ext cx="6942709" cy="8331200"/>
            </a:xfrm>
            <a:custGeom>
              <a:avLst/>
              <a:gdLst/>
              <a:ahLst/>
              <a:cxnLst/>
              <a:rect r="r" b="b" t="t" l="l"/>
              <a:pathLst>
                <a:path h="8331200" w="6942709">
                  <a:moveTo>
                    <a:pt x="0" y="177800"/>
                  </a:moveTo>
                  <a:cubicBezTo>
                    <a:pt x="0" y="79629"/>
                    <a:pt x="79629" y="0"/>
                    <a:pt x="177800" y="0"/>
                  </a:cubicBezTo>
                  <a:lnTo>
                    <a:pt x="6764909" y="0"/>
                  </a:lnTo>
                  <a:cubicBezTo>
                    <a:pt x="6863080" y="0"/>
                    <a:pt x="6942709" y="79629"/>
                    <a:pt x="6942709" y="177800"/>
                  </a:cubicBezTo>
                  <a:lnTo>
                    <a:pt x="6942709" y="8153400"/>
                  </a:lnTo>
                  <a:cubicBezTo>
                    <a:pt x="6942709" y="8251571"/>
                    <a:pt x="6863080" y="8331200"/>
                    <a:pt x="6764909" y="8331200"/>
                  </a:cubicBezTo>
                  <a:lnTo>
                    <a:pt x="177800" y="8331200"/>
                  </a:lnTo>
                  <a:cubicBezTo>
                    <a:pt x="79629" y="8331200"/>
                    <a:pt x="0" y="8251571"/>
                    <a:pt x="0" y="8153400"/>
                  </a:cubicBezTo>
                  <a:close/>
                </a:path>
              </a:pathLst>
            </a:custGeom>
            <a:solidFill>
              <a:srgbClr val="FFFFFF"/>
            </a:solidFill>
          </p:spPr>
        </p:sp>
      </p:grpSp>
      <p:grpSp>
        <p:nvGrpSpPr>
          <p:cNvPr name="Group 22" id="22"/>
          <p:cNvGrpSpPr/>
          <p:nvPr/>
        </p:nvGrpSpPr>
        <p:grpSpPr>
          <a:xfrm rot="0">
            <a:off x="952500" y="3067040"/>
            <a:ext cx="5207003" cy="1866862"/>
            <a:chOff x="0" y="0"/>
            <a:chExt cx="6942671" cy="2489149"/>
          </a:xfrm>
        </p:grpSpPr>
        <p:sp>
          <p:nvSpPr>
            <p:cNvPr name="Freeform 23" id="23"/>
            <p:cNvSpPr/>
            <p:nvPr/>
          </p:nvSpPr>
          <p:spPr>
            <a:xfrm flipH="false" flipV="false" rot="0">
              <a:off x="0" y="0"/>
              <a:ext cx="6942709" cy="2489200"/>
            </a:xfrm>
            <a:custGeom>
              <a:avLst/>
              <a:gdLst/>
              <a:ahLst/>
              <a:cxnLst/>
              <a:rect r="r" b="b" t="t" l="l"/>
              <a:pathLst>
                <a:path h="2489200" w="6942709">
                  <a:moveTo>
                    <a:pt x="0" y="0"/>
                  </a:moveTo>
                  <a:lnTo>
                    <a:pt x="6942709" y="0"/>
                  </a:lnTo>
                  <a:lnTo>
                    <a:pt x="6942709" y="2489200"/>
                  </a:lnTo>
                  <a:lnTo>
                    <a:pt x="0" y="2489200"/>
                  </a:lnTo>
                  <a:close/>
                </a:path>
              </a:pathLst>
            </a:custGeom>
            <a:solidFill>
              <a:srgbClr val="000000">
                <a:alpha val="0"/>
              </a:srgbClr>
            </a:solidFill>
          </p:spPr>
        </p:sp>
      </p:grpSp>
      <p:grpSp>
        <p:nvGrpSpPr>
          <p:cNvPr name="Group 24" id="24"/>
          <p:cNvGrpSpPr/>
          <p:nvPr/>
        </p:nvGrpSpPr>
        <p:grpSpPr>
          <a:xfrm rot="0">
            <a:off x="952500" y="3067040"/>
            <a:ext cx="5207003" cy="1866862"/>
            <a:chOff x="0" y="0"/>
            <a:chExt cx="6942671" cy="2489149"/>
          </a:xfrm>
        </p:grpSpPr>
        <p:sp>
          <p:nvSpPr>
            <p:cNvPr name="Freeform 25" id="25" descr="preencoded.png"/>
            <p:cNvSpPr/>
            <p:nvPr/>
          </p:nvSpPr>
          <p:spPr>
            <a:xfrm flipH="false" flipV="false" rot="0">
              <a:off x="0" y="0"/>
              <a:ext cx="6942709" cy="2489200"/>
            </a:xfrm>
            <a:custGeom>
              <a:avLst/>
              <a:gdLst/>
              <a:ahLst/>
              <a:cxnLst/>
              <a:rect r="r" b="b" t="t" l="l"/>
              <a:pathLst>
                <a:path h="2489200" w="6942709">
                  <a:moveTo>
                    <a:pt x="0" y="0"/>
                  </a:moveTo>
                  <a:lnTo>
                    <a:pt x="6942709" y="0"/>
                  </a:lnTo>
                  <a:lnTo>
                    <a:pt x="6942709" y="2489200"/>
                  </a:lnTo>
                  <a:lnTo>
                    <a:pt x="0" y="2489200"/>
                  </a:lnTo>
                  <a:lnTo>
                    <a:pt x="0" y="0"/>
                  </a:lnTo>
                  <a:close/>
                </a:path>
              </a:pathLst>
            </a:custGeom>
            <a:blipFill>
              <a:blip r:embed="rId5"/>
              <a:stretch>
                <a:fillRect l="0" t="-57480" r="0" b="-121432"/>
              </a:stretch>
            </a:blipFill>
          </p:spPr>
        </p:sp>
      </p:grpSp>
      <p:grpSp>
        <p:nvGrpSpPr>
          <p:cNvPr name="Group 26" id="26"/>
          <p:cNvGrpSpPr/>
          <p:nvPr/>
        </p:nvGrpSpPr>
        <p:grpSpPr>
          <a:xfrm rot="0">
            <a:off x="1238250" y="5162474"/>
            <a:ext cx="1603438" cy="265043"/>
            <a:chOff x="0" y="0"/>
            <a:chExt cx="2137918" cy="353390"/>
          </a:xfrm>
        </p:grpSpPr>
        <p:sp>
          <p:nvSpPr>
            <p:cNvPr name="Freeform 27" id="27"/>
            <p:cNvSpPr/>
            <p:nvPr/>
          </p:nvSpPr>
          <p:spPr>
            <a:xfrm flipH="false" flipV="false" rot="0">
              <a:off x="0" y="0"/>
              <a:ext cx="2137918" cy="353441"/>
            </a:xfrm>
            <a:custGeom>
              <a:avLst/>
              <a:gdLst/>
              <a:ahLst/>
              <a:cxnLst/>
              <a:rect r="r" b="b" t="t" l="l"/>
              <a:pathLst>
                <a:path h="353441" w="2137918">
                  <a:moveTo>
                    <a:pt x="0" y="76200"/>
                  </a:moveTo>
                  <a:cubicBezTo>
                    <a:pt x="0" y="34163"/>
                    <a:pt x="34163" y="0"/>
                    <a:pt x="76200" y="0"/>
                  </a:cubicBezTo>
                  <a:lnTo>
                    <a:pt x="2061718" y="0"/>
                  </a:lnTo>
                  <a:cubicBezTo>
                    <a:pt x="2103755" y="0"/>
                    <a:pt x="2137918" y="34163"/>
                    <a:pt x="2137918" y="76200"/>
                  </a:cubicBezTo>
                  <a:lnTo>
                    <a:pt x="2137918" y="277241"/>
                  </a:lnTo>
                  <a:cubicBezTo>
                    <a:pt x="2137918" y="319278"/>
                    <a:pt x="2103755" y="353441"/>
                    <a:pt x="2061718" y="353441"/>
                  </a:cubicBezTo>
                  <a:lnTo>
                    <a:pt x="76200" y="353441"/>
                  </a:lnTo>
                  <a:cubicBezTo>
                    <a:pt x="34163" y="353441"/>
                    <a:pt x="0" y="319278"/>
                    <a:pt x="0" y="277241"/>
                  </a:cubicBezTo>
                  <a:close/>
                </a:path>
              </a:pathLst>
            </a:custGeom>
            <a:solidFill>
              <a:srgbClr val="EEF0F2"/>
            </a:solidFill>
          </p:spPr>
        </p:sp>
      </p:grpSp>
      <p:sp>
        <p:nvSpPr>
          <p:cNvPr name="TextBox 28" id="28"/>
          <p:cNvSpPr txBox="true"/>
          <p:nvPr/>
        </p:nvSpPr>
        <p:spPr>
          <a:xfrm rot="0">
            <a:off x="1387478" y="5235502"/>
            <a:ext cx="1381192" cy="147561"/>
          </a:xfrm>
          <a:prstGeom prst="rect">
            <a:avLst/>
          </a:prstGeom>
        </p:spPr>
        <p:txBody>
          <a:bodyPr anchor="t" rtlCol="false" tIns="0" lIns="0" bIns="0" rIns="0">
            <a:spAutoFit/>
          </a:bodyPr>
          <a:lstStyle/>
          <a:p>
            <a:pPr algn="l">
              <a:lnSpc>
                <a:spcPts val="1260"/>
              </a:lnSpc>
            </a:pPr>
            <a:r>
              <a:rPr lang="en-US" b="true" sz="1050" spc="150">
                <a:solidFill>
                  <a:srgbClr val="6B7280"/>
                </a:solidFill>
                <a:latin typeface="Arial Bold"/>
                <a:ea typeface="Arial Bold"/>
                <a:cs typeface="Arial Bold"/>
                <a:sym typeface="Arial Bold"/>
              </a:rPr>
              <a:t>FUENTE OFICIAL</a:t>
            </a:r>
          </a:p>
        </p:txBody>
      </p:sp>
      <p:sp>
        <p:nvSpPr>
          <p:cNvPr name="TextBox 29" id="29"/>
          <p:cNvSpPr txBox="true"/>
          <p:nvPr/>
        </p:nvSpPr>
        <p:spPr>
          <a:xfrm rot="0">
            <a:off x="1263653" y="5595747"/>
            <a:ext cx="5048250" cy="294484"/>
          </a:xfrm>
          <a:prstGeom prst="rect">
            <a:avLst/>
          </a:prstGeom>
        </p:spPr>
        <p:txBody>
          <a:bodyPr anchor="t" rtlCol="false" tIns="0" lIns="0" bIns="0" rIns="0">
            <a:spAutoFit/>
          </a:bodyPr>
          <a:lstStyle/>
          <a:p>
            <a:pPr algn="l">
              <a:lnSpc>
                <a:spcPts val="2430"/>
              </a:lnSpc>
            </a:pPr>
            <a:r>
              <a:rPr lang="en-US" sz="2025" b="true">
                <a:solidFill>
                  <a:srgbClr val="003865"/>
                </a:solidFill>
                <a:latin typeface="Arial Bold"/>
                <a:ea typeface="Arial Bold"/>
                <a:cs typeface="Arial Bold"/>
                <a:sym typeface="Arial Bold"/>
              </a:rPr>
              <a:t>Desnutrición crónica infantil</a:t>
            </a:r>
          </a:p>
        </p:txBody>
      </p:sp>
      <p:sp>
        <p:nvSpPr>
          <p:cNvPr name="TextBox 30" id="30"/>
          <p:cNvSpPr txBox="true"/>
          <p:nvPr/>
        </p:nvSpPr>
        <p:spPr>
          <a:xfrm rot="0">
            <a:off x="1263653" y="5921959"/>
            <a:ext cx="5048250" cy="224628"/>
          </a:xfrm>
          <a:prstGeom prst="rect">
            <a:avLst/>
          </a:prstGeom>
        </p:spPr>
        <p:txBody>
          <a:bodyPr anchor="t" rtlCol="false" tIns="0" lIns="0" bIns="0" rIns="0">
            <a:spAutoFit/>
          </a:bodyPr>
          <a:lstStyle/>
          <a:p>
            <a:pPr algn="l">
              <a:lnSpc>
                <a:spcPts val="1800"/>
              </a:lnSpc>
            </a:pPr>
            <a:r>
              <a:rPr lang="en-US" sz="1500" i="true">
                <a:solidFill>
                  <a:srgbClr val="6B7280"/>
                </a:solidFill>
                <a:latin typeface="Arial Italics"/>
                <a:ea typeface="Arial Italics"/>
                <a:cs typeface="Arial Italics"/>
                <a:sym typeface="Arial Italics"/>
              </a:rPr>
              <a:t>ENDES 2024 · INEI</a:t>
            </a:r>
          </a:p>
        </p:txBody>
      </p:sp>
      <p:grpSp>
        <p:nvGrpSpPr>
          <p:cNvPr name="Group 31" id="31"/>
          <p:cNvGrpSpPr/>
          <p:nvPr/>
        </p:nvGrpSpPr>
        <p:grpSpPr>
          <a:xfrm rot="0">
            <a:off x="952500" y="7298655"/>
            <a:ext cx="5207003" cy="2016747"/>
            <a:chOff x="0" y="0"/>
            <a:chExt cx="6942671" cy="2688996"/>
          </a:xfrm>
        </p:grpSpPr>
        <p:sp>
          <p:nvSpPr>
            <p:cNvPr name="Freeform 32" id="32"/>
            <p:cNvSpPr/>
            <p:nvPr/>
          </p:nvSpPr>
          <p:spPr>
            <a:xfrm flipH="false" flipV="false" rot="0">
              <a:off x="0" y="0"/>
              <a:ext cx="6942709" cy="2688971"/>
            </a:xfrm>
            <a:custGeom>
              <a:avLst/>
              <a:gdLst/>
              <a:ahLst/>
              <a:cxnLst/>
              <a:rect r="r" b="b" t="t" l="l"/>
              <a:pathLst>
                <a:path h="2688971" w="6942709">
                  <a:moveTo>
                    <a:pt x="0" y="0"/>
                  </a:moveTo>
                  <a:lnTo>
                    <a:pt x="6942709" y="0"/>
                  </a:lnTo>
                  <a:lnTo>
                    <a:pt x="6942709" y="2688971"/>
                  </a:lnTo>
                  <a:lnTo>
                    <a:pt x="0" y="2688971"/>
                  </a:lnTo>
                  <a:close/>
                </a:path>
              </a:pathLst>
            </a:custGeom>
            <a:solidFill>
              <a:srgbClr val="F4F6F8"/>
            </a:solidFill>
          </p:spPr>
        </p:sp>
      </p:grpSp>
      <p:sp>
        <p:nvSpPr>
          <p:cNvPr name="TextBox 33" id="33"/>
          <p:cNvSpPr txBox="true"/>
          <p:nvPr/>
        </p:nvSpPr>
        <p:spPr>
          <a:xfrm rot="0">
            <a:off x="1031872" y="7524055"/>
            <a:ext cx="5048250" cy="873128"/>
          </a:xfrm>
          <a:prstGeom prst="rect">
            <a:avLst/>
          </a:prstGeom>
        </p:spPr>
        <p:txBody>
          <a:bodyPr anchor="t" rtlCol="false" tIns="0" lIns="0" bIns="0" rIns="0">
            <a:spAutoFit/>
          </a:bodyPr>
          <a:lstStyle/>
          <a:p>
            <a:pPr algn="ctr">
              <a:lnSpc>
                <a:spcPts val="8100"/>
              </a:lnSpc>
            </a:pPr>
            <a:r>
              <a:rPr lang="en-US" sz="6750" b="true">
                <a:solidFill>
                  <a:srgbClr val="C0504D"/>
                </a:solidFill>
                <a:latin typeface="Arial Bold"/>
                <a:ea typeface="Arial Bold"/>
                <a:cs typeface="Arial Bold"/>
                <a:sym typeface="Arial Bold"/>
              </a:rPr>
              <a:t>12,1%</a:t>
            </a:r>
          </a:p>
        </p:txBody>
      </p:sp>
      <p:sp>
        <p:nvSpPr>
          <p:cNvPr name="TextBox 34" id="34"/>
          <p:cNvSpPr txBox="true"/>
          <p:nvPr/>
        </p:nvSpPr>
        <p:spPr>
          <a:xfrm rot="0">
            <a:off x="1031872" y="8457457"/>
            <a:ext cx="5048250" cy="289722"/>
          </a:xfrm>
          <a:prstGeom prst="rect">
            <a:avLst/>
          </a:prstGeom>
        </p:spPr>
        <p:txBody>
          <a:bodyPr anchor="t" rtlCol="false" tIns="0" lIns="0" bIns="0" rIns="0">
            <a:spAutoFit/>
          </a:bodyPr>
          <a:lstStyle/>
          <a:p>
            <a:pPr algn="ctr">
              <a:lnSpc>
                <a:spcPts val="2250"/>
              </a:lnSpc>
            </a:pPr>
            <a:r>
              <a:rPr lang="en-US" sz="1875" b="true">
                <a:solidFill>
                  <a:srgbClr val="003865"/>
                </a:solidFill>
                <a:latin typeface="Arial Bold"/>
                <a:ea typeface="Arial Bold"/>
                <a:cs typeface="Arial Bold"/>
                <a:sym typeface="Arial Bold"/>
              </a:rPr>
              <a:t>Menores de 5 años</a:t>
            </a:r>
          </a:p>
        </p:txBody>
      </p:sp>
      <p:sp>
        <p:nvSpPr>
          <p:cNvPr name="TextBox 35" id="35"/>
          <p:cNvSpPr txBox="true"/>
          <p:nvPr/>
        </p:nvSpPr>
        <p:spPr>
          <a:xfrm rot="0">
            <a:off x="1031872" y="8769353"/>
            <a:ext cx="5048250" cy="292103"/>
          </a:xfrm>
          <a:prstGeom prst="rect">
            <a:avLst/>
          </a:prstGeom>
        </p:spPr>
        <p:txBody>
          <a:bodyPr anchor="t" rtlCol="false" tIns="0" lIns="0" bIns="0" rIns="0">
            <a:spAutoFit/>
          </a:bodyPr>
          <a:lstStyle/>
          <a:p>
            <a:pPr algn="ctr">
              <a:lnSpc>
                <a:spcPts val="1800"/>
              </a:lnSpc>
            </a:pPr>
            <a:r>
              <a:rPr lang="en-US" sz="1500">
                <a:solidFill>
                  <a:srgbClr val="6B7280"/>
                </a:solidFill>
                <a:latin typeface="Arial"/>
                <a:ea typeface="Arial"/>
                <a:cs typeface="Arial"/>
                <a:sym typeface="Arial"/>
              </a:rPr>
              <a:t>a nivel nacional · subió desde 11,5% (2023)</a:t>
            </a:r>
          </a:p>
        </p:txBody>
      </p:sp>
      <p:grpSp>
        <p:nvGrpSpPr>
          <p:cNvPr name="Group 36" id="36"/>
          <p:cNvGrpSpPr/>
          <p:nvPr/>
        </p:nvGrpSpPr>
        <p:grpSpPr>
          <a:xfrm rot="0">
            <a:off x="6540503" y="3067040"/>
            <a:ext cx="5207003" cy="6248362"/>
            <a:chOff x="0" y="0"/>
            <a:chExt cx="6942671" cy="8331149"/>
          </a:xfrm>
        </p:grpSpPr>
        <p:sp>
          <p:nvSpPr>
            <p:cNvPr name="Freeform 37" id="37"/>
            <p:cNvSpPr/>
            <p:nvPr/>
          </p:nvSpPr>
          <p:spPr>
            <a:xfrm flipH="false" flipV="false" rot="0">
              <a:off x="0" y="0"/>
              <a:ext cx="6942709" cy="8331200"/>
            </a:xfrm>
            <a:custGeom>
              <a:avLst/>
              <a:gdLst/>
              <a:ahLst/>
              <a:cxnLst/>
              <a:rect r="r" b="b" t="t" l="l"/>
              <a:pathLst>
                <a:path h="8331200" w="6942709">
                  <a:moveTo>
                    <a:pt x="0" y="177800"/>
                  </a:moveTo>
                  <a:cubicBezTo>
                    <a:pt x="0" y="79629"/>
                    <a:pt x="79629" y="0"/>
                    <a:pt x="177800" y="0"/>
                  </a:cubicBezTo>
                  <a:lnTo>
                    <a:pt x="6764909" y="0"/>
                  </a:lnTo>
                  <a:cubicBezTo>
                    <a:pt x="6863080" y="0"/>
                    <a:pt x="6942709" y="79629"/>
                    <a:pt x="6942709" y="177800"/>
                  </a:cubicBezTo>
                  <a:lnTo>
                    <a:pt x="6942709" y="8153400"/>
                  </a:lnTo>
                  <a:cubicBezTo>
                    <a:pt x="6942709" y="8251571"/>
                    <a:pt x="6863080" y="8331200"/>
                    <a:pt x="6764909" y="8331200"/>
                  </a:cubicBezTo>
                  <a:lnTo>
                    <a:pt x="177800" y="8331200"/>
                  </a:lnTo>
                  <a:cubicBezTo>
                    <a:pt x="79629" y="8331200"/>
                    <a:pt x="0" y="8251571"/>
                    <a:pt x="0" y="8153400"/>
                  </a:cubicBezTo>
                  <a:close/>
                </a:path>
              </a:pathLst>
            </a:custGeom>
            <a:solidFill>
              <a:srgbClr val="FFFFFF"/>
            </a:solidFill>
          </p:spPr>
        </p:sp>
      </p:grpSp>
      <p:grpSp>
        <p:nvGrpSpPr>
          <p:cNvPr name="Group 38" id="38"/>
          <p:cNvGrpSpPr/>
          <p:nvPr/>
        </p:nvGrpSpPr>
        <p:grpSpPr>
          <a:xfrm rot="0">
            <a:off x="6540503" y="3067040"/>
            <a:ext cx="5207003" cy="1866862"/>
            <a:chOff x="0" y="0"/>
            <a:chExt cx="6942671" cy="2489149"/>
          </a:xfrm>
        </p:grpSpPr>
        <p:sp>
          <p:nvSpPr>
            <p:cNvPr name="Freeform 39" id="39"/>
            <p:cNvSpPr/>
            <p:nvPr/>
          </p:nvSpPr>
          <p:spPr>
            <a:xfrm flipH="false" flipV="false" rot="0">
              <a:off x="0" y="0"/>
              <a:ext cx="6942709" cy="2489200"/>
            </a:xfrm>
            <a:custGeom>
              <a:avLst/>
              <a:gdLst/>
              <a:ahLst/>
              <a:cxnLst/>
              <a:rect r="r" b="b" t="t" l="l"/>
              <a:pathLst>
                <a:path h="2489200" w="6942709">
                  <a:moveTo>
                    <a:pt x="0" y="0"/>
                  </a:moveTo>
                  <a:lnTo>
                    <a:pt x="6942709" y="0"/>
                  </a:lnTo>
                  <a:lnTo>
                    <a:pt x="6942709" y="2489200"/>
                  </a:lnTo>
                  <a:lnTo>
                    <a:pt x="0" y="2489200"/>
                  </a:lnTo>
                  <a:close/>
                </a:path>
              </a:pathLst>
            </a:custGeom>
            <a:solidFill>
              <a:srgbClr val="000000">
                <a:alpha val="0"/>
              </a:srgbClr>
            </a:solidFill>
          </p:spPr>
        </p:sp>
      </p:grpSp>
      <p:grpSp>
        <p:nvGrpSpPr>
          <p:cNvPr name="Group 40" id="40"/>
          <p:cNvGrpSpPr/>
          <p:nvPr/>
        </p:nvGrpSpPr>
        <p:grpSpPr>
          <a:xfrm rot="0">
            <a:off x="6619875" y="3067040"/>
            <a:ext cx="5207003" cy="1866862"/>
            <a:chOff x="0" y="0"/>
            <a:chExt cx="6942671" cy="2489149"/>
          </a:xfrm>
        </p:grpSpPr>
        <p:sp>
          <p:nvSpPr>
            <p:cNvPr name="Freeform 41" id="41" descr="preencoded.png"/>
            <p:cNvSpPr/>
            <p:nvPr/>
          </p:nvSpPr>
          <p:spPr>
            <a:xfrm flipH="false" flipV="false" rot="0">
              <a:off x="0" y="0"/>
              <a:ext cx="6942709" cy="2489200"/>
            </a:xfrm>
            <a:custGeom>
              <a:avLst/>
              <a:gdLst/>
              <a:ahLst/>
              <a:cxnLst/>
              <a:rect r="r" b="b" t="t" l="l"/>
              <a:pathLst>
                <a:path h="2489200" w="6942709">
                  <a:moveTo>
                    <a:pt x="0" y="0"/>
                  </a:moveTo>
                  <a:lnTo>
                    <a:pt x="6942709" y="0"/>
                  </a:lnTo>
                  <a:lnTo>
                    <a:pt x="6942709" y="2489200"/>
                  </a:lnTo>
                  <a:lnTo>
                    <a:pt x="0" y="2489200"/>
                  </a:lnTo>
                  <a:lnTo>
                    <a:pt x="0" y="0"/>
                  </a:lnTo>
                  <a:close/>
                </a:path>
              </a:pathLst>
            </a:custGeom>
            <a:blipFill>
              <a:blip r:embed="rId6"/>
              <a:stretch>
                <a:fillRect l="0" t="-92172" r="0" b="-86740"/>
              </a:stretch>
            </a:blipFill>
          </p:spPr>
        </p:sp>
      </p:grpSp>
      <p:grpSp>
        <p:nvGrpSpPr>
          <p:cNvPr name="Group 42" id="42"/>
          <p:cNvGrpSpPr/>
          <p:nvPr/>
        </p:nvGrpSpPr>
        <p:grpSpPr>
          <a:xfrm rot="0">
            <a:off x="6826253" y="5162474"/>
            <a:ext cx="1603438" cy="265043"/>
            <a:chOff x="0" y="0"/>
            <a:chExt cx="2137918" cy="353390"/>
          </a:xfrm>
        </p:grpSpPr>
        <p:sp>
          <p:nvSpPr>
            <p:cNvPr name="Freeform 43" id="43"/>
            <p:cNvSpPr/>
            <p:nvPr/>
          </p:nvSpPr>
          <p:spPr>
            <a:xfrm flipH="false" flipV="false" rot="0">
              <a:off x="0" y="0"/>
              <a:ext cx="2137918" cy="353441"/>
            </a:xfrm>
            <a:custGeom>
              <a:avLst/>
              <a:gdLst/>
              <a:ahLst/>
              <a:cxnLst/>
              <a:rect r="r" b="b" t="t" l="l"/>
              <a:pathLst>
                <a:path h="353441" w="2137918">
                  <a:moveTo>
                    <a:pt x="0" y="76200"/>
                  </a:moveTo>
                  <a:cubicBezTo>
                    <a:pt x="0" y="34163"/>
                    <a:pt x="34163" y="0"/>
                    <a:pt x="76200" y="0"/>
                  </a:cubicBezTo>
                  <a:lnTo>
                    <a:pt x="2061718" y="0"/>
                  </a:lnTo>
                  <a:cubicBezTo>
                    <a:pt x="2103755" y="0"/>
                    <a:pt x="2137918" y="34163"/>
                    <a:pt x="2137918" y="76200"/>
                  </a:cubicBezTo>
                  <a:lnTo>
                    <a:pt x="2137918" y="277241"/>
                  </a:lnTo>
                  <a:cubicBezTo>
                    <a:pt x="2137918" y="319278"/>
                    <a:pt x="2103755" y="353441"/>
                    <a:pt x="2061718" y="353441"/>
                  </a:cubicBezTo>
                  <a:lnTo>
                    <a:pt x="76200" y="353441"/>
                  </a:lnTo>
                  <a:cubicBezTo>
                    <a:pt x="34163" y="353441"/>
                    <a:pt x="0" y="319278"/>
                    <a:pt x="0" y="277241"/>
                  </a:cubicBezTo>
                  <a:close/>
                </a:path>
              </a:pathLst>
            </a:custGeom>
            <a:solidFill>
              <a:srgbClr val="EEF0F2"/>
            </a:solidFill>
          </p:spPr>
        </p:sp>
      </p:grpSp>
      <p:sp>
        <p:nvSpPr>
          <p:cNvPr name="TextBox 44" id="44"/>
          <p:cNvSpPr txBox="true"/>
          <p:nvPr/>
        </p:nvSpPr>
        <p:spPr>
          <a:xfrm rot="0">
            <a:off x="6975472" y="5235502"/>
            <a:ext cx="1381192" cy="147561"/>
          </a:xfrm>
          <a:prstGeom prst="rect">
            <a:avLst/>
          </a:prstGeom>
        </p:spPr>
        <p:txBody>
          <a:bodyPr anchor="t" rtlCol="false" tIns="0" lIns="0" bIns="0" rIns="0">
            <a:spAutoFit/>
          </a:bodyPr>
          <a:lstStyle/>
          <a:p>
            <a:pPr algn="l">
              <a:lnSpc>
                <a:spcPts val="1260"/>
              </a:lnSpc>
            </a:pPr>
            <a:r>
              <a:rPr lang="en-US" b="true" sz="1050" spc="150">
                <a:solidFill>
                  <a:srgbClr val="6B7280"/>
                </a:solidFill>
                <a:latin typeface="Arial Bold"/>
                <a:ea typeface="Arial Bold"/>
                <a:cs typeface="Arial Bold"/>
                <a:sym typeface="Arial Bold"/>
              </a:rPr>
              <a:t>FUENTE OFICIAL</a:t>
            </a:r>
          </a:p>
        </p:txBody>
      </p:sp>
      <p:sp>
        <p:nvSpPr>
          <p:cNvPr name="TextBox 45" id="45"/>
          <p:cNvSpPr txBox="true"/>
          <p:nvPr/>
        </p:nvSpPr>
        <p:spPr>
          <a:xfrm rot="0">
            <a:off x="6851647" y="5595747"/>
            <a:ext cx="5048250" cy="294484"/>
          </a:xfrm>
          <a:prstGeom prst="rect">
            <a:avLst/>
          </a:prstGeom>
        </p:spPr>
        <p:txBody>
          <a:bodyPr anchor="t" rtlCol="false" tIns="0" lIns="0" bIns="0" rIns="0">
            <a:spAutoFit/>
          </a:bodyPr>
          <a:lstStyle/>
          <a:p>
            <a:pPr algn="l">
              <a:lnSpc>
                <a:spcPts val="2430"/>
              </a:lnSpc>
            </a:pPr>
            <a:r>
              <a:rPr lang="en-US" sz="2025" b="true">
                <a:solidFill>
                  <a:srgbClr val="003865"/>
                </a:solidFill>
                <a:latin typeface="Arial Bold"/>
                <a:ea typeface="Arial Bold"/>
                <a:cs typeface="Arial Bold"/>
                <a:sym typeface="Arial Bold"/>
              </a:rPr>
              <a:t>Brecha rural</a:t>
            </a:r>
          </a:p>
        </p:txBody>
      </p:sp>
      <p:sp>
        <p:nvSpPr>
          <p:cNvPr name="TextBox 46" id="46"/>
          <p:cNvSpPr txBox="true"/>
          <p:nvPr/>
        </p:nvSpPr>
        <p:spPr>
          <a:xfrm rot="0">
            <a:off x="6851647" y="5921959"/>
            <a:ext cx="5048250" cy="224628"/>
          </a:xfrm>
          <a:prstGeom prst="rect">
            <a:avLst/>
          </a:prstGeom>
        </p:spPr>
        <p:txBody>
          <a:bodyPr anchor="t" rtlCol="false" tIns="0" lIns="0" bIns="0" rIns="0">
            <a:spAutoFit/>
          </a:bodyPr>
          <a:lstStyle/>
          <a:p>
            <a:pPr algn="l">
              <a:lnSpc>
                <a:spcPts val="1800"/>
              </a:lnSpc>
            </a:pPr>
            <a:r>
              <a:rPr lang="en-US" sz="1500" i="true">
                <a:solidFill>
                  <a:srgbClr val="6B7280"/>
                </a:solidFill>
                <a:latin typeface="Arial Italics"/>
                <a:ea typeface="Arial Italics"/>
                <a:cs typeface="Arial Italics"/>
                <a:sym typeface="Arial Italics"/>
              </a:rPr>
              <a:t>INEI · ENDES 2024</a:t>
            </a:r>
          </a:p>
        </p:txBody>
      </p:sp>
      <p:grpSp>
        <p:nvGrpSpPr>
          <p:cNvPr name="Group 47" id="47"/>
          <p:cNvGrpSpPr/>
          <p:nvPr/>
        </p:nvGrpSpPr>
        <p:grpSpPr>
          <a:xfrm rot="0">
            <a:off x="6540503" y="7298655"/>
            <a:ext cx="5207003" cy="2016747"/>
            <a:chOff x="0" y="0"/>
            <a:chExt cx="6942671" cy="2688996"/>
          </a:xfrm>
        </p:grpSpPr>
        <p:sp>
          <p:nvSpPr>
            <p:cNvPr name="Freeform 48" id="48"/>
            <p:cNvSpPr/>
            <p:nvPr/>
          </p:nvSpPr>
          <p:spPr>
            <a:xfrm flipH="false" flipV="false" rot="0">
              <a:off x="0" y="0"/>
              <a:ext cx="6942709" cy="2688971"/>
            </a:xfrm>
            <a:custGeom>
              <a:avLst/>
              <a:gdLst/>
              <a:ahLst/>
              <a:cxnLst/>
              <a:rect r="r" b="b" t="t" l="l"/>
              <a:pathLst>
                <a:path h="2688971" w="6942709">
                  <a:moveTo>
                    <a:pt x="0" y="0"/>
                  </a:moveTo>
                  <a:lnTo>
                    <a:pt x="6942709" y="0"/>
                  </a:lnTo>
                  <a:lnTo>
                    <a:pt x="6942709" y="2688971"/>
                  </a:lnTo>
                  <a:lnTo>
                    <a:pt x="0" y="2688971"/>
                  </a:lnTo>
                  <a:close/>
                </a:path>
              </a:pathLst>
            </a:custGeom>
            <a:solidFill>
              <a:srgbClr val="F4F6F8"/>
            </a:solidFill>
          </p:spPr>
        </p:sp>
      </p:grpSp>
      <p:sp>
        <p:nvSpPr>
          <p:cNvPr name="TextBox 49" id="49"/>
          <p:cNvSpPr txBox="true"/>
          <p:nvPr/>
        </p:nvSpPr>
        <p:spPr>
          <a:xfrm rot="0">
            <a:off x="6619875" y="7524055"/>
            <a:ext cx="5048250" cy="873128"/>
          </a:xfrm>
          <a:prstGeom prst="rect">
            <a:avLst/>
          </a:prstGeom>
        </p:spPr>
        <p:txBody>
          <a:bodyPr anchor="t" rtlCol="false" tIns="0" lIns="0" bIns="0" rIns="0">
            <a:spAutoFit/>
          </a:bodyPr>
          <a:lstStyle/>
          <a:p>
            <a:pPr algn="ctr">
              <a:lnSpc>
                <a:spcPts val="8100"/>
              </a:lnSpc>
            </a:pPr>
            <a:r>
              <a:rPr lang="en-US" sz="6750" b="true">
                <a:solidFill>
                  <a:srgbClr val="003865"/>
                </a:solidFill>
                <a:latin typeface="Arial Bold"/>
                <a:ea typeface="Arial Bold"/>
                <a:cs typeface="Arial Bold"/>
                <a:sym typeface="Arial Bold"/>
              </a:rPr>
              <a:t>20,9%</a:t>
            </a:r>
          </a:p>
        </p:txBody>
      </p:sp>
      <p:sp>
        <p:nvSpPr>
          <p:cNvPr name="TextBox 50" id="50"/>
          <p:cNvSpPr txBox="true"/>
          <p:nvPr/>
        </p:nvSpPr>
        <p:spPr>
          <a:xfrm rot="0">
            <a:off x="6619875" y="8457457"/>
            <a:ext cx="5048250" cy="289722"/>
          </a:xfrm>
          <a:prstGeom prst="rect">
            <a:avLst/>
          </a:prstGeom>
        </p:spPr>
        <p:txBody>
          <a:bodyPr anchor="t" rtlCol="false" tIns="0" lIns="0" bIns="0" rIns="0">
            <a:spAutoFit/>
          </a:bodyPr>
          <a:lstStyle/>
          <a:p>
            <a:pPr algn="ctr">
              <a:lnSpc>
                <a:spcPts val="2250"/>
              </a:lnSpc>
            </a:pPr>
            <a:r>
              <a:rPr lang="en-US" sz="1875" b="true">
                <a:solidFill>
                  <a:srgbClr val="003865"/>
                </a:solidFill>
                <a:latin typeface="Arial Bold"/>
                <a:ea typeface="Arial Bold"/>
                <a:cs typeface="Arial Bold"/>
                <a:sym typeface="Arial Bold"/>
              </a:rPr>
              <a:t>En zonas rurales</a:t>
            </a:r>
          </a:p>
        </p:txBody>
      </p:sp>
      <p:sp>
        <p:nvSpPr>
          <p:cNvPr name="TextBox 51" id="51"/>
          <p:cNvSpPr txBox="true"/>
          <p:nvPr/>
        </p:nvSpPr>
        <p:spPr>
          <a:xfrm rot="0">
            <a:off x="6619875" y="8769353"/>
            <a:ext cx="5048250" cy="292103"/>
          </a:xfrm>
          <a:prstGeom prst="rect">
            <a:avLst/>
          </a:prstGeom>
        </p:spPr>
        <p:txBody>
          <a:bodyPr anchor="t" rtlCol="false" tIns="0" lIns="0" bIns="0" rIns="0">
            <a:spAutoFit/>
          </a:bodyPr>
          <a:lstStyle/>
          <a:p>
            <a:pPr algn="ctr">
              <a:lnSpc>
                <a:spcPts val="1800"/>
              </a:lnSpc>
            </a:pPr>
            <a:r>
              <a:rPr lang="en-US" sz="1500">
                <a:solidFill>
                  <a:srgbClr val="6B7280"/>
                </a:solidFill>
                <a:latin typeface="Arial"/>
                <a:ea typeface="Arial"/>
                <a:cs typeface="Arial"/>
                <a:sym typeface="Arial"/>
              </a:rPr>
              <a:t>frente a 8,5% en zonas urbanas</a:t>
            </a:r>
          </a:p>
        </p:txBody>
      </p:sp>
      <p:grpSp>
        <p:nvGrpSpPr>
          <p:cNvPr name="Group 52" id="52"/>
          <p:cNvGrpSpPr/>
          <p:nvPr/>
        </p:nvGrpSpPr>
        <p:grpSpPr>
          <a:xfrm rot="0">
            <a:off x="12128497" y="3067040"/>
            <a:ext cx="5207003" cy="6248362"/>
            <a:chOff x="0" y="0"/>
            <a:chExt cx="6942671" cy="8331149"/>
          </a:xfrm>
        </p:grpSpPr>
        <p:sp>
          <p:nvSpPr>
            <p:cNvPr name="Freeform 53" id="53"/>
            <p:cNvSpPr/>
            <p:nvPr/>
          </p:nvSpPr>
          <p:spPr>
            <a:xfrm flipH="false" flipV="false" rot="0">
              <a:off x="0" y="0"/>
              <a:ext cx="6942709" cy="8331200"/>
            </a:xfrm>
            <a:custGeom>
              <a:avLst/>
              <a:gdLst/>
              <a:ahLst/>
              <a:cxnLst/>
              <a:rect r="r" b="b" t="t" l="l"/>
              <a:pathLst>
                <a:path h="8331200" w="6942709">
                  <a:moveTo>
                    <a:pt x="0" y="177800"/>
                  </a:moveTo>
                  <a:cubicBezTo>
                    <a:pt x="0" y="79629"/>
                    <a:pt x="79629" y="0"/>
                    <a:pt x="177800" y="0"/>
                  </a:cubicBezTo>
                  <a:lnTo>
                    <a:pt x="6764909" y="0"/>
                  </a:lnTo>
                  <a:cubicBezTo>
                    <a:pt x="6863080" y="0"/>
                    <a:pt x="6942709" y="79629"/>
                    <a:pt x="6942709" y="177800"/>
                  </a:cubicBezTo>
                  <a:lnTo>
                    <a:pt x="6942709" y="8153400"/>
                  </a:lnTo>
                  <a:cubicBezTo>
                    <a:pt x="6942709" y="8251571"/>
                    <a:pt x="6863080" y="8331200"/>
                    <a:pt x="6764909" y="8331200"/>
                  </a:cubicBezTo>
                  <a:lnTo>
                    <a:pt x="177800" y="8331200"/>
                  </a:lnTo>
                  <a:cubicBezTo>
                    <a:pt x="79629" y="8331200"/>
                    <a:pt x="0" y="8251571"/>
                    <a:pt x="0" y="8153400"/>
                  </a:cubicBezTo>
                  <a:close/>
                </a:path>
              </a:pathLst>
            </a:custGeom>
            <a:solidFill>
              <a:srgbClr val="FFFFFF"/>
            </a:solidFill>
          </p:spPr>
        </p:sp>
      </p:grpSp>
      <p:grpSp>
        <p:nvGrpSpPr>
          <p:cNvPr name="Group 54" id="54"/>
          <p:cNvGrpSpPr/>
          <p:nvPr/>
        </p:nvGrpSpPr>
        <p:grpSpPr>
          <a:xfrm rot="0">
            <a:off x="12128497" y="3067040"/>
            <a:ext cx="5207003" cy="1866862"/>
            <a:chOff x="0" y="0"/>
            <a:chExt cx="6942671" cy="2489149"/>
          </a:xfrm>
        </p:grpSpPr>
        <p:sp>
          <p:nvSpPr>
            <p:cNvPr name="Freeform 55" id="55"/>
            <p:cNvSpPr/>
            <p:nvPr/>
          </p:nvSpPr>
          <p:spPr>
            <a:xfrm flipH="false" flipV="false" rot="0">
              <a:off x="0" y="0"/>
              <a:ext cx="6942709" cy="2489200"/>
            </a:xfrm>
            <a:custGeom>
              <a:avLst/>
              <a:gdLst/>
              <a:ahLst/>
              <a:cxnLst/>
              <a:rect r="r" b="b" t="t" l="l"/>
              <a:pathLst>
                <a:path h="2489200" w="6942709">
                  <a:moveTo>
                    <a:pt x="0" y="0"/>
                  </a:moveTo>
                  <a:lnTo>
                    <a:pt x="6942709" y="0"/>
                  </a:lnTo>
                  <a:lnTo>
                    <a:pt x="6942709" y="2489200"/>
                  </a:lnTo>
                  <a:lnTo>
                    <a:pt x="0" y="2489200"/>
                  </a:lnTo>
                  <a:close/>
                </a:path>
              </a:pathLst>
            </a:custGeom>
            <a:solidFill>
              <a:srgbClr val="000000">
                <a:alpha val="0"/>
              </a:srgbClr>
            </a:solidFill>
          </p:spPr>
        </p:sp>
      </p:grpSp>
      <p:grpSp>
        <p:nvGrpSpPr>
          <p:cNvPr name="Group 56" id="56"/>
          <p:cNvGrpSpPr/>
          <p:nvPr/>
        </p:nvGrpSpPr>
        <p:grpSpPr>
          <a:xfrm rot="0">
            <a:off x="12128497" y="3067040"/>
            <a:ext cx="5207003" cy="1866862"/>
            <a:chOff x="0" y="0"/>
            <a:chExt cx="6942671" cy="2489149"/>
          </a:xfrm>
        </p:grpSpPr>
        <p:sp>
          <p:nvSpPr>
            <p:cNvPr name="Freeform 57" id="57" descr="preencoded.png"/>
            <p:cNvSpPr/>
            <p:nvPr/>
          </p:nvSpPr>
          <p:spPr>
            <a:xfrm flipH="false" flipV="false" rot="0">
              <a:off x="0" y="0"/>
              <a:ext cx="6942709" cy="2489200"/>
            </a:xfrm>
            <a:custGeom>
              <a:avLst/>
              <a:gdLst/>
              <a:ahLst/>
              <a:cxnLst/>
              <a:rect r="r" b="b" t="t" l="l"/>
              <a:pathLst>
                <a:path h="2489200" w="6942709">
                  <a:moveTo>
                    <a:pt x="0" y="0"/>
                  </a:moveTo>
                  <a:lnTo>
                    <a:pt x="6942709" y="0"/>
                  </a:lnTo>
                  <a:lnTo>
                    <a:pt x="6942709" y="2489200"/>
                  </a:lnTo>
                  <a:lnTo>
                    <a:pt x="0" y="2489200"/>
                  </a:lnTo>
                  <a:lnTo>
                    <a:pt x="0" y="0"/>
                  </a:lnTo>
                  <a:close/>
                </a:path>
              </a:pathLst>
            </a:custGeom>
            <a:blipFill>
              <a:blip r:embed="rId7"/>
              <a:stretch>
                <a:fillRect l="0" t="-50513" r="0" b="-128397"/>
              </a:stretch>
            </a:blipFill>
          </p:spPr>
        </p:sp>
      </p:grpSp>
      <p:grpSp>
        <p:nvGrpSpPr>
          <p:cNvPr name="Group 58" id="58"/>
          <p:cNvGrpSpPr/>
          <p:nvPr/>
        </p:nvGrpSpPr>
        <p:grpSpPr>
          <a:xfrm rot="0">
            <a:off x="12414247" y="5162474"/>
            <a:ext cx="1603438" cy="265043"/>
            <a:chOff x="0" y="0"/>
            <a:chExt cx="2137918" cy="353390"/>
          </a:xfrm>
        </p:grpSpPr>
        <p:sp>
          <p:nvSpPr>
            <p:cNvPr name="Freeform 59" id="59"/>
            <p:cNvSpPr/>
            <p:nvPr/>
          </p:nvSpPr>
          <p:spPr>
            <a:xfrm flipH="false" flipV="false" rot="0">
              <a:off x="0" y="0"/>
              <a:ext cx="2137918" cy="353441"/>
            </a:xfrm>
            <a:custGeom>
              <a:avLst/>
              <a:gdLst/>
              <a:ahLst/>
              <a:cxnLst/>
              <a:rect r="r" b="b" t="t" l="l"/>
              <a:pathLst>
                <a:path h="353441" w="2137918">
                  <a:moveTo>
                    <a:pt x="0" y="76200"/>
                  </a:moveTo>
                  <a:cubicBezTo>
                    <a:pt x="0" y="34163"/>
                    <a:pt x="34163" y="0"/>
                    <a:pt x="76200" y="0"/>
                  </a:cubicBezTo>
                  <a:lnTo>
                    <a:pt x="2061718" y="0"/>
                  </a:lnTo>
                  <a:cubicBezTo>
                    <a:pt x="2103755" y="0"/>
                    <a:pt x="2137918" y="34163"/>
                    <a:pt x="2137918" y="76200"/>
                  </a:cubicBezTo>
                  <a:lnTo>
                    <a:pt x="2137918" y="277241"/>
                  </a:lnTo>
                  <a:cubicBezTo>
                    <a:pt x="2137918" y="319278"/>
                    <a:pt x="2103755" y="353441"/>
                    <a:pt x="2061718" y="353441"/>
                  </a:cubicBezTo>
                  <a:lnTo>
                    <a:pt x="76200" y="353441"/>
                  </a:lnTo>
                  <a:cubicBezTo>
                    <a:pt x="34163" y="353441"/>
                    <a:pt x="0" y="319278"/>
                    <a:pt x="0" y="277241"/>
                  </a:cubicBezTo>
                  <a:close/>
                </a:path>
              </a:pathLst>
            </a:custGeom>
            <a:solidFill>
              <a:srgbClr val="EEF0F2"/>
            </a:solidFill>
          </p:spPr>
        </p:sp>
      </p:grpSp>
      <p:sp>
        <p:nvSpPr>
          <p:cNvPr name="TextBox 60" id="60"/>
          <p:cNvSpPr txBox="true"/>
          <p:nvPr/>
        </p:nvSpPr>
        <p:spPr>
          <a:xfrm rot="0">
            <a:off x="12563475" y="5235502"/>
            <a:ext cx="1381192" cy="147561"/>
          </a:xfrm>
          <a:prstGeom prst="rect">
            <a:avLst/>
          </a:prstGeom>
        </p:spPr>
        <p:txBody>
          <a:bodyPr anchor="t" rtlCol="false" tIns="0" lIns="0" bIns="0" rIns="0">
            <a:spAutoFit/>
          </a:bodyPr>
          <a:lstStyle/>
          <a:p>
            <a:pPr algn="l">
              <a:lnSpc>
                <a:spcPts val="1260"/>
              </a:lnSpc>
            </a:pPr>
            <a:r>
              <a:rPr lang="en-US" b="true" sz="1050" spc="150">
                <a:solidFill>
                  <a:srgbClr val="6B7280"/>
                </a:solidFill>
                <a:latin typeface="Arial Bold"/>
                <a:ea typeface="Arial Bold"/>
                <a:cs typeface="Arial Bold"/>
                <a:sym typeface="Arial Bold"/>
              </a:rPr>
              <a:t>FUENTE OFICIAL</a:t>
            </a:r>
          </a:p>
        </p:txBody>
      </p:sp>
      <p:sp>
        <p:nvSpPr>
          <p:cNvPr name="TextBox 61" id="61"/>
          <p:cNvSpPr txBox="true"/>
          <p:nvPr/>
        </p:nvSpPr>
        <p:spPr>
          <a:xfrm rot="0">
            <a:off x="12439650" y="5595747"/>
            <a:ext cx="5048250" cy="294484"/>
          </a:xfrm>
          <a:prstGeom prst="rect">
            <a:avLst/>
          </a:prstGeom>
        </p:spPr>
        <p:txBody>
          <a:bodyPr anchor="t" rtlCol="false" tIns="0" lIns="0" bIns="0" rIns="0">
            <a:spAutoFit/>
          </a:bodyPr>
          <a:lstStyle/>
          <a:p>
            <a:pPr algn="l">
              <a:lnSpc>
                <a:spcPts val="2430"/>
              </a:lnSpc>
            </a:pPr>
            <a:r>
              <a:rPr lang="en-US" sz="2025" b="true">
                <a:solidFill>
                  <a:srgbClr val="003865"/>
                </a:solidFill>
                <a:latin typeface="Arial Bold"/>
                <a:ea typeface="Arial Bold"/>
                <a:cs typeface="Arial Bold"/>
                <a:sym typeface="Arial Bold"/>
              </a:rPr>
              <a:t>Anemia infantil</a:t>
            </a:r>
          </a:p>
        </p:txBody>
      </p:sp>
      <p:sp>
        <p:nvSpPr>
          <p:cNvPr name="TextBox 62" id="62"/>
          <p:cNvSpPr txBox="true"/>
          <p:nvPr/>
        </p:nvSpPr>
        <p:spPr>
          <a:xfrm rot="0">
            <a:off x="12439650" y="5921959"/>
            <a:ext cx="5048250" cy="224628"/>
          </a:xfrm>
          <a:prstGeom prst="rect">
            <a:avLst/>
          </a:prstGeom>
        </p:spPr>
        <p:txBody>
          <a:bodyPr anchor="t" rtlCol="false" tIns="0" lIns="0" bIns="0" rIns="0">
            <a:spAutoFit/>
          </a:bodyPr>
          <a:lstStyle/>
          <a:p>
            <a:pPr algn="l">
              <a:lnSpc>
                <a:spcPts val="1800"/>
              </a:lnSpc>
            </a:pPr>
            <a:r>
              <a:rPr lang="en-US" sz="1500" i="true">
                <a:solidFill>
                  <a:srgbClr val="6B7280"/>
                </a:solidFill>
                <a:latin typeface="Arial Italics"/>
                <a:ea typeface="Arial Italics"/>
                <a:cs typeface="Arial Italics"/>
                <a:sym typeface="Arial Italics"/>
              </a:rPr>
              <a:t>ENDES 2024 · INEI</a:t>
            </a:r>
          </a:p>
        </p:txBody>
      </p:sp>
      <p:grpSp>
        <p:nvGrpSpPr>
          <p:cNvPr name="Group 63" id="63"/>
          <p:cNvGrpSpPr/>
          <p:nvPr/>
        </p:nvGrpSpPr>
        <p:grpSpPr>
          <a:xfrm rot="0">
            <a:off x="12128497" y="7298655"/>
            <a:ext cx="5207003" cy="2016747"/>
            <a:chOff x="0" y="0"/>
            <a:chExt cx="6942671" cy="2688996"/>
          </a:xfrm>
        </p:grpSpPr>
        <p:sp>
          <p:nvSpPr>
            <p:cNvPr name="Freeform 64" id="64"/>
            <p:cNvSpPr/>
            <p:nvPr/>
          </p:nvSpPr>
          <p:spPr>
            <a:xfrm flipH="false" flipV="false" rot="0">
              <a:off x="0" y="0"/>
              <a:ext cx="6942709" cy="2688971"/>
            </a:xfrm>
            <a:custGeom>
              <a:avLst/>
              <a:gdLst/>
              <a:ahLst/>
              <a:cxnLst/>
              <a:rect r="r" b="b" t="t" l="l"/>
              <a:pathLst>
                <a:path h="2688971" w="6942709">
                  <a:moveTo>
                    <a:pt x="0" y="0"/>
                  </a:moveTo>
                  <a:lnTo>
                    <a:pt x="6942709" y="0"/>
                  </a:lnTo>
                  <a:lnTo>
                    <a:pt x="6942709" y="2688971"/>
                  </a:lnTo>
                  <a:lnTo>
                    <a:pt x="0" y="2688971"/>
                  </a:lnTo>
                  <a:close/>
                </a:path>
              </a:pathLst>
            </a:custGeom>
            <a:solidFill>
              <a:srgbClr val="F4F6F8"/>
            </a:solidFill>
          </p:spPr>
        </p:sp>
      </p:grpSp>
      <p:sp>
        <p:nvSpPr>
          <p:cNvPr name="TextBox 65" id="65"/>
          <p:cNvSpPr txBox="true"/>
          <p:nvPr/>
        </p:nvSpPr>
        <p:spPr>
          <a:xfrm rot="0">
            <a:off x="12207878" y="7524055"/>
            <a:ext cx="5048250" cy="873128"/>
          </a:xfrm>
          <a:prstGeom prst="rect">
            <a:avLst/>
          </a:prstGeom>
        </p:spPr>
        <p:txBody>
          <a:bodyPr anchor="t" rtlCol="false" tIns="0" lIns="0" bIns="0" rIns="0">
            <a:spAutoFit/>
          </a:bodyPr>
          <a:lstStyle/>
          <a:p>
            <a:pPr algn="ctr">
              <a:lnSpc>
                <a:spcPts val="8100"/>
              </a:lnSpc>
            </a:pPr>
            <a:r>
              <a:rPr lang="en-US" sz="6750" b="true">
                <a:solidFill>
                  <a:srgbClr val="2F8F5B"/>
                </a:solidFill>
                <a:latin typeface="Arial Bold"/>
                <a:ea typeface="Arial Bold"/>
                <a:cs typeface="Arial Bold"/>
                <a:sym typeface="Arial Bold"/>
              </a:rPr>
              <a:t>43,7%</a:t>
            </a:r>
          </a:p>
        </p:txBody>
      </p:sp>
      <p:sp>
        <p:nvSpPr>
          <p:cNvPr name="TextBox 66" id="66"/>
          <p:cNvSpPr txBox="true"/>
          <p:nvPr/>
        </p:nvSpPr>
        <p:spPr>
          <a:xfrm rot="0">
            <a:off x="12207878" y="8457457"/>
            <a:ext cx="5048250" cy="289722"/>
          </a:xfrm>
          <a:prstGeom prst="rect">
            <a:avLst/>
          </a:prstGeom>
        </p:spPr>
        <p:txBody>
          <a:bodyPr anchor="t" rtlCol="false" tIns="0" lIns="0" bIns="0" rIns="0">
            <a:spAutoFit/>
          </a:bodyPr>
          <a:lstStyle/>
          <a:p>
            <a:pPr algn="ctr">
              <a:lnSpc>
                <a:spcPts val="2250"/>
              </a:lnSpc>
            </a:pPr>
            <a:r>
              <a:rPr lang="en-US" sz="1875" b="true">
                <a:solidFill>
                  <a:srgbClr val="003865"/>
                </a:solidFill>
                <a:latin typeface="Arial Bold"/>
                <a:ea typeface="Arial Bold"/>
                <a:cs typeface="Arial Bold"/>
                <a:sym typeface="Arial Bold"/>
              </a:rPr>
              <a:t>Niños de 6 a 35 meses</a:t>
            </a:r>
          </a:p>
        </p:txBody>
      </p:sp>
      <p:sp>
        <p:nvSpPr>
          <p:cNvPr name="TextBox 67" id="67"/>
          <p:cNvSpPr txBox="true"/>
          <p:nvPr/>
        </p:nvSpPr>
        <p:spPr>
          <a:xfrm rot="0">
            <a:off x="12207878" y="8769353"/>
            <a:ext cx="5048250" cy="292103"/>
          </a:xfrm>
          <a:prstGeom prst="rect">
            <a:avLst/>
          </a:prstGeom>
        </p:spPr>
        <p:txBody>
          <a:bodyPr anchor="t" rtlCol="false" tIns="0" lIns="0" bIns="0" rIns="0">
            <a:spAutoFit/>
          </a:bodyPr>
          <a:lstStyle/>
          <a:p>
            <a:pPr algn="ctr">
              <a:lnSpc>
                <a:spcPts val="1800"/>
              </a:lnSpc>
            </a:pPr>
            <a:r>
              <a:rPr lang="en-US" sz="1500">
                <a:solidFill>
                  <a:srgbClr val="6B7280"/>
                </a:solidFill>
                <a:latin typeface="Arial"/>
                <a:ea typeface="Arial"/>
                <a:cs typeface="Arial"/>
                <a:sym typeface="Arial"/>
              </a:rPr>
              <a:t>carencia que agrava la desnutrición</a:t>
            </a:r>
          </a:p>
        </p:txBody>
      </p:sp>
      <p:sp>
        <p:nvSpPr>
          <p:cNvPr name="TextBox 68" id="68"/>
          <p:cNvSpPr txBox="true"/>
          <p:nvPr/>
        </p:nvSpPr>
        <p:spPr>
          <a:xfrm rot="0">
            <a:off x="15811500" y="9715452"/>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5240000" y="7810500"/>
            <a:ext cx="4572000" cy="4572000"/>
            <a:chOff x="0" y="0"/>
            <a:chExt cx="6096000" cy="6096000"/>
          </a:xfrm>
        </p:grpSpPr>
        <p:sp>
          <p:nvSpPr>
            <p:cNvPr name="Freeform 9" id="9"/>
            <p:cNvSpPr/>
            <p:nvPr/>
          </p:nvSpPr>
          <p:spPr>
            <a:xfrm flipH="false" flipV="false" rot="0">
              <a:off x="0" y="0"/>
              <a:ext cx="6096000" cy="6096000"/>
            </a:xfrm>
            <a:custGeom>
              <a:avLst/>
              <a:gdLst/>
              <a:ahLst/>
              <a:cxnLst/>
              <a:rect r="r" b="b" t="t" l="l"/>
              <a:pathLst>
                <a:path h="6096000" w="6096000">
                  <a:moveTo>
                    <a:pt x="0" y="3048000"/>
                  </a:moveTo>
                  <a:cubicBezTo>
                    <a:pt x="0" y="1364615"/>
                    <a:pt x="1364615" y="0"/>
                    <a:pt x="3048000" y="0"/>
                  </a:cubicBezTo>
                  <a:cubicBezTo>
                    <a:pt x="4731385" y="0"/>
                    <a:pt x="6096000" y="1364615"/>
                    <a:pt x="6096000" y="3048000"/>
                  </a:cubicBezTo>
                  <a:cubicBezTo>
                    <a:pt x="6096000" y="4731385"/>
                    <a:pt x="4731385" y="6096000"/>
                    <a:pt x="3048000" y="6096000"/>
                  </a:cubicBezTo>
                  <a:cubicBezTo>
                    <a:pt x="1364615" y="6096000"/>
                    <a:pt x="0" y="4731385"/>
                    <a:pt x="0" y="3048000"/>
                  </a:cubicBezTo>
                  <a:close/>
                </a:path>
              </a:pathLst>
            </a:custGeom>
            <a:solidFill>
              <a:srgbClr val="003865">
                <a:alpha val="0"/>
              </a:srgbClr>
            </a:solidFill>
          </p:spPr>
        </p:sp>
      </p:grpSp>
      <p:grpSp>
        <p:nvGrpSpPr>
          <p:cNvPr name="Group 10" id="10"/>
          <p:cNvGrpSpPr/>
          <p:nvPr/>
        </p:nvGrpSpPr>
        <p:grpSpPr>
          <a:xfrm rot="0">
            <a:off x="15240000" y="7810500"/>
            <a:ext cx="4572000" cy="4572000"/>
            <a:chOff x="0" y="0"/>
            <a:chExt cx="6096000" cy="6096000"/>
          </a:xfrm>
        </p:grpSpPr>
        <p:sp>
          <p:nvSpPr>
            <p:cNvPr name="Freeform 11" id="11"/>
            <p:cNvSpPr/>
            <p:nvPr/>
          </p:nvSpPr>
          <p:spPr>
            <a:xfrm flipH="false" flipV="false" rot="0">
              <a:off x="0" y="0"/>
              <a:ext cx="6096000" cy="6096000"/>
            </a:xfrm>
            <a:custGeom>
              <a:avLst/>
              <a:gdLst/>
              <a:ahLst/>
              <a:cxnLst/>
              <a:rect r="r" b="b" t="t" l="l"/>
              <a:pathLst>
                <a:path h="6096000" w="6096000">
                  <a:moveTo>
                    <a:pt x="0" y="3048000"/>
                  </a:moveTo>
                  <a:cubicBezTo>
                    <a:pt x="0" y="1364615"/>
                    <a:pt x="1364615" y="0"/>
                    <a:pt x="3048000" y="0"/>
                  </a:cubicBezTo>
                  <a:cubicBezTo>
                    <a:pt x="4731385" y="0"/>
                    <a:pt x="6096000" y="1364615"/>
                    <a:pt x="6096000" y="3048000"/>
                  </a:cubicBezTo>
                  <a:cubicBezTo>
                    <a:pt x="6096000" y="4731385"/>
                    <a:pt x="4731385" y="6096000"/>
                    <a:pt x="3048000" y="6096000"/>
                  </a:cubicBezTo>
                  <a:cubicBezTo>
                    <a:pt x="1364615" y="6096000"/>
                    <a:pt x="0" y="4731385"/>
                    <a:pt x="0" y="3048000"/>
                  </a:cubicBezTo>
                  <a:close/>
                </a:path>
              </a:pathLst>
            </a:custGeom>
            <a:solidFill>
              <a:srgbClr val="003865">
                <a:alpha val="0"/>
              </a:srgbClr>
            </a:solidFill>
          </p:spPr>
        </p:sp>
      </p:grpSp>
      <p:grpSp>
        <p:nvGrpSpPr>
          <p:cNvPr name="Group 12" id="12"/>
          <p:cNvGrpSpPr/>
          <p:nvPr/>
        </p:nvGrpSpPr>
        <p:grpSpPr>
          <a:xfrm rot="0">
            <a:off x="1047750" y="1050608"/>
            <a:ext cx="457200" cy="47625"/>
            <a:chOff x="0" y="0"/>
            <a:chExt cx="609600" cy="63500"/>
          </a:xfrm>
        </p:grpSpPr>
        <p:sp>
          <p:nvSpPr>
            <p:cNvPr name="Freeform 13" id="13"/>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sp>
        <p:nvSpPr>
          <p:cNvPr name="TextBox 14" id="14"/>
          <p:cNvSpPr txBox="true"/>
          <p:nvPr/>
        </p:nvSpPr>
        <p:spPr>
          <a:xfrm rot="0">
            <a:off x="1682753" y="930278"/>
            <a:ext cx="2334797" cy="316868"/>
          </a:xfrm>
          <a:prstGeom prst="rect">
            <a:avLst/>
          </a:prstGeom>
        </p:spPr>
        <p:txBody>
          <a:bodyPr anchor="t" rtlCol="false" tIns="0" lIns="0" bIns="0" rIns="0">
            <a:spAutoFit/>
          </a:bodyPr>
          <a:lstStyle/>
          <a:p>
            <a:pPr algn="l">
              <a:lnSpc>
                <a:spcPts val="1980"/>
              </a:lnSpc>
            </a:pPr>
            <a:r>
              <a:rPr lang="en-US" b="true" sz="1650" spc="375">
                <a:solidFill>
                  <a:srgbClr val="F8A900"/>
                </a:solidFill>
                <a:latin typeface="Poppins Bold"/>
                <a:ea typeface="Poppins Bold"/>
                <a:cs typeface="Poppins Bold"/>
                <a:sym typeface="Poppins Bold"/>
              </a:rPr>
              <a:t>PROBLEMÁTICA</a:t>
            </a:r>
          </a:p>
        </p:txBody>
      </p:sp>
      <p:sp>
        <p:nvSpPr>
          <p:cNvPr name="TextBox 15" id="15"/>
          <p:cNvSpPr txBox="true"/>
          <p:nvPr/>
        </p:nvSpPr>
        <p:spPr>
          <a:xfrm rot="0">
            <a:off x="1073153" y="1431293"/>
            <a:ext cx="10426703" cy="660121"/>
          </a:xfrm>
          <a:prstGeom prst="rect">
            <a:avLst/>
          </a:prstGeom>
        </p:spPr>
        <p:txBody>
          <a:bodyPr anchor="t" rtlCol="false" tIns="0" lIns="0" bIns="0" rIns="0">
            <a:spAutoFit/>
          </a:bodyPr>
          <a:lstStyle/>
          <a:p>
            <a:pPr algn="l">
              <a:lnSpc>
                <a:spcPts val="6177"/>
              </a:lnSpc>
            </a:pPr>
            <a:r>
              <a:rPr lang="en-US" b="true" sz="4950" spc="-75">
                <a:solidFill>
                  <a:srgbClr val="003865"/>
                </a:solidFill>
                <a:latin typeface="DM Sans Bold"/>
                <a:ea typeface="DM Sans Bold"/>
                <a:cs typeface="DM Sans Bold"/>
                <a:sym typeface="DM Sans Bold"/>
              </a:rPr>
              <a:t>Una crisis desigual</a:t>
            </a:r>
          </a:p>
        </p:txBody>
      </p:sp>
      <p:sp>
        <p:nvSpPr>
          <p:cNvPr name="TextBox 16" id="16"/>
          <p:cNvSpPr txBox="true"/>
          <p:nvPr/>
        </p:nvSpPr>
        <p:spPr>
          <a:xfrm rot="0">
            <a:off x="1073153" y="2161261"/>
            <a:ext cx="9759953" cy="848363"/>
          </a:xfrm>
          <a:prstGeom prst="rect">
            <a:avLst/>
          </a:prstGeom>
        </p:spPr>
        <p:txBody>
          <a:bodyPr anchor="t" rtlCol="false" tIns="0" lIns="0" bIns="0" rIns="0">
            <a:spAutoFit/>
          </a:bodyPr>
          <a:lstStyle/>
          <a:p>
            <a:pPr algn="l">
              <a:lnSpc>
                <a:spcPts val="3528"/>
              </a:lnSpc>
            </a:pPr>
            <a:r>
              <a:rPr lang="en-US" sz="2100">
                <a:solidFill>
                  <a:srgbClr val="1E1E1E"/>
                </a:solidFill>
                <a:latin typeface="Poppins"/>
                <a:ea typeface="Poppins"/>
                <a:cs typeface="Poppins"/>
                <a:sym typeface="Poppins"/>
              </a:rPr>
              <a:t>El promedio nacional esconde brechas de más de diez veces entre departamentos.</a:t>
            </a:r>
          </a:p>
        </p:txBody>
      </p:sp>
      <p:sp>
        <p:nvSpPr>
          <p:cNvPr name="TextBox 17" id="17"/>
          <p:cNvSpPr txBox="true"/>
          <p:nvPr/>
        </p:nvSpPr>
        <p:spPr>
          <a:xfrm rot="0">
            <a:off x="1073153" y="3159128"/>
            <a:ext cx="9169403" cy="324488"/>
          </a:xfrm>
          <a:prstGeom prst="rect">
            <a:avLst/>
          </a:prstGeom>
        </p:spPr>
        <p:txBody>
          <a:bodyPr anchor="t" rtlCol="false" tIns="0" lIns="0" bIns="0" rIns="0">
            <a:spAutoFit/>
          </a:bodyPr>
          <a:lstStyle/>
          <a:p>
            <a:pPr algn="l">
              <a:lnSpc>
                <a:spcPts val="2070"/>
              </a:lnSpc>
            </a:pPr>
            <a:r>
              <a:rPr lang="en-US" b="true" sz="1725" spc="150">
                <a:solidFill>
                  <a:srgbClr val="6B7280"/>
                </a:solidFill>
                <a:latin typeface="Poppins Bold"/>
                <a:ea typeface="Poppins Bold"/>
                <a:cs typeface="Poppins Bold"/>
                <a:sym typeface="Poppins Bold"/>
              </a:rPr>
              <a:t>DESNUTRICIÓN CRÓNICA POR DEPARTAMENTO (%)</a:t>
            </a:r>
          </a:p>
        </p:txBody>
      </p:sp>
      <p:sp>
        <p:nvSpPr>
          <p:cNvPr name="TextBox 18" id="18"/>
          <p:cNvSpPr txBox="true"/>
          <p:nvPr/>
        </p:nvSpPr>
        <p:spPr>
          <a:xfrm rot="0">
            <a:off x="1073153" y="3713483"/>
            <a:ext cx="1835153" cy="364493"/>
          </a:xfrm>
          <a:prstGeom prst="rect">
            <a:avLst/>
          </a:prstGeom>
        </p:spPr>
        <p:txBody>
          <a:bodyPr anchor="t" rtlCol="false" tIns="0" lIns="0" bIns="0" rIns="0">
            <a:spAutoFit/>
          </a:bodyPr>
          <a:lstStyle/>
          <a:p>
            <a:pPr algn="l">
              <a:lnSpc>
                <a:spcPts val="2250"/>
              </a:lnSpc>
            </a:pPr>
            <a:r>
              <a:rPr lang="en-US" sz="1875" b="true">
                <a:solidFill>
                  <a:srgbClr val="1E1E1E"/>
                </a:solidFill>
                <a:latin typeface="Poppins Bold"/>
                <a:ea typeface="Poppins Bold"/>
                <a:cs typeface="Poppins Bold"/>
                <a:sym typeface="Poppins Bold"/>
              </a:rPr>
              <a:t>Huancavelica</a:t>
            </a:r>
          </a:p>
        </p:txBody>
      </p:sp>
      <p:grpSp>
        <p:nvGrpSpPr>
          <p:cNvPr name="Group 19" id="19"/>
          <p:cNvGrpSpPr/>
          <p:nvPr/>
        </p:nvGrpSpPr>
        <p:grpSpPr>
          <a:xfrm rot="0">
            <a:off x="2952750" y="3705225"/>
            <a:ext cx="5486400" cy="361950"/>
            <a:chOff x="0" y="0"/>
            <a:chExt cx="7315200" cy="482600"/>
          </a:xfrm>
        </p:grpSpPr>
        <p:sp>
          <p:nvSpPr>
            <p:cNvPr name="Freeform 20" id="20"/>
            <p:cNvSpPr/>
            <p:nvPr/>
          </p:nvSpPr>
          <p:spPr>
            <a:xfrm flipH="false" flipV="false" rot="0">
              <a:off x="0" y="0"/>
              <a:ext cx="7315200" cy="482600"/>
            </a:xfrm>
            <a:custGeom>
              <a:avLst/>
              <a:gdLst/>
              <a:ahLst/>
              <a:cxnLst/>
              <a:rect r="r" b="b" t="t" l="l"/>
              <a:pathLst>
                <a:path h="482600" w="7315200">
                  <a:moveTo>
                    <a:pt x="0" y="50800"/>
                  </a:moveTo>
                  <a:cubicBezTo>
                    <a:pt x="0" y="22733"/>
                    <a:pt x="22733" y="0"/>
                    <a:pt x="50800" y="0"/>
                  </a:cubicBezTo>
                  <a:lnTo>
                    <a:pt x="7264400" y="0"/>
                  </a:lnTo>
                  <a:cubicBezTo>
                    <a:pt x="7292467" y="0"/>
                    <a:pt x="7315200" y="22733"/>
                    <a:pt x="7315200" y="50800"/>
                  </a:cubicBezTo>
                  <a:lnTo>
                    <a:pt x="7315200" y="431800"/>
                  </a:lnTo>
                  <a:cubicBezTo>
                    <a:pt x="7315200" y="459867"/>
                    <a:pt x="7292467" y="482600"/>
                    <a:pt x="7264400" y="482600"/>
                  </a:cubicBezTo>
                  <a:lnTo>
                    <a:pt x="50800" y="482600"/>
                  </a:lnTo>
                  <a:cubicBezTo>
                    <a:pt x="22733" y="482600"/>
                    <a:pt x="0" y="459867"/>
                    <a:pt x="0" y="431800"/>
                  </a:cubicBezTo>
                  <a:close/>
                </a:path>
              </a:pathLst>
            </a:custGeom>
            <a:solidFill>
              <a:srgbClr val="ECECEC"/>
            </a:solidFill>
          </p:spPr>
        </p:sp>
      </p:grpSp>
      <p:grpSp>
        <p:nvGrpSpPr>
          <p:cNvPr name="Group 21" id="21"/>
          <p:cNvGrpSpPr/>
          <p:nvPr/>
        </p:nvGrpSpPr>
        <p:grpSpPr>
          <a:xfrm rot="0">
            <a:off x="2952750" y="3705225"/>
            <a:ext cx="5486400" cy="361950"/>
            <a:chOff x="0" y="0"/>
            <a:chExt cx="7315200" cy="482600"/>
          </a:xfrm>
        </p:grpSpPr>
        <p:sp>
          <p:nvSpPr>
            <p:cNvPr name="Freeform 22" id="22"/>
            <p:cNvSpPr/>
            <p:nvPr/>
          </p:nvSpPr>
          <p:spPr>
            <a:xfrm flipH="false" flipV="false" rot="0">
              <a:off x="0" y="0"/>
              <a:ext cx="7315200" cy="482600"/>
            </a:xfrm>
            <a:custGeom>
              <a:avLst/>
              <a:gdLst/>
              <a:ahLst/>
              <a:cxnLst/>
              <a:rect r="r" b="b" t="t" l="l"/>
              <a:pathLst>
                <a:path h="482600" w="7315200">
                  <a:moveTo>
                    <a:pt x="0" y="0"/>
                  </a:moveTo>
                  <a:lnTo>
                    <a:pt x="7315200" y="0"/>
                  </a:lnTo>
                  <a:lnTo>
                    <a:pt x="7315200" y="482600"/>
                  </a:lnTo>
                  <a:lnTo>
                    <a:pt x="0" y="482600"/>
                  </a:lnTo>
                  <a:close/>
                </a:path>
              </a:pathLst>
            </a:custGeom>
            <a:solidFill>
              <a:srgbClr val="F8A900"/>
            </a:solidFill>
          </p:spPr>
        </p:sp>
      </p:grpSp>
      <p:sp>
        <p:nvSpPr>
          <p:cNvPr name="TextBox 23" id="23"/>
          <p:cNvSpPr txBox="true"/>
          <p:nvPr/>
        </p:nvSpPr>
        <p:spPr>
          <a:xfrm rot="0">
            <a:off x="8578853" y="3715388"/>
            <a:ext cx="825503" cy="370208"/>
          </a:xfrm>
          <a:prstGeom prst="rect">
            <a:avLst/>
          </a:prstGeom>
        </p:spPr>
        <p:txBody>
          <a:bodyPr anchor="t" rtlCol="false" tIns="0" lIns="0" bIns="0" rIns="0">
            <a:spAutoFit/>
          </a:bodyPr>
          <a:lstStyle/>
          <a:p>
            <a:pPr algn="r">
              <a:lnSpc>
                <a:spcPts val="2700"/>
              </a:lnSpc>
            </a:pPr>
            <a:r>
              <a:rPr lang="en-US" sz="2250" b="true">
                <a:solidFill>
                  <a:srgbClr val="003865"/>
                </a:solidFill>
                <a:latin typeface="DM Sans Bold"/>
                <a:ea typeface="DM Sans Bold"/>
                <a:cs typeface="DM Sans Bold"/>
                <a:sym typeface="DM Sans Bold"/>
              </a:rPr>
              <a:t>26,1</a:t>
            </a:r>
          </a:p>
        </p:txBody>
      </p:sp>
      <p:sp>
        <p:nvSpPr>
          <p:cNvPr name="TextBox 24" id="24"/>
          <p:cNvSpPr txBox="true"/>
          <p:nvPr/>
        </p:nvSpPr>
        <p:spPr>
          <a:xfrm rot="0">
            <a:off x="1073153" y="4258313"/>
            <a:ext cx="1835153" cy="364493"/>
          </a:xfrm>
          <a:prstGeom prst="rect">
            <a:avLst/>
          </a:prstGeom>
        </p:spPr>
        <p:txBody>
          <a:bodyPr anchor="t" rtlCol="false" tIns="0" lIns="0" bIns="0" rIns="0">
            <a:spAutoFit/>
          </a:bodyPr>
          <a:lstStyle/>
          <a:p>
            <a:pPr algn="l">
              <a:lnSpc>
                <a:spcPts val="2250"/>
              </a:lnSpc>
            </a:pPr>
            <a:r>
              <a:rPr lang="en-US" sz="1875" b="true">
                <a:solidFill>
                  <a:srgbClr val="1E1E1E"/>
                </a:solidFill>
                <a:latin typeface="Poppins Bold"/>
                <a:ea typeface="Poppins Bold"/>
                <a:cs typeface="Poppins Bold"/>
                <a:sym typeface="Poppins Bold"/>
              </a:rPr>
              <a:t>Loreto</a:t>
            </a:r>
          </a:p>
        </p:txBody>
      </p:sp>
      <p:grpSp>
        <p:nvGrpSpPr>
          <p:cNvPr name="Group 25" id="25"/>
          <p:cNvGrpSpPr/>
          <p:nvPr/>
        </p:nvGrpSpPr>
        <p:grpSpPr>
          <a:xfrm rot="0">
            <a:off x="2952750" y="4250055"/>
            <a:ext cx="5486400" cy="361950"/>
            <a:chOff x="0" y="0"/>
            <a:chExt cx="7315200" cy="482600"/>
          </a:xfrm>
        </p:grpSpPr>
        <p:sp>
          <p:nvSpPr>
            <p:cNvPr name="Freeform 26" id="26"/>
            <p:cNvSpPr/>
            <p:nvPr/>
          </p:nvSpPr>
          <p:spPr>
            <a:xfrm flipH="false" flipV="false" rot="0">
              <a:off x="0" y="0"/>
              <a:ext cx="7315200" cy="482600"/>
            </a:xfrm>
            <a:custGeom>
              <a:avLst/>
              <a:gdLst/>
              <a:ahLst/>
              <a:cxnLst/>
              <a:rect r="r" b="b" t="t" l="l"/>
              <a:pathLst>
                <a:path h="482600" w="7315200">
                  <a:moveTo>
                    <a:pt x="0" y="50800"/>
                  </a:moveTo>
                  <a:cubicBezTo>
                    <a:pt x="0" y="22733"/>
                    <a:pt x="22733" y="0"/>
                    <a:pt x="50800" y="0"/>
                  </a:cubicBezTo>
                  <a:lnTo>
                    <a:pt x="7264400" y="0"/>
                  </a:lnTo>
                  <a:cubicBezTo>
                    <a:pt x="7292467" y="0"/>
                    <a:pt x="7315200" y="22733"/>
                    <a:pt x="7315200" y="50800"/>
                  </a:cubicBezTo>
                  <a:lnTo>
                    <a:pt x="7315200" y="431800"/>
                  </a:lnTo>
                  <a:cubicBezTo>
                    <a:pt x="7315200" y="459867"/>
                    <a:pt x="7292467" y="482600"/>
                    <a:pt x="7264400" y="482600"/>
                  </a:cubicBezTo>
                  <a:lnTo>
                    <a:pt x="50800" y="482600"/>
                  </a:lnTo>
                  <a:cubicBezTo>
                    <a:pt x="22733" y="482600"/>
                    <a:pt x="0" y="459867"/>
                    <a:pt x="0" y="431800"/>
                  </a:cubicBezTo>
                  <a:close/>
                </a:path>
              </a:pathLst>
            </a:custGeom>
            <a:solidFill>
              <a:srgbClr val="ECECEC"/>
            </a:solidFill>
          </p:spPr>
        </p:sp>
      </p:grpSp>
      <p:grpSp>
        <p:nvGrpSpPr>
          <p:cNvPr name="Group 27" id="27"/>
          <p:cNvGrpSpPr/>
          <p:nvPr/>
        </p:nvGrpSpPr>
        <p:grpSpPr>
          <a:xfrm rot="0">
            <a:off x="2952750" y="4250055"/>
            <a:ext cx="4553664" cy="361950"/>
            <a:chOff x="0" y="0"/>
            <a:chExt cx="6071552" cy="482600"/>
          </a:xfrm>
        </p:grpSpPr>
        <p:sp>
          <p:nvSpPr>
            <p:cNvPr name="Freeform 28" id="28"/>
            <p:cNvSpPr/>
            <p:nvPr/>
          </p:nvSpPr>
          <p:spPr>
            <a:xfrm flipH="false" flipV="false" rot="0">
              <a:off x="0" y="0"/>
              <a:ext cx="6071489" cy="482600"/>
            </a:xfrm>
            <a:custGeom>
              <a:avLst/>
              <a:gdLst/>
              <a:ahLst/>
              <a:cxnLst/>
              <a:rect r="r" b="b" t="t" l="l"/>
              <a:pathLst>
                <a:path h="482600" w="6071489">
                  <a:moveTo>
                    <a:pt x="0" y="0"/>
                  </a:moveTo>
                  <a:lnTo>
                    <a:pt x="6071489" y="0"/>
                  </a:lnTo>
                  <a:lnTo>
                    <a:pt x="6071489" y="482600"/>
                  </a:lnTo>
                  <a:lnTo>
                    <a:pt x="0" y="482600"/>
                  </a:lnTo>
                  <a:close/>
                </a:path>
              </a:pathLst>
            </a:custGeom>
            <a:solidFill>
              <a:srgbClr val="003865"/>
            </a:solidFill>
          </p:spPr>
        </p:sp>
      </p:grpSp>
      <p:sp>
        <p:nvSpPr>
          <p:cNvPr name="TextBox 29" id="29"/>
          <p:cNvSpPr txBox="true"/>
          <p:nvPr/>
        </p:nvSpPr>
        <p:spPr>
          <a:xfrm rot="0">
            <a:off x="8578853" y="4260218"/>
            <a:ext cx="825503" cy="370208"/>
          </a:xfrm>
          <a:prstGeom prst="rect">
            <a:avLst/>
          </a:prstGeom>
        </p:spPr>
        <p:txBody>
          <a:bodyPr anchor="t" rtlCol="false" tIns="0" lIns="0" bIns="0" rIns="0">
            <a:spAutoFit/>
          </a:bodyPr>
          <a:lstStyle/>
          <a:p>
            <a:pPr algn="r">
              <a:lnSpc>
                <a:spcPts val="2700"/>
              </a:lnSpc>
            </a:pPr>
            <a:r>
              <a:rPr lang="en-US" sz="2250" b="true">
                <a:solidFill>
                  <a:srgbClr val="003865"/>
                </a:solidFill>
                <a:latin typeface="DM Sans Bold"/>
                <a:ea typeface="DM Sans Bold"/>
                <a:cs typeface="DM Sans Bold"/>
                <a:sym typeface="DM Sans Bold"/>
              </a:rPr>
              <a:t>21,7</a:t>
            </a:r>
          </a:p>
        </p:txBody>
      </p:sp>
      <p:sp>
        <p:nvSpPr>
          <p:cNvPr name="TextBox 30" id="30"/>
          <p:cNvSpPr txBox="true"/>
          <p:nvPr/>
        </p:nvSpPr>
        <p:spPr>
          <a:xfrm rot="0">
            <a:off x="1073153" y="4803143"/>
            <a:ext cx="1835153" cy="364493"/>
          </a:xfrm>
          <a:prstGeom prst="rect">
            <a:avLst/>
          </a:prstGeom>
        </p:spPr>
        <p:txBody>
          <a:bodyPr anchor="t" rtlCol="false" tIns="0" lIns="0" bIns="0" rIns="0">
            <a:spAutoFit/>
          </a:bodyPr>
          <a:lstStyle/>
          <a:p>
            <a:pPr algn="l">
              <a:lnSpc>
                <a:spcPts val="2250"/>
              </a:lnSpc>
            </a:pPr>
            <a:r>
              <a:rPr lang="en-US" sz="1875" b="true">
                <a:solidFill>
                  <a:srgbClr val="1E1E1E"/>
                </a:solidFill>
                <a:latin typeface="Poppins Bold"/>
                <a:ea typeface="Poppins Bold"/>
                <a:cs typeface="Poppins Bold"/>
                <a:sym typeface="Poppins Bold"/>
              </a:rPr>
              <a:t>Amazonas</a:t>
            </a:r>
          </a:p>
        </p:txBody>
      </p:sp>
      <p:grpSp>
        <p:nvGrpSpPr>
          <p:cNvPr name="Group 31" id="31"/>
          <p:cNvGrpSpPr/>
          <p:nvPr/>
        </p:nvGrpSpPr>
        <p:grpSpPr>
          <a:xfrm rot="0">
            <a:off x="2952750" y="4794885"/>
            <a:ext cx="5486400" cy="361950"/>
            <a:chOff x="0" y="0"/>
            <a:chExt cx="7315200" cy="482600"/>
          </a:xfrm>
        </p:grpSpPr>
        <p:sp>
          <p:nvSpPr>
            <p:cNvPr name="Freeform 32" id="32"/>
            <p:cNvSpPr/>
            <p:nvPr/>
          </p:nvSpPr>
          <p:spPr>
            <a:xfrm flipH="false" flipV="false" rot="0">
              <a:off x="0" y="0"/>
              <a:ext cx="7315200" cy="482600"/>
            </a:xfrm>
            <a:custGeom>
              <a:avLst/>
              <a:gdLst/>
              <a:ahLst/>
              <a:cxnLst/>
              <a:rect r="r" b="b" t="t" l="l"/>
              <a:pathLst>
                <a:path h="482600" w="7315200">
                  <a:moveTo>
                    <a:pt x="0" y="50800"/>
                  </a:moveTo>
                  <a:cubicBezTo>
                    <a:pt x="0" y="22733"/>
                    <a:pt x="22733" y="0"/>
                    <a:pt x="50800" y="0"/>
                  </a:cubicBezTo>
                  <a:lnTo>
                    <a:pt x="7264400" y="0"/>
                  </a:lnTo>
                  <a:cubicBezTo>
                    <a:pt x="7292467" y="0"/>
                    <a:pt x="7315200" y="22733"/>
                    <a:pt x="7315200" y="50800"/>
                  </a:cubicBezTo>
                  <a:lnTo>
                    <a:pt x="7315200" y="431800"/>
                  </a:lnTo>
                  <a:cubicBezTo>
                    <a:pt x="7315200" y="459867"/>
                    <a:pt x="7292467" y="482600"/>
                    <a:pt x="7264400" y="482600"/>
                  </a:cubicBezTo>
                  <a:lnTo>
                    <a:pt x="50800" y="482600"/>
                  </a:lnTo>
                  <a:cubicBezTo>
                    <a:pt x="22733" y="482600"/>
                    <a:pt x="0" y="459867"/>
                    <a:pt x="0" y="431800"/>
                  </a:cubicBezTo>
                  <a:close/>
                </a:path>
              </a:pathLst>
            </a:custGeom>
            <a:solidFill>
              <a:srgbClr val="ECECEC"/>
            </a:solidFill>
          </p:spPr>
        </p:sp>
      </p:grpSp>
      <p:grpSp>
        <p:nvGrpSpPr>
          <p:cNvPr name="Group 33" id="33"/>
          <p:cNvGrpSpPr/>
          <p:nvPr/>
        </p:nvGrpSpPr>
        <p:grpSpPr>
          <a:xfrm rot="0">
            <a:off x="2952750" y="4794885"/>
            <a:ext cx="4169569" cy="361950"/>
            <a:chOff x="0" y="0"/>
            <a:chExt cx="5559425" cy="482600"/>
          </a:xfrm>
        </p:grpSpPr>
        <p:sp>
          <p:nvSpPr>
            <p:cNvPr name="Freeform 34" id="34"/>
            <p:cNvSpPr/>
            <p:nvPr/>
          </p:nvSpPr>
          <p:spPr>
            <a:xfrm flipH="false" flipV="false" rot="0">
              <a:off x="0" y="0"/>
              <a:ext cx="5559425" cy="482600"/>
            </a:xfrm>
            <a:custGeom>
              <a:avLst/>
              <a:gdLst/>
              <a:ahLst/>
              <a:cxnLst/>
              <a:rect r="r" b="b" t="t" l="l"/>
              <a:pathLst>
                <a:path h="482600" w="5559425">
                  <a:moveTo>
                    <a:pt x="0" y="0"/>
                  </a:moveTo>
                  <a:lnTo>
                    <a:pt x="5559425" y="0"/>
                  </a:lnTo>
                  <a:lnTo>
                    <a:pt x="5559425" y="482600"/>
                  </a:lnTo>
                  <a:lnTo>
                    <a:pt x="0" y="482600"/>
                  </a:lnTo>
                  <a:close/>
                </a:path>
              </a:pathLst>
            </a:custGeom>
            <a:solidFill>
              <a:srgbClr val="003865"/>
            </a:solidFill>
          </p:spPr>
        </p:sp>
      </p:grpSp>
      <p:sp>
        <p:nvSpPr>
          <p:cNvPr name="TextBox 35" id="35"/>
          <p:cNvSpPr txBox="true"/>
          <p:nvPr/>
        </p:nvSpPr>
        <p:spPr>
          <a:xfrm rot="0">
            <a:off x="8578853" y="4805048"/>
            <a:ext cx="825503" cy="370208"/>
          </a:xfrm>
          <a:prstGeom prst="rect">
            <a:avLst/>
          </a:prstGeom>
        </p:spPr>
        <p:txBody>
          <a:bodyPr anchor="t" rtlCol="false" tIns="0" lIns="0" bIns="0" rIns="0">
            <a:spAutoFit/>
          </a:bodyPr>
          <a:lstStyle/>
          <a:p>
            <a:pPr algn="r">
              <a:lnSpc>
                <a:spcPts val="2700"/>
              </a:lnSpc>
            </a:pPr>
            <a:r>
              <a:rPr lang="en-US" sz="2250" b="true">
                <a:solidFill>
                  <a:srgbClr val="003865"/>
                </a:solidFill>
                <a:latin typeface="DM Sans Bold"/>
                <a:ea typeface="DM Sans Bold"/>
                <a:cs typeface="DM Sans Bold"/>
                <a:sym typeface="DM Sans Bold"/>
              </a:rPr>
              <a:t>19,9</a:t>
            </a:r>
          </a:p>
        </p:txBody>
      </p:sp>
      <p:sp>
        <p:nvSpPr>
          <p:cNvPr name="TextBox 36" id="36"/>
          <p:cNvSpPr txBox="true"/>
          <p:nvPr/>
        </p:nvSpPr>
        <p:spPr>
          <a:xfrm rot="0">
            <a:off x="1073153" y="5347973"/>
            <a:ext cx="1835153" cy="364493"/>
          </a:xfrm>
          <a:prstGeom prst="rect">
            <a:avLst/>
          </a:prstGeom>
        </p:spPr>
        <p:txBody>
          <a:bodyPr anchor="t" rtlCol="false" tIns="0" lIns="0" bIns="0" rIns="0">
            <a:spAutoFit/>
          </a:bodyPr>
          <a:lstStyle/>
          <a:p>
            <a:pPr algn="l">
              <a:lnSpc>
                <a:spcPts val="2250"/>
              </a:lnSpc>
            </a:pPr>
            <a:r>
              <a:rPr lang="en-US" sz="1875" b="true">
                <a:solidFill>
                  <a:srgbClr val="9AA1A8"/>
                </a:solidFill>
                <a:latin typeface="Poppins Bold"/>
                <a:ea typeface="Poppins Bold"/>
                <a:cs typeface="Poppins Bold"/>
                <a:sym typeface="Poppins Bold"/>
              </a:rPr>
              <a:t>Arequipa</a:t>
            </a:r>
          </a:p>
        </p:txBody>
      </p:sp>
      <p:grpSp>
        <p:nvGrpSpPr>
          <p:cNvPr name="Group 37" id="37"/>
          <p:cNvGrpSpPr/>
          <p:nvPr/>
        </p:nvGrpSpPr>
        <p:grpSpPr>
          <a:xfrm rot="0">
            <a:off x="2952750" y="5339715"/>
            <a:ext cx="5486400" cy="361950"/>
            <a:chOff x="0" y="0"/>
            <a:chExt cx="7315200" cy="482600"/>
          </a:xfrm>
        </p:grpSpPr>
        <p:sp>
          <p:nvSpPr>
            <p:cNvPr name="Freeform 38" id="38"/>
            <p:cNvSpPr/>
            <p:nvPr/>
          </p:nvSpPr>
          <p:spPr>
            <a:xfrm flipH="false" flipV="false" rot="0">
              <a:off x="0" y="0"/>
              <a:ext cx="7315200" cy="482600"/>
            </a:xfrm>
            <a:custGeom>
              <a:avLst/>
              <a:gdLst/>
              <a:ahLst/>
              <a:cxnLst/>
              <a:rect r="r" b="b" t="t" l="l"/>
              <a:pathLst>
                <a:path h="482600" w="7315200">
                  <a:moveTo>
                    <a:pt x="0" y="50800"/>
                  </a:moveTo>
                  <a:cubicBezTo>
                    <a:pt x="0" y="22733"/>
                    <a:pt x="22733" y="0"/>
                    <a:pt x="50800" y="0"/>
                  </a:cubicBezTo>
                  <a:lnTo>
                    <a:pt x="7264400" y="0"/>
                  </a:lnTo>
                  <a:cubicBezTo>
                    <a:pt x="7292467" y="0"/>
                    <a:pt x="7315200" y="22733"/>
                    <a:pt x="7315200" y="50800"/>
                  </a:cubicBezTo>
                  <a:lnTo>
                    <a:pt x="7315200" y="431800"/>
                  </a:lnTo>
                  <a:cubicBezTo>
                    <a:pt x="7315200" y="459867"/>
                    <a:pt x="7292467" y="482600"/>
                    <a:pt x="7264400" y="482600"/>
                  </a:cubicBezTo>
                  <a:lnTo>
                    <a:pt x="50800" y="482600"/>
                  </a:lnTo>
                  <a:cubicBezTo>
                    <a:pt x="22733" y="482600"/>
                    <a:pt x="0" y="459867"/>
                    <a:pt x="0" y="431800"/>
                  </a:cubicBezTo>
                  <a:close/>
                </a:path>
              </a:pathLst>
            </a:custGeom>
            <a:solidFill>
              <a:srgbClr val="ECECEC"/>
            </a:solidFill>
          </p:spPr>
        </p:sp>
      </p:grpSp>
      <p:grpSp>
        <p:nvGrpSpPr>
          <p:cNvPr name="Group 39" id="39"/>
          <p:cNvGrpSpPr/>
          <p:nvPr/>
        </p:nvGrpSpPr>
        <p:grpSpPr>
          <a:xfrm rot="0">
            <a:off x="2952750" y="5339715"/>
            <a:ext cx="987504" cy="361950"/>
            <a:chOff x="0" y="0"/>
            <a:chExt cx="1316672" cy="482600"/>
          </a:xfrm>
        </p:grpSpPr>
        <p:sp>
          <p:nvSpPr>
            <p:cNvPr name="Freeform 40" id="40"/>
            <p:cNvSpPr/>
            <p:nvPr/>
          </p:nvSpPr>
          <p:spPr>
            <a:xfrm flipH="false" flipV="false" rot="0">
              <a:off x="0" y="0"/>
              <a:ext cx="1316609" cy="482600"/>
            </a:xfrm>
            <a:custGeom>
              <a:avLst/>
              <a:gdLst/>
              <a:ahLst/>
              <a:cxnLst/>
              <a:rect r="r" b="b" t="t" l="l"/>
              <a:pathLst>
                <a:path h="482600" w="1316609">
                  <a:moveTo>
                    <a:pt x="0" y="0"/>
                  </a:moveTo>
                  <a:lnTo>
                    <a:pt x="1316609" y="0"/>
                  </a:lnTo>
                  <a:lnTo>
                    <a:pt x="1316609" y="482600"/>
                  </a:lnTo>
                  <a:lnTo>
                    <a:pt x="0" y="482600"/>
                  </a:lnTo>
                  <a:close/>
                </a:path>
              </a:pathLst>
            </a:custGeom>
            <a:solidFill>
              <a:srgbClr val="9DB2C4"/>
            </a:solidFill>
          </p:spPr>
        </p:sp>
      </p:grpSp>
      <p:sp>
        <p:nvSpPr>
          <p:cNvPr name="TextBox 41" id="41"/>
          <p:cNvSpPr txBox="true"/>
          <p:nvPr/>
        </p:nvSpPr>
        <p:spPr>
          <a:xfrm rot="0">
            <a:off x="8578853" y="5349878"/>
            <a:ext cx="825503" cy="370208"/>
          </a:xfrm>
          <a:prstGeom prst="rect">
            <a:avLst/>
          </a:prstGeom>
        </p:spPr>
        <p:txBody>
          <a:bodyPr anchor="t" rtlCol="false" tIns="0" lIns="0" bIns="0" rIns="0">
            <a:spAutoFit/>
          </a:bodyPr>
          <a:lstStyle/>
          <a:p>
            <a:pPr algn="r">
              <a:lnSpc>
                <a:spcPts val="2700"/>
              </a:lnSpc>
            </a:pPr>
            <a:r>
              <a:rPr lang="en-US" sz="2250" b="true">
                <a:solidFill>
                  <a:srgbClr val="6B7280"/>
                </a:solidFill>
                <a:latin typeface="DM Sans Bold"/>
                <a:ea typeface="DM Sans Bold"/>
                <a:cs typeface="DM Sans Bold"/>
                <a:sym typeface="DM Sans Bold"/>
              </a:rPr>
              <a:t>4,7</a:t>
            </a:r>
          </a:p>
        </p:txBody>
      </p:sp>
      <p:sp>
        <p:nvSpPr>
          <p:cNvPr name="TextBox 42" id="42"/>
          <p:cNvSpPr txBox="true"/>
          <p:nvPr/>
        </p:nvSpPr>
        <p:spPr>
          <a:xfrm rot="0">
            <a:off x="1073153" y="5892803"/>
            <a:ext cx="1835153" cy="364493"/>
          </a:xfrm>
          <a:prstGeom prst="rect">
            <a:avLst/>
          </a:prstGeom>
        </p:spPr>
        <p:txBody>
          <a:bodyPr anchor="t" rtlCol="false" tIns="0" lIns="0" bIns="0" rIns="0">
            <a:spAutoFit/>
          </a:bodyPr>
          <a:lstStyle/>
          <a:p>
            <a:pPr algn="l">
              <a:lnSpc>
                <a:spcPts val="2250"/>
              </a:lnSpc>
            </a:pPr>
            <a:r>
              <a:rPr lang="en-US" sz="1875" b="true">
                <a:solidFill>
                  <a:srgbClr val="9AA1A8"/>
                </a:solidFill>
                <a:latin typeface="Poppins Bold"/>
                <a:ea typeface="Poppins Bold"/>
                <a:cs typeface="Poppins Bold"/>
                <a:sym typeface="Poppins Bold"/>
              </a:rPr>
              <a:t>Tacna</a:t>
            </a:r>
          </a:p>
        </p:txBody>
      </p:sp>
      <p:grpSp>
        <p:nvGrpSpPr>
          <p:cNvPr name="Group 43" id="43"/>
          <p:cNvGrpSpPr/>
          <p:nvPr/>
        </p:nvGrpSpPr>
        <p:grpSpPr>
          <a:xfrm rot="0">
            <a:off x="2952750" y="5884545"/>
            <a:ext cx="5486400" cy="361950"/>
            <a:chOff x="0" y="0"/>
            <a:chExt cx="7315200" cy="482600"/>
          </a:xfrm>
        </p:grpSpPr>
        <p:sp>
          <p:nvSpPr>
            <p:cNvPr name="Freeform 44" id="44"/>
            <p:cNvSpPr/>
            <p:nvPr/>
          </p:nvSpPr>
          <p:spPr>
            <a:xfrm flipH="false" flipV="false" rot="0">
              <a:off x="0" y="0"/>
              <a:ext cx="7315200" cy="482600"/>
            </a:xfrm>
            <a:custGeom>
              <a:avLst/>
              <a:gdLst/>
              <a:ahLst/>
              <a:cxnLst/>
              <a:rect r="r" b="b" t="t" l="l"/>
              <a:pathLst>
                <a:path h="482600" w="7315200">
                  <a:moveTo>
                    <a:pt x="0" y="50800"/>
                  </a:moveTo>
                  <a:cubicBezTo>
                    <a:pt x="0" y="22733"/>
                    <a:pt x="22733" y="0"/>
                    <a:pt x="50800" y="0"/>
                  </a:cubicBezTo>
                  <a:lnTo>
                    <a:pt x="7264400" y="0"/>
                  </a:lnTo>
                  <a:cubicBezTo>
                    <a:pt x="7292467" y="0"/>
                    <a:pt x="7315200" y="22733"/>
                    <a:pt x="7315200" y="50800"/>
                  </a:cubicBezTo>
                  <a:lnTo>
                    <a:pt x="7315200" y="431800"/>
                  </a:lnTo>
                  <a:cubicBezTo>
                    <a:pt x="7315200" y="459867"/>
                    <a:pt x="7292467" y="482600"/>
                    <a:pt x="7264400" y="482600"/>
                  </a:cubicBezTo>
                  <a:lnTo>
                    <a:pt x="50800" y="482600"/>
                  </a:lnTo>
                  <a:cubicBezTo>
                    <a:pt x="22733" y="482600"/>
                    <a:pt x="0" y="459867"/>
                    <a:pt x="0" y="431800"/>
                  </a:cubicBezTo>
                  <a:close/>
                </a:path>
              </a:pathLst>
            </a:custGeom>
            <a:solidFill>
              <a:srgbClr val="ECECEC"/>
            </a:solidFill>
          </p:spPr>
        </p:sp>
      </p:grpSp>
      <p:grpSp>
        <p:nvGrpSpPr>
          <p:cNvPr name="Group 45" id="45"/>
          <p:cNvGrpSpPr/>
          <p:nvPr/>
        </p:nvGrpSpPr>
        <p:grpSpPr>
          <a:xfrm rot="0">
            <a:off x="2952750" y="5884545"/>
            <a:ext cx="658301" cy="361950"/>
            <a:chOff x="0" y="0"/>
            <a:chExt cx="877735" cy="482600"/>
          </a:xfrm>
        </p:grpSpPr>
        <p:sp>
          <p:nvSpPr>
            <p:cNvPr name="Freeform 46" id="46"/>
            <p:cNvSpPr/>
            <p:nvPr/>
          </p:nvSpPr>
          <p:spPr>
            <a:xfrm flipH="false" flipV="false" rot="0">
              <a:off x="0" y="0"/>
              <a:ext cx="877697" cy="482600"/>
            </a:xfrm>
            <a:custGeom>
              <a:avLst/>
              <a:gdLst/>
              <a:ahLst/>
              <a:cxnLst/>
              <a:rect r="r" b="b" t="t" l="l"/>
              <a:pathLst>
                <a:path h="482600" w="877697">
                  <a:moveTo>
                    <a:pt x="0" y="0"/>
                  </a:moveTo>
                  <a:lnTo>
                    <a:pt x="877697" y="0"/>
                  </a:lnTo>
                  <a:lnTo>
                    <a:pt x="877697" y="482600"/>
                  </a:lnTo>
                  <a:lnTo>
                    <a:pt x="0" y="482600"/>
                  </a:lnTo>
                  <a:close/>
                </a:path>
              </a:pathLst>
            </a:custGeom>
            <a:solidFill>
              <a:srgbClr val="9DB2C4"/>
            </a:solidFill>
          </p:spPr>
        </p:sp>
      </p:grpSp>
      <p:sp>
        <p:nvSpPr>
          <p:cNvPr name="TextBox 47" id="47"/>
          <p:cNvSpPr txBox="true"/>
          <p:nvPr/>
        </p:nvSpPr>
        <p:spPr>
          <a:xfrm rot="0">
            <a:off x="8578853" y="5894708"/>
            <a:ext cx="825503" cy="370208"/>
          </a:xfrm>
          <a:prstGeom prst="rect">
            <a:avLst/>
          </a:prstGeom>
        </p:spPr>
        <p:txBody>
          <a:bodyPr anchor="t" rtlCol="false" tIns="0" lIns="0" bIns="0" rIns="0">
            <a:spAutoFit/>
          </a:bodyPr>
          <a:lstStyle/>
          <a:p>
            <a:pPr algn="r">
              <a:lnSpc>
                <a:spcPts val="2700"/>
              </a:lnSpc>
            </a:pPr>
            <a:r>
              <a:rPr lang="en-US" sz="2250" b="true">
                <a:solidFill>
                  <a:srgbClr val="6B7280"/>
                </a:solidFill>
                <a:latin typeface="DM Sans Bold"/>
                <a:ea typeface="DM Sans Bold"/>
                <a:cs typeface="DM Sans Bold"/>
                <a:sym typeface="DM Sans Bold"/>
              </a:rPr>
              <a:t>3,2</a:t>
            </a:r>
          </a:p>
        </p:txBody>
      </p:sp>
      <p:sp>
        <p:nvSpPr>
          <p:cNvPr name="TextBox 48" id="48"/>
          <p:cNvSpPr txBox="true"/>
          <p:nvPr/>
        </p:nvSpPr>
        <p:spPr>
          <a:xfrm rot="0">
            <a:off x="1073153" y="6437633"/>
            <a:ext cx="1835153" cy="364493"/>
          </a:xfrm>
          <a:prstGeom prst="rect">
            <a:avLst/>
          </a:prstGeom>
        </p:spPr>
        <p:txBody>
          <a:bodyPr anchor="t" rtlCol="false" tIns="0" lIns="0" bIns="0" rIns="0">
            <a:spAutoFit/>
          </a:bodyPr>
          <a:lstStyle/>
          <a:p>
            <a:pPr algn="l">
              <a:lnSpc>
                <a:spcPts val="2250"/>
              </a:lnSpc>
            </a:pPr>
            <a:r>
              <a:rPr lang="en-US" sz="1875" b="true">
                <a:solidFill>
                  <a:srgbClr val="9AA1A8"/>
                </a:solidFill>
                <a:latin typeface="Poppins Bold"/>
                <a:ea typeface="Poppins Bold"/>
                <a:cs typeface="Poppins Bold"/>
                <a:sym typeface="Poppins Bold"/>
              </a:rPr>
              <a:t>Moquegua</a:t>
            </a:r>
          </a:p>
        </p:txBody>
      </p:sp>
      <p:grpSp>
        <p:nvGrpSpPr>
          <p:cNvPr name="Group 49" id="49"/>
          <p:cNvGrpSpPr/>
          <p:nvPr/>
        </p:nvGrpSpPr>
        <p:grpSpPr>
          <a:xfrm rot="0">
            <a:off x="2952750" y="6429375"/>
            <a:ext cx="5486400" cy="361950"/>
            <a:chOff x="0" y="0"/>
            <a:chExt cx="7315200" cy="482600"/>
          </a:xfrm>
        </p:grpSpPr>
        <p:sp>
          <p:nvSpPr>
            <p:cNvPr name="Freeform 50" id="50"/>
            <p:cNvSpPr/>
            <p:nvPr/>
          </p:nvSpPr>
          <p:spPr>
            <a:xfrm flipH="false" flipV="false" rot="0">
              <a:off x="0" y="0"/>
              <a:ext cx="7315200" cy="482600"/>
            </a:xfrm>
            <a:custGeom>
              <a:avLst/>
              <a:gdLst/>
              <a:ahLst/>
              <a:cxnLst/>
              <a:rect r="r" b="b" t="t" l="l"/>
              <a:pathLst>
                <a:path h="482600" w="7315200">
                  <a:moveTo>
                    <a:pt x="0" y="50800"/>
                  </a:moveTo>
                  <a:cubicBezTo>
                    <a:pt x="0" y="22733"/>
                    <a:pt x="22733" y="0"/>
                    <a:pt x="50800" y="0"/>
                  </a:cubicBezTo>
                  <a:lnTo>
                    <a:pt x="7264400" y="0"/>
                  </a:lnTo>
                  <a:cubicBezTo>
                    <a:pt x="7292467" y="0"/>
                    <a:pt x="7315200" y="22733"/>
                    <a:pt x="7315200" y="50800"/>
                  </a:cubicBezTo>
                  <a:lnTo>
                    <a:pt x="7315200" y="431800"/>
                  </a:lnTo>
                  <a:cubicBezTo>
                    <a:pt x="7315200" y="459867"/>
                    <a:pt x="7292467" y="482600"/>
                    <a:pt x="7264400" y="482600"/>
                  </a:cubicBezTo>
                  <a:lnTo>
                    <a:pt x="50800" y="482600"/>
                  </a:lnTo>
                  <a:cubicBezTo>
                    <a:pt x="22733" y="482600"/>
                    <a:pt x="0" y="459867"/>
                    <a:pt x="0" y="431800"/>
                  </a:cubicBezTo>
                  <a:close/>
                </a:path>
              </a:pathLst>
            </a:custGeom>
            <a:solidFill>
              <a:srgbClr val="ECECEC"/>
            </a:solidFill>
          </p:spPr>
        </p:sp>
      </p:grpSp>
      <p:grpSp>
        <p:nvGrpSpPr>
          <p:cNvPr name="Group 51" id="51"/>
          <p:cNvGrpSpPr/>
          <p:nvPr/>
        </p:nvGrpSpPr>
        <p:grpSpPr>
          <a:xfrm rot="0">
            <a:off x="2952750" y="6429375"/>
            <a:ext cx="548640" cy="361950"/>
            <a:chOff x="0" y="0"/>
            <a:chExt cx="731520" cy="482600"/>
          </a:xfrm>
        </p:grpSpPr>
        <p:sp>
          <p:nvSpPr>
            <p:cNvPr name="Freeform 52" id="52"/>
            <p:cNvSpPr/>
            <p:nvPr/>
          </p:nvSpPr>
          <p:spPr>
            <a:xfrm flipH="false" flipV="false" rot="0">
              <a:off x="0" y="0"/>
              <a:ext cx="731520" cy="482600"/>
            </a:xfrm>
            <a:custGeom>
              <a:avLst/>
              <a:gdLst/>
              <a:ahLst/>
              <a:cxnLst/>
              <a:rect r="r" b="b" t="t" l="l"/>
              <a:pathLst>
                <a:path h="482600" w="731520">
                  <a:moveTo>
                    <a:pt x="0" y="0"/>
                  </a:moveTo>
                  <a:lnTo>
                    <a:pt x="731520" y="0"/>
                  </a:lnTo>
                  <a:lnTo>
                    <a:pt x="731520" y="482600"/>
                  </a:lnTo>
                  <a:lnTo>
                    <a:pt x="0" y="482600"/>
                  </a:lnTo>
                  <a:close/>
                </a:path>
              </a:pathLst>
            </a:custGeom>
            <a:solidFill>
              <a:srgbClr val="9DB2C4"/>
            </a:solidFill>
          </p:spPr>
        </p:sp>
      </p:grpSp>
      <p:sp>
        <p:nvSpPr>
          <p:cNvPr name="TextBox 53" id="53"/>
          <p:cNvSpPr txBox="true"/>
          <p:nvPr/>
        </p:nvSpPr>
        <p:spPr>
          <a:xfrm rot="0">
            <a:off x="8578853" y="6439538"/>
            <a:ext cx="825503" cy="370208"/>
          </a:xfrm>
          <a:prstGeom prst="rect">
            <a:avLst/>
          </a:prstGeom>
        </p:spPr>
        <p:txBody>
          <a:bodyPr anchor="t" rtlCol="false" tIns="0" lIns="0" bIns="0" rIns="0">
            <a:spAutoFit/>
          </a:bodyPr>
          <a:lstStyle/>
          <a:p>
            <a:pPr algn="r">
              <a:lnSpc>
                <a:spcPts val="2700"/>
              </a:lnSpc>
            </a:pPr>
            <a:r>
              <a:rPr lang="en-US" sz="2250" b="true">
                <a:solidFill>
                  <a:srgbClr val="6B7280"/>
                </a:solidFill>
                <a:latin typeface="DM Sans Bold"/>
                <a:ea typeface="DM Sans Bold"/>
                <a:cs typeface="DM Sans Bold"/>
                <a:sym typeface="DM Sans Bold"/>
              </a:rPr>
              <a:t>2,5</a:t>
            </a:r>
          </a:p>
        </p:txBody>
      </p:sp>
      <p:grpSp>
        <p:nvGrpSpPr>
          <p:cNvPr name="Group 54" id="54"/>
          <p:cNvGrpSpPr/>
          <p:nvPr/>
        </p:nvGrpSpPr>
        <p:grpSpPr>
          <a:xfrm rot="0">
            <a:off x="11144250" y="3143250"/>
            <a:ext cx="6286500" cy="2125980"/>
            <a:chOff x="0" y="0"/>
            <a:chExt cx="8382000" cy="2834640"/>
          </a:xfrm>
        </p:grpSpPr>
        <p:sp>
          <p:nvSpPr>
            <p:cNvPr name="Freeform 55" id="55"/>
            <p:cNvSpPr/>
            <p:nvPr/>
          </p:nvSpPr>
          <p:spPr>
            <a:xfrm flipH="false" flipV="false" rot="0">
              <a:off x="0" y="0"/>
              <a:ext cx="8382000" cy="2834640"/>
            </a:xfrm>
            <a:custGeom>
              <a:avLst/>
              <a:gdLst/>
              <a:ahLst/>
              <a:cxnLst/>
              <a:rect r="r" b="b" t="t" l="l"/>
              <a:pathLst>
                <a:path h="2834640" w="8382000">
                  <a:moveTo>
                    <a:pt x="0" y="127000"/>
                  </a:moveTo>
                  <a:cubicBezTo>
                    <a:pt x="0" y="56896"/>
                    <a:pt x="56896" y="0"/>
                    <a:pt x="127000" y="0"/>
                  </a:cubicBezTo>
                  <a:lnTo>
                    <a:pt x="8255000" y="0"/>
                  </a:lnTo>
                  <a:cubicBezTo>
                    <a:pt x="8325104" y="0"/>
                    <a:pt x="8382000" y="56896"/>
                    <a:pt x="8382000" y="127000"/>
                  </a:cubicBezTo>
                  <a:lnTo>
                    <a:pt x="8382000" y="2707640"/>
                  </a:lnTo>
                  <a:cubicBezTo>
                    <a:pt x="8382000" y="2777744"/>
                    <a:pt x="8325104" y="2834640"/>
                    <a:pt x="8255000" y="2834640"/>
                  </a:cubicBezTo>
                  <a:lnTo>
                    <a:pt x="127000" y="2834640"/>
                  </a:lnTo>
                  <a:cubicBezTo>
                    <a:pt x="56896" y="2834640"/>
                    <a:pt x="0" y="2777744"/>
                    <a:pt x="0" y="2707640"/>
                  </a:cubicBezTo>
                  <a:close/>
                </a:path>
              </a:pathLst>
            </a:custGeom>
            <a:solidFill>
              <a:srgbClr val="FFFFFF"/>
            </a:solidFill>
          </p:spPr>
        </p:sp>
      </p:grpSp>
      <p:sp>
        <p:nvSpPr>
          <p:cNvPr name="TextBox 56" id="56"/>
          <p:cNvSpPr txBox="true"/>
          <p:nvPr/>
        </p:nvSpPr>
        <p:spPr>
          <a:xfrm rot="0">
            <a:off x="11493503" y="3444878"/>
            <a:ext cx="6151883" cy="316868"/>
          </a:xfrm>
          <a:prstGeom prst="rect">
            <a:avLst/>
          </a:prstGeom>
        </p:spPr>
        <p:txBody>
          <a:bodyPr anchor="t" rtlCol="false" tIns="0" lIns="0" bIns="0" rIns="0">
            <a:spAutoFit/>
          </a:bodyPr>
          <a:lstStyle/>
          <a:p>
            <a:pPr algn="l">
              <a:lnSpc>
                <a:spcPts val="1980"/>
              </a:lnSpc>
            </a:pPr>
            <a:r>
              <a:rPr lang="en-US" b="true" sz="1650" spc="150">
                <a:solidFill>
                  <a:srgbClr val="6B7280"/>
                </a:solidFill>
                <a:latin typeface="Poppins Bold"/>
                <a:ea typeface="Poppins Bold"/>
                <a:cs typeface="Poppins Bold"/>
                <a:sym typeface="Poppins Bold"/>
              </a:rPr>
              <a:t>BRECHA RURAL – URBANA</a:t>
            </a:r>
          </a:p>
        </p:txBody>
      </p:sp>
      <p:sp>
        <p:nvSpPr>
          <p:cNvPr name="TextBox 57" id="57"/>
          <p:cNvSpPr txBox="true"/>
          <p:nvPr/>
        </p:nvSpPr>
        <p:spPr>
          <a:xfrm rot="0">
            <a:off x="11493503" y="4022093"/>
            <a:ext cx="2149869" cy="547373"/>
          </a:xfrm>
          <a:prstGeom prst="rect">
            <a:avLst/>
          </a:prstGeom>
        </p:spPr>
        <p:txBody>
          <a:bodyPr anchor="t" rtlCol="false" tIns="0" lIns="0" bIns="0" rIns="0">
            <a:spAutoFit/>
          </a:bodyPr>
          <a:lstStyle/>
          <a:p>
            <a:pPr algn="l">
              <a:lnSpc>
                <a:spcPts val="5832"/>
              </a:lnSpc>
            </a:pPr>
            <a:r>
              <a:rPr lang="en-US" sz="5400" b="true">
                <a:solidFill>
                  <a:srgbClr val="003865"/>
                </a:solidFill>
                <a:latin typeface="DM Sans Bold"/>
                <a:ea typeface="DM Sans Bold"/>
                <a:cs typeface="DM Sans Bold"/>
                <a:sym typeface="DM Sans Bold"/>
              </a:rPr>
              <a:t>20,9%</a:t>
            </a:r>
          </a:p>
        </p:txBody>
      </p:sp>
      <p:sp>
        <p:nvSpPr>
          <p:cNvPr name="TextBox 58" id="58"/>
          <p:cNvSpPr txBox="true"/>
          <p:nvPr/>
        </p:nvSpPr>
        <p:spPr>
          <a:xfrm rot="0">
            <a:off x="11493503" y="4639313"/>
            <a:ext cx="2149869" cy="356873"/>
          </a:xfrm>
          <a:prstGeom prst="rect">
            <a:avLst/>
          </a:prstGeom>
        </p:spPr>
        <p:txBody>
          <a:bodyPr anchor="t" rtlCol="false" tIns="0" lIns="0" bIns="0" rIns="0">
            <a:spAutoFit/>
          </a:bodyPr>
          <a:lstStyle/>
          <a:p>
            <a:pPr algn="l">
              <a:lnSpc>
                <a:spcPts val="2160"/>
              </a:lnSpc>
            </a:pPr>
            <a:r>
              <a:rPr lang="en-US" sz="1800">
                <a:solidFill>
                  <a:srgbClr val="1E1E1E"/>
                </a:solidFill>
                <a:latin typeface="Poppins"/>
                <a:ea typeface="Poppins"/>
                <a:cs typeface="Poppins"/>
                <a:sym typeface="Poppins"/>
              </a:rPr>
              <a:t>Rural</a:t>
            </a:r>
          </a:p>
        </p:txBody>
      </p:sp>
      <p:sp>
        <p:nvSpPr>
          <p:cNvPr name="TextBox 59" id="59"/>
          <p:cNvSpPr txBox="true"/>
          <p:nvPr/>
        </p:nvSpPr>
        <p:spPr>
          <a:xfrm rot="0">
            <a:off x="13875106" y="4172588"/>
            <a:ext cx="476526" cy="594998"/>
          </a:xfrm>
          <a:prstGeom prst="rect">
            <a:avLst/>
          </a:prstGeom>
        </p:spPr>
        <p:txBody>
          <a:bodyPr anchor="t" rtlCol="false" tIns="0" lIns="0" bIns="0" rIns="0">
            <a:spAutoFit/>
          </a:bodyPr>
          <a:lstStyle/>
          <a:p>
            <a:pPr algn="l">
              <a:lnSpc>
                <a:spcPts val="3600"/>
              </a:lnSpc>
            </a:pPr>
            <a:r>
              <a:rPr lang="en-US" sz="3000" b="true">
                <a:solidFill>
                  <a:srgbClr val="F8A900"/>
                </a:solidFill>
                <a:latin typeface="Poppins Bold"/>
                <a:ea typeface="Poppins Bold"/>
                <a:cs typeface="Poppins Bold"/>
                <a:sym typeface="Poppins Bold"/>
              </a:rPr>
              <a:t>vs</a:t>
            </a:r>
          </a:p>
        </p:txBody>
      </p:sp>
      <p:sp>
        <p:nvSpPr>
          <p:cNvPr name="TextBox 60" id="60"/>
          <p:cNvSpPr txBox="true"/>
          <p:nvPr/>
        </p:nvSpPr>
        <p:spPr>
          <a:xfrm rot="0">
            <a:off x="14707238" y="4022093"/>
            <a:ext cx="1657950" cy="547373"/>
          </a:xfrm>
          <a:prstGeom prst="rect">
            <a:avLst/>
          </a:prstGeom>
        </p:spPr>
        <p:txBody>
          <a:bodyPr anchor="t" rtlCol="false" tIns="0" lIns="0" bIns="0" rIns="0">
            <a:spAutoFit/>
          </a:bodyPr>
          <a:lstStyle/>
          <a:p>
            <a:pPr algn="l">
              <a:lnSpc>
                <a:spcPts val="5832"/>
              </a:lnSpc>
            </a:pPr>
            <a:r>
              <a:rPr lang="en-US" sz="5400" b="true">
                <a:solidFill>
                  <a:srgbClr val="9DB2C4"/>
                </a:solidFill>
                <a:latin typeface="DM Sans Bold"/>
                <a:ea typeface="DM Sans Bold"/>
                <a:cs typeface="DM Sans Bold"/>
                <a:sym typeface="DM Sans Bold"/>
              </a:rPr>
              <a:t>8,5%</a:t>
            </a:r>
          </a:p>
        </p:txBody>
      </p:sp>
      <p:sp>
        <p:nvSpPr>
          <p:cNvPr name="TextBox 61" id="61"/>
          <p:cNvSpPr txBox="true"/>
          <p:nvPr/>
        </p:nvSpPr>
        <p:spPr>
          <a:xfrm rot="0">
            <a:off x="14707238" y="4639313"/>
            <a:ext cx="1657950" cy="356873"/>
          </a:xfrm>
          <a:prstGeom prst="rect">
            <a:avLst/>
          </a:prstGeom>
        </p:spPr>
        <p:txBody>
          <a:bodyPr anchor="t" rtlCol="false" tIns="0" lIns="0" bIns="0" rIns="0">
            <a:spAutoFit/>
          </a:bodyPr>
          <a:lstStyle/>
          <a:p>
            <a:pPr algn="l">
              <a:lnSpc>
                <a:spcPts val="2160"/>
              </a:lnSpc>
            </a:pPr>
            <a:r>
              <a:rPr lang="en-US" sz="1800">
                <a:solidFill>
                  <a:srgbClr val="1E1E1E"/>
                </a:solidFill>
                <a:latin typeface="Poppins"/>
                <a:ea typeface="Poppins"/>
                <a:cs typeface="Poppins"/>
                <a:sym typeface="Poppins"/>
              </a:rPr>
              <a:t>Urbano</a:t>
            </a:r>
          </a:p>
        </p:txBody>
      </p:sp>
      <p:grpSp>
        <p:nvGrpSpPr>
          <p:cNvPr name="Group 62" id="62"/>
          <p:cNvGrpSpPr/>
          <p:nvPr/>
        </p:nvGrpSpPr>
        <p:grpSpPr>
          <a:xfrm rot="0">
            <a:off x="11144250" y="5497830"/>
            <a:ext cx="6286500" cy="2129790"/>
            <a:chOff x="0" y="0"/>
            <a:chExt cx="8382000" cy="2839720"/>
          </a:xfrm>
        </p:grpSpPr>
        <p:sp>
          <p:nvSpPr>
            <p:cNvPr name="Freeform 63" id="63"/>
            <p:cNvSpPr/>
            <p:nvPr/>
          </p:nvSpPr>
          <p:spPr>
            <a:xfrm flipH="false" flipV="false" rot="0">
              <a:off x="0" y="0"/>
              <a:ext cx="8382000" cy="2839720"/>
            </a:xfrm>
            <a:custGeom>
              <a:avLst/>
              <a:gdLst/>
              <a:ahLst/>
              <a:cxnLst/>
              <a:rect r="r" b="b" t="t" l="l"/>
              <a:pathLst>
                <a:path h="2839720" w="8382000">
                  <a:moveTo>
                    <a:pt x="0" y="127000"/>
                  </a:moveTo>
                  <a:cubicBezTo>
                    <a:pt x="0" y="56896"/>
                    <a:pt x="56896" y="0"/>
                    <a:pt x="127000" y="0"/>
                  </a:cubicBezTo>
                  <a:lnTo>
                    <a:pt x="8255000" y="0"/>
                  </a:lnTo>
                  <a:cubicBezTo>
                    <a:pt x="8325104" y="0"/>
                    <a:pt x="8382000" y="56896"/>
                    <a:pt x="8382000" y="127000"/>
                  </a:cubicBezTo>
                  <a:lnTo>
                    <a:pt x="8382000" y="2712720"/>
                  </a:lnTo>
                  <a:cubicBezTo>
                    <a:pt x="8382000" y="2782824"/>
                    <a:pt x="8325104" y="2839720"/>
                    <a:pt x="8255000" y="2839720"/>
                  </a:cubicBezTo>
                  <a:lnTo>
                    <a:pt x="127000" y="2839720"/>
                  </a:lnTo>
                  <a:cubicBezTo>
                    <a:pt x="56896" y="2839720"/>
                    <a:pt x="0" y="2782824"/>
                    <a:pt x="0" y="2712720"/>
                  </a:cubicBezTo>
                  <a:close/>
                </a:path>
              </a:pathLst>
            </a:custGeom>
            <a:solidFill>
              <a:srgbClr val="FFFFFF"/>
            </a:solidFill>
          </p:spPr>
        </p:sp>
      </p:grpSp>
      <p:sp>
        <p:nvSpPr>
          <p:cNvPr name="TextBox 64" id="64"/>
          <p:cNvSpPr txBox="true"/>
          <p:nvPr/>
        </p:nvSpPr>
        <p:spPr>
          <a:xfrm rot="0">
            <a:off x="11493503" y="5799458"/>
            <a:ext cx="6151883" cy="316868"/>
          </a:xfrm>
          <a:prstGeom prst="rect">
            <a:avLst/>
          </a:prstGeom>
        </p:spPr>
        <p:txBody>
          <a:bodyPr anchor="t" rtlCol="false" tIns="0" lIns="0" bIns="0" rIns="0">
            <a:spAutoFit/>
          </a:bodyPr>
          <a:lstStyle/>
          <a:p>
            <a:pPr algn="l">
              <a:lnSpc>
                <a:spcPts val="1980"/>
              </a:lnSpc>
            </a:pPr>
            <a:r>
              <a:rPr lang="en-US" b="true" sz="1650" spc="150">
                <a:solidFill>
                  <a:srgbClr val="6B7280"/>
                </a:solidFill>
                <a:latin typeface="Poppins Bold"/>
                <a:ea typeface="Poppins Bold"/>
                <a:cs typeface="Poppins Bold"/>
                <a:sym typeface="Poppins Bold"/>
              </a:rPr>
              <a:t>POR REGIÓN NATURAL</a:t>
            </a:r>
          </a:p>
        </p:txBody>
      </p:sp>
      <p:sp>
        <p:nvSpPr>
          <p:cNvPr name="TextBox 65" id="65"/>
          <p:cNvSpPr txBox="true"/>
          <p:nvPr/>
        </p:nvSpPr>
        <p:spPr>
          <a:xfrm rot="0">
            <a:off x="11431143" y="6329048"/>
            <a:ext cx="1320965" cy="617858"/>
          </a:xfrm>
          <a:prstGeom prst="rect">
            <a:avLst/>
          </a:prstGeom>
        </p:spPr>
        <p:txBody>
          <a:bodyPr anchor="t" rtlCol="false" tIns="0" lIns="0" bIns="0" rIns="0">
            <a:spAutoFit/>
          </a:bodyPr>
          <a:lstStyle/>
          <a:p>
            <a:pPr algn="ctr">
              <a:lnSpc>
                <a:spcPts val="4680"/>
              </a:lnSpc>
            </a:pPr>
            <a:r>
              <a:rPr lang="en-US" sz="3900" b="true">
                <a:solidFill>
                  <a:srgbClr val="003865"/>
                </a:solidFill>
                <a:latin typeface="DM Sans Bold"/>
                <a:ea typeface="DM Sans Bold"/>
                <a:cs typeface="DM Sans Bold"/>
                <a:sym typeface="DM Sans Bold"/>
              </a:rPr>
              <a:t>17,6%</a:t>
            </a:r>
          </a:p>
        </p:txBody>
      </p:sp>
      <p:sp>
        <p:nvSpPr>
          <p:cNvPr name="TextBox 66" id="66"/>
          <p:cNvSpPr txBox="true"/>
          <p:nvPr/>
        </p:nvSpPr>
        <p:spPr>
          <a:xfrm rot="0">
            <a:off x="11431143" y="6997703"/>
            <a:ext cx="1320965" cy="356873"/>
          </a:xfrm>
          <a:prstGeom prst="rect">
            <a:avLst/>
          </a:prstGeom>
        </p:spPr>
        <p:txBody>
          <a:bodyPr anchor="t" rtlCol="false" tIns="0" lIns="0" bIns="0" rIns="0">
            <a:spAutoFit/>
          </a:bodyPr>
          <a:lstStyle/>
          <a:p>
            <a:pPr algn="ctr">
              <a:lnSpc>
                <a:spcPts val="2160"/>
              </a:lnSpc>
            </a:pPr>
            <a:r>
              <a:rPr lang="en-US" sz="1800">
                <a:solidFill>
                  <a:srgbClr val="1E1E1E"/>
                </a:solidFill>
                <a:latin typeface="Poppins"/>
                <a:ea typeface="Poppins"/>
                <a:cs typeface="Poppins"/>
                <a:sym typeface="Poppins"/>
              </a:rPr>
              <a:t>Sierra</a:t>
            </a:r>
          </a:p>
        </p:txBody>
      </p:sp>
      <p:sp>
        <p:nvSpPr>
          <p:cNvPr name="TextBox 67" id="67"/>
          <p:cNvSpPr txBox="true"/>
          <p:nvPr/>
        </p:nvSpPr>
        <p:spPr>
          <a:xfrm rot="0">
            <a:off x="13693359" y="6329048"/>
            <a:ext cx="1359732" cy="617858"/>
          </a:xfrm>
          <a:prstGeom prst="rect">
            <a:avLst/>
          </a:prstGeom>
        </p:spPr>
        <p:txBody>
          <a:bodyPr anchor="t" rtlCol="false" tIns="0" lIns="0" bIns="0" rIns="0">
            <a:spAutoFit/>
          </a:bodyPr>
          <a:lstStyle/>
          <a:p>
            <a:pPr algn="ctr">
              <a:lnSpc>
                <a:spcPts val="4680"/>
              </a:lnSpc>
            </a:pPr>
            <a:r>
              <a:rPr lang="en-US" sz="3900" b="true">
                <a:solidFill>
                  <a:srgbClr val="003865"/>
                </a:solidFill>
                <a:latin typeface="DM Sans Bold"/>
                <a:ea typeface="DM Sans Bold"/>
                <a:cs typeface="DM Sans Bold"/>
                <a:sym typeface="DM Sans Bold"/>
              </a:rPr>
              <a:t>16,3%</a:t>
            </a:r>
          </a:p>
        </p:txBody>
      </p:sp>
      <p:sp>
        <p:nvSpPr>
          <p:cNvPr name="TextBox 68" id="68"/>
          <p:cNvSpPr txBox="true"/>
          <p:nvPr/>
        </p:nvSpPr>
        <p:spPr>
          <a:xfrm rot="0">
            <a:off x="13693359" y="6997703"/>
            <a:ext cx="1359732" cy="356873"/>
          </a:xfrm>
          <a:prstGeom prst="rect">
            <a:avLst/>
          </a:prstGeom>
        </p:spPr>
        <p:txBody>
          <a:bodyPr anchor="t" rtlCol="false" tIns="0" lIns="0" bIns="0" rIns="0">
            <a:spAutoFit/>
          </a:bodyPr>
          <a:lstStyle/>
          <a:p>
            <a:pPr algn="ctr">
              <a:lnSpc>
                <a:spcPts val="2160"/>
              </a:lnSpc>
            </a:pPr>
            <a:r>
              <a:rPr lang="en-US" sz="1800">
                <a:solidFill>
                  <a:srgbClr val="1E1E1E"/>
                </a:solidFill>
                <a:latin typeface="Poppins"/>
                <a:ea typeface="Poppins"/>
                <a:cs typeface="Poppins"/>
                <a:sym typeface="Poppins"/>
              </a:rPr>
              <a:t>Selva</a:t>
            </a:r>
          </a:p>
        </p:txBody>
      </p:sp>
      <p:sp>
        <p:nvSpPr>
          <p:cNvPr name="TextBox 69" id="69"/>
          <p:cNvSpPr txBox="true"/>
          <p:nvPr/>
        </p:nvSpPr>
        <p:spPr>
          <a:xfrm rot="0">
            <a:off x="16018469" y="6329048"/>
            <a:ext cx="1101128" cy="617858"/>
          </a:xfrm>
          <a:prstGeom prst="rect">
            <a:avLst/>
          </a:prstGeom>
        </p:spPr>
        <p:txBody>
          <a:bodyPr anchor="t" rtlCol="false" tIns="0" lIns="0" bIns="0" rIns="0">
            <a:spAutoFit/>
          </a:bodyPr>
          <a:lstStyle/>
          <a:p>
            <a:pPr algn="ctr">
              <a:lnSpc>
                <a:spcPts val="4680"/>
              </a:lnSpc>
            </a:pPr>
            <a:r>
              <a:rPr lang="en-US" sz="3900" b="true">
                <a:solidFill>
                  <a:srgbClr val="9DB2C4"/>
                </a:solidFill>
                <a:latin typeface="DM Sans Bold"/>
                <a:ea typeface="DM Sans Bold"/>
                <a:cs typeface="DM Sans Bold"/>
                <a:sym typeface="DM Sans Bold"/>
              </a:rPr>
              <a:t>7,3%</a:t>
            </a:r>
          </a:p>
        </p:txBody>
      </p:sp>
      <p:sp>
        <p:nvSpPr>
          <p:cNvPr name="TextBox 70" id="70"/>
          <p:cNvSpPr txBox="true"/>
          <p:nvPr/>
        </p:nvSpPr>
        <p:spPr>
          <a:xfrm rot="0">
            <a:off x="16018469" y="6997703"/>
            <a:ext cx="1101128" cy="356873"/>
          </a:xfrm>
          <a:prstGeom prst="rect">
            <a:avLst/>
          </a:prstGeom>
        </p:spPr>
        <p:txBody>
          <a:bodyPr anchor="t" rtlCol="false" tIns="0" lIns="0" bIns="0" rIns="0">
            <a:spAutoFit/>
          </a:bodyPr>
          <a:lstStyle/>
          <a:p>
            <a:pPr algn="ctr">
              <a:lnSpc>
                <a:spcPts val="2160"/>
              </a:lnSpc>
            </a:pPr>
            <a:r>
              <a:rPr lang="en-US" sz="1800">
                <a:solidFill>
                  <a:srgbClr val="1E1E1E"/>
                </a:solidFill>
                <a:latin typeface="Poppins"/>
                <a:ea typeface="Poppins"/>
                <a:cs typeface="Poppins"/>
                <a:sym typeface="Poppins"/>
              </a:rPr>
              <a:t>Costa</a:t>
            </a:r>
          </a:p>
        </p:txBody>
      </p:sp>
      <p:grpSp>
        <p:nvGrpSpPr>
          <p:cNvPr name="Group 71" id="71"/>
          <p:cNvGrpSpPr/>
          <p:nvPr/>
        </p:nvGrpSpPr>
        <p:grpSpPr>
          <a:xfrm rot="0">
            <a:off x="1047750" y="8170545"/>
            <a:ext cx="16383000" cy="1087755"/>
            <a:chOff x="0" y="0"/>
            <a:chExt cx="21844000" cy="1450340"/>
          </a:xfrm>
        </p:grpSpPr>
        <p:sp>
          <p:nvSpPr>
            <p:cNvPr name="Freeform 72" id="72"/>
            <p:cNvSpPr/>
            <p:nvPr/>
          </p:nvSpPr>
          <p:spPr>
            <a:xfrm flipH="false" flipV="false" rot="0">
              <a:off x="0" y="0"/>
              <a:ext cx="21844000" cy="1450340"/>
            </a:xfrm>
            <a:custGeom>
              <a:avLst/>
              <a:gdLst/>
              <a:ahLst/>
              <a:cxnLst/>
              <a:rect r="r" b="b" t="t" l="l"/>
              <a:pathLst>
                <a:path h="1450340" w="21844000">
                  <a:moveTo>
                    <a:pt x="0" y="76200"/>
                  </a:moveTo>
                  <a:cubicBezTo>
                    <a:pt x="0" y="34163"/>
                    <a:pt x="34163" y="0"/>
                    <a:pt x="76200" y="0"/>
                  </a:cubicBezTo>
                  <a:lnTo>
                    <a:pt x="21767800" y="0"/>
                  </a:lnTo>
                  <a:cubicBezTo>
                    <a:pt x="21809838" y="0"/>
                    <a:pt x="21844000" y="34163"/>
                    <a:pt x="21844000" y="76200"/>
                  </a:cubicBezTo>
                  <a:lnTo>
                    <a:pt x="21844000" y="1374140"/>
                  </a:lnTo>
                  <a:cubicBezTo>
                    <a:pt x="21844000" y="1416177"/>
                    <a:pt x="21809838" y="1450340"/>
                    <a:pt x="21767800" y="1450340"/>
                  </a:cubicBezTo>
                  <a:lnTo>
                    <a:pt x="76200" y="1450340"/>
                  </a:lnTo>
                  <a:cubicBezTo>
                    <a:pt x="34163" y="1450340"/>
                    <a:pt x="0" y="1416177"/>
                    <a:pt x="0" y="1374140"/>
                  </a:cubicBezTo>
                  <a:close/>
                </a:path>
              </a:pathLst>
            </a:custGeom>
            <a:solidFill>
              <a:srgbClr val="F8A900">
                <a:alpha val="1176"/>
              </a:srgbClr>
            </a:solidFill>
          </p:spPr>
        </p:sp>
      </p:grpSp>
      <p:grpSp>
        <p:nvGrpSpPr>
          <p:cNvPr name="Group 73" id="73"/>
          <p:cNvGrpSpPr/>
          <p:nvPr/>
        </p:nvGrpSpPr>
        <p:grpSpPr>
          <a:xfrm rot="0">
            <a:off x="1047750" y="8170545"/>
            <a:ext cx="53340" cy="1087755"/>
            <a:chOff x="0" y="0"/>
            <a:chExt cx="71120" cy="1450340"/>
          </a:xfrm>
        </p:grpSpPr>
        <p:sp>
          <p:nvSpPr>
            <p:cNvPr name="Freeform 74" id="74"/>
            <p:cNvSpPr/>
            <p:nvPr/>
          </p:nvSpPr>
          <p:spPr>
            <a:xfrm flipH="false" flipV="false" rot="0">
              <a:off x="0" y="0"/>
              <a:ext cx="71120" cy="1450340"/>
            </a:xfrm>
            <a:custGeom>
              <a:avLst/>
              <a:gdLst/>
              <a:ahLst/>
              <a:cxnLst/>
              <a:rect r="r" b="b" t="t" l="l"/>
              <a:pathLst>
                <a:path h="1450340" w="71120">
                  <a:moveTo>
                    <a:pt x="0" y="0"/>
                  </a:moveTo>
                  <a:lnTo>
                    <a:pt x="71120" y="0"/>
                  </a:lnTo>
                  <a:lnTo>
                    <a:pt x="71120" y="1450340"/>
                  </a:lnTo>
                  <a:lnTo>
                    <a:pt x="0" y="1450340"/>
                  </a:lnTo>
                  <a:close/>
                </a:path>
              </a:pathLst>
            </a:custGeom>
            <a:solidFill>
              <a:srgbClr val="F8A900"/>
            </a:solidFill>
          </p:spPr>
        </p:sp>
      </p:grpSp>
      <p:sp>
        <p:nvSpPr>
          <p:cNvPr name="TextBox 75" id="75"/>
          <p:cNvSpPr txBox="true"/>
          <p:nvPr/>
        </p:nvSpPr>
        <p:spPr>
          <a:xfrm rot="0">
            <a:off x="1412243" y="8310248"/>
            <a:ext cx="16180108" cy="751208"/>
          </a:xfrm>
          <a:prstGeom prst="rect">
            <a:avLst/>
          </a:prstGeom>
        </p:spPr>
        <p:txBody>
          <a:bodyPr anchor="t" rtlCol="false" tIns="0" lIns="0" bIns="0" rIns="0">
            <a:spAutoFit/>
          </a:bodyPr>
          <a:lstStyle/>
          <a:p>
            <a:pPr algn="l">
              <a:lnSpc>
                <a:spcPts val="3159"/>
              </a:lnSpc>
            </a:pPr>
            <a:r>
              <a:rPr lang="en-US" sz="1950" b="true">
                <a:solidFill>
                  <a:srgbClr val="003865"/>
                </a:solidFill>
                <a:latin typeface="Poppins Bold"/>
                <a:ea typeface="Poppins Bold"/>
                <a:cs typeface="Poppins Bold"/>
                <a:sym typeface="Poppins Bold"/>
              </a:rPr>
              <a:t>Es un problema estructural y nacional: </a:t>
            </a:r>
            <a:r>
              <a:rPr lang="en-US" sz="1950">
                <a:solidFill>
                  <a:srgbClr val="1E1E1E"/>
                </a:solidFill>
                <a:latin typeface="Poppins"/>
                <a:ea typeface="Poppins"/>
                <a:cs typeface="Poppins"/>
                <a:sym typeface="Poppins"/>
              </a:rPr>
              <a:t>ningún territorio está exento y los mismos determinantes —pobreza, bajo peso al nacer, anemia— se repiten en todo el país.</a:t>
            </a:r>
          </a:p>
        </p:txBody>
      </p:sp>
      <p:sp>
        <p:nvSpPr>
          <p:cNvPr name="TextBox 76" id="76"/>
          <p:cNvSpPr txBox="true"/>
          <p:nvPr/>
        </p:nvSpPr>
        <p:spPr>
          <a:xfrm rot="0">
            <a:off x="14236189" y="4921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77" id="77"/>
          <p:cNvSpPr txBox="true"/>
          <p:nvPr/>
        </p:nvSpPr>
        <p:spPr>
          <a:xfrm rot="0">
            <a:off x="14236189" y="8014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78" id="78"/>
          <p:cNvSpPr txBox="true"/>
          <p:nvPr/>
        </p:nvSpPr>
        <p:spPr>
          <a:xfrm rot="0">
            <a:off x="15678001" y="96170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sp>
        <p:nvSpPr>
          <p:cNvPr name="TextBox 12" id="12"/>
          <p:cNvSpPr txBox="true"/>
          <p:nvPr/>
        </p:nvSpPr>
        <p:spPr>
          <a:xfrm rot="0">
            <a:off x="1682753" y="930278"/>
            <a:ext cx="2334797" cy="316868"/>
          </a:xfrm>
          <a:prstGeom prst="rect">
            <a:avLst/>
          </a:prstGeom>
        </p:spPr>
        <p:txBody>
          <a:bodyPr anchor="t" rtlCol="false" tIns="0" lIns="0" bIns="0" rIns="0">
            <a:spAutoFit/>
          </a:bodyPr>
          <a:lstStyle/>
          <a:p>
            <a:pPr algn="l">
              <a:lnSpc>
                <a:spcPts val="1980"/>
              </a:lnSpc>
            </a:pPr>
            <a:r>
              <a:rPr lang="en-US" b="true" sz="1650" spc="375">
                <a:solidFill>
                  <a:srgbClr val="F8A900"/>
                </a:solidFill>
                <a:latin typeface="Poppins Bold"/>
                <a:ea typeface="Poppins Bold"/>
                <a:cs typeface="Poppins Bold"/>
                <a:sym typeface="Poppins Bold"/>
              </a:rPr>
              <a:t>PROBLEMÁTICA</a:t>
            </a:r>
          </a:p>
        </p:txBody>
      </p:sp>
      <p:sp>
        <p:nvSpPr>
          <p:cNvPr name="TextBox 13" id="13"/>
          <p:cNvSpPr txBox="true"/>
          <p:nvPr/>
        </p:nvSpPr>
        <p:spPr>
          <a:xfrm rot="0">
            <a:off x="1073153" y="1431293"/>
            <a:ext cx="10530297" cy="660121"/>
          </a:xfrm>
          <a:prstGeom prst="rect">
            <a:avLst/>
          </a:prstGeom>
        </p:spPr>
        <p:txBody>
          <a:bodyPr anchor="t" rtlCol="false" tIns="0" lIns="0" bIns="0" rIns="0">
            <a:spAutoFit/>
          </a:bodyPr>
          <a:lstStyle/>
          <a:p>
            <a:pPr algn="l">
              <a:lnSpc>
                <a:spcPts val="6177"/>
              </a:lnSpc>
            </a:pPr>
            <a:r>
              <a:rPr lang="en-US" b="true" sz="4950" spc="-75">
                <a:solidFill>
                  <a:srgbClr val="003865"/>
                </a:solidFill>
                <a:latin typeface="DM Sans Bold"/>
                <a:ea typeface="DM Sans Bold"/>
                <a:cs typeface="DM Sans Bold"/>
                <a:sym typeface="DM Sans Bold"/>
              </a:rPr>
              <a:t>La brecha en la respuesta</a:t>
            </a:r>
          </a:p>
        </p:txBody>
      </p:sp>
      <p:sp>
        <p:nvSpPr>
          <p:cNvPr name="TextBox 14" id="14"/>
          <p:cNvSpPr txBox="true"/>
          <p:nvPr/>
        </p:nvSpPr>
        <p:spPr>
          <a:xfrm rot="0">
            <a:off x="1073153" y="2161261"/>
            <a:ext cx="10530297" cy="474983"/>
          </a:xfrm>
          <a:prstGeom prst="rect">
            <a:avLst/>
          </a:prstGeom>
        </p:spPr>
        <p:txBody>
          <a:bodyPr anchor="t" rtlCol="false" tIns="0" lIns="0" bIns="0" rIns="0">
            <a:spAutoFit/>
          </a:bodyPr>
          <a:lstStyle/>
          <a:p>
            <a:pPr algn="l">
              <a:lnSpc>
                <a:spcPts val="3528"/>
              </a:lnSpc>
            </a:pPr>
            <a:r>
              <a:rPr lang="en-US" sz="2100">
                <a:solidFill>
                  <a:srgbClr val="1E1E1E"/>
                </a:solidFill>
                <a:latin typeface="Poppins"/>
                <a:ea typeface="Poppins"/>
                <a:cs typeface="Poppins"/>
                <a:sym typeface="Poppins"/>
              </a:rPr>
              <a:t>Las estrategias vigentes dejan tres vacíos que impiden actuar a tiempo.</a:t>
            </a:r>
          </a:p>
        </p:txBody>
      </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sp>
        <p:nvSpPr>
          <p:cNvPr name="TextBox 17" id="17"/>
          <p:cNvSpPr txBox="true"/>
          <p:nvPr/>
        </p:nvSpPr>
        <p:spPr>
          <a:xfrm rot="0">
            <a:off x="1435103" y="3644903"/>
            <a:ext cx="4922472" cy="596903"/>
          </a:xfrm>
          <a:prstGeom prst="rect">
            <a:avLst/>
          </a:prstGeom>
        </p:spPr>
        <p:txBody>
          <a:bodyPr anchor="t" rtlCol="false" tIns="0" lIns="0" bIns="0" rIns="0">
            <a:spAutoFit/>
          </a:bodyPr>
          <a:lstStyle/>
          <a:p>
            <a:pPr algn="l">
              <a:lnSpc>
                <a:spcPts val="5759"/>
              </a:lnSpc>
            </a:pPr>
            <a:r>
              <a:rPr lang="en-US" sz="4800" b="true">
                <a:solidFill>
                  <a:srgbClr val="F8A900"/>
                </a:solidFill>
                <a:latin typeface="DM Sans Bold"/>
                <a:ea typeface="DM Sans Bold"/>
                <a:cs typeface="DM Sans Bold"/>
                <a:sym typeface="DM Sans Bold"/>
              </a:rPr>
              <a:t>01</a:t>
            </a:r>
          </a:p>
        </p:txBody>
      </p:sp>
      <p:sp>
        <p:nvSpPr>
          <p:cNvPr name="TextBox 18" id="18"/>
          <p:cNvSpPr txBox="true"/>
          <p:nvPr/>
        </p:nvSpPr>
        <p:spPr>
          <a:xfrm rot="0">
            <a:off x="1435103" y="4397378"/>
            <a:ext cx="4922472" cy="407356"/>
          </a:xfrm>
          <a:prstGeom prst="rect">
            <a:avLst/>
          </a:prstGeom>
        </p:spPr>
        <p:txBody>
          <a:bodyPr anchor="t" rtlCol="false" tIns="0" lIns="0" bIns="0" rIns="0">
            <a:spAutoFit/>
          </a:bodyPr>
          <a:lstStyle/>
          <a:p>
            <a:pPr algn="l">
              <a:lnSpc>
                <a:spcPts val="3519"/>
              </a:lnSpc>
            </a:pPr>
            <a:r>
              <a:rPr lang="en-US" sz="2550" b="true">
                <a:solidFill>
                  <a:srgbClr val="003865"/>
                </a:solidFill>
                <a:latin typeface="DM Sans Bold"/>
                <a:ea typeface="DM Sans Bold"/>
                <a:cs typeface="DM Sans Bold"/>
                <a:sym typeface="DM Sans Bold"/>
              </a:rPr>
              <a:t>Detección tardía</a:t>
            </a:r>
          </a:p>
        </p:txBody>
      </p:sp>
      <p:sp>
        <p:nvSpPr>
          <p:cNvPr name="TextBox 19" id="19"/>
          <p:cNvSpPr txBox="true"/>
          <p:nvPr/>
        </p:nvSpPr>
        <p:spPr>
          <a:xfrm rot="0">
            <a:off x="1435103" y="4874581"/>
            <a:ext cx="4605995" cy="1178881"/>
          </a:xfrm>
          <a:prstGeom prst="rect">
            <a:avLst/>
          </a:prstGeom>
        </p:spPr>
        <p:txBody>
          <a:bodyPr anchor="t" rtlCol="false" tIns="0" lIns="0" bIns="0" rIns="0">
            <a:spAutoFit/>
          </a:bodyPr>
          <a:lstStyle/>
          <a:p>
            <a:pPr algn="l">
              <a:lnSpc>
                <a:spcPts val="3393"/>
              </a:lnSpc>
            </a:pPr>
            <a:r>
              <a:rPr lang="en-US" sz="1950">
                <a:solidFill>
                  <a:srgbClr val="1E1E1E"/>
                </a:solidFill>
                <a:latin typeface="Poppins"/>
                <a:ea typeface="Poppins"/>
                <a:cs typeface="Poppins"/>
                <a:sym typeface="Poppins"/>
              </a:rPr>
              <a:t>El diagnóstico se confirma cuando la baja talla ya es visible e irreversible, no antes.</a:t>
            </a:r>
          </a:p>
        </p:txBody>
      </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sp>
        <p:nvSpPr>
          <p:cNvPr name="TextBox 22" id="22"/>
          <p:cNvSpPr txBox="true"/>
          <p:nvPr/>
        </p:nvSpPr>
        <p:spPr>
          <a:xfrm rot="0">
            <a:off x="7004009" y="3644903"/>
            <a:ext cx="4922606" cy="596903"/>
          </a:xfrm>
          <a:prstGeom prst="rect">
            <a:avLst/>
          </a:prstGeom>
        </p:spPr>
        <p:txBody>
          <a:bodyPr anchor="t" rtlCol="false" tIns="0" lIns="0" bIns="0" rIns="0">
            <a:spAutoFit/>
          </a:bodyPr>
          <a:lstStyle/>
          <a:p>
            <a:pPr algn="l">
              <a:lnSpc>
                <a:spcPts val="5759"/>
              </a:lnSpc>
            </a:pPr>
            <a:r>
              <a:rPr lang="en-US" sz="4800" b="true">
                <a:solidFill>
                  <a:srgbClr val="F8A900"/>
                </a:solidFill>
                <a:latin typeface="DM Sans Bold"/>
                <a:ea typeface="DM Sans Bold"/>
                <a:cs typeface="DM Sans Bold"/>
                <a:sym typeface="DM Sans Bold"/>
              </a:rPr>
              <a:t>02</a:t>
            </a:r>
          </a:p>
        </p:txBody>
      </p:sp>
      <p:sp>
        <p:nvSpPr>
          <p:cNvPr name="TextBox 23" id="23"/>
          <p:cNvSpPr txBox="true"/>
          <p:nvPr/>
        </p:nvSpPr>
        <p:spPr>
          <a:xfrm rot="0">
            <a:off x="7004009" y="4397378"/>
            <a:ext cx="4606119" cy="779783"/>
          </a:xfrm>
          <a:prstGeom prst="rect">
            <a:avLst/>
          </a:prstGeom>
        </p:spPr>
        <p:txBody>
          <a:bodyPr anchor="t" rtlCol="false" tIns="0" lIns="0" bIns="0" rIns="0">
            <a:spAutoFit/>
          </a:bodyPr>
          <a:lstStyle/>
          <a:p>
            <a:pPr algn="l">
              <a:lnSpc>
                <a:spcPts val="3519"/>
              </a:lnSpc>
            </a:pPr>
            <a:r>
              <a:rPr lang="en-US" sz="2550" b="true">
                <a:solidFill>
                  <a:srgbClr val="003865"/>
                </a:solidFill>
                <a:latin typeface="DM Sans Bold"/>
                <a:ea typeface="DM Sans Bold"/>
                <a:cs typeface="DM Sans Bold"/>
                <a:sym typeface="DM Sans Bold"/>
              </a:rPr>
              <a:t>Depende de medición clínica</a:t>
            </a:r>
          </a:p>
        </p:txBody>
      </p:sp>
      <p:sp>
        <p:nvSpPr>
          <p:cNvPr name="TextBox 24" id="24"/>
          <p:cNvSpPr txBox="true"/>
          <p:nvPr/>
        </p:nvSpPr>
        <p:spPr>
          <a:xfrm rot="0">
            <a:off x="7004009" y="4826956"/>
            <a:ext cx="4606119" cy="1537973"/>
          </a:xfrm>
          <a:prstGeom prst="rect">
            <a:avLst/>
          </a:prstGeom>
        </p:spPr>
        <p:txBody>
          <a:bodyPr anchor="t" rtlCol="false" tIns="0" lIns="0" bIns="0" rIns="0">
            <a:spAutoFit/>
          </a:bodyPr>
          <a:lstStyle/>
          <a:p>
            <a:pPr algn="l">
              <a:lnSpc>
                <a:spcPts val="3393"/>
              </a:lnSpc>
            </a:pPr>
            <a:r>
              <a:rPr lang="en-US" sz="1950">
                <a:solidFill>
                  <a:srgbClr val="1E1E1E"/>
                </a:solidFill>
                <a:latin typeface="Poppins"/>
                <a:ea typeface="Poppins"/>
                <a:cs typeface="Poppins"/>
                <a:sym typeface="Poppins"/>
              </a:rPr>
              <a:t>Evaluar el riesgo exige antropometría, laboratorio y personal de salud: poco accesible para muchas familias.</a:t>
            </a:r>
          </a:p>
        </p:txBody>
      </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sp>
        <p:nvSpPr>
          <p:cNvPr name="TextBox 27" id="27"/>
          <p:cNvSpPr txBox="true"/>
          <p:nvPr/>
        </p:nvSpPr>
        <p:spPr>
          <a:xfrm rot="0">
            <a:off x="12573038" y="3644903"/>
            <a:ext cx="4922472" cy="596903"/>
          </a:xfrm>
          <a:prstGeom prst="rect">
            <a:avLst/>
          </a:prstGeom>
        </p:spPr>
        <p:txBody>
          <a:bodyPr anchor="t" rtlCol="false" tIns="0" lIns="0" bIns="0" rIns="0">
            <a:spAutoFit/>
          </a:bodyPr>
          <a:lstStyle/>
          <a:p>
            <a:pPr algn="l">
              <a:lnSpc>
                <a:spcPts val="5759"/>
              </a:lnSpc>
            </a:pPr>
            <a:r>
              <a:rPr lang="en-US" sz="4800" b="true">
                <a:solidFill>
                  <a:srgbClr val="F8A900"/>
                </a:solidFill>
                <a:latin typeface="DM Sans Bold"/>
                <a:ea typeface="DM Sans Bold"/>
                <a:cs typeface="DM Sans Bold"/>
                <a:sym typeface="DM Sans Bold"/>
              </a:rPr>
              <a:t>03</a:t>
            </a:r>
          </a:p>
        </p:txBody>
      </p:sp>
      <p:sp>
        <p:nvSpPr>
          <p:cNvPr name="TextBox 28" id="28"/>
          <p:cNvSpPr txBox="true"/>
          <p:nvPr/>
        </p:nvSpPr>
        <p:spPr>
          <a:xfrm rot="0">
            <a:off x="12573038" y="4397378"/>
            <a:ext cx="4702731" cy="427482"/>
          </a:xfrm>
          <a:prstGeom prst="rect">
            <a:avLst/>
          </a:prstGeom>
        </p:spPr>
        <p:txBody>
          <a:bodyPr anchor="t" rtlCol="false" tIns="0" lIns="0" bIns="0" rIns="0">
            <a:spAutoFit/>
          </a:bodyPr>
          <a:lstStyle/>
          <a:p>
            <a:pPr algn="l">
              <a:lnSpc>
                <a:spcPts val="3519"/>
              </a:lnSpc>
            </a:pPr>
            <a:r>
              <a:rPr lang="en-US" sz="2550" b="true">
                <a:solidFill>
                  <a:srgbClr val="003865"/>
                </a:solidFill>
                <a:latin typeface="DM Sans Bold"/>
                <a:ea typeface="DM Sans Bold"/>
                <a:cs typeface="DM Sans Bold"/>
                <a:sym typeface="DM Sans Bold"/>
              </a:rPr>
              <a:t>F</a:t>
            </a:r>
            <a:r>
              <a:rPr lang="en-US" sz="2550" b="true">
                <a:solidFill>
                  <a:srgbClr val="003865"/>
                </a:solidFill>
                <a:latin typeface="DM Sans Bold"/>
                <a:ea typeface="DM Sans Bold"/>
                <a:cs typeface="DM Sans Bold"/>
                <a:sym typeface="DM Sans Bold"/>
              </a:rPr>
              <a:t>alta de estimación temprana</a:t>
            </a:r>
          </a:p>
        </p:txBody>
      </p:sp>
      <p:sp>
        <p:nvSpPr>
          <p:cNvPr name="TextBox 29" id="29"/>
          <p:cNvSpPr txBox="true"/>
          <p:nvPr/>
        </p:nvSpPr>
        <p:spPr>
          <a:xfrm rot="0">
            <a:off x="12573038" y="4826956"/>
            <a:ext cx="4605995" cy="2980944"/>
          </a:xfrm>
          <a:prstGeom prst="rect">
            <a:avLst/>
          </a:prstGeom>
        </p:spPr>
        <p:txBody>
          <a:bodyPr anchor="t" rtlCol="false" tIns="0" lIns="0" bIns="0" rIns="0">
            <a:spAutoFit/>
          </a:bodyPr>
          <a:lstStyle/>
          <a:p>
            <a:pPr algn="l">
              <a:lnSpc>
                <a:spcPts val="3393"/>
              </a:lnSpc>
            </a:pPr>
            <a:r>
              <a:rPr lang="en-US" sz="1950">
                <a:solidFill>
                  <a:srgbClr val="1E1E1E"/>
                </a:solidFill>
                <a:latin typeface="Poppins"/>
                <a:ea typeface="Poppins"/>
                <a:cs typeface="Poppins"/>
                <a:sym typeface="Poppins"/>
              </a:rPr>
              <a:t>No se cuenta con una herramienta accesible que integre los principales factores asociados y estime anticipadamente la probabilidad de riesgo de cada niño.</a:t>
            </a:r>
          </a:p>
          <a:p>
            <a:pPr algn="l">
              <a:lnSpc>
                <a:spcPts val="3393"/>
              </a:lnSpc>
            </a:pPr>
          </a:p>
          <a:p>
            <a:pPr algn="l">
              <a:lnSpc>
                <a:spcPts val="3393"/>
              </a:lnSpc>
            </a:pPr>
          </a:p>
        </p:txBody>
      </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sp>
        <p:nvSpPr>
          <p:cNvPr name="TextBox 37" id="37"/>
          <p:cNvSpPr txBox="true"/>
          <p:nvPr/>
        </p:nvSpPr>
        <p:spPr>
          <a:xfrm rot="0">
            <a:off x="2292353" y="8112128"/>
            <a:ext cx="15136244" cy="873128"/>
          </a:xfrm>
          <a:prstGeom prst="rect">
            <a:avLst/>
          </a:prstGeom>
        </p:spPr>
        <p:txBody>
          <a:bodyPr anchor="t" rtlCol="false" tIns="0" lIns="0" bIns="0" rIns="0">
            <a:spAutoFit/>
          </a:bodyPr>
          <a:lstStyle/>
          <a:p>
            <a:pPr algn="l">
              <a:lnSpc>
                <a:spcPts val="3645"/>
              </a:lnSpc>
            </a:pPr>
            <a:r>
              <a:rPr lang="en-US" sz="2250">
                <a:solidFill>
                  <a:srgbClr val="FFFFFF"/>
                </a:solidFill>
                <a:latin typeface="Poppins"/>
                <a:ea typeface="Poppins"/>
                <a:cs typeface="Poppins"/>
                <a:sym typeface="Poppins"/>
              </a:rPr>
              <a:t>Se necesita una herramienta </a:t>
            </a:r>
            <a:r>
              <a:rPr lang="en-US" sz="2250" b="true">
                <a:solidFill>
                  <a:srgbClr val="F8A900"/>
                </a:solidFill>
                <a:latin typeface="Poppins Bold"/>
                <a:ea typeface="Poppins Bold"/>
                <a:cs typeface="Poppins Bold"/>
                <a:sym typeface="Poppins Bold"/>
              </a:rPr>
              <a:t>predictiva y accesible </a:t>
            </a:r>
            <a:r>
              <a:rPr lang="en-US" sz="2250">
                <a:solidFill>
                  <a:srgbClr val="FFFFFF"/>
                </a:solidFill>
                <a:latin typeface="Poppins"/>
                <a:ea typeface="Poppins"/>
                <a:cs typeface="Poppins"/>
                <a:sym typeface="Poppins"/>
              </a:rPr>
              <a:t>que anticipe el riesgo antes de que sea irreversible.</a:t>
            </a:r>
          </a:p>
        </p:txBody>
      </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10520153" y="-6876874"/>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824908" y="-7307647"/>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618343" y="976103"/>
            <a:ext cx="6933752" cy="6933752"/>
          </a:xfrm>
          <a:custGeom>
            <a:avLst/>
            <a:gdLst/>
            <a:ahLst/>
            <a:cxnLst/>
            <a:rect r="r" b="b" t="t" l="l"/>
            <a:pathLst>
              <a:path h="6933752" w="6933752">
                <a:moveTo>
                  <a:pt x="0" y="0"/>
                </a:moveTo>
                <a:lnTo>
                  <a:pt x="6933752" y="0"/>
                </a:lnTo>
                <a:lnTo>
                  <a:pt x="6933752"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pSp>
        <p:nvGrpSpPr>
          <p:cNvPr name="Group 9" id="9"/>
          <p:cNvGrpSpPr/>
          <p:nvPr/>
        </p:nvGrpSpPr>
        <p:grpSpPr>
          <a:xfrm rot="0">
            <a:off x="542372" y="2262020"/>
            <a:ext cx="13698751" cy="1508760"/>
            <a:chOff x="0" y="0"/>
            <a:chExt cx="18265002" cy="2011680"/>
          </a:xfrm>
        </p:grpSpPr>
        <p:sp>
          <p:nvSpPr>
            <p:cNvPr name="Freeform 10" id="10"/>
            <p:cNvSpPr/>
            <p:nvPr/>
          </p:nvSpPr>
          <p:spPr>
            <a:xfrm flipH="false" flipV="false" rot="0">
              <a:off x="0" y="0"/>
              <a:ext cx="18265001" cy="2011680"/>
            </a:xfrm>
            <a:custGeom>
              <a:avLst/>
              <a:gdLst/>
              <a:ahLst/>
              <a:cxnLst/>
              <a:rect r="r" b="b" t="t" l="l"/>
              <a:pathLst>
                <a:path h="2011680" w="18265001">
                  <a:moveTo>
                    <a:pt x="0" y="128016"/>
                  </a:moveTo>
                  <a:cubicBezTo>
                    <a:pt x="0" y="57277"/>
                    <a:pt x="47277" y="0"/>
                    <a:pt x="105665" y="0"/>
                  </a:cubicBezTo>
                  <a:lnTo>
                    <a:pt x="18159337" y="0"/>
                  </a:lnTo>
                  <a:cubicBezTo>
                    <a:pt x="18217724" y="0"/>
                    <a:pt x="18265001" y="57277"/>
                    <a:pt x="18265001" y="128016"/>
                  </a:cubicBezTo>
                  <a:lnTo>
                    <a:pt x="18265001" y="1883664"/>
                  </a:lnTo>
                  <a:cubicBezTo>
                    <a:pt x="18265001" y="1954403"/>
                    <a:pt x="18217724" y="2011680"/>
                    <a:pt x="18159337" y="2011680"/>
                  </a:cubicBezTo>
                  <a:lnTo>
                    <a:pt x="105665" y="2011680"/>
                  </a:lnTo>
                  <a:cubicBezTo>
                    <a:pt x="47277" y="2011680"/>
                    <a:pt x="0" y="1954403"/>
                    <a:pt x="0" y="1883664"/>
                  </a:cubicBezTo>
                  <a:close/>
                </a:path>
              </a:pathLst>
            </a:custGeom>
            <a:solidFill>
              <a:srgbClr val="FFFFFF"/>
            </a:solidFill>
            <a:ln w="9525" cap="sq">
              <a:solidFill>
                <a:srgbClr val="E5E5E5"/>
              </a:solidFill>
              <a:prstDash val="solid"/>
              <a:miter/>
            </a:ln>
          </p:spPr>
        </p:sp>
      </p:grpSp>
      <p:grpSp>
        <p:nvGrpSpPr>
          <p:cNvPr name="Group 11" id="11"/>
          <p:cNvGrpSpPr/>
          <p:nvPr/>
        </p:nvGrpSpPr>
        <p:grpSpPr>
          <a:xfrm rot="0">
            <a:off x="922119" y="2550056"/>
            <a:ext cx="803345" cy="822960"/>
            <a:chOff x="0" y="0"/>
            <a:chExt cx="1071127" cy="1097280"/>
          </a:xfrm>
        </p:grpSpPr>
        <p:sp>
          <p:nvSpPr>
            <p:cNvPr name="Freeform 12" id="12"/>
            <p:cNvSpPr/>
            <p:nvPr/>
          </p:nvSpPr>
          <p:spPr>
            <a:xfrm flipH="false" flipV="false" rot="0">
              <a:off x="0" y="0"/>
              <a:ext cx="1071127" cy="1097280"/>
            </a:xfrm>
            <a:custGeom>
              <a:avLst/>
              <a:gdLst/>
              <a:ahLst/>
              <a:cxnLst/>
              <a:rect r="r" b="b" t="t" l="l"/>
              <a:pathLst>
                <a:path h="1097280" w="1071127">
                  <a:moveTo>
                    <a:pt x="0" y="548640"/>
                  </a:moveTo>
                  <a:cubicBezTo>
                    <a:pt x="0" y="245618"/>
                    <a:pt x="239764" y="0"/>
                    <a:pt x="535564" y="0"/>
                  </a:cubicBezTo>
                  <a:cubicBezTo>
                    <a:pt x="831363" y="0"/>
                    <a:pt x="1071127" y="245618"/>
                    <a:pt x="1071127" y="548640"/>
                  </a:cubicBezTo>
                  <a:cubicBezTo>
                    <a:pt x="1071127" y="851662"/>
                    <a:pt x="831363" y="1097280"/>
                    <a:pt x="535564" y="1097280"/>
                  </a:cubicBezTo>
                  <a:cubicBezTo>
                    <a:pt x="239764" y="1097280"/>
                    <a:pt x="0" y="851662"/>
                    <a:pt x="0" y="548640"/>
                  </a:cubicBezTo>
                  <a:close/>
                </a:path>
              </a:pathLst>
            </a:custGeom>
            <a:solidFill>
              <a:srgbClr val="F7F7F7"/>
            </a:solidFill>
          </p:spPr>
        </p:sp>
      </p:grpSp>
      <p:grpSp>
        <p:nvGrpSpPr>
          <p:cNvPr name="Group 13" id="13"/>
          <p:cNvGrpSpPr/>
          <p:nvPr/>
        </p:nvGrpSpPr>
        <p:grpSpPr>
          <a:xfrm rot="0">
            <a:off x="1962791" y="2372106"/>
            <a:ext cx="11717147" cy="519969"/>
            <a:chOff x="0" y="0"/>
            <a:chExt cx="15622863" cy="693292"/>
          </a:xfrm>
        </p:grpSpPr>
        <p:sp>
          <p:nvSpPr>
            <p:cNvPr name="Freeform 14" id="14"/>
            <p:cNvSpPr/>
            <p:nvPr/>
          </p:nvSpPr>
          <p:spPr>
            <a:xfrm flipH="false" flipV="false" rot="0">
              <a:off x="0" y="0"/>
              <a:ext cx="15622863" cy="693292"/>
            </a:xfrm>
            <a:custGeom>
              <a:avLst/>
              <a:gdLst/>
              <a:ahLst/>
              <a:cxnLst/>
              <a:rect r="r" b="b" t="t" l="l"/>
              <a:pathLst>
                <a:path h="693292" w="15622863">
                  <a:moveTo>
                    <a:pt x="0" y="0"/>
                  </a:moveTo>
                  <a:lnTo>
                    <a:pt x="15622863" y="0"/>
                  </a:lnTo>
                  <a:lnTo>
                    <a:pt x="15622863" y="693292"/>
                  </a:lnTo>
                  <a:lnTo>
                    <a:pt x="0" y="693292"/>
                  </a:lnTo>
                  <a:close/>
                </a:path>
              </a:pathLst>
            </a:custGeom>
            <a:blipFill>
              <a:blip r:embed="rId8">
                <a:alphaModFix amt="0"/>
              </a:blip>
              <a:stretch>
                <a:fillRect l="0" t="-510397" r="-25253" b="-489532"/>
              </a:stretch>
            </a:blipFill>
          </p:spPr>
        </p:sp>
        <p:sp>
          <p:nvSpPr>
            <p:cNvPr name="TextBox 15" id="15"/>
            <p:cNvSpPr txBox="true"/>
            <p:nvPr/>
          </p:nvSpPr>
          <p:spPr>
            <a:xfrm>
              <a:off x="0" y="-19050"/>
              <a:ext cx="15622863" cy="712342"/>
            </a:xfrm>
            <a:prstGeom prst="rect">
              <a:avLst/>
            </a:prstGeom>
          </p:spPr>
          <p:txBody>
            <a:bodyPr anchor="ctr" rtlCol="false" tIns="0" lIns="0" bIns="0" rIns="0"/>
            <a:lstStyle/>
            <a:p>
              <a:pPr algn="l">
                <a:lnSpc>
                  <a:spcPts val="2549"/>
                </a:lnSpc>
              </a:pPr>
              <a:r>
                <a:rPr lang="en-US" b="true" sz="2124" spc="184">
                  <a:solidFill>
                    <a:srgbClr val="1E1E1E"/>
                  </a:solidFill>
                  <a:latin typeface="Poppins Bold"/>
                  <a:ea typeface="Poppins Bold"/>
                  <a:cs typeface="Poppins Bold"/>
                  <a:sym typeface="Poppins Bold"/>
                </a:rPr>
                <a:t>Objetivo general</a:t>
              </a:r>
            </a:p>
          </p:txBody>
        </p:sp>
      </p:grpSp>
      <p:grpSp>
        <p:nvGrpSpPr>
          <p:cNvPr name="Group 16" id="16"/>
          <p:cNvGrpSpPr/>
          <p:nvPr/>
        </p:nvGrpSpPr>
        <p:grpSpPr>
          <a:xfrm rot="0">
            <a:off x="1934779" y="2769512"/>
            <a:ext cx="12002983" cy="946938"/>
            <a:chOff x="0" y="0"/>
            <a:chExt cx="16003977" cy="1262584"/>
          </a:xfrm>
        </p:grpSpPr>
        <p:sp>
          <p:nvSpPr>
            <p:cNvPr name="Freeform 17" id="17"/>
            <p:cNvSpPr/>
            <p:nvPr/>
          </p:nvSpPr>
          <p:spPr>
            <a:xfrm flipH="false" flipV="false" rot="0">
              <a:off x="0" y="0"/>
              <a:ext cx="16003978" cy="1262584"/>
            </a:xfrm>
            <a:custGeom>
              <a:avLst/>
              <a:gdLst/>
              <a:ahLst/>
              <a:cxnLst/>
              <a:rect r="r" b="b" t="t" l="l"/>
              <a:pathLst>
                <a:path h="1262584" w="16003978">
                  <a:moveTo>
                    <a:pt x="0" y="0"/>
                  </a:moveTo>
                  <a:lnTo>
                    <a:pt x="16003978" y="0"/>
                  </a:lnTo>
                  <a:lnTo>
                    <a:pt x="16003978" y="1262584"/>
                  </a:lnTo>
                  <a:lnTo>
                    <a:pt x="0" y="1262584"/>
                  </a:lnTo>
                  <a:close/>
                </a:path>
              </a:pathLst>
            </a:custGeom>
            <a:blipFill>
              <a:blip r:embed="rId8">
                <a:alphaModFix amt="0"/>
              </a:blip>
              <a:stretch>
                <a:fillRect l="0" t="-254914" r="-22270" b="-249063"/>
              </a:stretch>
            </a:blipFill>
          </p:spPr>
        </p:sp>
        <p:sp>
          <p:nvSpPr>
            <p:cNvPr name="TextBox 18" id="18"/>
            <p:cNvSpPr txBox="true"/>
            <p:nvPr/>
          </p:nvSpPr>
          <p:spPr>
            <a:xfrm>
              <a:off x="0" y="-47625"/>
              <a:ext cx="16003977" cy="1310209"/>
            </a:xfrm>
            <a:prstGeom prst="rect">
              <a:avLst/>
            </a:prstGeom>
          </p:spPr>
          <p:txBody>
            <a:bodyPr anchor="ctr" rtlCol="false" tIns="0" lIns="0" bIns="0" rIns="0"/>
            <a:lstStyle/>
            <a:p>
              <a:pPr algn="l">
                <a:lnSpc>
                  <a:spcPts val="2208"/>
                </a:lnSpc>
              </a:pPr>
              <a:r>
                <a:rPr lang="en-US" sz="1600">
                  <a:solidFill>
                    <a:srgbClr val="21303A"/>
                  </a:solidFill>
                  <a:latin typeface="Poppins"/>
                  <a:ea typeface="Poppins"/>
                  <a:cs typeface="Poppins"/>
                  <a:sym typeface="Poppins"/>
                </a:rPr>
                <a:t>Desarrollar un Sistema de Predicción de Riesgo de Desnutrición Crónica Infantil en el Perú, entrenando y comparando distintos modelos de Machine Learning sobre datos nacionales, e interpretando sus resultados.</a:t>
              </a:r>
            </a:p>
          </p:txBody>
        </p:sp>
      </p:grpSp>
      <p:grpSp>
        <p:nvGrpSpPr>
          <p:cNvPr name="Group 19" id="19"/>
          <p:cNvGrpSpPr/>
          <p:nvPr/>
        </p:nvGrpSpPr>
        <p:grpSpPr>
          <a:xfrm rot="0">
            <a:off x="422353" y="4180044"/>
            <a:ext cx="3713789" cy="4119292"/>
            <a:chOff x="0" y="0"/>
            <a:chExt cx="4951718" cy="5492389"/>
          </a:xfrm>
        </p:grpSpPr>
        <p:sp>
          <p:nvSpPr>
            <p:cNvPr name="Freeform 20" id="20"/>
            <p:cNvSpPr/>
            <p:nvPr/>
          </p:nvSpPr>
          <p:spPr>
            <a:xfrm flipH="false" flipV="false" rot="0">
              <a:off x="0" y="0"/>
              <a:ext cx="4951718" cy="5492389"/>
            </a:xfrm>
            <a:custGeom>
              <a:avLst/>
              <a:gdLst/>
              <a:ahLst/>
              <a:cxnLst/>
              <a:rect r="r" b="b" t="t" l="l"/>
              <a:pathLst>
                <a:path h="5492389" w="4951718">
                  <a:moveTo>
                    <a:pt x="0" y="99996"/>
                  </a:moveTo>
                  <a:cubicBezTo>
                    <a:pt x="0" y="44717"/>
                    <a:pt x="53094" y="0"/>
                    <a:pt x="118730" y="0"/>
                  </a:cubicBezTo>
                  <a:lnTo>
                    <a:pt x="4832989" y="0"/>
                  </a:lnTo>
                  <a:cubicBezTo>
                    <a:pt x="4898507" y="0"/>
                    <a:pt x="4951718" y="44717"/>
                    <a:pt x="4951718" y="99996"/>
                  </a:cubicBezTo>
                  <a:lnTo>
                    <a:pt x="4951718" y="5392393"/>
                  </a:lnTo>
                  <a:cubicBezTo>
                    <a:pt x="4951718" y="5447574"/>
                    <a:pt x="4898624" y="5492389"/>
                    <a:pt x="4832989" y="5492389"/>
                  </a:cubicBezTo>
                  <a:lnTo>
                    <a:pt x="118730" y="5492389"/>
                  </a:lnTo>
                  <a:cubicBezTo>
                    <a:pt x="53094" y="5492389"/>
                    <a:pt x="0" y="5447672"/>
                    <a:pt x="0" y="5392393"/>
                  </a:cubicBezTo>
                  <a:close/>
                </a:path>
              </a:pathLst>
            </a:custGeom>
            <a:solidFill>
              <a:srgbClr val="FFFFFF"/>
            </a:solidFill>
            <a:ln w="19050" cap="sq">
              <a:solidFill>
                <a:srgbClr val="F7F7F7"/>
              </a:solidFill>
              <a:prstDash val="solid"/>
              <a:miter/>
            </a:ln>
          </p:spPr>
        </p:sp>
      </p:grpSp>
      <p:grpSp>
        <p:nvGrpSpPr>
          <p:cNvPr name="Group 21" id="21"/>
          <p:cNvGrpSpPr/>
          <p:nvPr/>
        </p:nvGrpSpPr>
        <p:grpSpPr>
          <a:xfrm rot="0">
            <a:off x="747600" y="3411426"/>
            <a:ext cx="1072879" cy="2859305"/>
            <a:chOff x="0" y="0"/>
            <a:chExt cx="1430505" cy="3812406"/>
          </a:xfrm>
        </p:grpSpPr>
        <p:sp>
          <p:nvSpPr>
            <p:cNvPr name="Freeform 22" id="22"/>
            <p:cNvSpPr/>
            <p:nvPr/>
          </p:nvSpPr>
          <p:spPr>
            <a:xfrm flipH="false" flipV="false" rot="0">
              <a:off x="0" y="0"/>
              <a:ext cx="1430505" cy="3812406"/>
            </a:xfrm>
            <a:custGeom>
              <a:avLst/>
              <a:gdLst/>
              <a:ahLst/>
              <a:cxnLst/>
              <a:rect r="r" b="b" t="t" l="l"/>
              <a:pathLst>
                <a:path h="3812406" w="1430505">
                  <a:moveTo>
                    <a:pt x="0" y="0"/>
                  </a:moveTo>
                  <a:lnTo>
                    <a:pt x="1430505" y="0"/>
                  </a:lnTo>
                  <a:lnTo>
                    <a:pt x="1430505" y="3812406"/>
                  </a:lnTo>
                  <a:lnTo>
                    <a:pt x="0" y="3812406"/>
                  </a:lnTo>
                  <a:close/>
                </a:path>
              </a:pathLst>
            </a:custGeom>
            <a:blipFill>
              <a:blip r:embed="rId8">
                <a:alphaModFix amt="0"/>
              </a:blip>
              <a:stretch>
                <a:fillRect l="-19901" t="0" r="-60528" b="73616"/>
              </a:stretch>
            </a:blipFill>
          </p:spPr>
        </p:sp>
        <p:sp>
          <p:nvSpPr>
            <p:cNvPr name="TextBox 23" id="23"/>
            <p:cNvSpPr txBox="true"/>
            <p:nvPr/>
          </p:nvSpPr>
          <p:spPr>
            <a:xfrm>
              <a:off x="0" y="0"/>
              <a:ext cx="1430505" cy="3812406"/>
            </a:xfrm>
            <a:prstGeom prst="rect">
              <a:avLst/>
            </a:prstGeom>
          </p:spPr>
          <p:txBody>
            <a:bodyPr anchor="ctr" rtlCol="false" tIns="0" lIns="0" bIns="0" rIns="0"/>
            <a:lstStyle/>
            <a:p>
              <a:pPr algn="l">
                <a:lnSpc>
                  <a:spcPts val="4680"/>
                </a:lnSpc>
              </a:pPr>
              <a:r>
                <a:rPr lang="en-US" sz="3900" b="true">
                  <a:solidFill>
                    <a:srgbClr val="E8DCC8"/>
                  </a:solidFill>
                  <a:latin typeface="Cambria Bold"/>
                  <a:ea typeface="Cambria Bold"/>
                  <a:cs typeface="Cambria Bold"/>
                  <a:sym typeface="Cambria Bold"/>
                </a:rPr>
                <a:t>01</a:t>
              </a:r>
            </a:p>
          </p:txBody>
        </p:sp>
      </p:grpSp>
      <p:grpSp>
        <p:nvGrpSpPr>
          <p:cNvPr name="Group 24" id="24"/>
          <p:cNvGrpSpPr/>
          <p:nvPr/>
        </p:nvGrpSpPr>
        <p:grpSpPr>
          <a:xfrm rot="0">
            <a:off x="610098" y="5242031"/>
            <a:ext cx="3063295" cy="1028700"/>
            <a:chOff x="0" y="0"/>
            <a:chExt cx="4084394" cy="1371600"/>
          </a:xfrm>
        </p:grpSpPr>
        <p:sp>
          <p:nvSpPr>
            <p:cNvPr name="Freeform 25" id="25"/>
            <p:cNvSpPr/>
            <p:nvPr/>
          </p:nvSpPr>
          <p:spPr>
            <a:xfrm flipH="false" flipV="false" rot="0">
              <a:off x="0" y="0"/>
              <a:ext cx="4084394" cy="1371600"/>
            </a:xfrm>
            <a:custGeom>
              <a:avLst/>
              <a:gdLst/>
              <a:ahLst/>
              <a:cxnLst/>
              <a:rect r="r" b="b" t="t" l="l"/>
              <a:pathLst>
                <a:path h="1371600" w="4084394">
                  <a:moveTo>
                    <a:pt x="0" y="0"/>
                  </a:moveTo>
                  <a:lnTo>
                    <a:pt x="4084394" y="0"/>
                  </a:lnTo>
                  <a:lnTo>
                    <a:pt x="4084394" y="1371600"/>
                  </a:lnTo>
                  <a:lnTo>
                    <a:pt x="0" y="1371600"/>
                  </a:lnTo>
                  <a:close/>
                </a:path>
              </a:pathLst>
            </a:custGeom>
            <a:blipFill>
              <a:blip r:embed="rId8">
                <a:alphaModFix amt="0"/>
              </a:blip>
              <a:stretch>
                <a:fillRect l="0" t="-12871" r="-8356" b="-12871"/>
              </a:stretch>
            </a:blipFill>
          </p:spPr>
        </p:sp>
        <p:sp>
          <p:nvSpPr>
            <p:cNvPr name="TextBox 26" id="26"/>
            <p:cNvSpPr txBox="true"/>
            <p:nvPr/>
          </p:nvSpPr>
          <p:spPr>
            <a:xfrm>
              <a:off x="0" y="-28575"/>
              <a:ext cx="4084394" cy="1400175"/>
            </a:xfrm>
            <a:prstGeom prst="rect">
              <a:avLst/>
            </a:prstGeom>
          </p:spPr>
          <p:txBody>
            <a:bodyPr anchor="ctr" rtlCol="false" tIns="0" lIns="0" bIns="0" rIns="0"/>
            <a:lstStyle/>
            <a:p>
              <a:pPr algn="l">
                <a:lnSpc>
                  <a:spcPts val="2457"/>
                </a:lnSpc>
              </a:pPr>
              <a:r>
                <a:rPr lang="en-US" sz="1950" b="true">
                  <a:solidFill>
                    <a:srgbClr val="1B3A4B"/>
                  </a:solidFill>
                  <a:latin typeface="Poppins Bold"/>
                  <a:ea typeface="Poppins Bold"/>
                  <a:cs typeface="Poppins Bold"/>
                  <a:sym typeface="Poppins Bold"/>
                </a:rPr>
                <a:t>Analizar las variables determinantes</a:t>
              </a:r>
            </a:p>
          </p:txBody>
        </p:sp>
      </p:grpSp>
      <p:grpSp>
        <p:nvGrpSpPr>
          <p:cNvPr name="Group 27" id="27"/>
          <p:cNvGrpSpPr/>
          <p:nvPr/>
        </p:nvGrpSpPr>
        <p:grpSpPr>
          <a:xfrm rot="0">
            <a:off x="747600" y="6452709"/>
            <a:ext cx="3063295" cy="1783621"/>
            <a:chOff x="0" y="0"/>
            <a:chExt cx="4084394" cy="2378161"/>
          </a:xfrm>
        </p:grpSpPr>
        <p:sp>
          <p:nvSpPr>
            <p:cNvPr name="Freeform 28" id="28"/>
            <p:cNvSpPr/>
            <p:nvPr/>
          </p:nvSpPr>
          <p:spPr>
            <a:xfrm flipH="false" flipV="false" rot="0">
              <a:off x="0" y="0"/>
              <a:ext cx="4084394" cy="2378161"/>
            </a:xfrm>
            <a:custGeom>
              <a:avLst/>
              <a:gdLst/>
              <a:ahLst/>
              <a:cxnLst/>
              <a:rect r="r" b="b" t="t" l="l"/>
              <a:pathLst>
                <a:path h="2378161" w="4084394">
                  <a:moveTo>
                    <a:pt x="0" y="0"/>
                  </a:moveTo>
                  <a:lnTo>
                    <a:pt x="4084394" y="0"/>
                  </a:lnTo>
                  <a:lnTo>
                    <a:pt x="4084394" y="2378161"/>
                  </a:lnTo>
                  <a:lnTo>
                    <a:pt x="0" y="2378161"/>
                  </a:lnTo>
                  <a:close/>
                </a:path>
              </a:pathLst>
            </a:custGeom>
            <a:blipFill>
              <a:blip r:embed="rId8">
                <a:alphaModFix amt="0"/>
              </a:blip>
              <a:stretch>
                <a:fillRect l="-29121" t="0" r="-37478" b="-11504"/>
              </a:stretch>
            </a:blipFill>
          </p:spPr>
        </p:sp>
        <p:sp>
          <p:nvSpPr>
            <p:cNvPr name="TextBox 29" id="29"/>
            <p:cNvSpPr txBox="true"/>
            <p:nvPr/>
          </p:nvSpPr>
          <p:spPr>
            <a:xfrm>
              <a:off x="0" y="-47625"/>
              <a:ext cx="4084394" cy="2425786"/>
            </a:xfrm>
            <a:prstGeom prst="rect">
              <a:avLst/>
            </a:prstGeom>
          </p:spPr>
          <p:txBody>
            <a:bodyPr anchor="ctr" rtlCol="false" tIns="0" lIns="0" bIns="0" rIns="0"/>
            <a:lstStyle/>
            <a:p>
              <a:pPr algn="l">
                <a:lnSpc>
                  <a:spcPts val="2116"/>
                </a:lnSpc>
              </a:pPr>
              <a:r>
                <a:rPr lang="en-US" sz="1470">
                  <a:solidFill>
                    <a:srgbClr val="6B7280"/>
                  </a:solidFill>
                  <a:latin typeface="Poppins"/>
                  <a:ea typeface="Poppins"/>
                  <a:cs typeface="Poppins"/>
                  <a:sym typeface="Poppins"/>
                </a:rPr>
                <a:t>Establecer los determinantes asociados a la DCI en el Perú a partir de microdatos oficiales a nivel nacional.</a:t>
              </a:r>
            </a:p>
          </p:txBody>
        </p:sp>
      </p:grpSp>
      <p:grpSp>
        <p:nvGrpSpPr>
          <p:cNvPr name="Group 30" id="30"/>
          <p:cNvGrpSpPr/>
          <p:nvPr/>
        </p:nvGrpSpPr>
        <p:grpSpPr>
          <a:xfrm rot="0">
            <a:off x="4321093" y="4180044"/>
            <a:ext cx="3713789" cy="4119292"/>
            <a:chOff x="0" y="0"/>
            <a:chExt cx="4951718" cy="5492389"/>
          </a:xfrm>
        </p:grpSpPr>
        <p:sp>
          <p:nvSpPr>
            <p:cNvPr name="Freeform 31" id="31"/>
            <p:cNvSpPr/>
            <p:nvPr/>
          </p:nvSpPr>
          <p:spPr>
            <a:xfrm flipH="false" flipV="false" rot="0">
              <a:off x="0" y="0"/>
              <a:ext cx="4951718" cy="5492389"/>
            </a:xfrm>
            <a:custGeom>
              <a:avLst/>
              <a:gdLst/>
              <a:ahLst/>
              <a:cxnLst/>
              <a:rect r="r" b="b" t="t" l="l"/>
              <a:pathLst>
                <a:path h="5492389" w="4951718">
                  <a:moveTo>
                    <a:pt x="0" y="99996"/>
                  </a:moveTo>
                  <a:cubicBezTo>
                    <a:pt x="0" y="44717"/>
                    <a:pt x="53094" y="0"/>
                    <a:pt x="118730" y="0"/>
                  </a:cubicBezTo>
                  <a:lnTo>
                    <a:pt x="4832989" y="0"/>
                  </a:lnTo>
                  <a:cubicBezTo>
                    <a:pt x="4898507" y="0"/>
                    <a:pt x="4951718" y="44717"/>
                    <a:pt x="4951718" y="99996"/>
                  </a:cubicBezTo>
                  <a:lnTo>
                    <a:pt x="4951718" y="5392393"/>
                  </a:lnTo>
                  <a:cubicBezTo>
                    <a:pt x="4951718" y="5447574"/>
                    <a:pt x="4898624" y="5492389"/>
                    <a:pt x="4832989" y="5492389"/>
                  </a:cubicBezTo>
                  <a:lnTo>
                    <a:pt x="118730" y="5492389"/>
                  </a:lnTo>
                  <a:cubicBezTo>
                    <a:pt x="53094" y="5492389"/>
                    <a:pt x="0" y="5447672"/>
                    <a:pt x="0" y="5392393"/>
                  </a:cubicBezTo>
                  <a:close/>
                </a:path>
              </a:pathLst>
            </a:custGeom>
            <a:solidFill>
              <a:srgbClr val="FFFFFF"/>
            </a:solidFill>
            <a:ln w="19050" cap="sq">
              <a:solidFill>
                <a:srgbClr val="E5E5E5"/>
              </a:solidFill>
              <a:prstDash val="solid"/>
              <a:miter/>
            </a:ln>
          </p:spPr>
        </p:sp>
      </p:grpSp>
      <p:grpSp>
        <p:nvGrpSpPr>
          <p:cNvPr name="Group 32" id="32"/>
          <p:cNvGrpSpPr/>
          <p:nvPr/>
        </p:nvGrpSpPr>
        <p:grpSpPr>
          <a:xfrm rot="0">
            <a:off x="4646340" y="3411426"/>
            <a:ext cx="1392407" cy="2859305"/>
            <a:chOff x="0" y="0"/>
            <a:chExt cx="1856543" cy="3812406"/>
          </a:xfrm>
        </p:grpSpPr>
        <p:sp>
          <p:nvSpPr>
            <p:cNvPr name="Freeform 33" id="33"/>
            <p:cNvSpPr/>
            <p:nvPr/>
          </p:nvSpPr>
          <p:spPr>
            <a:xfrm flipH="false" flipV="false" rot="0">
              <a:off x="0" y="0"/>
              <a:ext cx="1856543" cy="3812406"/>
            </a:xfrm>
            <a:custGeom>
              <a:avLst/>
              <a:gdLst/>
              <a:ahLst/>
              <a:cxnLst/>
              <a:rect r="r" b="b" t="t" l="l"/>
              <a:pathLst>
                <a:path h="3812406" w="1856543">
                  <a:moveTo>
                    <a:pt x="0" y="0"/>
                  </a:moveTo>
                  <a:lnTo>
                    <a:pt x="1856543" y="0"/>
                  </a:lnTo>
                  <a:lnTo>
                    <a:pt x="1856543" y="3812406"/>
                  </a:lnTo>
                  <a:lnTo>
                    <a:pt x="0" y="3812406"/>
                  </a:lnTo>
                  <a:close/>
                </a:path>
              </a:pathLst>
            </a:custGeom>
            <a:blipFill>
              <a:blip r:embed="rId8">
                <a:alphaModFix amt="0"/>
              </a:blip>
              <a:stretch>
                <a:fillRect l="-15334" t="0" r="-23690" b="73616"/>
              </a:stretch>
            </a:blipFill>
          </p:spPr>
        </p:sp>
        <p:sp>
          <p:nvSpPr>
            <p:cNvPr name="TextBox 34" id="34"/>
            <p:cNvSpPr txBox="true"/>
            <p:nvPr/>
          </p:nvSpPr>
          <p:spPr>
            <a:xfrm>
              <a:off x="0" y="0"/>
              <a:ext cx="1856543" cy="3812406"/>
            </a:xfrm>
            <a:prstGeom prst="rect">
              <a:avLst/>
            </a:prstGeom>
          </p:spPr>
          <p:txBody>
            <a:bodyPr anchor="ctr" rtlCol="false" tIns="0" lIns="0" bIns="0" rIns="0"/>
            <a:lstStyle/>
            <a:p>
              <a:pPr algn="l">
                <a:lnSpc>
                  <a:spcPts val="4680"/>
                </a:lnSpc>
              </a:pPr>
              <a:r>
                <a:rPr lang="en-US" sz="3900" b="true">
                  <a:solidFill>
                    <a:srgbClr val="E8DCC8"/>
                  </a:solidFill>
                  <a:latin typeface="Cambria Bold"/>
                  <a:ea typeface="Cambria Bold"/>
                  <a:cs typeface="Cambria Bold"/>
                  <a:sym typeface="Cambria Bold"/>
                </a:rPr>
                <a:t>02</a:t>
              </a:r>
            </a:p>
          </p:txBody>
        </p:sp>
      </p:grpSp>
      <p:grpSp>
        <p:nvGrpSpPr>
          <p:cNvPr name="Group 35" id="35"/>
          <p:cNvGrpSpPr/>
          <p:nvPr/>
        </p:nvGrpSpPr>
        <p:grpSpPr>
          <a:xfrm rot="0">
            <a:off x="4507099" y="5157309"/>
            <a:ext cx="3063295" cy="1028700"/>
            <a:chOff x="0" y="0"/>
            <a:chExt cx="4084394" cy="1371600"/>
          </a:xfrm>
        </p:grpSpPr>
        <p:sp>
          <p:nvSpPr>
            <p:cNvPr name="Freeform 36" id="36"/>
            <p:cNvSpPr/>
            <p:nvPr/>
          </p:nvSpPr>
          <p:spPr>
            <a:xfrm flipH="false" flipV="false" rot="0">
              <a:off x="0" y="0"/>
              <a:ext cx="4084394" cy="1371600"/>
            </a:xfrm>
            <a:custGeom>
              <a:avLst/>
              <a:gdLst/>
              <a:ahLst/>
              <a:cxnLst/>
              <a:rect r="r" b="b" t="t" l="l"/>
              <a:pathLst>
                <a:path h="1371600" w="4084394">
                  <a:moveTo>
                    <a:pt x="0" y="0"/>
                  </a:moveTo>
                  <a:lnTo>
                    <a:pt x="4084394" y="0"/>
                  </a:lnTo>
                  <a:lnTo>
                    <a:pt x="4084394" y="1371600"/>
                  </a:lnTo>
                  <a:lnTo>
                    <a:pt x="0" y="1371600"/>
                  </a:lnTo>
                  <a:close/>
                </a:path>
              </a:pathLst>
            </a:custGeom>
            <a:blipFill>
              <a:blip r:embed="rId8">
                <a:alphaModFix amt="0"/>
              </a:blip>
              <a:stretch>
                <a:fillRect l="0" t="-12871" r="-8356" b="-12871"/>
              </a:stretch>
            </a:blipFill>
          </p:spPr>
        </p:sp>
        <p:sp>
          <p:nvSpPr>
            <p:cNvPr name="TextBox 37" id="37"/>
            <p:cNvSpPr txBox="true"/>
            <p:nvPr/>
          </p:nvSpPr>
          <p:spPr>
            <a:xfrm>
              <a:off x="0" y="-28575"/>
              <a:ext cx="4084394" cy="1400175"/>
            </a:xfrm>
            <a:prstGeom prst="rect">
              <a:avLst/>
            </a:prstGeom>
          </p:spPr>
          <p:txBody>
            <a:bodyPr anchor="ctr" rtlCol="false" tIns="0" lIns="0" bIns="0" rIns="0"/>
            <a:lstStyle/>
            <a:p>
              <a:pPr algn="l">
                <a:lnSpc>
                  <a:spcPts val="2457"/>
                </a:lnSpc>
              </a:pPr>
              <a:r>
                <a:rPr lang="en-US" sz="1950" b="true">
                  <a:solidFill>
                    <a:srgbClr val="1B3A4B"/>
                  </a:solidFill>
                  <a:latin typeface="Poppins Bold"/>
                  <a:ea typeface="Poppins Bold"/>
                  <a:cs typeface="Poppins Bold"/>
                  <a:sym typeface="Poppins Bold"/>
                </a:rPr>
                <a:t>Depurar y estructurar el corpus de datos</a:t>
              </a:r>
            </a:p>
          </p:txBody>
        </p:sp>
      </p:grpSp>
      <p:grpSp>
        <p:nvGrpSpPr>
          <p:cNvPr name="Group 38" id="38"/>
          <p:cNvGrpSpPr/>
          <p:nvPr/>
        </p:nvGrpSpPr>
        <p:grpSpPr>
          <a:xfrm rot="0">
            <a:off x="4646340" y="6452709"/>
            <a:ext cx="3063295" cy="1783621"/>
            <a:chOff x="0" y="0"/>
            <a:chExt cx="4084394" cy="2378161"/>
          </a:xfrm>
        </p:grpSpPr>
        <p:sp>
          <p:nvSpPr>
            <p:cNvPr name="Freeform 39" id="39"/>
            <p:cNvSpPr/>
            <p:nvPr/>
          </p:nvSpPr>
          <p:spPr>
            <a:xfrm flipH="false" flipV="false" rot="0">
              <a:off x="0" y="0"/>
              <a:ext cx="4084394" cy="2378161"/>
            </a:xfrm>
            <a:custGeom>
              <a:avLst/>
              <a:gdLst/>
              <a:ahLst/>
              <a:cxnLst/>
              <a:rect r="r" b="b" t="t" l="l"/>
              <a:pathLst>
                <a:path h="2378161" w="4084394">
                  <a:moveTo>
                    <a:pt x="0" y="0"/>
                  </a:moveTo>
                  <a:lnTo>
                    <a:pt x="4084394" y="0"/>
                  </a:lnTo>
                  <a:lnTo>
                    <a:pt x="4084394" y="2378161"/>
                  </a:lnTo>
                  <a:lnTo>
                    <a:pt x="0" y="2378161"/>
                  </a:lnTo>
                  <a:close/>
                </a:path>
              </a:pathLst>
            </a:custGeom>
            <a:blipFill>
              <a:blip r:embed="rId8">
                <a:alphaModFix amt="0"/>
              </a:blip>
              <a:stretch>
                <a:fillRect l="-29121" t="0" r="-37478" b="-11504"/>
              </a:stretch>
            </a:blipFill>
          </p:spPr>
        </p:sp>
        <p:sp>
          <p:nvSpPr>
            <p:cNvPr name="TextBox 40" id="40"/>
            <p:cNvSpPr txBox="true"/>
            <p:nvPr/>
          </p:nvSpPr>
          <p:spPr>
            <a:xfrm>
              <a:off x="0" y="-47625"/>
              <a:ext cx="4084394" cy="2425786"/>
            </a:xfrm>
            <a:prstGeom prst="rect">
              <a:avLst/>
            </a:prstGeom>
          </p:spPr>
          <p:txBody>
            <a:bodyPr anchor="ctr" rtlCol="false" tIns="0" lIns="0" bIns="0" rIns="0"/>
            <a:lstStyle/>
            <a:p>
              <a:pPr algn="l">
                <a:lnSpc>
                  <a:spcPts val="2116"/>
                </a:lnSpc>
              </a:pPr>
              <a:r>
                <a:rPr lang="en-US" sz="1470">
                  <a:solidFill>
                    <a:srgbClr val="6B7280"/>
                  </a:solidFill>
                  <a:latin typeface="Poppins"/>
                  <a:ea typeface="Poppins"/>
                  <a:cs typeface="Poppins"/>
                  <a:sym typeface="Poppins"/>
                </a:rPr>
                <a:t>Integrar el estado nutricional infantil de todo el país en una única base consistente, lista para el modelado.</a:t>
              </a:r>
            </a:p>
          </p:txBody>
        </p:sp>
      </p:grpSp>
      <p:grpSp>
        <p:nvGrpSpPr>
          <p:cNvPr name="Group 41" id="41"/>
          <p:cNvGrpSpPr/>
          <p:nvPr/>
        </p:nvGrpSpPr>
        <p:grpSpPr>
          <a:xfrm rot="0">
            <a:off x="8219833" y="4180044"/>
            <a:ext cx="3713789" cy="4119292"/>
            <a:chOff x="0" y="0"/>
            <a:chExt cx="4951718" cy="5492389"/>
          </a:xfrm>
        </p:grpSpPr>
        <p:sp>
          <p:nvSpPr>
            <p:cNvPr name="Freeform 42" id="42"/>
            <p:cNvSpPr/>
            <p:nvPr/>
          </p:nvSpPr>
          <p:spPr>
            <a:xfrm flipH="false" flipV="false" rot="0">
              <a:off x="0" y="0"/>
              <a:ext cx="4951718" cy="5492389"/>
            </a:xfrm>
            <a:custGeom>
              <a:avLst/>
              <a:gdLst/>
              <a:ahLst/>
              <a:cxnLst/>
              <a:rect r="r" b="b" t="t" l="l"/>
              <a:pathLst>
                <a:path h="5492389" w="4951718">
                  <a:moveTo>
                    <a:pt x="0" y="99996"/>
                  </a:moveTo>
                  <a:cubicBezTo>
                    <a:pt x="0" y="44717"/>
                    <a:pt x="53094" y="0"/>
                    <a:pt x="118730" y="0"/>
                  </a:cubicBezTo>
                  <a:lnTo>
                    <a:pt x="4832989" y="0"/>
                  </a:lnTo>
                  <a:cubicBezTo>
                    <a:pt x="4898507" y="0"/>
                    <a:pt x="4951718" y="44717"/>
                    <a:pt x="4951718" y="99996"/>
                  </a:cubicBezTo>
                  <a:lnTo>
                    <a:pt x="4951718" y="5392393"/>
                  </a:lnTo>
                  <a:cubicBezTo>
                    <a:pt x="4951718" y="5447574"/>
                    <a:pt x="4898624" y="5492389"/>
                    <a:pt x="4832989" y="5492389"/>
                  </a:cubicBezTo>
                  <a:lnTo>
                    <a:pt x="118730" y="5492389"/>
                  </a:lnTo>
                  <a:cubicBezTo>
                    <a:pt x="53094" y="5492389"/>
                    <a:pt x="0" y="5447672"/>
                    <a:pt x="0" y="5392393"/>
                  </a:cubicBezTo>
                  <a:close/>
                </a:path>
              </a:pathLst>
            </a:custGeom>
            <a:solidFill>
              <a:srgbClr val="FFFFFF"/>
            </a:solidFill>
            <a:ln w="19050" cap="sq">
              <a:solidFill>
                <a:srgbClr val="E5E5E5"/>
              </a:solidFill>
              <a:prstDash val="solid"/>
              <a:miter/>
            </a:ln>
          </p:spPr>
        </p:sp>
      </p:grpSp>
      <p:grpSp>
        <p:nvGrpSpPr>
          <p:cNvPr name="Group 43" id="43"/>
          <p:cNvGrpSpPr/>
          <p:nvPr/>
        </p:nvGrpSpPr>
        <p:grpSpPr>
          <a:xfrm rot="0">
            <a:off x="8545079" y="3411426"/>
            <a:ext cx="1392407" cy="2859305"/>
            <a:chOff x="0" y="0"/>
            <a:chExt cx="1856543" cy="3812406"/>
          </a:xfrm>
        </p:grpSpPr>
        <p:sp>
          <p:nvSpPr>
            <p:cNvPr name="Freeform 44" id="44"/>
            <p:cNvSpPr/>
            <p:nvPr/>
          </p:nvSpPr>
          <p:spPr>
            <a:xfrm flipH="false" flipV="false" rot="0">
              <a:off x="0" y="0"/>
              <a:ext cx="1856543" cy="3812406"/>
            </a:xfrm>
            <a:custGeom>
              <a:avLst/>
              <a:gdLst/>
              <a:ahLst/>
              <a:cxnLst/>
              <a:rect r="r" b="b" t="t" l="l"/>
              <a:pathLst>
                <a:path h="3812406" w="1856543">
                  <a:moveTo>
                    <a:pt x="0" y="0"/>
                  </a:moveTo>
                  <a:lnTo>
                    <a:pt x="1856543" y="0"/>
                  </a:lnTo>
                  <a:lnTo>
                    <a:pt x="1856543" y="3812406"/>
                  </a:lnTo>
                  <a:lnTo>
                    <a:pt x="0" y="3812406"/>
                  </a:lnTo>
                  <a:close/>
                </a:path>
              </a:pathLst>
            </a:custGeom>
            <a:blipFill>
              <a:blip r:embed="rId8">
                <a:alphaModFix amt="0"/>
              </a:blip>
              <a:stretch>
                <a:fillRect l="-15334" t="0" r="-23690" b="73616"/>
              </a:stretch>
            </a:blipFill>
          </p:spPr>
        </p:sp>
        <p:sp>
          <p:nvSpPr>
            <p:cNvPr name="TextBox 45" id="45"/>
            <p:cNvSpPr txBox="true"/>
            <p:nvPr/>
          </p:nvSpPr>
          <p:spPr>
            <a:xfrm>
              <a:off x="0" y="0"/>
              <a:ext cx="1856543" cy="3812406"/>
            </a:xfrm>
            <a:prstGeom prst="rect">
              <a:avLst/>
            </a:prstGeom>
          </p:spPr>
          <p:txBody>
            <a:bodyPr anchor="ctr" rtlCol="false" tIns="0" lIns="0" bIns="0" rIns="0"/>
            <a:lstStyle/>
            <a:p>
              <a:pPr algn="l">
                <a:lnSpc>
                  <a:spcPts val="4680"/>
                </a:lnSpc>
              </a:pPr>
              <a:r>
                <a:rPr lang="en-US" sz="3900" b="true">
                  <a:solidFill>
                    <a:srgbClr val="E8DCC8"/>
                  </a:solidFill>
                  <a:latin typeface="Cambria Bold"/>
                  <a:ea typeface="Cambria Bold"/>
                  <a:cs typeface="Cambria Bold"/>
                  <a:sym typeface="Cambria Bold"/>
                </a:rPr>
                <a:t>03</a:t>
              </a:r>
            </a:p>
          </p:txBody>
        </p:sp>
      </p:grpSp>
      <p:grpSp>
        <p:nvGrpSpPr>
          <p:cNvPr name="Group 46" id="46"/>
          <p:cNvGrpSpPr/>
          <p:nvPr/>
        </p:nvGrpSpPr>
        <p:grpSpPr>
          <a:xfrm rot="0">
            <a:off x="8536289" y="5242031"/>
            <a:ext cx="3063295" cy="1088250"/>
            <a:chOff x="0" y="0"/>
            <a:chExt cx="4084394" cy="1451000"/>
          </a:xfrm>
        </p:grpSpPr>
        <p:sp>
          <p:nvSpPr>
            <p:cNvPr name="Freeform 47" id="47"/>
            <p:cNvSpPr/>
            <p:nvPr/>
          </p:nvSpPr>
          <p:spPr>
            <a:xfrm flipH="false" flipV="false" rot="0">
              <a:off x="0" y="0"/>
              <a:ext cx="4084394" cy="1451000"/>
            </a:xfrm>
            <a:custGeom>
              <a:avLst/>
              <a:gdLst/>
              <a:ahLst/>
              <a:cxnLst/>
              <a:rect r="r" b="b" t="t" l="l"/>
              <a:pathLst>
                <a:path h="1451000" w="4084394">
                  <a:moveTo>
                    <a:pt x="0" y="0"/>
                  </a:moveTo>
                  <a:lnTo>
                    <a:pt x="4084394" y="0"/>
                  </a:lnTo>
                  <a:lnTo>
                    <a:pt x="4084394" y="1451000"/>
                  </a:lnTo>
                  <a:lnTo>
                    <a:pt x="0" y="1451000"/>
                  </a:lnTo>
                  <a:close/>
                </a:path>
              </a:pathLst>
            </a:custGeom>
            <a:blipFill>
              <a:blip r:embed="rId8">
                <a:alphaModFix amt="0"/>
              </a:blip>
              <a:stretch>
                <a:fillRect l="0" t="-12167" r="-8356" b="-6695"/>
              </a:stretch>
            </a:blipFill>
          </p:spPr>
        </p:sp>
        <p:sp>
          <p:nvSpPr>
            <p:cNvPr name="TextBox 48" id="48"/>
            <p:cNvSpPr txBox="true"/>
            <p:nvPr/>
          </p:nvSpPr>
          <p:spPr>
            <a:xfrm>
              <a:off x="0" y="-28575"/>
              <a:ext cx="4084394" cy="1479575"/>
            </a:xfrm>
            <a:prstGeom prst="rect">
              <a:avLst/>
            </a:prstGeom>
          </p:spPr>
          <p:txBody>
            <a:bodyPr anchor="ctr" rtlCol="false" tIns="0" lIns="0" bIns="0" rIns="0"/>
            <a:lstStyle/>
            <a:p>
              <a:pPr algn="l">
                <a:lnSpc>
                  <a:spcPts val="2457"/>
                </a:lnSpc>
              </a:pPr>
              <a:r>
                <a:rPr lang="en-US" sz="1950" b="true">
                  <a:solidFill>
                    <a:srgbClr val="1B3A4B"/>
                  </a:solidFill>
                  <a:latin typeface="Poppins Bold"/>
                  <a:ea typeface="Poppins Bold"/>
                  <a:cs typeface="Poppins Bold"/>
                  <a:sym typeface="Poppins Bold"/>
                </a:rPr>
                <a:t>Comparar algoritmos y seleccionar el modelo óptimo</a:t>
              </a:r>
            </a:p>
          </p:txBody>
        </p:sp>
      </p:grpSp>
      <p:grpSp>
        <p:nvGrpSpPr>
          <p:cNvPr name="Group 49" id="49"/>
          <p:cNvGrpSpPr/>
          <p:nvPr/>
        </p:nvGrpSpPr>
        <p:grpSpPr>
          <a:xfrm rot="0">
            <a:off x="8545079" y="6452709"/>
            <a:ext cx="3063295" cy="1783621"/>
            <a:chOff x="0" y="0"/>
            <a:chExt cx="4084394" cy="2378161"/>
          </a:xfrm>
        </p:grpSpPr>
        <p:sp>
          <p:nvSpPr>
            <p:cNvPr name="Freeform 50" id="50"/>
            <p:cNvSpPr/>
            <p:nvPr/>
          </p:nvSpPr>
          <p:spPr>
            <a:xfrm flipH="false" flipV="false" rot="0">
              <a:off x="0" y="0"/>
              <a:ext cx="4084394" cy="2378161"/>
            </a:xfrm>
            <a:custGeom>
              <a:avLst/>
              <a:gdLst/>
              <a:ahLst/>
              <a:cxnLst/>
              <a:rect r="r" b="b" t="t" l="l"/>
              <a:pathLst>
                <a:path h="2378161" w="4084394">
                  <a:moveTo>
                    <a:pt x="0" y="0"/>
                  </a:moveTo>
                  <a:lnTo>
                    <a:pt x="4084394" y="0"/>
                  </a:lnTo>
                  <a:lnTo>
                    <a:pt x="4084394" y="2378161"/>
                  </a:lnTo>
                  <a:lnTo>
                    <a:pt x="0" y="2378161"/>
                  </a:lnTo>
                  <a:close/>
                </a:path>
              </a:pathLst>
            </a:custGeom>
            <a:blipFill>
              <a:blip r:embed="rId8">
                <a:alphaModFix amt="0"/>
              </a:blip>
              <a:stretch>
                <a:fillRect l="-29121" t="0" r="-37478" b="-11504"/>
              </a:stretch>
            </a:blipFill>
          </p:spPr>
        </p:sp>
        <p:sp>
          <p:nvSpPr>
            <p:cNvPr name="TextBox 51" id="51"/>
            <p:cNvSpPr txBox="true"/>
            <p:nvPr/>
          </p:nvSpPr>
          <p:spPr>
            <a:xfrm>
              <a:off x="0" y="-47625"/>
              <a:ext cx="4084394" cy="2425786"/>
            </a:xfrm>
            <a:prstGeom prst="rect">
              <a:avLst/>
            </a:prstGeom>
          </p:spPr>
          <p:txBody>
            <a:bodyPr anchor="ctr" rtlCol="false" tIns="0" lIns="0" bIns="0" rIns="0"/>
            <a:lstStyle/>
            <a:p>
              <a:pPr algn="l">
                <a:lnSpc>
                  <a:spcPts val="2116"/>
                </a:lnSpc>
              </a:pPr>
              <a:r>
                <a:rPr lang="en-US" sz="1470">
                  <a:solidFill>
                    <a:srgbClr val="6B7280"/>
                  </a:solidFill>
                  <a:latin typeface="Poppins"/>
                  <a:ea typeface="Poppins"/>
                  <a:cs typeface="Poppins"/>
                  <a:sym typeface="Poppins"/>
                </a:rPr>
                <a:t>Entrenar y evaluar varios modelos de Machine Learning sobre la base nacional para seleccionar el de mejor desempeño.</a:t>
              </a:r>
            </a:p>
          </p:txBody>
        </p:sp>
      </p:grpSp>
      <p:grpSp>
        <p:nvGrpSpPr>
          <p:cNvPr name="Group 52" id="52"/>
          <p:cNvGrpSpPr/>
          <p:nvPr/>
        </p:nvGrpSpPr>
        <p:grpSpPr>
          <a:xfrm rot="0">
            <a:off x="12118572" y="4180044"/>
            <a:ext cx="3360530" cy="4119292"/>
            <a:chOff x="0" y="0"/>
            <a:chExt cx="4480706" cy="5492389"/>
          </a:xfrm>
        </p:grpSpPr>
        <p:sp>
          <p:nvSpPr>
            <p:cNvPr name="Freeform 53" id="53"/>
            <p:cNvSpPr/>
            <p:nvPr/>
          </p:nvSpPr>
          <p:spPr>
            <a:xfrm flipH="false" flipV="false" rot="0">
              <a:off x="0" y="0"/>
              <a:ext cx="4480706" cy="5492389"/>
            </a:xfrm>
            <a:custGeom>
              <a:avLst/>
              <a:gdLst/>
              <a:ahLst/>
              <a:cxnLst/>
              <a:rect r="r" b="b" t="t" l="l"/>
              <a:pathLst>
                <a:path h="5492389" w="4480706">
                  <a:moveTo>
                    <a:pt x="0" y="99996"/>
                  </a:moveTo>
                  <a:cubicBezTo>
                    <a:pt x="0" y="44717"/>
                    <a:pt x="48044" y="0"/>
                    <a:pt x="107436" y="0"/>
                  </a:cubicBezTo>
                  <a:lnTo>
                    <a:pt x="4373270" y="0"/>
                  </a:lnTo>
                  <a:cubicBezTo>
                    <a:pt x="4432556" y="0"/>
                    <a:pt x="4480706" y="44717"/>
                    <a:pt x="4480706" y="99996"/>
                  </a:cubicBezTo>
                  <a:lnTo>
                    <a:pt x="4480706" y="5392393"/>
                  </a:lnTo>
                  <a:cubicBezTo>
                    <a:pt x="4480706" y="5447574"/>
                    <a:pt x="4432662" y="5492389"/>
                    <a:pt x="4373270" y="5492389"/>
                  </a:cubicBezTo>
                  <a:lnTo>
                    <a:pt x="107436" y="5492389"/>
                  </a:lnTo>
                  <a:cubicBezTo>
                    <a:pt x="48044" y="5492389"/>
                    <a:pt x="0" y="5447672"/>
                    <a:pt x="0" y="5392393"/>
                  </a:cubicBezTo>
                  <a:close/>
                </a:path>
              </a:pathLst>
            </a:custGeom>
            <a:solidFill>
              <a:srgbClr val="FFFFFF"/>
            </a:solidFill>
            <a:ln w="19050" cap="sq">
              <a:solidFill>
                <a:srgbClr val="E5E5E5"/>
              </a:solidFill>
              <a:prstDash val="solid"/>
              <a:miter/>
            </a:ln>
          </p:spPr>
        </p:sp>
      </p:grpSp>
      <p:grpSp>
        <p:nvGrpSpPr>
          <p:cNvPr name="Group 54" id="54"/>
          <p:cNvGrpSpPr/>
          <p:nvPr/>
        </p:nvGrpSpPr>
        <p:grpSpPr>
          <a:xfrm rot="0">
            <a:off x="12443819" y="3411426"/>
            <a:ext cx="1392407" cy="2859305"/>
            <a:chOff x="0" y="0"/>
            <a:chExt cx="1856543" cy="3812406"/>
          </a:xfrm>
        </p:grpSpPr>
        <p:sp>
          <p:nvSpPr>
            <p:cNvPr name="Freeform 55" id="55"/>
            <p:cNvSpPr/>
            <p:nvPr/>
          </p:nvSpPr>
          <p:spPr>
            <a:xfrm flipH="false" flipV="false" rot="0">
              <a:off x="0" y="0"/>
              <a:ext cx="1856543" cy="3812406"/>
            </a:xfrm>
            <a:custGeom>
              <a:avLst/>
              <a:gdLst/>
              <a:ahLst/>
              <a:cxnLst/>
              <a:rect r="r" b="b" t="t" l="l"/>
              <a:pathLst>
                <a:path h="3812406" w="1856543">
                  <a:moveTo>
                    <a:pt x="0" y="0"/>
                  </a:moveTo>
                  <a:lnTo>
                    <a:pt x="1856543" y="0"/>
                  </a:lnTo>
                  <a:lnTo>
                    <a:pt x="1856543" y="3812406"/>
                  </a:lnTo>
                  <a:lnTo>
                    <a:pt x="0" y="3812406"/>
                  </a:lnTo>
                  <a:close/>
                </a:path>
              </a:pathLst>
            </a:custGeom>
            <a:blipFill>
              <a:blip r:embed="rId8">
                <a:alphaModFix amt="0"/>
              </a:blip>
              <a:stretch>
                <a:fillRect l="-15334" t="0" r="-23690" b="73616"/>
              </a:stretch>
            </a:blipFill>
          </p:spPr>
        </p:sp>
        <p:sp>
          <p:nvSpPr>
            <p:cNvPr name="TextBox 56" id="56"/>
            <p:cNvSpPr txBox="true"/>
            <p:nvPr/>
          </p:nvSpPr>
          <p:spPr>
            <a:xfrm>
              <a:off x="0" y="0"/>
              <a:ext cx="1856543" cy="3812406"/>
            </a:xfrm>
            <a:prstGeom prst="rect">
              <a:avLst/>
            </a:prstGeom>
          </p:spPr>
          <p:txBody>
            <a:bodyPr anchor="ctr" rtlCol="false" tIns="0" lIns="0" bIns="0" rIns="0"/>
            <a:lstStyle/>
            <a:p>
              <a:pPr algn="l">
                <a:lnSpc>
                  <a:spcPts val="4680"/>
                </a:lnSpc>
              </a:pPr>
              <a:r>
                <a:rPr lang="en-US" sz="3900" b="true">
                  <a:solidFill>
                    <a:srgbClr val="E8DCC8"/>
                  </a:solidFill>
                  <a:latin typeface="Cambria Bold"/>
                  <a:ea typeface="Cambria Bold"/>
                  <a:cs typeface="Cambria Bold"/>
                  <a:sym typeface="Cambria Bold"/>
                </a:rPr>
                <a:t>04</a:t>
              </a:r>
            </a:p>
          </p:txBody>
        </p:sp>
      </p:grpSp>
      <p:grpSp>
        <p:nvGrpSpPr>
          <p:cNvPr name="Group 57" id="57"/>
          <p:cNvGrpSpPr/>
          <p:nvPr/>
        </p:nvGrpSpPr>
        <p:grpSpPr>
          <a:xfrm rot="0">
            <a:off x="12274774" y="5157309"/>
            <a:ext cx="3063295" cy="1028700"/>
            <a:chOff x="0" y="0"/>
            <a:chExt cx="4084394" cy="1371600"/>
          </a:xfrm>
        </p:grpSpPr>
        <p:sp>
          <p:nvSpPr>
            <p:cNvPr name="Freeform 58" id="58"/>
            <p:cNvSpPr/>
            <p:nvPr/>
          </p:nvSpPr>
          <p:spPr>
            <a:xfrm flipH="false" flipV="false" rot="0">
              <a:off x="0" y="0"/>
              <a:ext cx="4084394" cy="1371600"/>
            </a:xfrm>
            <a:custGeom>
              <a:avLst/>
              <a:gdLst/>
              <a:ahLst/>
              <a:cxnLst/>
              <a:rect r="r" b="b" t="t" l="l"/>
              <a:pathLst>
                <a:path h="1371600" w="4084394">
                  <a:moveTo>
                    <a:pt x="0" y="0"/>
                  </a:moveTo>
                  <a:lnTo>
                    <a:pt x="4084394" y="0"/>
                  </a:lnTo>
                  <a:lnTo>
                    <a:pt x="4084394" y="1371600"/>
                  </a:lnTo>
                  <a:lnTo>
                    <a:pt x="0" y="1371600"/>
                  </a:lnTo>
                  <a:close/>
                </a:path>
              </a:pathLst>
            </a:custGeom>
            <a:blipFill>
              <a:blip r:embed="rId8">
                <a:alphaModFix amt="0"/>
              </a:blip>
              <a:stretch>
                <a:fillRect l="0" t="-12871" r="-8356" b="-12871"/>
              </a:stretch>
            </a:blipFill>
          </p:spPr>
        </p:sp>
        <p:sp>
          <p:nvSpPr>
            <p:cNvPr name="TextBox 59" id="59"/>
            <p:cNvSpPr txBox="true"/>
            <p:nvPr/>
          </p:nvSpPr>
          <p:spPr>
            <a:xfrm>
              <a:off x="0" y="-28575"/>
              <a:ext cx="4084394" cy="1400175"/>
            </a:xfrm>
            <a:prstGeom prst="rect">
              <a:avLst/>
            </a:prstGeom>
          </p:spPr>
          <p:txBody>
            <a:bodyPr anchor="ctr" rtlCol="false" tIns="0" lIns="0" bIns="0" rIns="0"/>
            <a:lstStyle/>
            <a:p>
              <a:pPr algn="l">
                <a:lnSpc>
                  <a:spcPts val="2457"/>
                </a:lnSpc>
              </a:pPr>
              <a:r>
                <a:rPr lang="en-US" sz="1950" b="true">
                  <a:solidFill>
                    <a:srgbClr val="1B3A4B"/>
                  </a:solidFill>
                  <a:latin typeface="Poppins Bold"/>
                  <a:ea typeface="Poppins Bold"/>
                  <a:cs typeface="Poppins Bold"/>
                  <a:sym typeface="Poppins Bold"/>
                </a:rPr>
                <a:t>Evaluar precisión y capacidad explicativa</a:t>
              </a:r>
            </a:p>
          </p:txBody>
        </p:sp>
      </p:grpSp>
      <p:grpSp>
        <p:nvGrpSpPr>
          <p:cNvPr name="Group 60" id="60"/>
          <p:cNvGrpSpPr/>
          <p:nvPr/>
        </p:nvGrpSpPr>
        <p:grpSpPr>
          <a:xfrm rot="0">
            <a:off x="12443819" y="6452709"/>
            <a:ext cx="3063295" cy="1783621"/>
            <a:chOff x="0" y="0"/>
            <a:chExt cx="4084394" cy="2378161"/>
          </a:xfrm>
        </p:grpSpPr>
        <p:sp>
          <p:nvSpPr>
            <p:cNvPr name="Freeform 61" id="61"/>
            <p:cNvSpPr/>
            <p:nvPr/>
          </p:nvSpPr>
          <p:spPr>
            <a:xfrm flipH="false" flipV="false" rot="0">
              <a:off x="0" y="0"/>
              <a:ext cx="4084394" cy="2378161"/>
            </a:xfrm>
            <a:custGeom>
              <a:avLst/>
              <a:gdLst/>
              <a:ahLst/>
              <a:cxnLst/>
              <a:rect r="r" b="b" t="t" l="l"/>
              <a:pathLst>
                <a:path h="2378161" w="4084394">
                  <a:moveTo>
                    <a:pt x="0" y="0"/>
                  </a:moveTo>
                  <a:lnTo>
                    <a:pt x="4084394" y="0"/>
                  </a:lnTo>
                  <a:lnTo>
                    <a:pt x="4084394" y="2378161"/>
                  </a:lnTo>
                  <a:lnTo>
                    <a:pt x="0" y="2378161"/>
                  </a:lnTo>
                  <a:close/>
                </a:path>
              </a:pathLst>
            </a:custGeom>
            <a:blipFill>
              <a:blip r:embed="rId8">
                <a:alphaModFix amt="0"/>
              </a:blip>
              <a:stretch>
                <a:fillRect l="-29121" t="0" r="-37478" b="-11504"/>
              </a:stretch>
            </a:blipFill>
          </p:spPr>
        </p:sp>
        <p:sp>
          <p:nvSpPr>
            <p:cNvPr name="TextBox 62" id="62"/>
            <p:cNvSpPr txBox="true"/>
            <p:nvPr/>
          </p:nvSpPr>
          <p:spPr>
            <a:xfrm>
              <a:off x="0" y="-47625"/>
              <a:ext cx="4084394" cy="2425786"/>
            </a:xfrm>
            <a:prstGeom prst="rect">
              <a:avLst/>
            </a:prstGeom>
          </p:spPr>
          <p:txBody>
            <a:bodyPr anchor="ctr" rtlCol="false" tIns="0" lIns="0" bIns="0" rIns="0"/>
            <a:lstStyle/>
            <a:p>
              <a:pPr algn="l">
                <a:lnSpc>
                  <a:spcPts val="2116"/>
                </a:lnSpc>
              </a:pPr>
              <a:r>
                <a:rPr lang="en-US" sz="1470">
                  <a:solidFill>
                    <a:srgbClr val="6B7280"/>
                  </a:solidFill>
                  <a:latin typeface="Poppins"/>
                  <a:ea typeface="Poppins"/>
                  <a:cs typeface="Poppins"/>
                  <a:sym typeface="Poppins"/>
                </a:rPr>
                <a:t>Determinar la eficacia del modelo y su interpretabilidad geográfica mediante métricas de validación y SHAP.</a:t>
              </a:r>
            </a:p>
          </p:txBody>
        </p:sp>
      </p:grpSp>
      <p:sp>
        <p:nvSpPr>
          <p:cNvPr name="Freeform 63" id="63"/>
          <p:cNvSpPr/>
          <p:nvPr/>
        </p:nvSpPr>
        <p:spPr>
          <a:xfrm flipH="false" flipV="false" rot="0">
            <a:off x="1039353" y="2701148"/>
            <a:ext cx="581053" cy="541832"/>
          </a:xfrm>
          <a:custGeom>
            <a:avLst/>
            <a:gdLst/>
            <a:ahLst/>
            <a:cxnLst/>
            <a:rect r="r" b="b" t="t" l="l"/>
            <a:pathLst>
              <a:path h="541832" w="581053">
                <a:moveTo>
                  <a:pt x="0" y="0"/>
                </a:moveTo>
                <a:lnTo>
                  <a:pt x="581053" y="0"/>
                </a:lnTo>
                <a:lnTo>
                  <a:pt x="581053" y="541832"/>
                </a:lnTo>
                <a:lnTo>
                  <a:pt x="0" y="5418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4" id="64"/>
          <p:cNvSpPr txBox="true"/>
          <p:nvPr/>
        </p:nvSpPr>
        <p:spPr>
          <a:xfrm rot="0">
            <a:off x="3592320" y="664089"/>
            <a:ext cx="7407135" cy="814527"/>
          </a:xfrm>
          <a:prstGeom prst="rect">
            <a:avLst/>
          </a:prstGeom>
        </p:spPr>
        <p:txBody>
          <a:bodyPr anchor="t" rtlCol="false" tIns="0" lIns="0" bIns="0" rIns="0">
            <a:spAutoFit/>
          </a:bodyPr>
          <a:lstStyle/>
          <a:p>
            <a:pPr algn="ctr">
              <a:lnSpc>
                <a:spcPts val="5965"/>
              </a:lnSpc>
            </a:pPr>
            <a:r>
              <a:rPr lang="en-US" sz="6628" b="true">
                <a:solidFill>
                  <a:srgbClr val="003865"/>
                </a:solidFill>
                <a:latin typeface="DM Sans Bold"/>
                <a:ea typeface="DM Sans Bold"/>
                <a:cs typeface="DM Sans Bold"/>
                <a:sym typeface="DM Sans Bold"/>
              </a:rPr>
              <a:t>OBJETIVOS</a:t>
            </a:r>
          </a:p>
        </p:txBody>
      </p:sp>
      <p:sp>
        <p:nvSpPr>
          <p:cNvPr name="TextBox 65" id="65"/>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TextBox 66" id="66"/>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8</a:t>
            </a:r>
          </a:p>
        </p:txBody>
      </p:sp>
      <p:grpSp>
        <p:nvGrpSpPr>
          <p:cNvPr name="Group 67" id="67"/>
          <p:cNvGrpSpPr/>
          <p:nvPr/>
        </p:nvGrpSpPr>
        <p:grpSpPr>
          <a:xfrm rot="0">
            <a:off x="15080628" y="455324"/>
            <a:ext cx="18126" cy="835600"/>
            <a:chOff x="0" y="0"/>
            <a:chExt cx="24168" cy="1114133"/>
          </a:xfrm>
        </p:grpSpPr>
        <p:sp>
          <p:nvSpPr>
            <p:cNvPr name="Freeform 68" id="6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69" id="69"/>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70" id="70"/>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3220322" y="903922"/>
            <a:ext cx="10154817" cy="814527"/>
          </a:xfrm>
          <a:prstGeom prst="rect">
            <a:avLst/>
          </a:prstGeom>
        </p:spPr>
        <p:txBody>
          <a:bodyPr anchor="t" rtlCol="false" tIns="0" lIns="0" bIns="0" rIns="0">
            <a:spAutoFit/>
          </a:bodyPr>
          <a:lstStyle/>
          <a:p>
            <a:pPr algn="ctr">
              <a:lnSpc>
                <a:spcPts val="5965"/>
              </a:lnSpc>
            </a:pPr>
            <a:r>
              <a:rPr lang="en-US" sz="6628" b="true">
                <a:solidFill>
                  <a:srgbClr val="003865"/>
                </a:solidFill>
                <a:latin typeface="DM Sans Bold"/>
                <a:ea typeface="DM Sans Bold"/>
                <a:cs typeface="DM Sans Bold"/>
                <a:sym typeface="DM Sans Bold"/>
              </a:rPr>
              <a:t>Metodología</a:t>
            </a:r>
          </a:p>
        </p:txBody>
      </p:sp>
      <p:grpSp>
        <p:nvGrpSpPr>
          <p:cNvPr name="Group 8" id="8"/>
          <p:cNvGrpSpPr/>
          <p:nvPr/>
        </p:nvGrpSpPr>
        <p:grpSpPr>
          <a:xfrm rot="0">
            <a:off x="14928228" y="302924"/>
            <a:ext cx="18126" cy="835600"/>
            <a:chOff x="0" y="0"/>
            <a:chExt cx="24168" cy="1114133"/>
          </a:xfrm>
        </p:grpSpPr>
        <p:sp>
          <p:nvSpPr>
            <p:cNvPr name="Freeform 9" id="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10" id="10"/>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Freeform 11" id="11"/>
          <p:cNvSpPr/>
          <p:nvPr/>
        </p:nvSpPr>
        <p:spPr>
          <a:xfrm flipH="false" flipV="false" rot="0">
            <a:off x="626166" y="2700480"/>
            <a:ext cx="16135000" cy="6407980"/>
          </a:xfrm>
          <a:custGeom>
            <a:avLst/>
            <a:gdLst/>
            <a:ahLst/>
            <a:cxnLst/>
            <a:rect r="r" b="b" t="t" l="l"/>
            <a:pathLst>
              <a:path h="6407980" w="16135000">
                <a:moveTo>
                  <a:pt x="0" y="0"/>
                </a:moveTo>
                <a:lnTo>
                  <a:pt x="16135000" y="0"/>
                </a:lnTo>
                <a:lnTo>
                  <a:pt x="16135000" y="6407980"/>
                </a:lnTo>
                <a:lnTo>
                  <a:pt x="0" y="6407980"/>
                </a:lnTo>
                <a:lnTo>
                  <a:pt x="0" y="0"/>
                </a:lnTo>
                <a:close/>
              </a:path>
            </a:pathLst>
          </a:custGeom>
          <a:blipFill>
            <a:blip r:embed="rId9">
              <a:extLst>
                <a:ext uri="{96DAC541-7B7A-43D3-8B79-37D633B846F1}">
                  <asvg:svgBlip xmlns:asvg="http://schemas.microsoft.com/office/drawing/2016/SVG/main" r:embed="rId10"/>
                </a:ext>
              </a:extLst>
            </a:blip>
            <a:stretch>
              <a:fillRect l="-946" t="-997" r="0" b="0"/>
            </a:stretch>
          </a:blipFill>
        </p:spPr>
      </p:sp>
      <p:sp>
        <p:nvSpPr>
          <p:cNvPr name="TextBox 12" id="1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9</a:t>
            </a:r>
          </a:p>
        </p:txBody>
      </p:sp>
      <p:grpSp>
        <p:nvGrpSpPr>
          <p:cNvPr name="Group 13" id="13"/>
          <p:cNvGrpSpPr/>
          <p:nvPr/>
        </p:nvGrpSpPr>
        <p:grpSpPr>
          <a:xfrm rot="0">
            <a:off x="15080628" y="455324"/>
            <a:ext cx="18126" cy="835600"/>
            <a:chOff x="0" y="0"/>
            <a:chExt cx="24168" cy="1114133"/>
          </a:xfrm>
        </p:grpSpPr>
        <p:sp>
          <p:nvSpPr>
            <p:cNvPr name="Freeform 14" id="14"/>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pSp>
        <p:nvGrpSpPr>
          <p:cNvPr name="Group 15" id="15"/>
          <p:cNvGrpSpPr/>
          <p:nvPr/>
        </p:nvGrpSpPr>
        <p:grpSpPr>
          <a:xfrm rot="0">
            <a:off x="15233028" y="607724"/>
            <a:ext cx="18126" cy="835600"/>
            <a:chOff x="0" y="0"/>
            <a:chExt cx="24168" cy="1114133"/>
          </a:xfrm>
        </p:grpSpPr>
        <p:sp>
          <p:nvSpPr>
            <p:cNvPr name="Freeform 16" id="1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17" id="17"/>
          <p:cNvSpPr txBox="true"/>
          <p:nvPr/>
        </p:nvSpPr>
        <p:spPr>
          <a:xfrm rot="0">
            <a:off x="14540989" y="7969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18" id="18"/>
          <p:cNvSpPr txBox="true"/>
          <p:nvPr/>
        </p:nvSpPr>
        <p:spPr>
          <a:xfrm rot="0">
            <a:off x="14540989" y="11062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384565" y="5985967"/>
            <a:ext cx="66675" cy="495757"/>
            <a:chOff x="0" y="0"/>
            <a:chExt cx="88900" cy="661010"/>
          </a:xfrm>
        </p:grpSpPr>
        <p:sp>
          <p:nvSpPr>
            <p:cNvPr name="Freeform 6" id="6"/>
            <p:cNvSpPr/>
            <p:nvPr/>
          </p:nvSpPr>
          <p:spPr>
            <a:xfrm flipH="false" flipV="false" rot="0">
              <a:off x="0" y="0"/>
              <a:ext cx="88900" cy="661035"/>
            </a:xfrm>
            <a:custGeom>
              <a:avLst/>
              <a:gdLst/>
              <a:ahLst/>
              <a:cxnLst/>
              <a:rect r="r" b="b" t="t" l="l"/>
              <a:pathLst>
                <a:path h="661035" w="88900">
                  <a:moveTo>
                    <a:pt x="0" y="0"/>
                  </a:moveTo>
                  <a:lnTo>
                    <a:pt x="88900" y="661035"/>
                  </a:lnTo>
                </a:path>
              </a:pathLst>
            </a:custGeom>
            <a:blipFill>
              <a:blip r:embed="rId4">
                <a:alphaModFix amt="0"/>
              </a:blip>
              <a:stretch>
                <a:fillRect l="-903992" t="0" r="-903992" b="3"/>
              </a:stretch>
            </a:blipFill>
            <a:ln w="66675" cap="sq">
              <a:solidFill>
                <a:srgbClr val="183685"/>
              </a:solidFill>
              <a:prstDash val="lgDash"/>
              <a:miter/>
            </a:ln>
          </p:spPr>
        </p:sp>
      </p:grpSp>
      <p:sp>
        <p:nvSpPr>
          <p:cNvPr name="Freeform 7" id="7"/>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14928228" y="302924"/>
            <a:ext cx="18126" cy="835600"/>
            <a:chOff x="0" y="0"/>
            <a:chExt cx="24168" cy="1114133"/>
          </a:xfrm>
        </p:grpSpPr>
        <p:sp>
          <p:nvSpPr>
            <p:cNvPr name="Freeform 10" id="10"/>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11" id="11"/>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12" id="12"/>
          <p:cNvGrpSpPr/>
          <p:nvPr/>
        </p:nvGrpSpPr>
        <p:grpSpPr>
          <a:xfrm rot="0">
            <a:off x="2707118" y="1510602"/>
            <a:ext cx="5839961" cy="7747698"/>
            <a:chOff x="0" y="0"/>
            <a:chExt cx="7786615" cy="10330264"/>
          </a:xfrm>
        </p:grpSpPr>
        <p:sp>
          <p:nvSpPr>
            <p:cNvPr name="Freeform 13" id="13"/>
            <p:cNvSpPr/>
            <p:nvPr/>
          </p:nvSpPr>
          <p:spPr>
            <a:xfrm flipH="false" flipV="false" rot="0">
              <a:off x="0" y="9708740"/>
              <a:ext cx="7760907" cy="621524"/>
            </a:xfrm>
            <a:custGeom>
              <a:avLst/>
              <a:gdLst/>
              <a:ahLst/>
              <a:cxnLst/>
              <a:rect r="r" b="b" t="t" l="l"/>
              <a:pathLst>
                <a:path h="621524" w="7760907">
                  <a:moveTo>
                    <a:pt x="0" y="0"/>
                  </a:moveTo>
                  <a:lnTo>
                    <a:pt x="7760907" y="0"/>
                  </a:lnTo>
                  <a:lnTo>
                    <a:pt x="7760907" y="621524"/>
                  </a:lnTo>
                  <a:lnTo>
                    <a:pt x="0" y="621524"/>
                  </a:lnTo>
                  <a:lnTo>
                    <a:pt x="0" y="0"/>
                  </a:lnTo>
                  <a:close/>
                </a:path>
              </a:pathLst>
            </a:custGeom>
            <a:blipFill>
              <a:blip r:embed="rId9"/>
              <a:stretch>
                <a:fillRect l="-2596" t="-1282932" r="-5442" b="0"/>
              </a:stretch>
            </a:blipFill>
          </p:spPr>
        </p:sp>
        <p:sp>
          <p:nvSpPr>
            <p:cNvPr name="Freeform 14" id="14"/>
            <p:cNvSpPr/>
            <p:nvPr/>
          </p:nvSpPr>
          <p:spPr>
            <a:xfrm flipH="false" flipV="false" rot="0">
              <a:off x="0" y="0"/>
              <a:ext cx="7760907" cy="9899468"/>
            </a:xfrm>
            <a:custGeom>
              <a:avLst/>
              <a:gdLst/>
              <a:ahLst/>
              <a:cxnLst/>
              <a:rect r="r" b="b" t="t" l="l"/>
              <a:pathLst>
                <a:path h="9899468" w="7760907">
                  <a:moveTo>
                    <a:pt x="0" y="0"/>
                  </a:moveTo>
                  <a:lnTo>
                    <a:pt x="7760907" y="0"/>
                  </a:lnTo>
                  <a:lnTo>
                    <a:pt x="7760907" y="9899468"/>
                  </a:lnTo>
                  <a:lnTo>
                    <a:pt x="0" y="9899468"/>
                  </a:lnTo>
                  <a:lnTo>
                    <a:pt x="0" y="0"/>
                  </a:lnTo>
                  <a:close/>
                </a:path>
              </a:pathLst>
            </a:custGeom>
            <a:blipFill>
              <a:blip r:embed="rId10"/>
              <a:stretch>
                <a:fillRect l="0" t="0" r="0" b="0"/>
              </a:stretch>
            </a:blipFill>
          </p:spPr>
        </p:sp>
        <p:grpSp>
          <p:nvGrpSpPr>
            <p:cNvPr name="Group 15" id="15"/>
            <p:cNvGrpSpPr/>
            <p:nvPr/>
          </p:nvGrpSpPr>
          <p:grpSpPr>
            <a:xfrm rot="0">
              <a:off x="4183507" y="3454984"/>
              <a:ext cx="634776" cy="253910"/>
              <a:chOff x="0" y="0"/>
              <a:chExt cx="666750" cy="266700"/>
            </a:xfrm>
          </p:grpSpPr>
          <p:sp>
            <p:nvSpPr>
              <p:cNvPr name="Freeform 16" id="16"/>
              <p:cNvSpPr/>
              <p:nvPr/>
            </p:nvSpPr>
            <p:spPr>
              <a:xfrm flipH="false" flipV="false" rot="0">
                <a:off x="36124" y="50800"/>
                <a:ext cx="579826" cy="188334"/>
              </a:xfrm>
              <a:custGeom>
                <a:avLst/>
                <a:gdLst/>
                <a:ahLst/>
                <a:cxnLst/>
                <a:rect r="r" b="b" t="t" l="l"/>
                <a:pathLst>
                  <a:path h="188334" w="579826">
                    <a:moveTo>
                      <a:pt x="14676" y="0"/>
                    </a:moveTo>
                    <a:cubicBezTo>
                      <a:pt x="539186" y="19050"/>
                      <a:pt x="549346" y="25400"/>
                      <a:pt x="560776" y="38100"/>
                    </a:cubicBezTo>
                    <a:cubicBezTo>
                      <a:pt x="572206" y="50800"/>
                      <a:pt x="579826" y="72390"/>
                      <a:pt x="579826" y="88900"/>
                    </a:cubicBezTo>
                    <a:cubicBezTo>
                      <a:pt x="579826" y="105410"/>
                      <a:pt x="572206" y="127000"/>
                      <a:pt x="559506" y="139700"/>
                    </a:cubicBezTo>
                    <a:cubicBezTo>
                      <a:pt x="545536" y="153670"/>
                      <a:pt x="493466" y="161290"/>
                      <a:pt x="493466" y="163830"/>
                    </a:cubicBezTo>
                    <a:cubicBezTo>
                      <a:pt x="493466" y="165100"/>
                      <a:pt x="501086" y="166370"/>
                      <a:pt x="503626" y="163830"/>
                    </a:cubicBezTo>
                    <a:cubicBezTo>
                      <a:pt x="513786" y="154940"/>
                      <a:pt x="484576" y="24130"/>
                      <a:pt x="503626" y="11430"/>
                    </a:cubicBezTo>
                    <a:cubicBezTo>
                      <a:pt x="515056" y="3810"/>
                      <a:pt x="548076" y="22860"/>
                      <a:pt x="560776" y="38100"/>
                    </a:cubicBezTo>
                    <a:cubicBezTo>
                      <a:pt x="573476" y="53340"/>
                      <a:pt x="579826" y="88900"/>
                      <a:pt x="577286" y="106680"/>
                    </a:cubicBezTo>
                    <a:cubicBezTo>
                      <a:pt x="576016" y="120650"/>
                      <a:pt x="568396" y="129540"/>
                      <a:pt x="559506" y="139700"/>
                    </a:cubicBezTo>
                    <a:cubicBezTo>
                      <a:pt x="549346" y="149860"/>
                      <a:pt x="537916" y="157480"/>
                      <a:pt x="511246" y="163830"/>
                    </a:cubicBezTo>
                    <a:cubicBezTo>
                      <a:pt x="433776" y="181610"/>
                      <a:pt x="74366" y="213360"/>
                      <a:pt x="14676" y="153670"/>
                    </a:cubicBezTo>
                    <a:cubicBezTo>
                      <a:pt x="-18344" y="119380"/>
                      <a:pt x="14676" y="0"/>
                      <a:pt x="14676" y="0"/>
                    </a:cubicBezTo>
                  </a:path>
                </a:pathLst>
              </a:custGeom>
              <a:solidFill>
                <a:srgbClr val="FFF234">
                  <a:alpha val="24706"/>
                </a:srgbClr>
              </a:solidFill>
              <a:ln cap="sq">
                <a:noFill/>
                <a:prstDash val="solid"/>
                <a:miter/>
              </a:ln>
            </p:spPr>
          </p:sp>
        </p:grpSp>
        <p:grpSp>
          <p:nvGrpSpPr>
            <p:cNvPr name="Group 17" id="17"/>
            <p:cNvGrpSpPr/>
            <p:nvPr/>
          </p:nvGrpSpPr>
          <p:grpSpPr>
            <a:xfrm rot="0">
              <a:off x="4831583" y="5113864"/>
              <a:ext cx="1458170" cy="273256"/>
              <a:chOff x="0" y="0"/>
              <a:chExt cx="1531620" cy="287020"/>
            </a:xfrm>
          </p:grpSpPr>
          <p:sp>
            <p:nvSpPr>
              <p:cNvPr name="Freeform 18" id="18"/>
              <p:cNvSpPr/>
              <p:nvPr/>
            </p:nvSpPr>
            <p:spPr>
              <a:xfrm flipH="false" flipV="false" rot="0">
                <a:off x="36124" y="20357"/>
                <a:ext cx="1471366" cy="234445"/>
              </a:xfrm>
              <a:custGeom>
                <a:avLst/>
                <a:gdLst/>
                <a:ahLst/>
                <a:cxnLst/>
                <a:rect r="r" b="b" t="t" l="l"/>
                <a:pathLst>
                  <a:path h="234445" w="1471366">
                    <a:moveTo>
                      <a:pt x="14676" y="46953"/>
                    </a:moveTo>
                    <a:cubicBezTo>
                      <a:pt x="841446" y="60923"/>
                      <a:pt x="1359606" y="-52107"/>
                      <a:pt x="1444696" y="30443"/>
                    </a:cubicBezTo>
                    <a:cubicBezTo>
                      <a:pt x="1480256" y="64733"/>
                      <a:pt x="1480256" y="146013"/>
                      <a:pt x="1444696" y="182843"/>
                    </a:cubicBezTo>
                    <a:cubicBezTo>
                      <a:pt x="1359606" y="270473"/>
                      <a:pt x="841446" y="213323"/>
                      <a:pt x="583636" y="214593"/>
                    </a:cubicBezTo>
                    <a:cubicBezTo>
                      <a:pt x="374086" y="215863"/>
                      <a:pt x="79446" y="266663"/>
                      <a:pt x="14676" y="200623"/>
                    </a:cubicBezTo>
                    <a:cubicBezTo>
                      <a:pt x="-18344" y="166333"/>
                      <a:pt x="14676" y="46953"/>
                      <a:pt x="14676" y="46953"/>
                    </a:cubicBezTo>
                  </a:path>
                </a:pathLst>
              </a:custGeom>
              <a:solidFill>
                <a:srgbClr val="FFF234">
                  <a:alpha val="24706"/>
                </a:srgbClr>
              </a:solidFill>
              <a:ln cap="sq">
                <a:noFill/>
                <a:prstDash val="solid"/>
                <a:miter/>
              </a:ln>
            </p:spPr>
          </p:sp>
        </p:grpSp>
        <p:grpSp>
          <p:nvGrpSpPr>
            <p:cNvPr name="Group 19" id="19"/>
            <p:cNvGrpSpPr/>
            <p:nvPr/>
          </p:nvGrpSpPr>
          <p:grpSpPr>
            <a:xfrm rot="0">
              <a:off x="6226880" y="5064291"/>
              <a:ext cx="1559734" cy="298647"/>
              <a:chOff x="0" y="0"/>
              <a:chExt cx="1638300" cy="313690"/>
            </a:xfrm>
          </p:grpSpPr>
          <p:sp>
            <p:nvSpPr>
              <p:cNvPr name="Freeform 20" id="20"/>
              <p:cNvSpPr/>
              <p:nvPr/>
            </p:nvSpPr>
            <p:spPr>
              <a:xfrm flipH="false" flipV="false" rot="0">
                <a:off x="36689" y="49031"/>
                <a:ext cx="1550811" cy="237293"/>
              </a:xfrm>
              <a:custGeom>
                <a:avLst/>
                <a:gdLst/>
                <a:ahLst/>
                <a:cxnLst/>
                <a:rect r="r" b="b" t="t" l="l"/>
                <a:pathLst>
                  <a:path h="237293" w="1550811">
                    <a:moveTo>
                      <a:pt x="14111" y="60189"/>
                    </a:moveTo>
                    <a:cubicBezTo>
                      <a:pt x="685941" y="44949"/>
                      <a:pt x="1163461" y="4309"/>
                      <a:pt x="1298081" y="1769"/>
                    </a:cubicBezTo>
                    <a:cubicBezTo>
                      <a:pt x="1339991" y="499"/>
                      <a:pt x="1348881" y="-2041"/>
                      <a:pt x="1380631" y="3039"/>
                    </a:cubicBezTo>
                    <a:cubicBezTo>
                      <a:pt x="1427621" y="11929"/>
                      <a:pt x="1550811" y="43679"/>
                      <a:pt x="1550811" y="62729"/>
                    </a:cubicBezTo>
                    <a:cubicBezTo>
                      <a:pt x="1550811" y="81779"/>
                      <a:pt x="1432701" y="94479"/>
                      <a:pt x="1407301" y="116069"/>
                    </a:cubicBezTo>
                    <a:cubicBezTo>
                      <a:pt x="1393331" y="128769"/>
                      <a:pt x="1402221" y="146549"/>
                      <a:pt x="1385711" y="156709"/>
                    </a:cubicBezTo>
                    <a:cubicBezTo>
                      <a:pt x="1339991" y="184649"/>
                      <a:pt x="1172351" y="156709"/>
                      <a:pt x="1044081" y="163059"/>
                    </a:cubicBezTo>
                    <a:cubicBezTo>
                      <a:pt x="873901" y="170679"/>
                      <a:pt x="638951" y="197349"/>
                      <a:pt x="456071" y="206239"/>
                    </a:cubicBezTo>
                    <a:cubicBezTo>
                      <a:pt x="298591" y="213859"/>
                      <a:pt x="68721" y="267199"/>
                      <a:pt x="14111" y="213859"/>
                    </a:cubicBezTo>
                    <a:cubicBezTo>
                      <a:pt x="-17639" y="182109"/>
                      <a:pt x="14111" y="60189"/>
                      <a:pt x="14111" y="60189"/>
                    </a:cubicBezTo>
                  </a:path>
                </a:pathLst>
              </a:custGeom>
              <a:solidFill>
                <a:srgbClr val="FFF234">
                  <a:alpha val="24706"/>
                </a:srgbClr>
              </a:solidFill>
              <a:ln cap="sq">
                <a:noFill/>
                <a:prstDash val="solid"/>
                <a:miter/>
              </a:ln>
            </p:spPr>
          </p:sp>
        </p:grpSp>
        <p:grpSp>
          <p:nvGrpSpPr>
            <p:cNvPr name="Group 21" id="21"/>
            <p:cNvGrpSpPr/>
            <p:nvPr/>
          </p:nvGrpSpPr>
          <p:grpSpPr>
            <a:xfrm rot="0">
              <a:off x="725491" y="5336338"/>
              <a:ext cx="949141" cy="253910"/>
              <a:chOff x="0" y="0"/>
              <a:chExt cx="996950" cy="266700"/>
            </a:xfrm>
          </p:grpSpPr>
          <p:sp>
            <p:nvSpPr>
              <p:cNvPr name="Freeform 22" id="22"/>
              <p:cNvSpPr/>
              <p:nvPr/>
            </p:nvSpPr>
            <p:spPr>
              <a:xfrm flipH="false" flipV="false" rot="0">
                <a:off x="34431" y="60960"/>
                <a:ext cx="921131" cy="213452"/>
              </a:xfrm>
              <a:custGeom>
                <a:avLst/>
                <a:gdLst/>
                <a:ahLst/>
                <a:cxnLst/>
                <a:rect r="r" b="b" t="t" l="l"/>
                <a:pathLst>
                  <a:path h="213452" w="921131">
                    <a:moveTo>
                      <a:pt x="16369" y="0"/>
                    </a:moveTo>
                    <a:cubicBezTo>
                      <a:pt x="946009" y="24130"/>
                      <a:pt x="946009" y="105410"/>
                      <a:pt x="910449" y="142240"/>
                    </a:cubicBezTo>
                    <a:cubicBezTo>
                      <a:pt x="822819" y="229870"/>
                      <a:pt x="102729" y="240030"/>
                      <a:pt x="16369" y="153670"/>
                    </a:cubicBezTo>
                    <a:cubicBezTo>
                      <a:pt x="-20461" y="118110"/>
                      <a:pt x="16369" y="0"/>
                      <a:pt x="16369" y="0"/>
                    </a:cubicBezTo>
                  </a:path>
                </a:pathLst>
              </a:custGeom>
              <a:solidFill>
                <a:srgbClr val="FFF234">
                  <a:alpha val="24706"/>
                </a:srgbClr>
              </a:solidFill>
              <a:ln cap="sq">
                <a:noFill/>
                <a:prstDash val="solid"/>
                <a:miter/>
              </a:ln>
            </p:spPr>
          </p:sp>
        </p:grpSp>
        <p:grpSp>
          <p:nvGrpSpPr>
            <p:cNvPr name="Group 23" id="23"/>
            <p:cNvGrpSpPr/>
            <p:nvPr/>
          </p:nvGrpSpPr>
          <p:grpSpPr>
            <a:xfrm rot="0">
              <a:off x="1576695" y="5297647"/>
              <a:ext cx="1917627" cy="281719"/>
              <a:chOff x="0" y="0"/>
              <a:chExt cx="2014220" cy="295910"/>
            </a:xfrm>
          </p:grpSpPr>
          <p:sp>
            <p:nvSpPr>
              <p:cNvPr name="Freeform 24" id="24"/>
              <p:cNvSpPr/>
              <p:nvPr/>
            </p:nvSpPr>
            <p:spPr>
              <a:xfrm flipH="false" flipV="false" rot="0">
                <a:off x="37253" y="13698"/>
                <a:ext cx="1951410" cy="251594"/>
              </a:xfrm>
              <a:custGeom>
                <a:avLst/>
                <a:gdLst/>
                <a:ahLst/>
                <a:cxnLst/>
                <a:rect r="r" b="b" t="t" l="l"/>
                <a:pathLst>
                  <a:path h="251594" w="1951410">
                    <a:moveTo>
                      <a:pt x="13547" y="77742"/>
                    </a:moveTo>
                    <a:cubicBezTo>
                      <a:pt x="550757" y="68852"/>
                      <a:pt x="807297" y="43452"/>
                      <a:pt x="1051137" y="37102"/>
                    </a:cubicBezTo>
                    <a:cubicBezTo>
                      <a:pt x="1325457" y="30752"/>
                      <a:pt x="1839807" y="-45448"/>
                      <a:pt x="1924897" y="40912"/>
                    </a:cubicBezTo>
                    <a:cubicBezTo>
                      <a:pt x="1960457" y="76472"/>
                      <a:pt x="1960457" y="157752"/>
                      <a:pt x="1923627" y="193312"/>
                    </a:cubicBezTo>
                    <a:cubicBezTo>
                      <a:pt x="1838537" y="278402"/>
                      <a:pt x="1327997" y="183152"/>
                      <a:pt x="1054947" y="189502"/>
                    </a:cubicBezTo>
                    <a:cubicBezTo>
                      <a:pt x="811107" y="195852"/>
                      <a:pt x="554567" y="221252"/>
                      <a:pt x="362797" y="227602"/>
                    </a:cubicBezTo>
                    <a:cubicBezTo>
                      <a:pt x="226907" y="231412"/>
                      <a:pt x="60537" y="277132"/>
                      <a:pt x="13547" y="231412"/>
                    </a:cubicBezTo>
                    <a:cubicBezTo>
                      <a:pt x="-16933" y="200932"/>
                      <a:pt x="13547" y="77742"/>
                      <a:pt x="13547" y="77742"/>
                    </a:cubicBezTo>
                  </a:path>
                </a:pathLst>
              </a:custGeom>
              <a:solidFill>
                <a:srgbClr val="FFF234">
                  <a:alpha val="24706"/>
                </a:srgbClr>
              </a:solidFill>
              <a:ln cap="sq">
                <a:noFill/>
                <a:prstDash val="solid"/>
                <a:miter/>
              </a:ln>
            </p:spPr>
          </p:sp>
        </p:grpSp>
        <p:grpSp>
          <p:nvGrpSpPr>
            <p:cNvPr name="Group 25" id="25"/>
            <p:cNvGrpSpPr/>
            <p:nvPr/>
          </p:nvGrpSpPr>
          <p:grpSpPr>
            <a:xfrm rot="0">
              <a:off x="3424195" y="5336338"/>
              <a:ext cx="2020400" cy="268419"/>
              <a:chOff x="0" y="0"/>
              <a:chExt cx="2122170" cy="281940"/>
            </a:xfrm>
          </p:grpSpPr>
          <p:sp>
            <p:nvSpPr>
              <p:cNvPr name="Freeform 26" id="26"/>
              <p:cNvSpPr/>
              <p:nvPr/>
            </p:nvSpPr>
            <p:spPr>
              <a:xfrm flipH="false" flipV="false" rot="0">
                <a:off x="33867" y="34432"/>
                <a:ext cx="2058675" cy="239381"/>
              </a:xfrm>
              <a:custGeom>
                <a:avLst/>
                <a:gdLst/>
                <a:ahLst/>
                <a:cxnLst/>
                <a:rect r="r" b="b" t="t" l="l"/>
                <a:pathLst>
                  <a:path h="239381" w="2058675">
                    <a:moveTo>
                      <a:pt x="16933" y="37958"/>
                    </a:moveTo>
                    <a:cubicBezTo>
                      <a:pt x="1304713" y="37958"/>
                      <a:pt x="1453303" y="17638"/>
                      <a:pt x="1615863" y="16368"/>
                    </a:cubicBezTo>
                    <a:cubicBezTo>
                      <a:pt x="1761913" y="13828"/>
                      <a:pt x="1979083" y="-25542"/>
                      <a:pt x="2032423" y="27798"/>
                    </a:cubicBezTo>
                    <a:cubicBezTo>
                      <a:pt x="2065443" y="60818"/>
                      <a:pt x="2067983" y="148448"/>
                      <a:pt x="2036233" y="180198"/>
                    </a:cubicBezTo>
                    <a:cubicBezTo>
                      <a:pt x="1979083" y="237348"/>
                      <a:pt x="1700953" y="166228"/>
                      <a:pt x="1540933" y="168768"/>
                    </a:cubicBezTo>
                    <a:cubicBezTo>
                      <a:pt x="1389803" y="171308"/>
                      <a:pt x="1281853" y="190358"/>
                      <a:pt x="1102783" y="195438"/>
                    </a:cubicBezTo>
                    <a:cubicBezTo>
                      <a:pt x="822113" y="203058"/>
                      <a:pt x="115993" y="291958"/>
                      <a:pt x="16933" y="192898"/>
                    </a:cubicBezTo>
                    <a:cubicBezTo>
                      <a:pt x="-21167" y="154798"/>
                      <a:pt x="16933" y="37958"/>
                      <a:pt x="16933" y="37958"/>
                    </a:cubicBezTo>
                  </a:path>
                </a:pathLst>
              </a:custGeom>
              <a:solidFill>
                <a:srgbClr val="FFF234">
                  <a:alpha val="24706"/>
                </a:srgbClr>
              </a:solidFill>
              <a:ln cap="sq">
                <a:noFill/>
                <a:prstDash val="solid"/>
                <a:miter/>
              </a:ln>
            </p:spPr>
          </p:sp>
        </p:grpSp>
        <p:grpSp>
          <p:nvGrpSpPr>
            <p:cNvPr name="Group 27" id="27"/>
            <p:cNvGrpSpPr/>
            <p:nvPr/>
          </p:nvGrpSpPr>
          <p:grpSpPr>
            <a:xfrm rot="0">
              <a:off x="5496586" y="5319411"/>
              <a:ext cx="2209019" cy="284138"/>
              <a:chOff x="0" y="0"/>
              <a:chExt cx="2320290" cy="298450"/>
            </a:xfrm>
          </p:grpSpPr>
          <p:sp>
            <p:nvSpPr>
              <p:cNvPr name="Freeform 28" id="28"/>
              <p:cNvSpPr/>
              <p:nvPr/>
            </p:nvSpPr>
            <p:spPr>
              <a:xfrm flipH="false" flipV="false" rot="0">
                <a:off x="34431" y="22406"/>
                <a:ext cx="2255684" cy="261854"/>
              </a:xfrm>
              <a:custGeom>
                <a:avLst/>
                <a:gdLst/>
                <a:ahLst/>
                <a:cxnLst/>
                <a:rect r="r" b="b" t="t" l="l"/>
                <a:pathLst>
                  <a:path h="261854" w="2255684">
                    <a:moveTo>
                      <a:pt x="16369" y="70304"/>
                    </a:moveTo>
                    <a:cubicBezTo>
                      <a:pt x="1160639" y="47444"/>
                      <a:pt x="1262239" y="30934"/>
                      <a:pt x="1433689" y="28394"/>
                    </a:cubicBezTo>
                    <a:cubicBezTo>
                      <a:pt x="1661019" y="23314"/>
                      <a:pt x="2137269" y="-40186"/>
                      <a:pt x="2223629" y="41094"/>
                    </a:cubicBezTo>
                    <a:cubicBezTo>
                      <a:pt x="2261729" y="76654"/>
                      <a:pt x="2266809" y="159204"/>
                      <a:pt x="2233789" y="193494"/>
                    </a:cubicBezTo>
                    <a:cubicBezTo>
                      <a:pt x="2158859" y="272234"/>
                      <a:pt x="1666099" y="175714"/>
                      <a:pt x="1437499" y="179524"/>
                    </a:cubicBezTo>
                    <a:cubicBezTo>
                      <a:pt x="1264779" y="183334"/>
                      <a:pt x="1163179" y="199844"/>
                      <a:pt x="984109" y="206194"/>
                    </a:cubicBezTo>
                    <a:cubicBezTo>
                      <a:pt x="722489" y="216354"/>
                      <a:pt x="109079" y="314144"/>
                      <a:pt x="16369" y="223974"/>
                    </a:cubicBezTo>
                    <a:cubicBezTo>
                      <a:pt x="-20461" y="188414"/>
                      <a:pt x="16369" y="70304"/>
                      <a:pt x="16369" y="70304"/>
                    </a:cubicBezTo>
                  </a:path>
                </a:pathLst>
              </a:custGeom>
              <a:solidFill>
                <a:srgbClr val="FFF234">
                  <a:alpha val="24706"/>
                </a:srgbClr>
              </a:solidFill>
              <a:ln cap="sq">
                <a:noFill/>
                <a:prstDash val="solid"/>
                <a:miter/>
              </a:ln>
            </p:spPr>
          </p:sp>
        </p:grpSp>
        <p:grpSp>
          <p:nvGrpSpPr>
            <p:cNvPr name="Group 29" id="29"/>
            <p:cNvGrpSpPr/>
            <p:nvPr/>
          </p:nvGrpSpPr>
          <p:grpSpPr>
            <a:xfrm rot="0">
              <a:off x="697682" y="5561230"/>
              <a:ext cx="872968" cy="258747"/>
              <a:chOff x="0" y="0"/>
              <a:chExt cx="916940" cy="271780"/>
            </a:xfrm>
          </p:grpSpPr>
          <p:sp>
            <p:nvSpPr>
              <p:cNvPr name="Freeform 30" id="30"/>
              <p:cNvSpPr/>
              <p:nvPr/>
            </p:nvSpPr>
            <p:spPr>
              <a:xfrm flipH="false" flipV="false" rot="0">
                <a:off x="35929" y="49758"/>
                <a:ext cx="830191" cy="206458"/>
              </a:xfrm>
              <a:custGeom>
                <a:avLst/>
                <a:gdLst/>
                <a:ahLst/>
                <a:cxnLst/>
                <a:rect r="r" b="b" t="t" l="l"/>
                <a:pathLst>
                  <a:path h="206458" w="830191">
                    <a:moveTo>
                      <a:pt x="14871" y="16282"/>
                    </a:moveTo>
                    <a:cubicBezTo>
                      <a:pt x="742581" y="12472"/>
                      <a:pt x="754011" y="-228"/>
                      <a:pt x="771791" y="3582"/>
                    </a:cubicBezTo>
                    <a:cubicBezTo>
                      <a:pt x="789571" y="7392"/>
                      <a:pt x="807351" y="20092"/>
                      <a:pt x="816241" y="34062"/>
                    </a:cubicBezTo>
                    <a:cubicBezTo>
                      <a:pt x="826401" y="48032"/>
                      <a:pt x="831481" y="69622"/>
                      <a:pt x="828941" y="87402"/>
                    </a:cubicBezTo>
                    <a:cubicBezTo>
                      <a:pt x="827671" y="103912"/>
                      <a:pt x="817511" y="122962"/>
                      <a:pt x="804811" y="134392"/>
                    </a:cubicBezTo>
                    <a:cubicBezTo>
                      <a:pt x="792111" y="145822"/>
                      <a:pt x="764171" y="161062"/>
                      <a:pt x="754011" y="153442"/>
                    </a:cubicBezTo>
                    <a:cubicBezTo>
                      <a:pt x="736231" y="142012"/>
                      <a:pt x="737501" y="12472"/>
                      <a:pt x="755281" y="1042"/>
                    </a:cubicBezTo>
                    <a:cubicBezTo>
                      <a:pt x="767981" y="-5308"/>
                      <a:pt x="804811" y="18822"/>
                      <a:pt x="816241" y="34062"/>
                    </a:cubicBezTo>
                    <a:cubicBezTo>
                      <a:pt x="827671" y="48032"/>
                      <a:pt x="832751" y="69622"/>
                      <a:pt x="828941" y="87402"/>
                    </a:cubicBezTo>
                    <a:cubicBezTo>
                      <a:pt x="826401" y="106452"/>
                      <a:pt x="808621" y="131852"/>
                      <a:pt x="789571" y="144552"/>
                    </a:cubicBezTo>
                    <a:cubicBezTo>
                      <a:pt x="769251" y="159792"/>
                      <a:pt x="750201" y="162332"/>
                      <a:pt x="710831" y="167412"/>
                    </a:cubicBezTo>
                    <a:cubicBezTo>
                      <a:pt x="593991" y="183922"/>
                      <a:pt x="91071" y="244882"/>
                      <a:pt x="16141" y="169952"/>
                    </a:cubicBezTo>
                    <a:cubicBezTo>
                      <a:pt x="-19419" y="135662"/>
                      <a:pt x="14871" y="16282"/>
                      <a:pt x="14871" y="16282"/>
                    </a:cubicBezTo>
                  </a:path>
                </a:pathLst>
              </a:custGeom>
              <a:solidFill>
                <a:srgbClr val="FFF234">
                  <a:alpha val="24706"/>
                </a:srgbClr>
              </a:solidFill>
              <a:ln cap="sq">
                <a:noFill/>
                <a:prstDash val="solid"/>
                <a:miter/>
              </a:ln>
            </p:spPr>
          </p:sp>
        </p:grpSp>
        <p:grpSp>
          <p:nvGrpSpPr>
            <p:cNvPr name="Group 31" id="31"/>
            <p:cNvGrpSpPr/>
            <p:nvPr/>
          </p:nvGrpSpPr>
          <p:grpSpPr>
            <a:xfrm rot="0">
              <a:off x="100388" y="7847632"/>
              <a:ext cx="2407311" cy="325247"/>
              <a:chOff x="0" y="0"/>
              <a:chExt cx="2528570" cy="341630"/>
            </a:xfrm>
          </p:grpSpPr>
          <p:sp>
            <p:nvSpPr>
              <p:cNvPr name="Freeform 32" id="32"/>
              <p:cNvSpPr/>
              <p:nvPr/>
            </p:nvSpPr>
            <p:spPr>
              <a:xfrm flipH="false" flipV="false" rot="0">
                <a:off x="33867" y="50800"/>
                <a:ext cx="2471208" cy="271190"/>
              </a:xfrm>
              <a:custGeom>
                <a:avLst/>
                <a:gdLst/>
                <a:ahLst/>
                <a:cxnLst/>
                <a:rect r="r" b="b" t="t" l="l"/>
                <a:pathLst>
                  <a:path h="271190" w="2471208">
                    <a:moveTo>
                      <a:pt x="16933" y="0"/>
                    </a:moveTo>
                    <a:cubicBezTo>
                      <a:pt x="1720003" y="20320"/>
                      <a:pt x="2343573" y="-20320"/>
                      <a:pt x="2442633" y="87630"/>
                    </a:cubicBezTo>
                    <a:cubicBezTo>
                      <a:pt x="2480733" y="127000"/>
                      <a:pt x="2480733" y="204470"/>
                      <a:pt x="2442633" y="240030"/>
                    </a:cubicBezTo>
                    <a:cubicBezTo>
                      <a:pt x="2334683" y="340360"/>
                      <a:pt x="1600623" y="167640"/>
                      <a:pt x="1190413" y="152400"/>
                    </a:cubicBezTo>
                    <a:cubicBezTo>
                      <a:pt x="792903" y="139700"/>
                      <a:pt x="121073" y="257810"/>
                      <a:pt x="16933" y="153670"/>
                    </a:cubicBezTo>
                    <a:cubicBezTo>
                      <a:pt x="-21167" y="115570"/>
                      <a:pt x="16933" y="0"/>
                      <a:pt x="16933" y="0"/>
                    </a:cubicBezTo>
                  </a:path>
                </a:pathLst>
              </a:custGeom>
              <a:solidFill>
                <a:srgbClr val="FFF234">
                  <a:alpha val="24706"/>
                </a:srgbClr>
              </a:solidFill>
              <a:ln cap="sq">
                <a:noFill/>
                <a:prstDash val="solid"/>
                <a:miter/>
              </a:ln>
            </p:spPr>
          </p:sp>
        </p:grpSp>
        <p:sp>
          <p:nvSpPr>
            <p:cNvPr name="TextBox 33" id="33"/>
            <p:cNvSpPr txBox="true"/>
            <p:nvPr/>
          </p:nvSpPr>
          <p:spPr>
            <a:xfrm rot="0">
              <a:off x="3820370" y="5262403"/>
              <a:ext cx="12091" cy="580366"/>
            </a:xfrm>
            <a:prstGeom prst="rect">
              <a:avLst/>
            </a:prstGeom>
          </p:spPr>
          <p:txBody>
            <a:bodyPr anchor="t" rtlCol="false" tIns="0" lIns="0" bIns="0" rIns="0">
              <a:spAutoFit/>
            </a:bodyPr>
            <a:lstStyle/>
            <a:p>
              <a:pPr algn="ctr">
                <a:lnSpc>
                  <a:spcPts val="3427"/>
                </a:lnSpc>
                <a:spcBef>
                  <a:spcPct val="0"/>
                </a:spcBef>
              </a:pPr>
            </a:p>
          </p:txBody>
        </p:sp>
      </p:grpSp>
      <p:sp>
        <p:nvSpPr>
          <p:cNvPr name="Freeform 34" id="34"/>
          <p:cNvSpPr/>
          <p:nvPr/>
        </p:nvSpPr>
        <p:spPr>
          <a:xfrm flipH="false" flipV="false" rot="0">
            <a:off x="8851879" y="3356798"/>
            <a:ext cx="8027194" cy="5016996"/>
          </a:xfrm>
          <a:custGeom>
            <a:avLst/>
            <a:gdLst/>
            <a:ahLst/>
            <a:cxnLst/>
            <a:rect r="r" b="b" t="t" l="l"/>
            <a:pathLst>
              <a:path h="5016996" w="8027194">
                <a:moveTo>
                  <a:pt x="0" y="0"/>
                </a:moveTo>
                <a:lnTo>
                  <a:pt x="8027195" y="0"/>
                </a:lnTo>
                <a:lnTo>
                  <a:pt x="8027195" y="5016996"/>
                </a:lnTo>
                <a:lnTo>
                  <a:pt x="0" y="5016996"/>
                </a:lnTo>
                <a:lnTo>
                  <a:pt x="0" y="0"/>
                </a:lnTo>
                <a:close/>
              </a:path>
            </a:pathLst>
          </a:custGeom>
          <a:blipFill>
            <a:blip r:embed="rId11"/>
            <a:stretch>
              <a:fillRect l="0" t="0" r="0" b="0"/>
            </a:stretch>
          </a:blipFill>
        </p:spPr>
      </p:sp>
      <p:sp>
        <p:nvSpPr>
          <p:cNvPr name="TextBox 35" id="35"/>
          <p:cNvSpPr txBox="true"/>
          <p:nvPr/>
        </p:nvSpPr>
        <p:spPr>
          <a:xfrm rot="0">
            <a:off x="2968097" y="1019175"/>
            <a:ext cx="5809189" cy="335981"/>
          </a:xfrm>
          <a:prstGeom prst="rect">
            <a:avLst/>
          </a:prstGeom>
        </p:spPr>
        <p:txBody>
          <a:bodyPr anchor="t" rtlCol="false" tIns="0" lIns="0" bIns="0" rIns="0">
            <a:spAutoFit/>
          </a:bodyPr>
          <a:lstStyle/>
          <a:p>
            <a:pPr algn="ctr">
              <a:lnSpc>
                <a:spcPts val="2627"/>
              </a:lnSpc>
              <a:spcBef>
                <a:spcPct val="0"/>
              </a:spcBef>
            </a:pPr>
            <a:r>
              <a:rPr lang="en-US" sz="2189">
                <a:solidFill>
                  <a:srgbClr val="000000"/>
                </a:solidFill>
                <a:latin typeface="DM Sans"/>
                <a:ea typeface="DM Sans"/>
                <a:cs typeface="DM Sans"/>
                <a:sym typeface="DM Sans"/>
              </a:rPr>
              <a:t> Definición del Target (El problema a resolver)</a:t>
            </a:r>
          </a:p>
        </p:txBody>
      </p:sp>
      <p:sp>
        <p:nvSpPr>
          <p:cNvPr name="TextBox 36" id="36"/>
          <p:cNvSpPr txBox="true"/>
          <p:nvPr/>
        </p:nvSpPr>
        <p:spPr>
          <a:xfrm rot="0">
            <a:off x="779370" y="9302760"/>
            <a:ext cx="6564521" cy="354106"/>
          </a:xfrm>
          <a:prstGeom prst="rect">
            <a:avLst/>
          </a:prstGeom>
        </p:spPr>
        <p:txBody>
          <a:bodyPr anchor="t" rtlCol="false" tIns="0" lIns="0" bIns="0" rIns="0">
            <a:spAutoFit/>
          </a:bodyPr>
          <a:lstStyle/>
          <a:p>
            <a:pPr algn="l">
              <a:lnSpc>
                <a:spcPts val="2848"/>
              </a:lnSpc>
            </a:pPr>
            <a:r>
              <a:rPr lang="en-US" sz="2034" u="sng">
                <a:solidFill>
                  <a:srgbClr val="000000"/>
                </a:solidFill>
                <a:latin typeface="Arimo"/>
                <a:ea typeface="Arimo"/>
                <a:cs typeface="Arimo"/>
                <a:sym typeface="Arimo"/>
                <a:hlinkClick r:id="rId12" tooltip="https://www.who.int/tools/child-growth-standards/software"/>
              </a:rPr>
              <a:t>https://www.who.int/tools/child-growth-standards/software</a:t>
            </a:r>
          </a:p>
        </p:txBody>
      </p:sp>
      <p:sp>
        <p:nvSpPr>
          <p:cNvPr name="TextBox 37" id="37"/>
          <p:cNvSpPr txBox="true"/>
          <p:nvPr/>
        </p:nvSpPr>
        <p:spPr>
          <a:xfrm rot="0">
            <a:off x="10183440" y="2778088"/>
            <a:ext cx="4946291" cy="435275"/>
          </a:xfrm>
          <a:prstGeom prst="rect">
            <a:avLst/>
          </a:prstGeom>
        </p:spPr>
        <p:txBody>
          <a:bodyPr anchor="t" rtlCol="false" tIns="0" lIns="0" bIns="0" rIns="0">
            <a:spAutoFit/>
          </a:bodyPr>
          <a:lstStyle/>
          <a:p>
            <a:pPr algn="ctr">
              <a:lnSpc>
                <a:spcPts val="3427"/>
              </a:lnSpc>
              <a:spcBef>
                <a:spcPct val="0"/>
              </a:spcBef>
            </a:pPr>
            <a:r>
              <a:rPr lang="en-US" sz="2856">
                <a:solidFill>
                  <a:srgbClr val="000000"/>
                </a:solidFill>
                <a:latin typeface="DM Sans"/>
                <a:ea typeface="DM Sans"/>
                <a:cs typeface="DM Sans"/>
                <a:sym typeface="DM Sans"/>
              </a:rPr>
              <a:t> Mapeo Temático de Módulos</a:t>
            </a:r>
          </a:p>
        </p:txBody>
      </p:sp>
      <p:sp>
        <p:nvSpPr>
          <p:cNvPr name="TextBox 38" id="38"/>
          <p:cNvSpPr txBox="true"/>
          <p:nvPr/>
        </p:nvSpPr>
        <p:spPr>
          <a:xfrm rot="0">
            <a:off x="5482973" y="282573"/>
            <a:ext cx="4500488" cy="438150"/>
          </a:xfrm>
          <a:prstGeom prst="rect">
            <a:avLst/>
          </a:prstGeom>
        </p:spPr>
        <p:txBody>
          <a:bodyPr anchor="t" rtlCol="false" tIns="0" lIns="0" bIns="0" rIns="0">
            <a:spAutoFit/>
          </a:bodyPr>
          <a:lstStyle/>
          <a:p>
            <a:pPr algn="ctr">
              <a:lnSpc>
                <a:spcPts val="3227"/>
              </a:lnSpc>
              <a:spcBef>
                <a:spcPct val="0"/>
              </a:spcBef>
            </a:pPr>
            <a:r>
              <a:rPr lang="en-US" b="true" sz="2689">
                <a:solidFill>
                  <a:srgbClr val="12315F"/>
                </a:solidFill>
                <a:latin typeface="Poppins Bold"/>
                <a:ea typeface="Poppins Bold"/>
                <a:cs typeface="Poppins Bold"/>
                <a:sym typeface="Poppins Bold"/>
              </a:rPr>
              <a:t>Comprensión del negocio</a:t>
            </a:r>
          </a:p>
        </p:txBody>
      </p:sp>
      <p:sp>
        <p:nvSpPr>
          <p:cNvPr name="TextBox 39" id="39"/>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10</a:t>
            </a:r>
          </a:p>
        </p:txBody>
      </p:sp>
      <p:grpSp>
        <p:nvGrpSpPr>
          <p:cNvPr name="Group 40" id="40"/>
          <p:cNvGrpSpPr/>
          <p:nvPr/>
        </p:nvGrpSpPr>
        <p:grpSpPr>
          <a:xfrm rot="0">
            <a:off x="15080628" y="455324"/>
            <a:ext cx="18126" cy="835600"/>
            <a:chOff x="0" y="0"/>
            <a:chExt cx="24168" cy="1114133"/>
          </a:xfrm>
        </p:grpSpPr>
        <p:sp>
          <p:nvSpPr>
            <p:cNvPr name="Freeform 41" id="41"/>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grpSp>
        <p:nvGrpSpPr>
          <p:cNvPr name="Group 42" id="42"/>
          <p:cNvGrpSpPr/>
          <p:nvPr/>
        </p:nvGrpSpPr>
        <p:grpSpPr>
          <a:xfrm rot="0">
            <a:off x="15233028" y="607724"/>
            <a:ext cx="18126" cy="835600"/>
            <a:chOff x="0" y="0"/>
            <a:chExt cx="24168" cy="1114133"/>
          </a:xfrm>
        </p:grpSpPr>
        <p:sp>
          <p:nvSpPr>
            <p:cNvPr name="Freeform 43" id="43"/>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4" id="44"/>
          <p:cNvSpPr txBox="true"/>
          <p:nvPr/>
        </p:nvSpPr>
        <p:spPr>
          <a:xfrm rot="0">
            <a:off x="14540989" y="7969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5" id="45"/>
          <p:cNvSpPr txBox="true"/>
          <p:nvPr/>
        </p:nvSpPr>
        <p:spPr>
          <a:xfrm rot="0">
            <a:off x="14540989" y="11062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533400" y="9820275"/>
            <a:ext cx="5537362" cy="315676"/>
          </a:xfrm>
          <a:prstGeom prst="rect">
            <a:avLst/>
          </a:prstGeom>
        </p:spPr>
        <p:txBody>
          <a:bodyPr anchor="t" rtlCol="false" tIns="0" lIns="0" bIns="0" rIns="0">
            <a:spAutoFit/>
          </a:bodyPr>
          <a:lstStyle/>
          <a:p>
            <a:pPr algn="l">
              <a:lnSpc>
                <a:spcPts val="2403"/>
              </a:lnSpc>
            </a:pPr>
            <a:r>
              <a:rPr lang="en-US" sz="1716" u="sng">
                <a:solidFill>
                  <a:srgbClr val="000000"/>
                </a:solidFill>
                <a:latin typeface="Arimo"/>
                <a:ea typeface="Arimo"/>
                <a:cs typeface="Arimo"/>
                <a:sym typeface="Arimo"/>
                <a:hlinkClick r:id="rId5" tooltip="https://www.who.int/tools/child-growth-standards/software"/>
              </a:rPr>
              <a:t>https://www.who.int/tools/child-growth-standards/software</a:t>
            </a:r>
          </a:p>
        </p:txBody>
      </p:sp>
      <p:grpSp>
        <p:nvGrpSpPr>
          <p:cNvPr name="Group 8" id="8"/>
          <p:cNvGrpSpPr/>
          <p:nvPr/>
        </p:nvGrpSpPr>
        <p:grpSpPr>
          <a:xfrm rot="0">
            <a:off x="15716250" y="8191500"/>
            <a:ext cx="4000500" cy="4000500"/>
            <a:chOff x="0" y="0"/>
            <a:chExt cx="5334000" cy="5334000"/>
          </a:xfrm>
        </p:grpSpPr>
        <p:sp>
          <p:nvSpPr>
            <p:cNvPr name="Freeform 9" id="9"/>
            <p:cNvSpPr/>
            <p:nvPr/>
          </p:nvSpPr>
          <p:spPr>
            <a:xfrm flipH="false" flipV="false" rot="0">
              <a:off x="0" y="0"/>
              <a:ext cx="5334000" cy="5334000"/>
            </a:xfrm>
            <a:custGeom>
              <a:avLst/>
              <a:gdLst/>
              <a:ahLst/>
              <a:cxnLst/>
              <a:rect r="r" b="b" t="t" l="l"/>
              <a:pathLst>
                <a:path h="5334000" w="5334000">
                  <a:moveTo>
                    <a:pt x="0" y="2667000"/>
                  </a:moveTo>
                  <a:cubicBezTo>
                    <a:pt x="0" y="1194054"/>
                    <a:pt x="1194054" y="0"/>
                    <a:pt x="2667000" y="0"/>
                  </a:cubicBezTo>
                  <a:cubicBezTo>
                    <a:pt x="4139946" y="0"/>
                    <a:pt x="5334000" y="1194054"/>
                    <a:pt x="5334000" y="2667000"/>
                  </a:cubicBezTo>
                  <a:cubicBezTo>
                    <a:pt x="5334000" y="4139946"/>
                    <a:pt x="4139946" y="5334000"/>
                    <a:pt x="2667000" y="5334000"/>
                  </a:cubicBezTo>
                  <a:cubicBezTo>
                    <a:pt x="1194054" y="5334000"/>
                    <a:pt x="0" y="4139946"/>
                    <a:pt x="0" y="2667000"/>
                  </a:cubicBezTo>
                  <a:close/>
                </a:path>
              </a:pathLst>
            </a:custGeom>
            <a:solidFill>
              <a:srgbClr val="003865">
                <a:alpha val="0"/>
              </a:srgbClr>
            </a:solidFill>
          </p:spPr>
        </p:sp>
      </p:grpSp>
      <p:grpSp>
        <p:nvGrpSpPr>
          <p:cNvPr name="Group 10" id="10"/>
          <p:cNvGrpSpPr/>
          <p:nvPr/>
        </p:nvGrpSpPr>
        <p:grpSpPr>
          <a:xfrm rot="0">
            <a:off x="533400" y="463868"/>
            <a:ext cx="400050" cy="47625"/>
            <a:chOff x="0" y="0"/>
            <a:chExt cx="533400" cy="63500"/>
          </a:xfrm>
        </p:grpSpPr>
        <p:sp>
          <p:nvSpPr>
            <p:cNvPr name="Freeform 11" id="11"/>
            <p:cNvSpPr/>
            <p:nvPr/>
          </p:nvSpPr>
          <p:spPr>
            <a:xfrm flipH="false" flipV="false" rot="0">
              <a:off x="0" y="0"/>
              <a:ext cx="533400" cy="63500"/>
            </a:xfrm>
            <a:custGeom>
              <a:avLst/>
              <a:gdLst/>
              <a:ahLst/>
              <a:cxnLst/>
              <a:rect r="r" b="b" t="t" l="l"/>
              <a:pathLst>
                <a:path h="63500" w="533400">
                  <a:moveTo>
                    <a:pt x="0" y="31750"/>
                  </a:moveTo>
                  <a:cubicBezTo>
                    <a:pt x="0" y="14224"/>
                    <a:pt x="14224" y="0"/>
                    <a:pt x="31750" y="0"/>
                  </a:cubicBezTo>
                  <a:lnTo>
                    <a:pt x="501650" y="0"/>
                  </a:lnTo>
                  <a:cubicBezTo>
                    <a:pt x="519176" y="0"/>
                    <a:pt x="533400" y="14224"/>
                    <a:pt x="533400" y="31750"/>
                  </a:cubicBezTo>
                  <a:cubicBezTo>
                    <a:pt x="533400" y="49276"/>
                    <a:pt x="519176" y="63500"/>
                    <a:pt x="501650" y="63500"/>
                  </a:cubicBezTo>
                  <a:lnTo>
                    <a:pt x="31750" y="63500"/>
                  </a:lnTo>
                  <a:cubicBezTo>
                    <a:pt x="14224" y="63500"/>
                    <a:pt x="0" y="49276"/>
                    <a:pt x="0" y="31750"/>
                  </a:cubicBezTo>
                  <a:close/>
                </a:path>
              </a:pathLst>
            </a:custGeom>
            <a:solidFill>
              <a:srgbClr val="F8A900"/>
            </a:solidFill>
          </p:spPr>
        </p:sp>
      </p:grpSp>
      <p:grpSp>
        <p:nvGrpSpPr>
          <p:cNvPr name="Group 12" id="12"/>
          <p:cNvGrpSpPr/>
          <p:nvPr/>
        </p:nvGrpSpPr>
        <p:grpSpPr>
          <a:xfrm rot="0">
            <a:off x="533400" y="1718310"/>
            <a:ext cx="4205288" cy="693420"/>
            <a:chOff x="0" y="0"/>
            <a:chExt cx="5607050" cy="924560"/>
          </a:xfrm>
        </p:grpSpPr>
        <p:sp>
          <p:nvSpPr>
            <p:cNvPr name="Freeform 13" id="13"/>
            <p:cNvSpPr/>
            <p:nvPr/>
          </p:nvSpPr>
          <p:spPr>
            <a:xfrm flipH="false" flipV="false" rot="0">
              <a:off x="0" y="0"/>
              <a:ext cx="5607050" cy="924560"/>
            </a:xfrm>
            <a:custGeom>
              <a:avLst/>
              <a:gdLst/>
              <a:ahLst/>
              <a:cxnLst/>
              <a:rect r="r" b="b" t="t" l="l"/>
              <a:pathLst>
                <a:path h="924560" w="5607050">
                  <a:moveTo>
                    <a:pt x="0" y="114300"/>
                  </a:moveTo>
                  <a:cubicBezTo>
                    <a:pt x="0" y="51181"/>
                    <a:pt x="51181" y="0"/>
                    <a:pt x="114300" y="0"/>
                  </a:cubicBezTo>
                  <a:lnTo>
                    <a:pt x="5492750" y="0"/>
                  </a:lnTo>
                  <a:cubicBezTo>
                    <a:pt x="5555869" y="0"/>
                    <a:pt x="5607050" y="51181"/>
                    <a:pt x="5607050" y="114300"/>
                  </a:cubicBezTo>
                  <a:lnTo>
                    <a:pt x="5607050" y="810260"/>
                  </a:lnTo>
                  <a:cubicBezTo>
                    <a:pt x="5607050" y="873379"/>
                    <a:pt x="5555869" y="924560"/>
                    <a:pt x="5492750" y="924560"/>
                  </a:cubicBezTo>
                  <a:lnTo>
                    <a:pt x="114300" y="924560"/>
                  </a:lnTo>
                  <a:cubicBezTo>
                    <a:pt x="51181" y="924560"/>
                    <a:pt x="0" y="873379"/>
                    <a:pt x="0" y="810260"/>
                  </a:cubicBezTo>
                  <a:close/>
                </a:path>
              </a:pathLst>
            </a:custGeom>
            <a:solidFill>
              <a:srgbClr val="EFEFEA"/>
            </a:solidFill>
          </p:spPr>
        </p:sp>
      </p:grpSp>
      <p:grpSp>
        <p:nvGrpSpPr>
          <p:cNvPr name="Group 14" id="14"/>
          <p:cNvGrpSpPr/>
          <p:nvPr/>
        </p:nvGrpSpPr>
        <p:grpSpPr>
          <a:xfrm rot="0">
            <a:off x="704850" y="1889760"/>
            <a:ext cx="114300" cy="114300"/>
            <a:chOff x="0" y="0"/>
            <a:chExt cx="152400" cy="152400"/>
          </a:xfrm>
        </p:grpSpPr>
        <p:sp>
          <p:nvSpPr>
            <p:cNvPr name="Freeform 15" id="15"/>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2F8F5B"/>
            </a:solidFill>
          </p:spPr>
        </p:sp>
      </p:grpSp>
      <p:grpSp>
        <p:nvGrpSpPr>
          <p:cNvPr name="Group 16" id="16"/>
          <p:cNvGrpSpPr/>
          <p:nvPr/>
        </p:nvGrpSpPr>
        <p:grpSpPr>
          <a:xfrm rot="0">
            <a:off x="4872038" y="1718310"/>
            <a:ext cx="4205288" cy="693420"/>
            <a:chOff x="0" y="0"/>
            <a:chExt cx="5607050" cy="924560"/>
          </a:xfrm>
        </p:grpSpPr>
        <p:sp>
          <p:nvSpPr>
            <p:cNvPr name="Freeform 17" id="17"/>
            <p:cNvSpPr/>
            <p:nvPr/>
          </p:nvSpPr>
          <p:spPr>
            <a:xfrm flipH="false" flipV="false" rot="0">
              <a:off x="0" y="0"/>
              <a:ext cx="5607050" cy="924560"/>
            </a:xfrm>
            <a:custGeom>
              <a:avLst/>
              <a:gdLst/>
              <a:ahLst/>
              <a:cxnLst/>
              <a:rect r="r" b="b" t="t" l="l"/>
              <a:pathLst>
                <a:path h="924560" w="5607050">
                  <a:moveTo>
                    <a:pt x="0" y="114300"/>
                  </a:moveTo>
                  <a:cubicBezTo>
                    <a:pt x="0" y="51181"/>
                    <a:pt x="51181" y="0"/>
                    <a:pt x="114300" y="0"/>
                  </a:cubicBezTo>
                  <a:lnTo>
                    <a:pt x="5492750" y="0"/>
                  </a:lnTo>
                  <a:cubicBezTo>
                    <a:pt x="5555869" y="0"/>
                    <a:pt x="5607050" y="51181"/>
                    <a:pt x="5607050" y="114300"/>
                  </a:cubicBezTo>
                  <a:lnTo>
                    <a:pt x="5607050" y="810260"/>
                  </a:lnTo>
                  <a:cubicBezTo>
                    <a:pt x="5607050" y="873379"/>
                    <a:pt x="5555869" y="924560"/>
                    <a:pt x="5492750" y="924560"/>
                  </a:cubicBezTo>
                  <a:lnTo>
                    <a:pt x="114300" y="924560"/>
                  </a:lnTo>
                  <a:cubicBezTo>
                    <a:pt x="51181" y="924560"/>
                    <a:pt x="0" y="873379"/>
                    <a:pt x="0" y="810260"/>
                  </a:cubicBezTo>
                  <a:close/>
                </a:path>
              </a:pathLst>
            </a:custGeom>
            <a:solidFill>
              <a:srgbClr val="FBF1DC"/>
            </a:solidFill>
          </p:spPr>
        </p:sp>
      </p:grpSp>
      <p:grpSp>
        <p:nvGrpSpPr>
          <p:cNvPr name="Group 18" id="18"/>
          <p:cNvGrpSpPr/>
          <p:nvPr/>
        </p:nvGrpSpPr>
        <p:grpSpPr>
          <a:xfrm rot="0">
            <a:off x="5043488" y="1889760"/>
            <a:ext cx="114300" cy="114300"/>
            <a:chOff x="0" y="0"/>
            <a:chExt cx="152400" cy="152400"/>
          </a:xfrm>
        </p:grpSpPr>
        <p:sp>
          <p:nvSpPr>
            <p:cNvPr name="Freeform 19" id="19"/>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F8A900"/>
            </a:solidFill>
          </p:spPr>
        </p:sp>
      </p:grpSp>
      <p:grpSp>
        <p:nvGrpSpPr>
          <p:cNvPr name="Group 20" id="20"/>
          <p:cNvGrpSpPr/>
          <p:nvPr/>
        </p:nvGrpSpPr>
        <p:grpSpPr>
          <a:xfrm rot="0">
            <a:off x="9210675" y="1718310"/>
            <a:ext cx="4205288" cy="693420"/>
            <a:chOff x="0" y="0"/>
            <a:chExt cx="5607050" cy="924560"/>
          </a:xfrm>
        </p:grpSpPr>
        <p:sp>
          <p:nvSpPr>
            <p:cNvPr name="Freeform 21" id="21"/>
            <p:cNvSpPr/>
            <p:nvPr/>
          </p:nvSpPr>
          <p:spPr>
            <a:xfrm flipH="false" flipV="false" rot="0">
              <a:off x="0" y="0"/>
              <a:ext cx="5607050" cy="924560"/>
            </a:xfrm>
            <a:custGeom>
              <a:avLst/>
              <a:gdLst/>
              <a:ahLst/>
              <a:cxnLst/>
              <a:rect r="r" b="b" t="t" l="l"/>
              <a:pathLst>
                <a:path h="924560" w="5607050">
                  <a:moveTo>
                    <a:pt x="0" y="114300"/>
                  </a:moveTo>
                  <a:cubicBezTo>
                    <a:pt x="0" y="51181"/>
                    <a:pt x="51181" y="0"/>
                    <a:pt x="114300" y="0"/>
                  </a:cubicBezTo>
                  <a:lnTo>
                    <a:pt x="5492750" y="0"/>
                  </a:lnTo>
                  <a:cubicBezTo>
                    <a:pt x="5555869" y="0"/>
                    <a:pt x="5607050" y="51181"/>
                    <a:pt x="5607050" y="114300"/>
                  </a:cubicBezTo>
                  <a:lnTo>
                    <a:pt x="5607050" y="810260"/>
                  </a:lnTo>
                  <a:cubicBezTo>
                    <a:pt x="5607050" y="873379"/>
                    <a:pt x="5555869" y="924560"/>
                    <a:pt x="5492750" y="924560"/>
                  </a:cubicBezTo>
                  <a:lnTo>
                    <a:pt x="114300" y="924560"/>
                  </a:lnTo>
                  <a:cubicBezTo>
                    <a:pt x="51181" y="924560"/>
                    <a:pt x="0" y="873379"/>
                    <a:pt x="0" y="810260"/>
                  </a:cubicBezTo>
                  <a:close/>
                </a:path>
              </a:pathLst>
            </a:custGeom>
            <a:solidFill>
              <a:srgbClr val="F7E7E5"/>
            </a:solidFill>
          </p:spPr>
        </p:sp>
      </p:grpSp>
      <p:grpSp>
        <p:nvGrpSpPr>
          <p:cNvPr name="Group 22" id="22"/>
          <p:cNvGrpSpPr/>
          <p:nvPr/>
        </p:nvGrpSpPr>
        <p:grpSpPr>
          <a:xfrm rot="0">
            <a:off x="9382125" y="1889760"/>
            <a:ext cx="114300" cy="114300"/>
            <a:chOff x="0" y="0"/>
            <a:chExt cx="152400" cy="152400"/>
          </a:xfrm>
        </p:grpSpPr>
        <p:sp>
          <p:nvSpPr>
            <p:cNvPr name="Freeform 23" id="23"/>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C0504D"/>
            </a:solidFill>
          </p:spPr>
        </p:sp>
      </p:grpSp>
      <p:grpSp>
        <p:nvGrpSpPr>
          <p:cNvPr name="Group 24" id="24"/>
          <p:cNvGrpSpPr/>
          <p:nvPr/>
        </p:nvGrpSpPr>
        <p:grpSpPr>
          <a:xfrm rot="0">
            <a:off x="13549312" y="1718310"/>
            <a:ext cx="4205288" cy="693420"/>
            <a:chOff x="0" y="0"/>
            <a:chExt cx="5607050" cy="924560"/>
          </a:xfrm>
        </p:grpSpPr>
        <p:sp>
          <p:nvSpPr>
            <p:cNvPr name="Freeform 25" id="25"/>
            <p:cNvSpPr/>
            <p:nvPr/>
          </p:nvSpPr>
          <p:spPr>
            <a:xfrm flipH="false" flipV="false" rot="0">
              <a:off x="0" y="0"/>
              <a:ext cx="5607050" cy="924560"/>
            </a:xfrm>
            <a:custGeom>
              <a:avLst/>
              <a:gdLst/>
              <a:ahLst/>
              <a:cxnLst/>
              <a:rect r="r" b="b" t="t" l="l"/>
              <a:pathLst>
                <a:path h="924560" w="5607050">
                  <a:moveTo>
                    <a:pt x="0" y="114300"/>
                  </a:moveTo>
                  <a:cubicBezTo>
                    <a:pt x="0" y="51181"/>
                    <a:pt x="51181" y="0"/>
                    <a:pt x="114300" y="0"/>
                  </a:cubicBezTo>
                  <a:lnTo>
                    <a:pt x="5492750" y="0"/>
                  </a:lnTo>
                  <a:cubicBezTo>
                    <a:pt x="5555869" y="0"/>
                    <a:pt x="5607050" y="51181"/>
                    <a:pt x="5607050" y="114300"/>
                  </a:cubicBezTo>
                  <a:lnTo>
                    <a:pt x="5607050" y="810260"/>
                  </a:lnTo>
                  <a:cubicBezTo>
                    <a:pt x="5607050" y="873379"/>
                    <a:pt x="5555869" y="924560"/>
                    <a:pt x="5492750" y="924560"/>
                  </a:cubicBezTo>
                  <a:lnTo>
                    <a:pt x="114300" y="924560"/>
                  </a:lnTo>
                  <a:cubicBezTo>
                    <a:pt x="51181" y="924560"/>
                    <a:pt x="0" y="873379"/>
                    <a:pt x="0" y="810260"/>
                  </a:cubicBezTo>
                  <a:close/>
                </a:path>
              </a:pathLst>
            </a:custGeom>
            <a:solidFill>
              <a:srgbClr val="ECECEC"/>
            </a:solidFill>
          </p:spPr>
        </p:sp>
      </p:grpSp>
      <p:grpSp>
        <p:nvGrpSpPr>
          <p:cNvPr name="Group 26" id="26"/>
          <p:cNvGrpSpPr/>
          <p:nvPr/>
        </p:nvGrpSpPr>
        <p:grpSpPr>
          <a:xfrm rot="0">
            <a:off x="13720762" y="1889760"/>
            <a:ext cx="114300" cy="114300"/>
            <a:chOff x="0" y="0"/>
            <a:chExt cx="152400" cy="152400"/>
          </a:xfrm>
        </p:grpSpPr>
        <p:sp>
          <p:nvSpPr>
            <p:cNvPr name="Freeform 27" id="27"/>
            <p:cNvSpPr/>
            <p:nvPr/>
          </p:nvSpPr>
          <p:spPr>
            <a:xfrm flipH="false" flipV="false" rot="0">
              <a:off x="0" y="0"/>
              <a:ext cx="152400" cy="152400"/>
            </a:xfrm>
            <a:custGeom>
              <a:avLst/>
              <a:gdLst/>
              <a:ahLst/>
              <a:cxnLst/>
              <a:rect r="r" b="b" t="t" l="l"/>
              <a:pathLst>
                <a:path h="152400" w="152400">
                  <a:moveTo>
                    <a:pt x="0" y="76200"/>
                  </a:moveTo>
                  <a:cubicBezTo>
                    <a:pt x="0" y="34163"/>
                    <a:pt x="34163" y="0"/>
                    <a:pt x="76200" y="0"/>
                  </a:cubicBezTo>
                  <a:cubicBezTo>
                    <a:pt x="118237" y="0"/>
                    <a:pt x="152400" y="34163"/>
                    <a:pt x="152400" y="76200"/>
                  </a:cubicBezTo>
                  <a:cubicBezTo>
                    <a:pt x="152400" y="118237"/>
                    <a:pt x="118237" y="152400"/>
                    <a:pt x="76200" y="152400"/>
                  </a:cubicBezTo>
                  <a:cubicBezTo>
                    <a:pt x="34163" y="152400"/>
                    <a:pt x="0" y="118237"/>
                    <a:pt x="0" y="76200"/>
                  </a:cubicBezTo>
                  <a:close/>
                </a:path>
              </a:pathLst>
            </a:custGeom>
            <a:solidFill>
              <a:srgbClr val="6B7280"/>
            </a:solidFill>
          </p:spPr>
        </p:sp>
      </p:grpSp>
      <p:grpSp>
        <p:nvGrpSpPr>
          <p:cNvPr name="Group 28" id="28"/>
          <p:cNvGrpSpPr/>
          <p:nvPr/>
        </p:nvGrpSpPr>
        <p:grpSpPr>
          <a:xfrm rot="0">
            <a:off x="533400" y="2583180"/>
            <a:ext cx="5613321" cy="1482090"/>
            <a:chOff x="0" y="0"/>
            <a:chExt cx="7484428" cy="1976120"/>
          </a:xfrm>
        </p:grpSpPr>
        <p:sp>
          <p:nvSpPr>
            <p:cNvPr name="Freeform 29" id="29"/>
            <p:cNvSpPr/>
            <p:nvPr/>
          </p:nvSpPr>
          <p:spPr>
            <a:xfrm flipH="false" flipV="false" rot="0">
              <a:off x="0" y="0"/>
              <a:ext cx="7484364" cy="1976120"/>
            </a:xfrm>
            <a:custGeom>
              <a:avLst/>
              <a:gdLst/>
              <a:ahLst/>
              <a:cxnLst/>
              <a:rect r="r" b="b" t="t" l="l"/>
              <a:pathLst>
                <a:path h="1976120" w="7484364">
                  <a:moveTo>
                    <a:pt x="0" y="127000"/>
                  </a:moveTo>
                  <a:cubicBezTo>
                    <a:pt x="0" y="56896"/>
                    <a:pt x="56896" y="0"/>
                    <a:pt x="127000" y="0"/>
                  </a:cubicBezTo>
                  <a:lnTo>
                    <a:pt x="7357364" y="0"/>
                  </a:lnTo>
                  <a:cubicBezTo>
                    <a:pt x="7427468" y="0"/>
                    <a:pt x="7484364" y="56896"/>
                    <a:pt x="7484364" y="127000"/>
                  </a:cubicBezTo>
                  <a:lnTo>
                    <a:pt x="7484364" y="1849120"/>
                  </a:lnTo>
                  <a:cubicBezTo>
                    <a:pt x="7484364" y="1919224"/>
                    <a:pt x="7427468" y="1976120"/>
                    <a:pt x="7357364" y="1976120"/>
                  </a:cubicBezTo>
                  <a:lnTo>
                    <a:pt x="127000" y="1976120"/>
                  </a:lnTo>
                  <a:cubicBezTo>
                    <a:pt x="56896" y="1976120"/>
                    <a:pt x="0" y="1919224"/>
                    <a:pt x="0" y="1849120"/>
                  </a:cubicBezTo>
                  <a:close/>
                </a:path>
              </a:pathLst>
            </a:custGeom>
            <a:solidFill>
              <a:srgbClr val="FFFFFF"/>
            </a:solidFill>
          </p:spPr>
        </p:sp>
      </p:grpSp>
      <p:grpSp>
        <p:nvGrpSpPr>
          <p:cNvPr name="Group 30" id="30"/>
          <p:cNvGrpSpPr/>
          <p:nvPr/>
        </p:nvGrpSpPr>
        <p:grpSpPr>
          <a:xfrm rot="0">
            <a:off x="704850" y="2810828"/>
            <a:ext cx="85725" cy="85725"/>
            <a:chOff x="0" y="0"/>
            <a:chExt cx="114300" cy="114300"/>
          </a:xfrm>
        </p:grpSpPr>
        <p:sp>
          <p:nvSpPr>
            <p:cNvPr name="Freeform 31" id="31"/>
            <p:cNvSpPr/>
            <p:nvPr/>
          </p:nvSpPr>
          <p:spPr>
            <a:xfrm flipH="false" flipV="false" rot="0">
              <a:off x="0" y="0"/>
              <a:ext cx="114300" cy="114300"/>
            </a:xfrm>
            <a:custGeom>
              <a:avLst/>
              <a:gdLst/>
              <a:ahLst/>
              <a:cxnLst/>
              <a:rect r="r" b="b" t="t" l="l"/>
              <a:pathLst>
                <a:path h="114300" w="114300">
                  <a:moveTo>
                    <a:pt x="0" y="57150"/>
                  </a:moveTo>
                  <a:cubicBezTo>
                    <a:pt x="0" y="25527"/>
                    <a:pt x="25527" y="0"/>
                    <a:pt x="57150" y="0"/>
                  </a:cubicBezTo>
                  <a:cubicBezTo>
                    <a:pt x="88773" y="0"/>
                    <a:pt x="114300" y="25527"/>
                    <a:pt x="114300" y="57150"/>
                  </a:cubicBezTo>
                  <a:cubicBezTo>
                    <a:pt x="114300" y="88773"/>
                    <a:pt x="88773" y="114300"/>
                    <a:pt x="57150" y="114300"/>
                  </a:cubicBezTo>
                  <a:cubicBezTo>
                    <a:pt x="25527" y="114300"/>
                    <a:pt x="0" y="88773"/>
                    <a:pt x="0" y="57150"/>
                  </a:cubicBezTo>
                  <a:close/>
                </a:path>
              </a:pathLst>
            </a:custGeom>
            <a:solidFill>
              <a:srgbClr val="2F8F5B"/>
            </a:solidFill>
          </p:spPr>
        </p:sp>
      </p:grpSp>
      <p:grpSp>
        <p:nvGrpSpPr>
          <p:cNvPr name="Group 32" id="32"/>
          <p:cNvGrpSpPr/>
          <p:nvPr/>
        </p:nvGrpSpPr>
        <p:grpSpPr>
          <a:xfrm rot="0">
            <a:off x="5402580" y="2735580"/>
            <a:ext cx="572691" cy="236220"/>
            <a:chOff x="0" y="0"/>
            <a:chExt cx="763588" cy="314960"/>
          </a:xfrm>
        </p:grpSpPr>
        <p:sp>
          <p:nvSpPr>
            <p:cNvPr name="Freeform 33" id="33"/>
            <p:cNvSpPr/>
            <p:nvPr/>
          </p:nvSpPr>
          <p:spPr>
            <a:xfrm flipH="false" flipV="false" rot="0">
              <a:off x="0" y="0"/>
              <a:ext cx="763651" cy="314960"/>
            </a:xfrm>
            <a:custGeom>
              <a:avLst/>
              <a:gdLst/>
              <a:ahLst/>
              <a:cxnLst/>
              <a:rect r="r" b="b" t="t" l="l"/>
              <a:pathLst>
                <a:path h="314960" w="763651">
                  <a:moveTo>
                    <a:pt x="0" y="157480"/>
                  </a:moveTo>
                  <a:cubicBezTo>
                    <a:pt x="0" y="70485"/>
                    <a:pt x="70485" y="0"/>
                    <a:pt x="157480" y="0"/>
                  </a:cubicBezTo>
                  <a:lnTo>
                    <a:pt x="606171" y="0"/>
                  </a:lnTo>
                  <a:cubicBezTo>
                    <a:pt x="693166" y="0"/>
                    <a:pt x="763651" y="70485"/>
                    <a:pt x="763651" y="157480"/>
                  </a:cubicBezTo>
                  <a:cubicBezTo>
                    <a:pt x="763651" y="244475"/>
                    <a:pt x="693166" y="314960"/>
                    <a:pt x="606171" y="314960"/>
                  </a:cubicBezTo>
                  <a:lnTo>
                    <a:pt x="157480" y="314960"/>
                  </a:lnTo>
                  <a:cubicBezTo>
                    <a:pt x="70485" y="314960"/>
                    <a:pt x="0" y="244475"/>
                    <a:pt x="0" y="157480"/>
                  </a:cubicBezTo>
                  <a:close/>
                </a:path>
              </a:pathLst>
            </a:custGeom>
            <a:solidFill>
              <a:srgbClr val="003865"/>
            </a:solidFill>
          </p:spPr>
        </p:sp>
      </p:grpSp>
      <p:sp>
        <p:nvSpPr>
          <p:cNvPr name="TextBox 34" id="34"/>
          <p:cNvSpPr txBox="true"/>
          <p:nvPr/>
        </p:nvSpPr>
        <p:spPr>
          <a:xfrm rot="0">
            <a:off x="730253" y="3681098"/>
            <a:ext cx="5746661" cy="244478"/>
          </a:xfrm>
          <a:prstGeom prst="rect">
            <a:avLst/>
          </a:prstGeom>
        </p:spPr>
        <p:txBody>
          <a:bodyPr anchor="t" rtlCol="false" tIns="0" lIns="0" bIns="0" rIns="0">
            <a:spAutoFit/>
          </a:bodyPr>
          <a:lstStyle/>
          <a:p>
            <a:pPr algn="l">
              <a:lnSpc>
                <a:spcPts val="1889"/>
              </a:lnSpc>
            </a:pPr>
            <a:r>
              <a:rPr lang="en-US" sz="1125" i="true">
                <a:solidFill>
                  <a:srgbClr val="6B7280"/>
                </a:solidFill>
                <a:latin typeface="Arial Italics"/>
                <a:ea typeface="Arial Italics"/>
                <a:cs typeface="Arial Italics"/>
                <a:sym typeface="Arial Italics"/>
              </a:rPr>
              <a:t>HC60 y HC51: cuidado con códigos 0 / 993–995 como falsos numéricos en joins</a:t>
            </a:r>
          </a:p>
        </p:txBody>
      </p:sp>
      <p:grpSp>
        <p:nvGrpSpPr>
          <p:cNvPr name="Group 35" id="35"/>
          <p:cNvGrpSpPr/>
          <p:nvPr/>
        </p:nvGrpSpPr>
        <p:grpSpPr>
          <a:xfrm rot="0">
            <a:off x="533400" y="4217670"/>
            <a:ext cx="5613321" cy="1482090"/>
            <a:chOff x="0" y="0"/>
            <a:chExt cx="7484428" cy="1976120"/>
          </a:xfrm>
        </p:grpSpPr>
        <p:sp>
          <p:nvSpPr>
            <p:cNvPr name="Freeform 36" id="36"/>
            <p:cNvSpPr/>
            <p:nvPr/>
          </p:nvSpPr>
          <p:spPr>
            <a:xfrm flipH="false" flipV="false" rot="0">
              <a:off x="0" y="0"/>
              <a:ext cx="7484364" cy="1976120"/>
            </a:xfrm>
            <a:custGeom>
              <a:avLst/>
              <a:gdLst/>
              <a:ahLst/>
              <a:cxnLst/>
              <a:rect r="r" b="b" t="t" l="l"/>
              <a:pathLst>
                <a:path h="1976120" w="7484364">
                  <a:moveTo>
                    <a:pt x="0" y="127000"/>
                  </a:moveTo>
                  <a:cubicBezTo>
                    <a:pt x="0" y="56896"/>
                    <a:pt x="56896" y="0"/>
                    <a:pt x="127000" y="0"/>
                  </a:cubicBezTo>
                  <a:lnTo>
                    <a:pt x="7357364" y="0"/>
                  </a:lnTo>
                  <a:cubicBezTo>
                    <a:pt x="7427468" y="0"/>
                    <a:pt x="7484364" y="56896"/>
                    <a:pt x="7484364" y="127000"/>
                  </a:cubicBezTo>
                  <a:lnTo>
                    <a:pt x="7484364" y="1849120"/>
                  </a:lnTo>
                  <a:cubicBezTo>
                    <a:pt x="7484364" y="1919224"/>
                    <a:pt x="7427468" y="1976120"/>
                    <a:pt x="7357364" y="1976120"/>
                  </a:cubicBezTo>
                  <a:lnTo>
                    <a:pt x="127000" y="1976120"/>
                  </a:lnTo>
                  <a:cubicBezTo>
                    <a:pt x="56896" y="1976120"/>
                    <a:pt x="0" y="1919224"/>
                    <a:pt x="0" y="1849120"/>
                  </a:cubicBezTo>
                  <a:close/>
                </a:path>
              </a:pathLst>
            </a:custGeom>
            <a:solidFill>
              <a:srgbClr val="FFFFFF"/>
            </a:solidFill>
          </p:spPr>
        </p:sp>
      </p:grpSp>
      <p:grpSp>
        <p:nvGrpSpPr>
          <p:cNvPr name="Group 37" id="37"/>
          <p:cNvGrpSpPr/>
          <p:nvPr/>
        </p:nvGrpSpPr>
        <p:grpSpPr>
          <a:xfrm rot="0">
            <a:off x="704850" y="4445318"/>
            <a:ext cx="85725" cy="85725"/>
            <a:chOff x="0" y="0"/>
            <a:chExt cx="114300" cy="114300"/>
          </a:xfrm>
        </p:grpSpPr>
        <p:sp>
          <p:nvSpPr>
            <p:cNvPr name="Freeform 38" id="38"/>
            <p:cNvSpPr/>
            <p:nvPr/>
          </p:nvSpPr>
          <p:spPr>
            <a:xfrm flipH="false" flipV="false" rot="0">
              <a:off x="0" y="0"/>
              <a:ext cx="114300" cy="114300"/>
            </a:xfrm>
            <a:custGeom>
              <a:avLst/>
              <a:gdLst/>
              <a:ahLst/>
              <a:cxnLst/>
              <a:rect r="r" b="b" t="t" l="l"/>
              <a:pathLst>
                <a:path h="114300" w="114300">
                  <a:moveTo>
                    <a:pt x="0" y="57150"/>
                  </a:moveTo>
                  <a:cubicBezTo>
                    <a:pt x="0" y="25527"/>
                    <a:pt x="25527" y="0"/>
                    <a:pt x="57150" y="0"/>
                  </a:cubicBezTo>
                  <a:cubicBezTo>
                    <a:pt x="88773" y="0"/>
                    <a:pt x="114300" y="25527"/>
                    <a:pt x="114300" y="57150"/>
                  </a:cubicBezTo>
                  <a:cubicBezTo>
                    <a:pt x="114300" y="88773"/>
                    <a:pt x="88773" y="114300"/>
                    <a:pt x="57150" y="114300"/>
                  </a:cubicBezTo>
                  <a:cubicBezTo>
                    <a:pt x="25527" y="114300"/>
                    <a:pt x="0" y="88773"/>
                    <a:pt x="0" y="57150"/>
                  </a:cubicBezTo>
                  <a:close/>
                </a:path>
              </a:pathLst>
            </a:custGeom>
            <a:solidFill>
              <a:srgbClr val="2F8F5B"/>
            </a:solidFill>
          </p:spPr>
        </p:sp>
      </p:grpSp>
      <p:grpSp>
        <p:nvGrpSpPr>
          <p:cNvPr name="Group 39" id="39"/>
          <p:cNvGrpSpPr/>
          <p:nvPr/>
        </p:nvGrpSpPr>
        <p:grpSpPr>
          <a:xfrm rot="0">
            <a:off x="5402580" y="4370070"/>
            <a:ext cx="572691" cy="236220"/>
            <a:chOff x="0" y="0"/>
            <a:chExt cx="763588" cy="314960"/>
          </a:xfrm>
        </p:grpSpPr>
        <p:sp>
          <p:nvSpPr>
            <p:cNvPr name="Freeform 40" id="40"/>
            <p:cNvSpPr/>
            <p:nvPr/>
          </p:nvSpPr>
          <p:spPr>
            <a:xfrm flipH="false" flipV="false" rot="0">
              <a:off x="0" y="0"/>
              <a:ext cx="763651" cy="314960"/>
            </a:xfrm>
            <a:custGeom>
              <a:avLst/>
              <a:gdLst/>
              <a:ahLst/>
              <a:cxnLst/>
              <a:rect r="r" b="b" t="t" l="l"/>
              <a:pathLst>
                <a:path h="314960" w="763651">
                  <a:moveTo>
                    <a:pt x="0" y="157480"/>
                  </a:moveTo>
                  <a:cubicBezTo>
                    <a:pt x="0" y="70485"/>
                    <a:pt x="70485" y="0"/>
                    <a:pt x="157480" y="0"/>
                  </a:cubicBezTo>
                  <a:lnTo>
                    <a:pt x="606171" y="0"/>
                  </a:lnTo>
                  <a:cubicBezTo>
                    <a:pt x="693166" y="0"/>
                    <a:pt x="763651" y="70485"/>
                    <a:pt x="763651" y="157480"/>
                  </a:cubicBezTo>
                  <a:cubicBezTo>
                    <a:pt x="763651" y="244475"/>
                    <a:pt x="693166" y="314960"/>
                    <a:pt x="606171" y="314960"/>
                  </a:cubicBezTo>
                  <a:lnTo>
                    <a:pt x="157480" y="314960"/>
                  </a:lnTo>
                  <a:cubicBezTo>
                    <a:pt x="70485" y="314960"/>
                    <a:pt x="0" y="244475"/>
                    <a:pt x="0" y="157480"/>
                  </a:cubicBezTo>
                  <a:close/>
                </a:path>
              </a:pathLst>
            </a:custGeom>
            <a:solidFill>
              <a:srgbClr val="003865"/>
            </a:solidFill>
          </p:spPr>
        </p:sp>
      </p:grpSp>
      <p:sp>
        <p:nvSpPr>
          <p:cNvPr name="TextBox 41" id="41"/>
          <p:cNvSpPr txBox="true"/>
          <p:nvPr/>
        </p:nvSpPr>
        <p:spPr>
          <a:xfrm rot="0">
            <a:off x="730253" y="5315588"/>
            <a:ext cx="5746661" cy="244478"/>
          </a:xfrm>
          <a:prstGeom prst="rect">
            <a:avLst/>
          </a:prstGeom>
        </p:spPr>
        <p:txBody>
          <a:bodyPr anchor="t" rtlCol="false" tIns="0" lIns="0" bIns="0" rIns="0">
            <a:spAutoFit/>
          </a:bodyPr>
          <a:lstStyle/>
          <a:p>
            <a:pPr algn="l">
              <a:lnSpc>
                <a:spcPts val="1889"/>
              </a:lnSpc>
            </a:pPr>
            <a:r>
              <a:rPr lang="en-US" sz="1125" i="true">
                <a:solidFill>
                  <a:srgbClr val="6B7280"/>
                </a:solidFill>
                <a:latin typeface="Arial Italics"/>
                <a:ea typeface="Arial Italics"/>
                <a:cs typeface="Arial Italics"/>
                <a:sym typeface="Arial Italics"/>
              </a:rPr>
              <a:t>Mutaciones mayormente por traducción, series estables 18 años</a:t>
            </a:r>
          </a:p>
        </p:txBody>
      </p:sp>
      <p:grpSp>
        <p:nvGrpSpPr>
          <p:cNvPr name="Group 42" id="42"/>
          <p:cNvGrpSpPr/>
          <p:nvPr/>
        </p:nvGrpSpPr>
        <p:grpSpPr>
          <a:xfrm rot="0">
            <a:off x="533400" y="5852160"/>
            <a:ext cx="5613321" cy="1482090"/>
            <a:chOff x="0" y="0"/>
            <a:chExt cx="7484428" cy="1976120"/>
          </a:xfrm>
        </p:grpSpPr>
        <p:sp>
          <p:nvSpPr>
            <p:cNvPr name="Freeform 43" id="43"/>
            <p:cNvSpPr/>
            <p:nvPr/>
          </p:nvSpPr>
          <p:spPr>
            <a:xfrm flipH="false" flipV="false" rot="0">
              <a:off x="0" y="0"/>
              <a:ext cx="7484364" cy="1976120"/>
            </a:xfrm>
            <a:custGeom>
              <a:avLst/>
              <a:gdLst/>
              <a:ahLst/>
              <a:cxnLst/>
              <a:rect r="r" b="b" t="t" l="l"/>
              <a:pathLst>
                <a:path h="1976120" w="7484364">
                  <a:moveTo>
                    <a:pt x="0" y="127000"/>
                  </a:moveTo>
                  <a:cubicBezTo>
                    <a:pt x="0" y="56896"/>
                    <a:pt x="56896" y="0"/>
                    <a:pt x="127000" y="0"/>
                  </a:cubicBezTo>
                  <a:lnTo>
                    <a:pt x="7357364" y="0"/>
                  </a:lnTo>
                  <a:cubicBezTo>
                    <a:pt x="7427468" y="0"/>
                    <a:pt x="7484364" y="56896"/>
                    <a:pt x="7484364" y="127000"/>
                  </a:cubicBezTo>
                  <a:lnTo>
                    <a:pt x="7484364" y="1849120"/>
                  </a:lnTo>
                  <a:cubicBezTo>
                    <a:pt x="7484364" y="1919224"/>
                    <a:pt x="7427468" y="1976120"/>
                    <a:pt x="7357364" y="1976120"/>
                  </a:cubicBezTo>
                  <a:lnTo>
                    <a:pt x="127000" y="1976120"/>
                  </a:lnTo>
                  <a:cubicBezTo>
                    <a:pt x="56896" y="1976120"/>
                    <a:pt x="0" y="1919224"/>
                    <a:pt x="0" y="1849120"/>
                  </a:cubicBezTo>
                  <a:close/>
                </a:path>
              </a:pathLst>
            </a:custGeom>
            <a:solidFill>
              <a:srgbClr val="FFFFFF"/>
            </a:solidFill>
          </p:spPr>
        </p:sp>
      </p:grpSp>
      <p:grpSp>
        <p:nvGrpSpPr>
          <p:cNvPr name="Group 44" id="44"/>
          <p:cNvGrpSpPr/>
          <p:nvPr/>
        </p:nvGrpSpPr>
        <p:grpSpPr>
          <a:xfrm rot="0">
            <a:off x="704850" y="6079808"/>
            <a:ext cx="85725" cy="85725"/>
            <a:chOff x="0" y="0"/>
            <a:chExt cx="114300" cy="114300"/>
          </a:xfrm>
        </p:grpSpPr>
        <p:sp>
          <p:nvSpPr>
            <p:cNvPr name="Freeform 45" id="45"/>
            <p:cNvSpPr/>
            <p:nvPr/>
          </p:nvSpPr>
          <p:spPr>
            <a:xfrm flipH="false" flipV="false" rot="0">
              <a:off x="0" y="0"/>
              <a:ext cx="114300" cy="114300"/>
            </a:xfrm>
            <a:custGeom>
              <a:avLst/>
              <a:gdLst/>
              <a:ahLst/>
              <a:cxnLst/>
              <a:rect r="r" b="b" t="t" l="l"/>
              <a:pathLst>
                <a:path h="114300" w="114300">
                  <a:moveTo>
                    <a:pt x="0" y="57150"/>
                  </a:moveTo>
                  <a:cubicBezTo>
                    <a:pt x="0" y="25527"/>
                    <a:pt x="25527" y="0"/>
                    <a:pt x="57150" y="0"/>
                  </a:cubicBezTo>
                  <a:cubicBezTo>
                    <a:pt x="88773" y="0"/>
                    <a:pt x="114300" y="25527"/>
                    <a:pt x="114300" y="57150"/>
                  </a:cubicBezTo>
                  <a:cubicBezTo>
                    <a:pt x="114300" y="88773"/>
                    <a:pt x="88773" y="114300"/>
                    <a:pt x="57150" y="114300"/>
                  </a:cubicBezTo>
                  <a:cubicBezTo>
                    <a:pt x="25527" y="114300"/>
                    <a:pt x="0" y="88773"/>
                    <a:pt x="0" y="57150"/>
                  </a:cubicBezTo>
                  <a:close/>
                </a:path>
              </a:pathLst>
            </a:custGeom>
            <a:solidFill>
              <a:srgbClr val="2F8F5B"/>
            </a:solidFill>
          </p:spPr>
        </p:sp>
      </p:grpSp>
      <p:grpSp>
        <p:nvGrpSpPr>
          <p:cNvPr name="Group 46" id="46"/>
          <p:cNvGrpSpPr/>
          <p:nvPr/>
        </p:nvGrpSpPr>
        <p:grpSpPr>
          <a:xfrm rot="0">
            <a:off x="5402580" y="6004560"/>
            <a:ext cx="572691" cy="236220"/>
            <a:chOff x="0" y="0"/>
            <a:chExt cx="763588" cy="314960"/>
          </a:xfrm>
        </p:grpSpPr>
        <p:sp>
          <p:nvSpPr>
            <p:cNvPr name="Freeform 47" id="47"/>
            <p:cNvSpPr/>
            <p:nvPr/>
          </p:nvSpPr>
          <p:spPr>
            <a:xfrm flipH="false" flipV="false" rot="0">
              <a:off x="0" y="0"/>
              <a:ext cx="763651" cy="314960"/>
            </a:xfrm>
            <a:custGeom>
              <a:avLst/>
              <a:gdLst/>
              <a:ahLst/>
              <a:cxnLst/>
              <a:rect r="r" b="b" t="t" l="l"/>
              <a:pathLst>
                <a:path h="314960" w="763651">
                  <a:moveTo>
                    <a:pt x="0" y="157480"/>
                  </a:moveTo>
                  <a:cubicBezTo>
                    <a:pt x="0" y="70485"/>
                    <a:pt x="70485" y="0"/>
                    <a:pt x="157480" y="0"/>
                  </a:cubicBezTo>
                  <a:lnTo>
                    <a:pt x="606171" y="0"/>
                  </a:lnTo>
                  <a:cubicBezTo>
                    <a:pt x="693166" y="0"/>
                    <a:pt x="763651" y="70485"/>
                    <a:pt x="763651" y="157480"/>
                  </a:cubicBezTo>
                  <a:cubicBezTo>
                    <a:pt x="763651" y="244475"/>
                    <a:pt x="693166" y="314960"/>
                    <a:pt x="606171" y="314960"/>
                  </a:cubicBezTo>
                  <a:lnTo>
                    <a:pt x="157480" y="314960"/>
                  </a:lnTo>
                  <a:cubicBezTo>
                    <a:pt x="70485" y="314960"/>
                    <a:pt x="0" y="244475"/>
                    <a:pt x="0" y="157480"/>
                  </a:cubicBezTo>
                  <a:close/>
                </a:path>
              </a:pathLst>
            </a:custGeom>
            <a:solidFill>
              <a:srgbClr val="003865"/>
            </a:solidFill>
          </p:spPr>
        </p:sp>
      </p:grpSp>
      <p:sp>
        <p:nvSpPr>
          <p:cNvPr name="TextBox 48" id="48"/>
          <p:cNvSpPr txBox="true"/>
          <p:nvPr/>
        </p:nvSpPr>
        <p:spPr>
          <a:xfrm rot="0">
            <a:off x="730253" y="6950078"/>
            <a:ext cx="5746661" cy="244478"/>
          </a:xfrm>
          <a:prstGeom prst="rect">
            <a:avLst/>
          </a:prstGeom>
        </p:spPr>
        <p:txBody>
          <a:bodyPr anchor="t" rtlCol="false" tIns="0" lIns="0" bIns="0" rIns="0">
            <a:spAutoFit/>
          </a:bodyPr>
          <a:lstStyle/>
          <a:p>
            <a:pPr algn="l">
              <a:lnSpc>
                <a:spcPts val="1889"/>
              </a:lnSpc>
            </a:pPr>
            <a:r>
              <a:rPr lang="en-US" sz="1125" i="true">
                <a:solidFill>
                  <a:srgbClr val="6B7280"/>
                </a:solidFill>
                <a:latin typeface="Arial Italics"/>
                <a:ea typeface="Arial Italics"/>
                <a:cs typeface="Arial Italics"/>
                <a:sym typeface="Arial Italics"/>
              </a:rPr>
              <a:t>HC68 candidata a DROP tras evaluar correlación con HC61</a:t>
            </a:r>
          </a:p>
        </p:txBody>
      </p:sp>
      <p:grpSp>
        <p:nvGrpSpPr>
          <p:cNvPr name="Group 49" id="49"/>
          <p:cNvGrpSpPr/>
          <p:nvPr/>
        </p:nvGrpSpPr>
        <p:grpSpPr>
          <a:xfrm rot="0">
            <a:off x="6337221" y="2583180"/>
            <a:ext cx="5613444" cy="1406842"/>
            <a:chOff x="0" y="0"/>
            <a:chExt cx="7484593" cy="1875790"/>
          </a:xfrm>
        </p:grpSpPr>
        <p:sp>
          <p:nvSpPr>
            <p:cNvPr name="Freeform 50" id="50"/>
            <p:cNvSpPr/>
            <p:nvPr/>
          </p:nvSpPr>
          <p:spPr>
            <a:xfrm flipH="false" flipV="false" rot="0">
              <a:off x="0" y="0"/>
              <a:ext cx="7484618" cy="1875790"/>
            </a:xfrm>
            <a:custGeom>
              <a:avLst/>
              <a:gdLst/>
              <a:ahLst/>
              <a:cxnLst/>
              <a:rect r="r" b="b" t="t" l="l"/>
              <a:pathLst>
                <a:path h="1875790" w="7484618">
                  <a:moveTo>
                    <a:pt x="0" y="127000"/>
                  </a:moveTo>
                  <a:cubicBezTo>
                    <a:pt x="0" y="56896"/>
                    <a:pt x="56896" y="0"/>
                    <a:pt x="127000" y="0"/>
                  </a:cubicBezTo>
                  <a:lnTo>
                    <a:pt x="7357618" y="0"/>
                  </a:lnTo>
                  <a:cubicBezTo>
                    <a:pt x="7427723" y="0"/>
                    <a:pt x="7484618" y="56896"/>
                    <a:pt x="7484618" y="127000"/>
                  </a:cubicBezTo>
                  <a:lnTo>
                    <a:pt x="7484618" y="1748790"/>
                  </a:lnTo>
                  <a:cubicBezTo>
                    <a:pt x="7484618" y="1818894"/>
                    <a:pt x="7427723" y="1875790"/>
                    <a:pt x="7357618" y="1875790"/>
                  </a:cubicBezTo>
                  <a:lnTo>
                    <a:pt x="127000" y="1875790"/>
                  </a:lnTo>
                  <a:cubicBezTo>
                    <a:pt x="56896" y="1875790"/>
                    <a:pt x="0" y="1818894"/>
                    <a:pt x="0" y="1748790"/>
                  </a:cubicBezTo>
                  <a:close/>
                </a:path>
              </a:pathLst>
            </a:custGeom>
            <a:solidFill>
              <a:srgbClr val="FFFFFF"/>
            </a:solidFill>
          </p:spPr>
        </p:sp>
      </p:grpSp>
      <p:grpSp>
        <p:nvGrpSpPr>
          <p:cNvPr name="Group 51" id="51"/>
          <p:cNvGrpSpPr/>
          <p:nvPr/>
        </p:nvGrpSpPr>
        <p:grpSpPr>
          <a:xfrm rot="0">
            <a:off x="6508671" y="2810828"/>
            <a:ext cx="85725" cy="85725"/>
            <a:chOff x="0" y="0"/>
            <a:chExt cx="114300" cy="114300"/>
          </a:xfrm>
        </p:grpSpPr>
        <p:sp>
          <p:nvSpPr>
            <p:cNvPr name="Freeform 52" id="52"/>
            <p:cNvSpPr/>
            <p:nvPr/>
          </p:nvSpPr>
          <p:spPr>
            <a:xfrm flipH="false" flipV="false" rot="0">
              <a:off x="0" y="0"/>
              <a:ext cx="114300" cy="114300"/>
            </a:xfrm>
            <a:custGeom>
              <a:avLst/>
              <a:gdLst/>
              <a:ahLst/>
              <a:cxnLst/>
              <a:rect r="r" b="b" t="t" l="l"/>
              <a:pathLst>
                <a:path h="114300" w="114300">
                  <a:moveTo>
                    <a:pt x="0" y="57150"/>
                  </a:moveTo>
                  <a:cubicBezTo>
                    <a:pt x="0" y="25527"/>
                    <a:pt x="25527" y="0"/>
                    <a:pt x="57150" y="0"/>
                  </a:cubicBezTo>
                  <a:cubicBezTo>
                    <a:pt x="88773" y="0"/>
                    <a:pt x="114300" y="25527"/>
                    <a:pt x="114300" y="57150"/>
                  </a:cubicBezTo>
                  <a:cubicBezTo>
                    <a:pt x="114300" y="88773"/>
                    <a:pt x="88773" y="114300"/>
                    <a:pt x="57150" y="114300"/>
                  </a:cubicBezTo>
                  <a:cubicBezTo>
                    <a:pt x="25527" y="114300"/>
                    <a:pt x="0" y="88773"/>
                    <a:pt x="0" y="57150"/>
                  </a:cubicBezTo>
                  <a:close/>
                </a:path>
              </a:pathLst>
            </a:custGeom>
            <a:solidFill>
              <a:srgbClr val="2F8F5B"/>
            </a:solidFill>
          </p:spPr>
        </p:sp>
      </p:grpSp>
      <p:grpSp>
        <p:nvGrpSpPr>
          <p:cNvPr name="Group 53" id="53"/>
          <p:cNvGrpSpPr/>
          <p:nvPr/>
        </p:nvGrpSpPr>
        <p:grpSpPr>
          <a:xfrm rot="0">
            <a:off x="11206515" y="2735580"/>
            <a:ext cx="572691" cy="236220"/>
            <a:chOff x="0" y="0"/>
            <a:chExt cx="763588" cy="314960"/>
          </a:xfrm>
        </p:grpSpPr>
        <p:sp>
          <p:nvSpPr>
            <p:cNvPr name="Freeform 54" id="54"/>
            <p:cNvSpPr/>
            <p:nvPr/>
          </p:nvSpPr>
          <p:spPr>
            <a:xfrm flipH="false" flipV="false" rot="0">
              <a:off x="0" y="0"/>
              <a:ext cx="763651" cy="314960"/>
            </a:xfrm>
            <a:custGeom>
              <a:avLst/>
              <a:gdLst/>
              <a:ahLst/>
              <a:cxnLst/>
              <a:rect r="r" b="b" t="t" l="l"/>
              <a:pathLst>
                <a:path h="314960" w="763651">
                  <a:moveTo>
                    <a:pt x="0" y="157480"/>
                  </a:moveTo>
                  <a:cubicBezTo>
                    <a:pt x="0" y="70485"/>
                    <a:pt x="70485" y="0"/>
                    <a:pt x="157480" y="0"/>
                  </a:cubicBezTo>
                  <a:lnTo>
                    <a:pt x="606171" y="0"/>
                  </a:lnTo>
                  <a:cubicBezTo>
                    <a:pt x="693166" y="0"/>
                    <a:pt x="763651" y="70485"/>
                    <a:pt x="763651" y="157480"/>
                  </a:cubicBezTo>
                  <a:cubicBezTo>
                    <a:pt x="763651" y="244475"/>
                    <a:pt x="693166" y="314960"/>
                    <a:pt x="606171" y="314960"/>
                  </a:cubicBezTo>
                  <a:lnTo>
                    <a:pt x="157480" y="314960"/>
                  </a:lnTo>
                  <a:cubicBezTo>
                    <a:pt x="70485" y="314960"/>
                    <a:pt x="0" y="244475"/>
                    <a:pt x="0" y="157480"/>
                  </a:cubicBezTo>
                  <a:close/>
                </a:path>
              </a:pathLst>
            </a:custGeom>
            <a:solidFill>
              <a:srgbClr val="003865"/>
            </a:solidFill>
          </p:spPr>
        </p:sp>
      </p:grpSp>
      <p:grpSp>
        <p:nvGrpSpPr>
          <p:cNvPr name="Group 55" id="55"/>
          <p:cNvGrpSpPr/>
          <p:nvPr/>
        </p:nvGrpSpPr>
        <p:grpSpPr>
          <a:xfrm rot="0">
            <a:off x="6337221" y="4142422"/>
            <a:ext cx="5613444" cy="1482090"/>
            <a:chOff x="0" y="0"/>
            <a:chExt cx="7484593" cy="1976120"/>
          </a:xfrm>
        </p:grpSpPr>
        <p:sp>
          <p:nvSpPr>
            <p:cNvPr name="Freeform 56" id="56"/>
            <p:cNvSpPr/>
            <p:nvPr/>
          </p:nvSpPr>
          <p:spPr>
            <a:xfrm flipH="false" flipV="false" rot="0">
              <a:off x="0" y="0"/>
              <a:ext cx="7484618" cy="1976120"/>
            </a:xfrm>
            <a:custGeom>
              <a:avLst/>
              <a:gdLst/>
              <a:ahLst/>
              <a:cxnLst/>
              <a:rect r="r" b="b" t="t" l="l"/>
              <a:pathLst>
                <a:path h="1976120" w="7484618">
                  <a:moveTo>
                    <a:pt x="0" y="127000"/>
                  </a:moveTo>
                  <a:cubicBezTo>
                    <a:pt x="0" y="56896"/>
                    <a:pt x="56896" y="0"/>
                    <a:pt x="127000" y="0"/>
                  </a:cubicBezTo>
                  <a:lnTo>
                    <a:pt x="7357618" y="0"/>
                  </a:lnTo>
                  <a:cubicBezTo>
                    <a:pt x="7427723" y="0"/>
                    <a:pt x="7484618" y="56896"/>
                    <a:pt x="7484618" y="127000"/>
                  </a:cubicBezTo>
                  <a:lnTo>
                    <a:pt x="7484618" y="1849120"/>
                  </a:lnTo>
                  <a:cubicBezTo>
                    <a:pt x="7484618" y="1919224"/>
                    <a:pt x="7427723" y="1976120"/>
                    <a:pt x="7357618" y="1976120"/>
                  </a:cubicBezTo>
                  <a:lnTo>
                    <a:pt x="127000" y="1976120"/>
                  </a:lnTo>
                  <a:cubicBezTo>
                    <a:pt x="56896" y="1976120"/>
                    <a:pt x="0" y="1919224"/>
                    <a:pt x="0" y="1849120"/>
                  </a:cubicBezTo>
                  <a:close/>
                </a:path>
              </a:pathLst>
            </a:custGeom>
            <a:solidFill>
              <a:srgbClr val="FFFFFF"/>
            </a:solidFill>
          </p:spPr>
        </p:sp>
      </p:grpSp>
      <p:grpSp>
        <p:nvGrpSpPr>
          <p:cNvPr name="Group 57" id="57"/>
          <p:cNvGrpSpPr/>
          <p:nvPr/>
        </p:nvGrpSpPr>
        <p:grpSpPr>
          <a:xfrm rot="0">
            <a:off x="6508671" y="4370070"/>
            <a:ext cx="85725" cy="85725"/>
            <a:chOff x="0" y="0"/>
            <a:chExt cx="114300" cy="114300"/>
          </a:xfrm>
        </p:grpSpPr>
        <p:sp>
          <p:nvSpPr>
            <p:cNvPr name="Freeform 58" id="58"/>
            <p:cNvSpPr/>
            <p:nvPr/>
          </p:nvSpPr>
          <p:spPr>
            <a:xfrm flipH="false" flipV="false" rot="0">
              <a:off x="0" y="0"/>
              <a:ext cx="114300" cy="114300"/>
            </a:xfrm>
            <a:custGeom>
              <a:avLst/>
              <a:gdLst/>
              <a:ahLst/>
              <a:cxnLst/>
              <a:rect r="r" b="b" t="t" l="l"/>
              <a:pathLst>
                <a:path h="114300" w="114300">
                  <a:moveTo>
                    <a:pt x="0" y="57150"/>
                  </a:moveTo>
                  <a:cubicBezTo>
                    <a:pt x="0" y="25527"/>
                    <a:pt x="25527" y="0"/>
                    <a:pt x="57150" y="0"/>
                  </a:cubicBezTo>
                  <a:cubicBezTo>
                    <a:pt x="88773" y="0"/>
                    <a:pt x="114300" y="25527"/>
                    <a:pt x="114300" y="57150"/>
                  </a:cubicBezTo>
                  <a:cubicBezTo>
                    <a:pt x="114300" y="88773"/>
                    <a:pt x="88773" y="114300"/>
                    <a:pt x="57150" y="114300"/>
                  </a:cubicBezTo>
                  <a:cubicBezTo>
                    <a:pt x="25527" y="114300"/>
                    <a:pt x="0" y="88773"/>
                    <a:pt x="0" y="57150"/>
                  </a:cubicBezTo>
                  <a:close/>
                </a:path>
              </a:pathLst>
            </a:custGeom>
            <a:solidFill>
              <a:srgbClr val="2F8F5B"/>
            </a:solidFill>
          </p:spPr>
        </p:sp>
      </p:grpSp>
      <p:grpSp>
        <p:nvGrpSpPr>
          <p:cNvPr name="Group 59" id="59"/>
          <p:cNvGrpSpPr/>
          <p:nvPr/>
        </p:nvGrpSpPr>
        <p:grpSpPr>
          <a:xfrm rot="0">
            <a:off x="11132344" y="4294822"/>
            <a:ext cx="646871" cy="236220"/>
            <a:chOff x="0" y="0"/>
            <a:chExt cx="862495" cy="314960"/>
          </a:xfrm>
        </p:grpSpPr>
        <p:sp>
          <p:nvSpPr>
            <p:cNvPr name="Freeform 60" id="60"/>
            <p:cNvSpPr/>
            <p:nvPr/>
          </p:nvSpPr>
          <p:spPr>
            <a:xfrm flipH="false" flipV="false" rot="0">
              <a:off x="0" y="0"/>
              <a:ext cx="862457" cy="314960"/>
            </a:xfrm>
            <a:custGeom>
              <a:avLst/>
              <a:gdLst/>
              <a:ahLst/>
              <a:cxnLst/>
              <a:rect r="r" b="b" t="t" l="l"/>
              <a:pathLst>
                <a:path h="314960" w="862457">
                  <a:moveTo>
                    <a:pt x="0" y="157480"/>
                  </a:moveTo>
                  <a:cubicBezTo>
                    <a:pt x="0" y="70485"/>
                    <a:pt x="70485" y="0"/>
                    <a:pt x="157480" y="0"/>
                  </a:cubicBezTo>
                  <a:lnTo>
                    <a:pt x="704977" y="0"/>
                  </a:lnTo>
                  <a:cubicBezTo>
                    <a:pt x="791972" y="0"/>
                    <a:pt x="862457" y="70485"/>
                    <a:pt x="862457" y="157480"/>
                  </a:cubicBezTo>
                  <a:cubicBezTo>
                    <a:pt x="862457" y="244475"/>
                    <a:pt x="791972" y="314960"/>
                    <a:pt x="704977" y="314960"/>
                  </a:cubicBezTo>
                  <a:lnTo>
                    <a:pt x="157480" y="314960"/>
                  </a:lnTo>
                  <a:cubicBezTo>
                    <a:pt x="70485" y="314960"/>
                    <a:pt x="0" y="244475"/>
                    <a:pt x="0" y="157480"/>
                  </a:cubicBezTo>
                  <a:close/>
                </a:path>
              </a:pathLst>
            </a:custGeom>
            <a:solidFill>
              <a:srgbClr val="003865"/>
            </a:solidFill>
          </p:spPr>
        </p:sp>
      </p:grpSp>
      <p:sp>
        <p:nvSpPr>
          <p:cNvPr name="TextBox 61" id="61"/>
          <p:cNvSpPr txBox="true"/>
          <p:nvPr/>
        </p:nvSpPr>
        <p:spPr>
          <a:xfrm rot="0">
            <a:off x="6534074" y="5240341"/>
            <a:ext cx="5746794" cy="244478"/>
          </a:xfrm>
          <a:prstGeom prst="rect">
            <a:avLst/>
          </a:prstGeom>
        </p:spPr>
        <p:txBody>
          <a:bodyPr anchor="t" rtlCol="false" tIns="0" lIns="0" bIns="0" rIns="0">
            <a:spAutoFit/>
          </a:bodyPr>
          <a:lstStyle/>
          <a:p>
            <a:pPr algn="l">
              <a:lnSpc>
                <a:spcPts val="1889"/>
              </a:lnSpc>
            </a:pPr>
            <a:r>
              <a:rPr lang="en-US" sz="1125" i="true">
                <a:solidFill>
                  <a:srgbClr val="6B7280"/>
                </a:solidFill>
                <a:latin typeface="Arial Italics"/>
                <a:ea typeface="Arial Italics"/>
                <a:cs typeface="Arial Italics"/>
                <a:sym typeface="Arial Italics"/>
              </a:rPr>
              <a:t>Códigos 9996–9998 / 99998 deben mapearse a NaN antes de dividir entre 100</a:t>
            </a:r>
          </a:p>
        </p:txBody>
      </p:sp>
      <p:grpSp>
        <p:nvGrpSpPr>
          <p:cNvPr name="Group 62" id="62"/>
          <p:cNvGrpSpPr/>
          <p:nvPr/>
        </p:nvGrpSpPr>
        <p:grpSpPr>
          <a:xfrm rot="0">
            <a:off x="6337221" y="5776912"/>
            <a:ext cx="5613444" cy="1482090"/>
            <a:chOff x="0" y="0"/>
            <a:chExt cx="7484593" cy="1976120"/>
          </a:xfrm>
        </p:grpSpPr>
        <p:sp>
          <p:nvSpPr>
            <p:cNvPr name="Freeform 63" id="63"/>
            <p:cNvSpPr/>
            <p:nvPr/>
          </p:nvSpPr>
          <p:spPr>
            <a:xfrm flipH="false" flipV="false" rot="0">
              <a:off x="0" y="0"/>
              <a:ext cx="7484618" cy="1976120"/>
            </a:xfrm>
            <a:custGeom>
              <a:avLst/>
              <a:gdLst/>
              <a:ahLst/>
              <a:cxnLst/>
              <a:rect r="r" b="b" t="t" l="l"/>
              <a:pathLst>
                <a:path h="1976120" w="7484618">
                  <a:moveTo>
                    <a:pt x="0" y="127000"/>
                  </a:moveTo>
                  <a:cubicBezTo>
                    <a:pt x="0" y="56896"/>
                    <a:pt x="56896" y="0"/>
                    <a:pt x="127000" y="0"/>
                  </a:cubicBezTo>
                  <a:lnTo>
                    <a:pt x="7357618" y="0"/>
                  </a:lnTo>
                  <a:cubicBezTo>
                    <a:pt x="7427723" y="0"/>
                    <a:pt x="7484618" y="56896"/>
                    <a:pt x="7484618" y="127000"/>
                  </a:cubicBezTo>
                  <a:lnTo>
                    <a:pt x="7484618" y="1849120"/>
                  </a:lnTo>
                  <a:cubicBezTo>
                    <a:pt x="7484618" y="1919224"/>
                    <a:pt x="7427723" y="1976120"/>
                    <a:pt x="7357618" y="1976120"/>
                  </a:cubicBezTo>
                  <a:lnTo>
                    <a:pt x="127000" y="1976120"/>
                  </a:lnTo>
                  <a:cubicBezTo>
                    <a:pt x="56896" y="1976120"/>
                    <a:pt x="0" y="1919224"/>
                    <a:pt x="0" y="1849120"/>
                  </a:cubicBezTo>
                  <a:close/>
                </a:path>
              </a:pathLst>
            </a:custGeom>
            <a:solidFill>
              <a:srgbClr val="FFFFFF"/>
            </a:solidFill>
          </p:spPr>
        </p:sp>
      </p:grpSp>
      <p:grpSp>
        <p:nvGrpSpPr>
          <p:cNvPr name="Group 64" id="64"/>
          <p:cNvGrpSpPr/>
          <p:nvPr/>
        </p:nvGrpSpPr>
        <p:grpSpPr>
          <a:xfrm rot="0">
            <a:off x="6508671" y="6004560"/>
            <a:ext cx="85725" cy="85725"/>
            <a:chOff x="0" y="0"/>
            <a:chExt cx="114300" cy="114300"/>
          </a:xfrm>
        </p:grpSpPr>
        <p:sp>
          <p:nvSpPr>
            <p:cNvPr name="Freeform 65" id="65"/>
            <p:cNvSpPr/>
            <p:nvPr/>
          </p:nvSpPr>
          <p:spPr>
            <a:xfrm flipH="false" flipV="false" rot="0">
              <a:off x="0" y="0"/>
              <a:ext cx="114300" cy="114300"/>
            </a:xfrm>
            <a:custGeom>
              <a:avLst/>
              <a:gdLst/>
              <a:ahLst/>
              <a:cxnLst/>
              <a:rect r="r" b="b" t="t" l="l"/>
              <a:pathLst>
                <a:path h="114300" w="114300">
                  <a:moveTo>
                    <a:pt x="0" y="57150"/>
                  </a:moveTo>
                  <a:cubicBezTo>
                    <a:pt x="0" y="25527"/>
                    <a:pt x="25527" y="0"/>
                    <a:pt x="57150" y="0"/>
                  </a:cubicBezTo>
                  <a:cubicBezTo>
                    <a:pt x="88773" y="0"/>
                    <a:pt x="114300" y="25527"/>
                    <a:pt x="114300" y="57150"/>
                  </a:cubicBezTo>
                  <a:cubicBezTo>
                    <a:pt x="114300" y="88773"/>
                    <a:pt x="88773" y="114300"/>
                    <a:pt x="57150" y="114300"/>
                  </a:cubicBezTo>
                  <a:cubicBezTo>
                    <a:pt x="25527" y="114300"/>
                    <a:pt x="0" y="88773"/>
                    <a:pt x="0" y="57150"/>
                  </a:cubicBezTo>
                  <a:close/>
                </a:path>
              </a:pathLst>
            </a:custGeom>
            <a:solidFill>
              <a:srgbClr val="2F8F5B"/>
            </a:solidFill>
          </p:spPr>
        </p:sp>
      </p:grpSp>
      <p:grpSp>
        <p:nvGrpSpPr>
          <p:cNvPr name="Group 66" id="66"/>
          <p:cNvGrpSpPr/>
          <p:nvPr/>
        </p:nvGrpSpPr>
        <p:grpSpPr>
          <a:xfrm rot="0">
            <a:off x="11206515" y="5929312"/>
            <a:ext cx="572691" cy="236220"/>
            <a:chOff x="0" y="0"/>
            <a:chExt cx="763588" cy="314960"/>
          </a:xfrm>
        </p:grpSpPr>
        <p:sp>
          <p:nvSpPr>
            <p:cNvPr name="Freeform 67" id="67"/>
            <p:cNvSpPr/>
            <p:nvPr/>
          </p:nvSpPr>
          <p:spPr>
            <a:xfrm flipH="false" flipV="false" rot="0">
              <a:off x="0" y="0"/>
              <a:ext cx="763651" cy="314960"/>
            </a:xfrm>
            <a:custGeom>
              <a:avLst/>
              <a:gdLst/>
              <a:ahLst/>
              <a:cxnLst/>
              <a:rect r="r" b="b" t="t" l="l"/>
              <a:pathLst>
                <a:path h="314960" w="763651">
                  <a:moveTo>
                    <a:pt x="0" y="157480"/>
                  </a:moveTo>
                  <a:cubicBezTo>
                    <a:pt x="0" y="70485"/>
                    <a:pt x="70485" y="0"/>
                    <a:pt x="157480" y="0"/>
                  </a:cubicBezTo>
                  <a:lnTo>
                    <a:pt x="606171" y="0"/>
                  </a:lnTo>
                  <a:cubicBezTo>
                    <a:pt x="693166" y="0"/>
                    <a:pt x="763651" y="70485"/>
                    <a:pt x="763651" y="157480"/>
                  </a:cubicBezTo>
                  <a:cubicBezTo>
                    <a:pt x="763651" y="244475"/>
                    <a:pt x="693166" y="314960"/>
                    <a:pt x="606171" y="314960"/>
                  </a:cubicBezTo>
                  <a:lnTo>
                    <a:pt x="157480" y="314960"/>
                  </a:lnTo>
                  <a:cubicBezTo>
                    <a:pt x="70485" y="314960"/>
                    <a:pt x="0" y="244475"/>
                    <a:pt x="0" y="157480"/>
                  </a:cubicBezTo>
                  <a:close/>
                </a:path>
              </a:pathLst>
            </a:custGeom>
            <a:solidFill>
              <a:srgbClr val="003865"/>
            </a:solidFill>
          </p:spPr>
        </p:sp>
      </p:grpSp>
      <p:sp>
        <p:nvSpPr>
          <p:cNvPr name="TextBox 68" id="68"/>
          <p:cNvSpPr txBox="true"/>
          <p:nvPr/>
        </p:nvSpPr>
        <p:spPr>
          <a:xfrm rot="0">
            <a:off x="6534074" y="6874831"/>
            <a:ext cx="5746794" cy="244478"/>
          </a:xfrm>
          <a:prstGeom prst="rect">
            <a:avLst/>
          </a:prstGeom>
        </p:spPr>
        <p:txBody>
          <a:bodyPr anchor="t" rtlCol="false" tIns="0" lIns="0" bIns="0" rIns="0">
            <a:spAutoFit/>
          </a:bodyPr>
          <a:lstStyle/>
          <a:p>
            <a:pPr algn="l">
              <a:lnSpc>
                <a:spcPts val="1889"/>
              </a:lnSpc>
            </a:pPr>
            <a:r>
              <a:rPr lang="en-US" sz="1125" i="true">
                <a:solidFill>
                  <a:srgbClr val="6B7280"/>
                </a:solidFill>
                <a:latin typeface="Arial Italics"/>
                <a:ea typeface="Arial Italics"/>
                <a:cs typeface="Arial Italics"/>
                <a:sym typeface="Arial Italics"/>
              </a:rPr>
              <a:t>HC13 es clave para analizar sesgo MNAR en nulos de peso/talla</a:t>
            </a:r>
          </a:p>
        </p:txBody>
      </p:sp>
      <p:grpSp>
        <p:nvGrpSpPr>
          <p:cNvPr name="Group 69" id="69"/>
          <p:cNvGrpSpPr/>
          <p:nvPr/>
        </p:nvGrpSpPr>
        <p:grpSpPr>
          <a:xfrm rot="0">
            <a:off x="12141156" y="2583180"/>
            <a:ext cx="5613444" cy="1190625"/>
            <a:chOff x="0" y="0"/>
            <a:chExt cx="7484593" cy="1587500"/>
          </a:xfrm>
        </p:grpSpPr>
        <p:sp>
          <p:nvSpPr>
            <p:cNvPr name="Freeform 70" id="70"/>
            <p:cNvSpPr/>
            <p:nvPr/>
          </p:nvSpPr>
          <p:spPr>
            <a:xfrm flipH="false" flipV="false" rot="0">
              <a:off x="0" y="0"/>
              <a:ext cx="7484618" cy="1587500"/>
            </a:xfrm>
            <a:custGeom>
              <a:avLst/>
              <a:gdLst/>
              <a:ahLst/>
              <a:cxnLst/>
              <a:rect r="r" b="b" t="t" l="l"/>
              <a:pathLst>
                <a:path h="1587500" w="7484618">
                  <a:moveTo>
                    <a:pt x="0" y="127000"/>
                  </a:moveTo>
                  <a:cubicBezTo>
                    <a:pt x="0" y="56896"/>
                    <a:pt x="56896" y="0"/>
                    <a:pt x="127000" y="0"/>
                  </a:cubicBezTo>
                  <a:lnTo>
                    <a:pt x="7357618" y="0"/>
                  </a:lnTo>
                  <a:cubicBezTo>
                    <a:pt x="7427723" y="0"/>
                    <a:pt x="7484618" y="56896"/>
                    <a:pt x="7484618" y="127000"/>
                  </a:cubicBezTo>
                  <a:lnTo>
                    <a:pt x="7484618" y="1460500"/>
                  </a:lnTo>
                  <a:cubicBezTo>
                    <a:pt x="7484618" y="1530604"/>
                    <a:pt x="7427723" y="1587500"/>
                    <a:pt x="7357618" y="1587500"/>
                  </a:cubicBezTo>
                  <a:lnTo>
                    <a:pt x="127000" y="1587500"/>
                  </a:lnTo>
                  <a:cubicBezTo>
                    <a:pt x="56896" y="1587500"/>
                    <a:pt x="0" y="1530604"/>
                    <a:pt x="0" y="1460500"/>
                  </a:cubicBezTo>
                  <a:close/>
                </a:path>
              </a:pathLst>
            </a:custGeom>
            <a:solidFill>
              <a:srgbClr val="F7E7E5"/>
            </a:solidFill>
          </p:spPr>
        </p:sp>
      </p:grpSp>
      <p:grpSp>
        <p:nvGrpSpPr>
          <p:cNvPr name="Group 71" id="71"/>
          <p:cNvGrpSpPr/>
          <p:nvPr/>
        </p:nvGrpSpPr>
        <p:grpSpPr>
          <a:xfrm rot="0">
            <a:off x="12312606" y="2810828"/>
            <a:ext cx="85725" cy="85725"/>
            <a:chOff x="0" y="0"/>
            <a:chExt cx="114300" cy="114300"/>
          </a:xfrm>
        </p:grpSpPr>
        <p:sp>
          <p:nvSpPr>
            <p:cNvPr name="Freeform 72" id="72"/>
            <p:cNvSpPr/>
            <p:nvPr/>
          </p:nvSpPr>
          <p:spPr>
            <a:xfrm flipH="false" flipV="false" rot="0">
              <a:off x="0" y="0"/>
              <a:ext cx="114300" cy="114300"/>
            </a:xfrm>
            <a:custGeom>
              <a:avLst/>
              <a:gdLst/>
              <a:ahLst/>
              <a:cxnLst/>
              <a:rect r="r" b="b" t="t" l="l"/>
              <a:pathLst>
                <a:path h="114300" w="114300">
                  <a:moveTo>
                    <a:pt x="0" y="57150"/>
                  </a:moveTo>
                  <a:cubicBezTo>
                    <a:pt x="0" y="25527"/>
                    <a:pt x="25527" y="0"/>
                    <a:pt x="57150" y="0"/>
                  </a:cubicBezTo>
                  <a:cubicBezTo>
                    <a:pt x="88773" y="0"/>
                    <a:pt x="114300" y="25527"/>
                    <a:pt x="114300" y="57150"/>
                  </a:cubicBezTo>
                  <a:cubicBezTo>
                    <a:pt x="114300" y="88773"/>
                    <a:pt x="88773" y="114300"/>
                    <a:pt x="57150" y="114300"/>
                  </a:cubicBezTo>
                  <a:cubicBezTo>
                    <a:pt x="25527" y="114300"/>
                    <a:pt x="0" y="88773"/>
                    <a:pt x="0" y="57150"/>
                  </a:cubicBezTo>
                  <a:close/>
                </a:path>
              </a:pathLst>
            </a:custGeom>
            <a:solidFill>
              <a:srgbClr val="C0504D"/>
            </a:solidFill>
          </p:spPr>
        </p:sp>
      </p:grpSp>
      <p:grpSp>
        <p:nvGrpSpPr>
          <p:cNvPr name="Group 73" id="73"/>
          <p:cNvGrpSpPr/>
          <p:nvPr/>
        </p:nvGrpSpPr>
        <p:grpSpPr>
          <a:xfrm rot="0">
            <a:off x="17077134" y="2735580"/>
            <a:ext cx="506016" cy="236220"/>
            <a:chOff x="0" y="0"/>
            <a:chExt cx="674688" cy="314960"/>
          </a:xfrm>
        </p:grpSpPr>
        <p:sp>
          <p:nvSpPr>
            <p:cNvPr name="Freeform 74" id="74"/>
            <p:cNvSpPr/>
            <p:nvPr/>
          </p:nvSpPr>
          <p:spPr>
            <a:xfrm flipH="false" flipV="false" rot="0">
              <a:off x="0" y="0"/>
              <a:ext cx="674751" cy="314960"/>
            </a:xfrm>
            <a:custGeom>
              <a:avLst/>
              <a:gdLst/>
              <a:ahLst/>
              <a:cxnLst/>
              <a:rect r="r" b="b" t="t" l="l"/>
              <a:pathLst>
                <a:path h="314960" w="674751">
                  <a:moveTo>
                    <a:pt x="0" y="157480"/>
                  </a:moveTo>
                  <a:cubicBezTo>
                    <a:pt x="0" y="70485"/>
                    <a:pt x="70485" y="0"/>
                    <a:pt x="157480" y="0"/>
                  </a:cubicBezTo>
                  <a:lnTo>
                    <a:pt x="517271" y="0"/>
                  </a:lnTo>
                  <a:cubicBezTo>
                    <a:pt x="604266" y="0"/>
                    <a:pt x="674751" y="70485"/>
                    <a:pt x="674751" y="157480"/>
                  </a:cubicBezTo>
                  <a:cubicBezTo>
                    <a:pt x="674751" y="244475"/>
                    <a:pt x="604266" y="314960"/>
                    <a:pt x="517271" y="314960"/>
                  </a:cubicBezTo>
                  <a:lnTo>
                    <a:pt x="157480" y="314960"/>
                  </a:lnTo>
                  <a:cubicBezTo>
                    <a:pt x="70485" y="314960"/>
                    <a:pt x="0" y="244475"/>
                    <a:pt x="0" y="157480"/>
                  </a:cubicBezTo>
                  <a:close/>
                </a:path>
              </a:pathLst>
            </a:custGeom>
            <a:solidFill>
              <a:srgbClr val="C0504D"/>
            </a:solidFill>
          </p:spPr>
        </p:sp>
      </p:grpSp>
      <p:grpSp>
        <p:nvGrpSpPr>
          <p:cNvPr name="Group 75" id="75"/>
          <p:cNvGrpSpPr/>
          <p:nvPr/>
        </p:nvGrpSpPr>
        <p:grpSpPr>
          <a:xfrm rot="0">
            <a:off x="12141156" y="3926205"/>
            <a:ext cx="5613444" cy="1682115"/>
            <a:chOff x="0" y="0"/>
            <a:chExt cx="7484593" cy="2242820"/>
          </a:xfrm>
        </p:grpSpPr>
        <p:sp>
          <p:nvSpPr>
            <p:cNvPr name="Freeform 76" id="76"/>
            <p:cNvSpPr/>
            <p:nvPr/>
          </p:nvSpPr>
          <p:spPr>
            <a:xfrm flipH="false" flipV="false" rot="0">
              <a:off x="0" y="0"/>
              <a:ext cx="7484618" cy="2242820"/>
            </a:xfrm>
            <a:custGeom>
              <a:avLst/>
              <a:gdLst/>
              <a:ahLst/>
              <a:cxnLst/>
              <a:rect r="r" b="b" t="t" l="l"/>
              <a:pathLst>
                <a:path h="2242820" w="7484618">
                  <a:moveTo>
                    <a:pt x="0" y="127000"/>
                  </a:moveTo>
                  <a:cubicBezTo>
                    <a:pt x="0" y="56896"/>
                    <a:pt x="56896" y="0"/>
                    <a:pt x="127000" y="0"/>
                  </a:cubicBezTo>
                  <a:lnTo>
                    <a:pt x="7357618" y="0"/>
                  </a:lnTo>
                  <a:cubicBezTo>
                    <a:pt x="7427723" y="0"/>
                    <a:pt x="7484618" y="56896"/>
                    <a:pt x="7484618" y="127000"/>
                  </a:cubicBezTo>
                  <a:lnTo>
                    <a:pt x="7484618" y="2115820"/>
                  </a:lnTo>
                  <a:cubicBezTo>
                    <a:pt x="7484618" y="2185924"/>
                    <a:pt x="7427723" y="2242820"/>
                    <a:pt x="7357618" y="2242820"/>
                  </a:cubicBezTo>
                  <a:lnTo>
                    <a:pt x="127000" y="2242820"/>
                  </a:lnTo>
                  <a:cubicBezTo>
                    <a:pt x="56896" y="2242820"/>
                    <a:pt x="0" y="2185924"/>
                    <a:pt x="0" y="2115820"/>
                  </a:cubicBezTo>
                  <a:close/>
                </a:path>
              </a:pathLst>
            </a:custGeom>
            <a:solidFill>
              <a:srgbClr val="FBF1DC"/>
            </a:solidFill>
          </p:spPr>
        </p:sp>
      </p:grpSp>
      <p:grpSp>
        <p:nvGrpSpPr>
          <p:cNvPr name="Group 77" id="77"/>
          <p:cNvGrpSpPr/>
          <p:nvPr/>
        </p:nvGrpSpPr>
        <p:grpSpPr>
          <a:xfrm rot="0">
            <a:off x="12312606" y="4153853"/>
            <a:ext cx="85725" cy="85725"/>
            <a:chOff x="0" y="0"/>
            <a:chExt cx="114300" cy="114300"/>
          </a:xfrm>
        </p:grpSpPr>
        <p:sp>
          <p:nvSpPr>
            <p:cNvPr name="Freeform 78" id="78"/>
            <p:cNvSpPr/>
            <p:nvPr/>
          </p:nvSpPr>
          <p:spPr>
            <a:xfrm flipH="false" flipV="false" rot="0">
              <a:off x="0" y="0"/>
              <a:ext cx="114300" cy="114300"/>
            </a:xfrm>
            <a:custGeom>
              <a:avLst/>
              <a:gdLst/>
              <a:ahLst/>
              <a:cxnLst/>
              <a:rect r="r" b="b" t="t" l="l"/>
              <a:pathLst>
                <a:path h="114300" w="114300">
                  <a:moveTo>
                    <a:pt x="0" y="57150"/>
                  </a:moveTo>
                  <a:cubicBezTo>
                    <a:pt x="0" y="25527"/>
                    <a:pt x="25527" y="0"/>
                    <a:pt x="57150" y="0"/>
                  </a:cubicBezTo>
                  <a:cubicBezTo>
                    <a:pt x="88773" y="0"/>
                    <a:pt x="114300" y="25527"/>
                    <a:pt x="114300" y="57150"/>
                  </a:cubicBezTo>
                  <a:cubicBezTo>
                    <a:pt x="114300" y="88773"/>
                    <a:pt x="88773" y="114300"/>
                    <a:pt x="57150" y="114300"/>
                  </a:cubicBezTo>
                  <a:cubicBezTo>
                    <a:pt x="25527" y="114300"/>
                    <a:pt x="0" y="88773"/>
                    <a:pt x="0" y="57150"/>
                  </a:cubicBezTo>
                  <a:close/>
                </a:path>
              </a:pathLst>
            </a:custGeom>
            <a:solidFill>
              <a:srgbClr val="F8A900"/>
            </a:solidFill>
          </p:spPr>
        </p:sp>
      </p:grpSp>
      <p:grpSp>
        <p:nvGrpSpPr>
          <p:cNvPr name="Group 79" id="79"/>
          <p:cNvGrpSpPr/>
          <p:nvPr/>
        </p:nvGrpSpPr>
        <p:grpSpPr>
          <a:xfrm rot="0">
            <a:off x="17010459" y="4078605"/>
            <a:ext cx="572691" cy="236220"/>
            <a:chOff x="0" y="0"/>
            <a:chExt cx="763588" cy="314960"/>
          </a:xfrm>
        </p:grpSpPr>
        <p:sp>
          <p:nvSpPr>
            <p:cNvPr name="Freeform 80" id="80"/>
            <p:cNvSpPr/>
            <p:nvPr/>
          </p:nvSpPr>
          <p:spPr>
            <a:xfrm flipH="false" flipV="false" rot="0">
              <a:off x="0" y="0"/>
              <a:ext cx="763651" cy="314960"/>
            </a:xfrm>
            <a:custGeom>
              <a:avLst/>
              <a:gdLst/>
              <a:ahLst/>
              <a:cxnLst/>
              <a:rect r="r" b="b" t="t" l="l"/>
              <a:pathLst>
                <a:path h="314960" w="763651">
                  <a:moveTo>
                    <a:pt x="0" y="157480"/>
                  </a:moveTo>
                  <a:cubicBezTo>
                    <a:pt x="0" y="70485"/>
                    <a:pt x="70485" y="0"/>
                    <a:pt x="157480" y="0"/>
                  </a:cubicBezTo>
                  <a:lnTo>
                    <a:pt x="606171" y="0"/>
                  </a:lnTo>
                  <a:cubicBezTo>
                    <a:pt x="693166" y="0"/>
                    <a:pt x="763651" y="70485"/>
                    <a:pt x="763651" y="157480"/>
                  </a:cubicBezTo>
                  <a:cubicBezTo>
                    <a:pt x="763651" y="244475"/>
                    <a:pt x="693166" y="314960"/>
                    <a:pt x="606171" y="314960"/>
                  </a:cubicBezTo>
                  <a:lnTo>
                    <a:pt x="157480" y="314960"/>
                  </a:lnTo>
                  <a:cubicBezTo>
                    <a:pt x="70485" y="314960"/>
                    <a:pt x="0" y="244475"/>
                    <a:pt x="0" y="157480"/>
                  </a:cubicBezTo>
                  <a:close/>
                </a:path>
              </a:pathLst>
            </a:custGeom>
            <a:solidFill>
              <a:srgbClr val="F8A900"/>
            </a:solidFill>
          </p:spPr>
        </p:sp>
      </p:grpSp>
      <p:grpSp>
        <p:nvGrpSpPr>
          <p:cNvPr name="Group 81" id="81"/>
          <p:cNvGrpSpPr/>
          <p:nvPr/>
        </p:nvGrpSpPr>
        <p:grpSpPr>
          <a:xfrm rot="0">
            <a:off x="12141156" y="5760720"/>
            <a:ext cx="5613444" cy="1449705"/>
            <a:chOff x="0" y="0"/>
            <a:chExt cx="7484593" cy="1932940"/>
          </a:xfrm>
        </p:grpSpPr>
        <p:sp>
          <p:nvSpPr>
            <p:cNvPr name="Freeform 82" id="82"/>
            <p:cNvSpPr/>
            <p:nvPr/>
          </p:nvSpPr>
          <p:spPr>
            <a:xfrm flipH="false" flipV="false" rot="0">
              <a:off x="0" y="0"/>
              <a:ext cx="7484618" cy="1932940"/>
            </a:xfrm>
            <a:custGeom>
              <a:avLst/>
              <a:gdLst/>
              <a:ahLst/>
              <a:cxnLst/>
              <a:rect r="r" b="b" t="t" l="l"/>
              <a:pathLst>
                <a:path h="1932940" w="7484618">
                  <a:moveTo>
                    <a:pt x="0" y="127000"/>
                  </a:moveTo>
                  <a:cubicBezTo>
                    <a:pt x="0" y="56896"/>
                    <a:pt x="56896" y="0"/>
                    <a:pt x="127000" y="0"/>
                  </a:cubicBezTo>
                  <a:lnTo>
                    <a:pt x="7357618" y="0"/>
                  </a:lnTo>
                  <a:cubicBezTo>
                    <a:pt x="7427723" y="0"/>
                    <a:pt x="7484618" y="56896"/>
                    <a:pt x="7484618" y="127000"/>
                  </a:cubicBezTo>
                  <a:lnTo>
                    <a:pt x="7484618" y="1805940"/>
                  </a:lnTo>
                  <a:cubicBezTo>
                    <a:pt x="7484618" y="1876044"/>
                    <a:pt x="7427723" y="1932940"/>
                    <a:pt x="7357618" y="1932940"/>
                  </a:cubicBezTo>
                  <a:lnTo>
                    <a:pt x="127000" y="1932940"/>
                  </a:lnTo>
                  <a:cubicBezTo>
                    <a:pt x="56896" y="1932940"/>
                    <a:pt x="0" y="1876044"/>
                    <a:pt x="0" y="1805940"/>
                  </a:cubicBezTo>
                  <a:close/>
                </a:path>
              </a:pathLst>
            </a:custGeom>
            <a:solidFill>
              <a:srgbClr val="FFFFFF"/>
            </a:solidFill>
          </p:spPr>
        </p:sp>
      </p:grpSp>
      <p:grpSp>
        <p:nvGrpSpPr>
          <p:cNvPr name="Group 83" id="83"/>
          <p:cNvGrpSpPr/>
          <p:nvPr/>
        </p:nvGrpSpPr>
        <p:grpSpPr>
          <a:xfrm rot="0">
            <a:off x="12312606" y="5988368"/>
            <a:ext cx="85725" cy="85725"/>
            <a:chOff x="0" y="0"/>
            <a:chExt cx="114300" cy="114300"/>
          </a:xfrm>
        </p:grpSpPr>
        <p:sp>
          <p:nvSpPr>
            <p:cNvPr name="Freeform 84" id="84"/>
            <p:cNvSpPr/>
            <p:nvPr/>
          </p:nvSpPr>
          <p:spPr>
            <a:xfrm flipH="false" flipV="false" rot="0">
              <a:off x="0" y="0"/>
              <a:ext cx="114300" cy="114300"/>
            </a:xfrm>
            <a:custGeom>
              <a:avLst/>
              <a:gdLst/>
              <a:ahLst/>
              <a:cxnLst/>
              <a:rect r="r" b="b" t="t" l="l"/>
              <a:pathLst>
                <a:path h="114300" w="114300">
                  <a:moveTo>
                    <a:pt x="0" y="57150"/>
                  </a:moveTo>
                  <a:cubicBezTo>
                    <a:pt x="0" y="25527"/>
                    <a:pt x="25527" y="0"/>
                    <a:pt x="57150" y="0"/>
                  </a:cubicBezTo>
                  <a:cubicBezTo>
                    <a:pt x="88773" y="0"/>
                    <a:pt x="114300" y="25527"/>
                    <a:pt x="114300" y="57150"/>
                  </a:cubicBezTo>
                  <a:cubicBezTo>
                    <a:pt x="114300" y="88773"/>
                    <a:pt x="88773" y="114300"/>
                    <a:pt x="57150" y="114300"/>
                  </a:cubicBezTo>
                  <a:cubicBezTo>
                    <a:pt x="25527" y="114300"/>
                    <a:pt x="0" y="88773"/>
                    <a:pt x="0" y="57150"/>
                  </a:cubicBezTo>
                  <a:close/>
                </a:path>
              </a:pathLst>
            </a:custGeom>
            <a:solidFill>
              <a:srgbClr val="6B7280"/>
            </a:solidFill>
          </p:spPr>
        </p:sp>
      </p:grpSp>
      <p:grpSp>
        <p:nvGrpSpPr>
          <p:cNvPr name="Group 85" id="85"/>
          <p:cNvGrpSpPr/>
          <p:nvPr/>
        </p:nvGrpSpPr>
        <p:grpSpPr>
          <a:xfrm rot="0">
            <a:off x="17077134" y="5913120"/>
            <a:ext cx="506016" cy="236220"/>
            <a:chOff x="0" y="0"/>
            <a:chExt cx="674688" cy="314960"/>
          </a:xfrm>
        </p:grpSpPr>
        <p:sp>
          <p:nvSpPr>
            <p:cNvPr name="Freeform 86" id="86"/>
            <p:cNvSpPr/>
            <p:nvPr/>
          </p:nvSpPr>
          <p:spPr>
            <a:xfrm flipH="false" flipV="false" rot="0">
              <a:off x="0" y="0"/>
              <a:ext cx="674751" cy="314960"/>
            </a:xfrm>
            <a:custGeom>
              <a:avLst/>
              <a:gdLst/>
              <a:ahLst/>
              <a:cxnLst/>
              <a:rect r="r" b="b" t="t" l="l"/>
              <a:pathLst>
                <a:path h="314960" w="674751">
                  <a:moveTo>
                    <a:pt x="0" y="157480"/>
                  </a:moveTo>
                  <a:cubicBezTo>
                    <a:pt x="0" y="70485"/>
                    <a:pt x="70485" y="0"/>
                    <a:pt x="157480" y="0"/>
                  </a:cubicBezTo>
                  <a:lnTo>
                    <a:pt x="517271" y="0"/>
                  </a:lnTo>
                  <a:cubicBezTo>
                    <a:pt x="604266" y="0"/>
                    <a:pt x="674751" y="70485"/>
                    <a:pt x="674751" y="157480"/>
                  </a:cubicBezTo>
                  <a:cubicBezTo>
                    <a:pt x="674751" y="244475"/>
                    <a:pt x="604266" y="314960"/>
                    <a:pt x="517271" y="314960"/>
                  </a:cubicBezTo>
                  <a:lnTo>
                    <a:pt x="157480" y="314960"/>
                  </a:lnTo>
                  <a:cubicBezTo>
                    <a:pt x="70485" y="314960"/>
                    <a:pt x="0" y="244475"/>
                    <a:pt x="0" y="157480"/>
                  </a:cubicBezTo>
                  <a:close/>
                </a:path>
              </a:pathLst>
            </a:custGeom>
            <a:solidFill>
              <a:srgbClr val="003865"/>
            </a:solidFill>
          </p:spPr>
        </p:sp>
      </p:grpSp>
      <p:grpSp>
        <p:nvGrpSpPr>
          <p:cNvPr name="Group 87" id="87"/>
          <p:cNvGrpSpPr/>
          <p:nvPr/>
        </p:nvGrpSpPr>
        <p:grpSpPr>
          <a:xfrm rot="0">
            <a:off x="12137346" y="7359015"/>
            <a:ext cx="5621064" cy="1129665"/>
            <a:chOff x="0" y="0"/>
            <a:chExt cx="7494753" cy="1506220"/>
          </a:xfrm>
        </p:grpSpPr>
        <p:sp>
          <p:nvSpPr>
            <p:cNvPr name="Freeform 88" id="88"/>
            <p:cNvSpPr/>
            <p:nvPr/>
          </p:nvSpPr>
          <p:spPr>
            <a:xfrm flipH="false" flipV="false" rot="0">
              <a:off x="0" y="0"/>
              <a:ext cx="7494778" cy="1506220"/>
            </a:xfrm>
            <a:custGeom>
              <a:avLst/>
              <a:gdLst/>
              <a:ahLst/>
              <a:cxnLst/>
              <a:rect r="r" b="b" t="t" l="l"/>
              <a:pathLst>
                <a:path h="1506220" w="7494778">
                  <a:moveTo>
                    <a:pt x="0" y="127889"/>
                  </a:moveTo>
                  <a:cubicBezTo>
                    <a:pt x="0" y="57277"/>
                    <a:pt x="57277" y="0"/>
                    <a:pt x="127889" y="0"/>
                  </a:cubicBezTo>
                  <a:lnTo>
                    <a:pt x="7366889" y="0"/>
                  </a:lnTo>
                  <a:cubicBezTo>
                    <a:pt x="7437501" y="0"/>
                    <a:pt x="7494778" y="57277"/>
                    <a:pt x="7494778" y="127889"/>
                  </a:cubicBezTo>
                  <a:lnTo>
                    <a:pt x="7494778" y="1378331"/>
                  </a:lnTo>
                  <a:cubicBezTo>
                    <a:pt x="7494778" y="1448943"/>
                    <a:pt x="7437501" y="1506220"/>
                    <a:pt x="7366889" y="1506220"/>
                  </a:cubicBezTo>
                  <a:lnTo>
                    <a:pt x="127889" y="1506220"/>
                  </a:lnTo>
                  <a:cubicBezTo>
                    <a:pt x="57277" y="1506220"/>
                    <a:pt x="0" y="1448943"/>
                    <a:pt x="0" y="1378331"/>
                  </a:cubicBezTo>
                  <a:close/>
                </a:path>
              </a:pathLst>
            </a:custGeom>
            <a:solidFill>
              <a:srgbClr val="FFFFFF"/>
            </a:solidFill>
            <a:ln w="7620" cap="sq">
              <a:solidFill>
                <a:srgbClr val="B7C2CE"/>
              </a:solidFill>
              <a:prstDash val="dash"/>
              <a:miter/>
            </a:ln>
          </p:spPr>
        </p:sp>
      </p:grpSp>
      <p:grpSp>
        <p:nvGrpSpPr>
          <p:cNvPr name="Group 89" id="89"/>
          <p:cNvGrpSpPr/>
          <p:nvPr/>
        </p:nvGrpSpPr>
        <p:grpSpPr>
          <a:xfrm rot="0">
            <a:off x="533400" y="8656320"/>
            <a:ext cx="5613321" cy="1011555"/>
            <a:chOff x="0" y="0"/>
            <a:chExt cx="7484428" cy="1348740"/>
          </a:xfrm>
        </p:grpSpPr>
        <p:sp>
          <p:nvSpPr>
            <p:cNvPr name="Freeform 90" id="90"/>
            <p:cNvSpPr/>
            <p:nvPr/>
          </p:nvSpPr>
          <p:spPr>
            <a:xfrm flipH="false" flipV="false" rot="0">
              <a:off x="0" y="0"/>
              <a:ext cx="7484491" cy="1348740"/>
            </a:xfrm>
            <a:custGeom>
              <a:avLst/>
              <a:gdLst/>
              <a:ahLst/>
              <a:cxnLst/>
              <a:rect r="r" b="b" t="t" l="l"/>
              <a:pathLst>
                <a:path h="1348740" w="7484491">
                  <a:moveTo>
                    <a:pt x="0" y="127000"/>
                  </a:moveTo>
                  <a:cubicBezTo>
                    <a:pt x="0" y="56896"/>
                    <a:pt x="56896" y="0"/>
                    <a:pt x="127000" y="0"/>
                  </a:cubicBezTo>
                  <a:lnTo>
                    <a:pt x="7357491" y="0"/>
                  </a:lnTo>
                  <a:cubicBezTo>
                    <a:pt x="7427595" y="0"/>
                    <a:pt x="7484491" y="56896"/>
                    <a:pt x="7484491" y="127000"/>
                  </a:cubicBezTo>
                  <a:lnTo>
                    <a:pt x="7484491" y="1221740"/>
                  </a:lnTo>
                  <a:cubicBezTo>
                    <a:pt x="7484491" y="1291844"/>
                    <a:pt x="7427595" y="1348740"/>
                    <a:pt x="7357491" y="1348740"/>
                  </a:cubicBezTo>
                  <a:lnTo>
                    <a:pt x="127000" y="1348740"/>
                  </a:lnTo>
                  <a:cubicBezTo>
                    <a:pt x="56896" y="1348740"/>
                    <a:pt x="0" y="1291844"/>
                    <a:pt x="0" y="1221740"/>
                  </a:cubicBezTo>
                  <a:close/>
                </a:path>
              </a:pathLst>
            </a:custGeom>
            <a:solidFill>
              <a:srgbClr val="FFFFFF"/>
            </a:solidFill>
          </p:spPr>
        </p:sp>
      </p:grpSp>
      <p:grpSp>
        <p:nvGrpSpPr>
          <p:cNvPr name="Group 91" id="91"/>
          <p:cNvGrpSpPr/>
          <p:nvPr/>
        </p:nvGrpSpPr>
        <p:grpSpPr>
          <a:xfrm rot="0">
            <a:off x="533400" y="8656320"/>
            <a:ext cx="5613321" cy="38100"/>
            <a:chOff x="0" y="0"/>
            <a:chExt cx="7484428" cy="50800"/>
          </a:xfrm>
        </p:grpSpPr>
        <p:sp>
          <p:nvSpPr>
            <p:cNvPr name="Freeform 92" id="92"/>
            <p:cNvSpPr/>
            <p:nvPr/>
          </p:nvSpPr>
          <p:spPr>
            <a:xfrm flipH="false" flipV="false" rot="0">
              <a:off x="0" y="0"/>
              <a:ext cx="7484491" cy="50800"/>
            </a:xfrm>
            <a:custGeom>
              <a:avLst/>
              <a:gdLst/>
              <a:ahLst/>
              <a:cxnLst/>
              <a:rect r="r" b="b" t="t" l="l"/>
              <a:pathLst>
                <a:path h="50800" w="7484491">
                  <a:moveTo>
                    <a:pt x="0" y="0"/>
                  </a:moveTo>
                  <a:lnTo>
                    <a:pt x="7484491" y="0"/>
                  </a:lnTo>
                  <a:lnTo>
                    <a:pt x="7484491" y="50800"/>
                  </a:lnTo>
                  <a:lnTo>
                    <a:pt x="0" y="50800"/>
                  </a:lnTo>
                  <a:close/>
                </a:path>
              </a:pathLst>
            </a:custGeom>
            <a:solidFill>
              <a:srgbClr val="F8A900"/>
            </a:solidFill>
          </p:spPr>
        </p:sp>
      </p:grpSp>
      <p:sp>
        <p:nvSpPr>
          <p:cNvPr name="TextBox 93" id="93"/>
          <p:cNvSpPr txBox="true"/>
          <p:nvPr/>
        </p:nvSpPr>
        <p:spPr>
          <a:xfrm rot="0">
            <a:off x="730253" y="8834123"/>
            <a:ext cx="5746661" cy="204473"/>
          </a:xfrm>
          <a:prstGeom prst="rect">
            <a:avLst/>
          </a:prstGeom>
        </p:spPr>
        <p:txBody>
          <a:bodyPr anchor="t" rtlCol="false" tIns="0" lIns="0" bIns="0" rIns="0">
            <a:spAutoFit/>
          </a:bodyPr>
          <a:lstStyle/>
          <a:p>
            <a:pPr algn="l">
              <a:lnSpc>
                <a:spcPts val="1620"/>
              </a:lnSpc>
            </a:pPr>
            <a:r>
              <a:rPr lang="en-US" sz="1350" b="true">
                <a:solidFill>
                  <a:srgbClr val="003865"/>
                </a:solidFill>
                <a:latin typeface="Arial Bold"/>
                <a:ea typeface="Arial Bold"/>
                <a:cs typeface="Arial Bold"/>
                <a:sym typeface="Arial Bold"/>
              </a:rPr>
              <a:t>Hallazgo · variables target potenciales</a:t>
            </a:r>
          </a:p>
        </p:txBody>
      </p:sp>
      <p:grpSp>
        <p:nvGrpSpPr>
          <p:cNvPr name="Group 94" id="94"/>
          <p:cNvGrpSpPr/>
          <p:nvPr/>
        </p:nvGrpSpPr>
        <p:grpSpPr>
          <a:xfrm rot="0">
            <a:off x="6337221" y="8656320"/>
            <a:ext cx="5613444" cy="1011555"/>
            <a:chOff x="0" y="0"/>
            <a:chExt cx="7484593" cy="1348740"/>
          </a:xfrm>
        </p:grpSpPr>
        <p:sp>
          <p:nvSpPr>
            <p:cNvPr name="Freeform 95" id="95"/>
            <p:cNvSpPr/>
            <p:nvPr/>
          </p:nvSpPr>
          <p:spPr>
            <a:xfrm flipH="false" flipV="false" rot="0">
              <a:off x="0" y="0"/>
              <a:ext cx="7484618" cy="1348740"/>
            </a:xfrm>
            <a:custGeom>
              <a:avLst/>
              <a:gdLst/>
              <a:ahLst/>
              <a:cxnLst/>
              <a:rect r="r" b="b" t="t" l="l"/>
              <a:pathLst>
                <a:path h="1348740" w="7484618">
                  <a:moveTo>
                    <a:pt x="0" y="127000"/>
                  </a:moveTo>
                  <a:cubicBezTo>
                    <a:pt x="0" y="56896"/>
                    <a:pt x="56896" y="0"/>
                    <a:pt x="127000" y="0"/>
                  </a:cubicBezTo>
                  <a:lnTo>
                    <a:pt x="7357618" y="0"/>
                  </a:lnTo>
                  <a:cubicBezTo>
                    <a:pt x="7427723" y="0"/>
                    <a:pt x="7484618" y="56896"/>
                    <a:pt x="7484618" y="127000"/>
                  </a:cubicBezTo>
                  <a:lnTo>
                    <a:pt x="7484618" y="1221740"/>
                  </a:lnTo>
                  <a:cubicBezTo>
                    <a:pt x="7484618" y="1291844"/>
                    <a:pt x="7427723" y="1348740"/>
                    <a:pt x="7357618" y="1348740"/>
                  </a:cubicBezTo>
                  <a:lnTo>
                    <a:pt x="127000" y="1348740"/>
                  </a:lnTo>
                  <a:cubicBezTo>
                    <a:pt x="56896" y="1348740"/>
                    <a:pt x="0" y="1291844"/>
                    <a:pt x="0" y="1221740"/>
                  </a:cubicBezTo>
                  <a:close/>
                </a:path>
              </a:pathLst>
            </a:custGeom>
            <a:solidFill>
              <a:srgbClr val="FFFFFF"/>
            </a:solidFill>
          </p:spPr>
        </p:sp>
      </p:grpSp>
      <p:grpSp>
        <p:nvGrpSpPr>
          <p:cNvPr name="Group 96" id="96"/>
          <p:cNvGrpSpPr/>
          <p:nvPr/>
        </p:nvGrpSpPr>
        <p:grpSpPr>
          <a:xfrm rot="0">
            <a:off x="6337221" y="8656320"/>
            <a:ext cx="5613444" cy="38100"/>
            <a:chOff x="0" y="0"/>
            <a:chExt cx="7484593" cy="50800"/>
          </a:xfrm>
        </p:grpSpPr>
        <p:sp>
          <p:nvSpPr>
            <p:cNvPr name="Freeform 97" id="97"/>
            <p:cNvSpPr/>
            <p:nvPr/>
          </p:nvSpPr>
          <p:spPr>
            <a:xfrm flipH="false" flipV="false" rot="0">
              <a:off x="0" y="0"/>
              <a:ext cx="7484618" cy="50800"/>
            </a:xfrm>
            <a:custGeom>
              <a:avLst/>
              <a:gdLst/>
              <a:ahLst/>
              <a:cxnLst/>
              <a:rect r="r" b="b" t="t" l="l"/>
              <a:pathLst>
                <a:path h="50800" w="7484618">
                  <a:moveTo>
                    <a:pt x="0" y="0"/>
                  </a:moveTo>
                  <a:lnTo>
                    <a:pt x="7484618" y="0"/>
                  </a:lnTo>
                  <a:lnTo>
                    <a:pt x="7484618" y="50800"/>
                  </a:lnTo>
                  <a:lnTo>
                    <a:pt x="0" y="50800"/>
                  </a:lnTo>
                  <a:close/>
                </a:path>
              </a:pathLst>
            </a:custGeom>
            <a:solidFill>
              <a:srgbClr val="F8A900"/>
            </a:solidFill>
          </p:spPr>
        </p:sp>
      </p:grpSp>
      <p:sp>
        <p:nvSpPr>
          <p:cNvPr name="TextBox 98" id="98"/>
          <p:cNvSpPr txBox="true"/>
          <p:nvPr/>
        </p:nvSpPr>
        <p:spPr>
          <a:xfrm rot="0">
            <a:off x="6534074" y="8834123"/>
            <a:ext cx="5746794" cy="204473"/>
          </a:xfrm>
          <a:prstGeom prst="rect">
            <a:avLst/>
          </a:prstGeom>
        </p:spPr>
        <p:txBody>
          <a:bodyPr anchor="t" rtlCol="false" tIns="0" lIns="0" bIns="0" rIns="0">
            <a:spAutoFit/>
          </a:bodyPr>
          <a:lstStyle/>
          <a:p>
            <a:pPr algn="l">
              <a:lnSpc>
                <a:spcPts val="1620"/>
              </a:lnSpc>
            </a:pPr>
            <a:r>
              <a:rPr lang="en-US" sz="1350" b="true">
                <a:solidFill>
                  <a:srgbClr val="003865"/>
                </a:solidFill>
                <a:latin typeface="Arial Bold"/>
                <a:ea typeface="Arial Bold"/>
                <a:cs typeface="Arial Bold"/>
                <a:sym typeface="Arial Bold"/>
              </a:rPr>
              <a:t>Hallazgo · quiebre metodológico 2024</a:t>
            </a:r>
          </a:p>
        </p:txBody>
      </p:sp>
      <p:grpSp>
        <p:nvGrpSpPr>
          <p:cNvPr name="Group 99" id="99"/>
          <p:cNvGrpSpPr/>
          <p:nvPr/>
        </p:nvGrpSpPr>
        <p:grpSpPr>
          <a:xfrm rot="0">
            <a:off x="12141156" y="8656320"/>
            <a:ext cx="5613444" cy="1011555"/>
            <a:chOff x="0" y="0"/>
            <a:chExt cx="7484593" cy="1348740"/>
          </a:xfrm>
        </p:grpSpPr>
        <p:sp>
          <p:nvSpPr>
            <p:cNvPr name="Freeform 100" id="100"/>
            <p:cNvSpPr/>
            <p:nvPr/>
          </p:nvSpPr>
          <p:spPr>
            <a:xfrm flipH="false" flipV="false" rot="0">
              <a:off x="0" y="0"/>
              <a:ext cx="7484618" cy="1348740"/>
            </a:xfrm>
            <a:custGeom>
              <a:avLst/>
              <a:gdLst/>
              <a:ahLst/>
              <a:cxnLst/>
              <a:rect r="r" b="b" t="t" l="l"/>
              <a:pathLst>
                <a:path h="1348740" w="7484618">
                  <a:moveTo>
                    <a:pt x="0" y="127000"/>
                  </a:moveTo>
                  <a:cubicBezTo>
                    <a:pt x="0" y="56896"/>
                    <a:pt x="56896" y="0"/>
                    <a:pt x="127000" y="0"/>
                  </a:cubicBezTo>
                  <a:lnTo>
                    <a:pt x="7357618" y="0"/>
                  </a:lnTo>
                  <a:cubicBezTo>
                    <a:pt x="7427723" y="0"/>
                    <a:pt x="7484618" y="56896"/>
                    <a:pt x="7484618" y="127000"/>
                  </a:cubicBezTo>
                  <a:lnTo>
                    <a:pt x="7484618" y="1221740"/>
                  </a:lnTo>
                  <a:cubicBezTo>
                    <a:pt x="7484618" y="1291844"/>
                    <a:pt x="7427723" y="1348740"/>
                    <a:pt x="7357618" y="1348740"/>
                  </a:cubicBezTo>
                  <a:lnTo>
                    <a:pt x="127000" y="1348740"/>
                  </a:lnTo>
                  <a:cubicBezTo>
                    <a:pt x="56896" y="1348740"/>
                    <a:pt x="0" y="1291844"/>
                    <a:pt x="0" y="1221740"/>
                  </a:cubicBezTo>
                  <a:close/>
                </a:path>
              </a:pathLst>
            </a:custGeom>
            <a:solidFill>
              <a:srgbClr val="FFFFFF"/>
            </a:solidFill>
          </p:spPr>
        </p:sp>
      </p:grpSp>
      <p:grpSp>
        <p:nvGrpSpPr>
          <p:cNvPr name="Group 101" id="101"/>
          <p:cNvGrpSpPr/>
          <p:nvPr/>
        </p:nvGrpSpPr>
        <p:grpSpPr>
          <a:xfrm rot="0">
            <a:off x="12141156" y="8656320"/>
            <a:ext cx="5613444" cy="38100"/>
            <a:chOff x="0" y="0"/>
            <a:chExt cx="7484593" cy="50800"/>
          </a:xfrm>
        </p:grpSpPr>
        <p:sp>
          <p:nvSpPr>
            <p:cNvPr name="Freeform 102" id="102"/>
            <p:cNvSpPr/>
            <p:nvPr/>
          </p:nvSpPr>
          <p:spPr>
            <a:xfrm flipH="false" flipV="false" rot="0">
              <a:off x="0" y="0"/>
              <a:ext cx="7484618" cy="50800"/>
            </a:xfrm>
            <a:custGeom>
              <a:avLst/>
              <a:gdLst/>
              <a:ahLst/>
              <a:cxnLst/>
              <a:rect r="r" b="b" t="t" l="l"/>
              <a:pathLst>
                <a:path h="50800" w="7484618">
                  <a:moveTo>
                    <a:pt x="0" y="0"/>
                  </a:moveTo>
                  <a:lnTo>
                    <a:pt x="7484618" y="0"/>
                  </a:lnTo>
                  <a:lnTo>
                    <a:pt x="7484618" y="50800"/>
                  </a:lnTo>
                  <a:lnTo>
                    <a:pt x="0" y="50800"/>
                  </a:lnTo>
                  <a:close/>
                </a:path>
              </a:pathLst>
            </a:custGeom>
            <a:solidFill>
              <a:srgbClr val="003865"/>
            </a:solidFill>
          </p:spPr>
        </p:sp>
      </p:grpSp>
      <p:sp>
        <p:nvSpPr>
          <p:cNvPr name="TextBox 103" id="103"/>
          <p:cNvSpPr txBox="true"/>
          <p:nvPr/>
        </p:nvSpPr>
        <p:spPr>
          <a:xfrm rot="0">
            <a:off x="1092203" y="406403"/>
            <a:ext cx="7945364" cy="181613"/>
          </a:xfrm>
          <a:prstGeom prst="rect">
            <a:avLst/>
          </a:prstGeom>
        </p:spPr>
        <p:txBody>
          <a:bodyPr anchor="t" rtlCol="false" tIns="0" lIns="0" bIns="0" rIns="0">
            <a:spAutoFit/>
          </a:bodyPr>
          <a:lstStyle/>
          <a:p>
            <a:pPr algn="l">
              <a:lnSpc>
                <a:spcPts val="1439"/>
              </a:lnSpc>
            </a:pPr>
            <a:r>
              <a:rPr lang="en-US" b="true" sz="1200" spc="150">
                <a:solidFill>
                  <a:srgbClr val="F8A900"/>
                </a:solidFill>
                <a:latin typeface="Arial Bold"/>
                <a:ea typeface="Arial Bold"/>
                <a:cs typeface="Arial Bold"/>
                <a:sym typeface="Arial Bold"/>
              </a:rPr>
              <a:t>FASE 2 · COMPRENSIÓN DE LOS DATOS — AUDITORÍA LONGITUDINAL 2007–2024</a:t>
            </a:r>
          </a:p>
        </p:txBody>
      </p:sp>
      <p:sp>
        <p:nvSpPr>
          <p:cNvPr name="TextBox 104" id="104"/>
          <p:cNvSpPr txBox="true"/>
          <p:nvPr/>
        </p:nvSpPr>
        <p:spPr>
          <a:xfrm rot="0">
            <a:off x="533400" y="713975"/>
            <a:ext cx="18892523" cy="444503"/>
          </a:xfrm>
          <a:prstGeom prst="rect">
            <a:avLst/>
          </a:prstGeom>
        </p:spPr>
        <p:txBody>
          <a:bodyPr anchor="t" rtlCol="false" tIns="0" lIns="0" bIns="0" rIns="0">
            <a:spAutoFit/>
          </a:bodyPr>
          <a:lstStyle/>
          <a:p>
            <a:pPr algn="l">
              <a:lnSpc>
                <a:spcPts val="4140"/>
              </a:lnSpc>
            </a:pPr>
            <a:r>
              <a:rPr lang="en-US" b="true" sz="3450" spc="-75">
                <a:solidFill>
                  <a:srgbClr val="003865"/>
                </a:solidFill>
                <a:latin typeface="Arial Bold"/>
                <a:ea typeface="Arial Bold"/>
                <a:cs typeface="Arial Bold"/>
                <a:sym typeface="Arial Bold"/>
              </a:rPr>
              <a:t>Decisiones de limpieza: módulo RECH6 (Antropometría)</a:t>
            </a:r>
          </a:p>
        </p:txBody>
      </p:sp>
      <p:sp>
        <p:nvSpPr>
          <p:cNvPr name="TextBox 105" id="105"/>
          <p:cNvSpPr txBox="true"/>
          <p:nvPr/>
        </p:nvSpPr>
        <p:spPr>
          <a:xfrm rot="0">
            <a:off x="558803" y="1238888"/>
            <a:ext cx="18892523" cy="301628"/>
          </a:xfrm>
          <a:prstGeom prst="rect">
            <a:avLst/>
          </a:prstGeom>
        </p:spPr>
        <p:txBody>
          <a:bodyPr anchor="t" rtlCol="false" tIns="0" lIns="0" bIns="0" rIns="0">
            <a:spAutoFit/>
          </a:bodyPr>
          <a:lstStyle/>
          <a:p>
            <a:pPr algn="l">
              <a:lnSpc>
                <a:spcPts val="1889"/>
              </a:lnSpc>
            </a:pPr>
            <a:r>
              <a:rPr lang="en-US" sz="1575">
                <a:solidFill>
                  <a:srgbClr val="1E1E1E"/>
                </a:solidFill>
                <a:latin typeface="Arial"/>
                <a:ea typeface="Arial"/>
                <a:cs typeface="Arial"/>
                <a:sym typeface="Arial"/>
              </a:rPr>
              <a:t>39 variables auditadas sobre 18 años de encuestas ENDES · Reglas aplicadas: DROP, KEEP, SPLIT, COALESCE</a:t>
            </a:r>
          </a:p>
        </p:txBody>
      </p:sp>
      <p:sp>
        <p:nvSpPr>
          <p:cNvPr name="TextBox 106" id="106"/>
          <p:cNvSpPr txBox="true"/>
          <p:nvPr/>
        </p:nvSpPr>
        <p:spPr>
          <a:xfrm rot="0">
            <a:off x="949328" y="1858013"/>
            <a:ext cx="2412463" cy="204473"/>
          </a:xfrm>
          <a:prstGeom prst="rect">
            <a:avLst/>
          </a:prstGeom>
        </p:spPr>
        <p:txBody>
          <a:bodyPr anchor="t" rtlCol="false" tIns="0" lIns="0" bIns="0" rIns="0">
            <a:spAutoFit/>
          </a:bodyPr>
          <a:lstStyle/>
          <a:p>
            <a:pPr algn="l">
              <a:lnSpc>
                <a:spcPts val="1620"/>
              </a:lnSpc>
            </a:pPr>
            <a:r>
              <a:rPr lang="en-US" sz="1350" b="true">
                <a:solidFill>
                  <a:srgbClr val="1E1E1E"/>
                </a:solidFill>
                <a:latin typeface="Arial Bold"/>
                <a:ea typeface="Arial Bold"/>
                <a:cs typeface="Arial Bold"/>
                <a:sym typeface="Arial Bold"/>
              </a:rPr>
              <a:t>KEEP</a:t>
            </a:r>
          </a:p>
        </p:txBody>
      </p:sp>
      <p:sp>
        <p:nvSpPr>
          <p:cNvPr name="TextBox 107" id="107"/>
          <p:cNvSpPr txBox="true"/>
          <p:nvPr/>
        </p:nvSpPr>
        <p:spPr>
          <a:xfrm rot="0">
            <a:off x="949328" y="2056133"/>
            <a:ext cx="2412463" cy="234953"/>
          </a:xfrm>
          <a:prstGeom prst="rect">
            <a:avLst/>
          </a:prstGeom>
        </p:spPr>
        <p:txBody>
          <a:bodyPr anchor="t" rtlCol="false" tIns="0" lIns="0" bIns="0" rIns="0">
            <a:spAutoFit/>
          </a:bodyPr>
          <a:lstStyle/>
          <a:p>
            <a:pPr algn="l">
              <a:lnSpc>
                <a:spcPts val="1439"/>
              </a:lnSpc>
            </a:pPr>
            <a:r>
              <a:rPr lang="en-US" sz="1200">
                <a:solidFill>
                  <a:srgbClr val="6B7280"/>
                </a:solidFill>
                <a:latin typeface="Arial"/>
                <a:ea typeface="Arial"/>
                <a:cs typeface="Arial"/>
                <a:sym typeface="Arial"/>
              </a:rPr>
              <a:t>Variable estable, se conserva</a:t>
            </a:r>
          </a:p>
        </p:txBody>
      </p:sp>
      <p:sp>
        <p:nvSpPr>
          <p:cNvPr name="TextBox 108" id="108"/>
          <p:cNvSpPr txBox="true"/>
          <p:nvPr/>
        </p:nvSpPr>
        <p:spPr>
          <a:xfrm rot="0">
            <a:off x="5287966" y="1858013"/>
            <a:ext cx="2867187" cy="204473"/>
          </a:xfrm>
          <a:prstGeom prst="rect">
            <a:avLst/>
          </a:prstGeom>
        </p:spPr>
        <p:txBody>
          <a:bodyPr anchor="t" rtlCol="false" tIns="0" lIns="0" bIns="0" rIns="0">
            <a:spAutoFit/>
          </a:bodyPr>
          <a:lstStyle/>
          <a:p>
            <a:pPr algn="l">
              <a:lnSpc>
                <a:spcPts val="1620"/>
              </a:lnSpc>
            </a:pPr>
            <a:r>
              <a:rPr lang="en-US" sz="1350" b="true">
                <a:solidFill>
                  <a:srgbClr val="1E1E1E"/>
                </a:solidFill>
                <a:latin typeface="Arial Bold"/>
                <a:ea typeface="Arial Bold"/>
                <a:cs typeface="Arial Bold"/>
                <a:sym typeface="Arial Bold"/>
              </a:rPr>
              <a:t>COALESCE</a:t>
            </a:r>
          </a:p>
        </p:txBody>
      </p:sp>
      <p:sp>
        <p:nvSpPr>
          <p:cNvPr name="TextBox 109" id="109"/>
          <p:cNvSpPr txBox="true"/>
          <p:nvPr/>
        </p:nvSpPr>
        <p:spPr>
          <a:xfrm rot="0">
            <a:off x="5287966" y="2056133"/>
            <a:ext cx="2867187" cy="234953"/>
          </a:xfrm>
          <a:prstGeom prst="rect">
            <a:avLst/>
          </a:prstGeom>
        </p:spPr>
        <p:txBody>
          <a:bodyPr anchor="t" rtlCol="false" tIns="0" lIns="0" bIns="0" rIns="0">
            <a:spAutoFit/>
          </a:bodyPr>
          <a:lstStyle/>
          <a:p>
            <a:pPr algn="l">
              <a:lnSpc>
                <a:spcPts val="1439"/>
              </a:lnSpc>
            </a:pPr>
            <a:r>
              <a:rPr lang="en-US" sz="1200">
                <a:solidFill>
                  <a:srgbClr val="6B7280"/>
                </a:solidFill>
                <a:latin typeface="Arial"/>
                <a:ea typeface="Arial"/>
                <a:cs typeface="Arial"/>
                <a:sym typeface="Arial"/>
              </a:rPr>
              <a:t>Fusionar con variable predecesora</a:t>
            </a:r>
          </a:p>
        </p:txBody>
      </p:sp>
      <p:sp>
        <p:nvSpPr>
          <p:cNvPr name="TextBox 110" id="110"/>
          <p:cNvSpPr txBox="true"/>
          <p:nvPr/>
        </p:nvSpPr>
        <p:spPr>
          <a:xfrm rot="0">
            <a:off x="9626603" y="1858013"/>
            <a:ext cx="3198400" cy="204473"/>
          </a:xfrm>
          <a:prstGeom prst="rect">
            <a:avLst/>
          </a:prstGeom>
        </p:spPr>
        <p:txBody>
          <a:bodyPr anchor="t" rtlCol="false" tIns="0" lIns="0" bIns="0" rIns="0">
            <a:spAutoFit/>
          </a:bodyPr>
          <a:lstStyle/>
          <a:p>
            <a:pPr algn="l">
              <a:lnSpc>
                <a:spcPts val="1620"/>
              </a:lnSpc>
            </a:pPr>
            <a:r>
              <a:rPr lang="en-US" sz="1350" b="true">
                <a:solidFill>
                  <a:srgbClr val="1E1E1E"/>
                </a:solidFill>
                <a:latin typeface="Arial Bold"/>
                <a:ea typeface="Arial Bold"/>
                <a:cs typeface="Arial Bold"/>
                <a:sym typeface="Arial Bold"/>
              </a:rPr>
              <a:t>DROP</a:t>
            </a:r>
          </a:p>
        </p:txBody>
      </p:sp>
      <p:sp>
        <p:nvSpPr>
          <p:cNvPr name="TextBox 111" id="111"/>
          <p:cNvSpPr txBox="true"/>
          <p:nvPr/>
        </p:nvSpPr>
        <p:spPr>
          <a:xfrm rot="0">
            <a:off x="9626603" y="2056133"/>
            <a:ext cx="3198400" cy="234953"/>
          </a:xfrm>
          <a:prstGeom prst="rect">
            <a:avLst/>
          </a:prstGeom>
        </p:spPr>
        <p:txBody>
          <a:bodyPr anchor="t" rtlCol="false" tIns="0" lIns="0" bIns="0" rIns="0">
            <a:spAutoFit/>
          </a:bodyPr>
          <a:lstStyle/>
          <a:p>
            <a:pPr algn="l">
              <a:lnSpc>
                <a:spcPts val="1439"/>
              </a:lnSpc>
            </a:pPr>
            <a:r>
              <a:rPr lang="en-US" sz="1200">
                <a:solidFill>
                  <a:srgbClr val="6B7280"/>
                </a:solidFill>
                <a:latin typeface="Arial"/>
                <a:ea typeface="Arial"/>
                <a:cs typeface="Arial"/>
                <a:sym typeface="Arial"/>
              </a:rPr>
              <a:t>Candidata a eliminar por redundancia</a:t>
            </a:r>
          </a:p>
        </p:txBody>
      </p:sp>
      <p:sp>
        <p:nvSpPr>
          <p:cNvPr name="TextBox 112" id="112"/>
          <p:cNvSpPr txBox="true"/>
          <p:nvPr/>
        </p:nvSpPr>
        <p:spPr>
          <a:xfrm rot="0">
            <a:off x="13965241" y="1858013"/>
            <a:ext cx="2895209" cy="204473"/>
          </a:xfrm>
          <a:prstGeom prst="rect">
            <a:avLst/>
          </a:prstGeom>
        </p:spPr>
        <p:txBody>
          <a:bodyPr anchor="t" rtlCol="false" tIns="0" lIns="0" bIns="0" rIns="0">
            <a:spAutoFit/>
          </a:bodyPr>
          <a:lstStyle/>
          <a:p>
            <a:pPr algn="l">
              <a:lnSpc>
                <a:spcPts val="1620"/>
              </a:lnSpc>
            </a:pPr>
            <a:r>
              <a:rPr lang="en-US" sz="1350" b="true">
                <a:solidFill>
                  <a:srgbClr val="1E1E1E"/>
                </a:solidFill>
                <a:latin typeface="Arial Bold"/>
                <a:ea typeface="Arial Bold"/>
                <a:cs typeface="Arial Bold"/>
                <a:sym typeface="Arial Bold"/>
              </a:rPr>
              <a:t>Falsos numéricos</a:t>
            </a:r>
          </a:p>
        </p:txBody>
      </p:sp>
      <p:sp>
        <p:nvSpPr>
          <p:cNvPr name="TextBox 113" id="113"/>
          <p:cNvSpPr txBox="true"/>
          <p:nvPr/>
        </p:nvSpPr>
        <p:spPr>
          <a:xfrm rot="0">
            <a:off x="13965241" y="2056133"/>
            <a:ext cx="2895209" cy="234953"/>
          </a:xfrm>
          <a:prstGeom prst="rect">
            <a:avLst/>
          </a:prstGeom>
        </p:spPr>
        <p:txBody>
          <a:bodyPr anchor="t" rtlCol="false" tIns="0" lIns="0" bIns="0" rIns="0">
            <a:spAutoFit/>
          </a:bodyPr>
          <a:lstStyle/>
          <a:p>
            <a:pPr algn="l">
              <a:lnSpc>
                <a:spcPts val="1439"/>
              </a:lnSpc>
            </a:pPr>
            <a:r>
              <a:rPr lang="en-US" sz="1200">
                <a:solidFill>
                  <a:srgbClr val="6B7280"/>
                </a:solidFill>
                <a:latin typeface="Arial"/>
                <a:ea typeface="Arial"/>
                <a:cs typeface="Arial"/>
                <a:sym typeface="Arial"/>
              </a:rPr>
              <a:t>Códigos SPSS a mapear como NaN</a:t>
            </a:r>
          </a:p>
        </p:txBody>
      </p:sp>
      <p:sp>
        <p:nvSpPr>
          <p:cNvPr name="TextBox 114" id="114"/>
          <p:cNvSpPr txBox="true"/>
          <p:nvPr/>
        </p:nvSpPr>
        <p:spPr>
          <a:xfrm rot="0">
            <a:off x="901703" y="2751458"/>
            <a:ext cx="2040379" cy="233048"/>
          </a:xfrm>
          <a:prstGeom prst="rect">
            <a:avLst/>
          </a:prstGeom>
        </p:spPr>
        <p:txBody>
          <a:bodyPr anchor="t" rtlCol="false" tIns="0" lIns="0" bIns="0" rIns="0">
            <a:spAutoFit/>
          </a:bodyPr>
          <a:lstStyle/>
          <a:p>
            <a:pPr algn="l">
              <a:lnSpc>
                <a:spcPts val="1889"/>
              </a:lnSpc>
            </a:pPr>
            <a:r>
              <a:rPr lang="en-US" sz="1575" b="true">
                <a:solidFill>
                  <a:srgbClr val="003865"/>
                </a:solidFill>
                <a:latin typeface="Arial Bold"/>
                <a:ea typeface="Arial Bold"/>
                <a:cs typeface="Arial Bold"/>
                <a:sym typeface="Arial Bold"/>
              </a:rPr>
              <a:t>Identificadores (keys)</a:t>
            </a:r>
          </a:p>
        </p:txBody>
      </p:sp>
      <p:sp>
        <p:nvSpPr>
          <p:cNvPr name="TextBox 115" id="115"/>
          <p:cNvSpPr txBox="true"/>
          <p:nvPr/>
        </p:nvSpPr>
        <p:spPr>
          <a:xfrm rot="0">
            <a:off x="5532758" y="2789558"/>
            <a:ext cx="388544" cy="156848"/>
          </a:xfrm>
          <a:prstGeom prst="rect">
            <a:avLst/>
          </a:prstGeom>
        </p:spPr>
        <p:txBody>
          <a:bodyPr anchor="t" rtlCol="false" tIns="0" lIns="0" bIns="0" rIns="0">
            <a:spAutoFit/>
          </a:bodyPr>
          <a:lstStyle/>
          <a:p>
            <a:pPr algn="l">
              <a:lnSpc>
                <a:spcPts val="1260"/>
              </a:lnSpc>
            </a:pPr>
            <a:r>
              <a:rPr lang="en-US" sz="1050" b="true">
                <a:solidFill>
                  <a:srgbClr val="FFFFFF"/>
                </a:solidFill>
                <a:latin typeface="Arial Bold"/>
                <a:ea typeface="Arial Bold"/>
                <a:cs typeface="Arial Bold"/>
                <a:sym typeface="Arial Bold"/>
              </a:rPr>
              <a:t>5 vars</a:t>
            </a:r>
          </a:p>
        </p:txBody>
      </p:sp>
      <p:sp>
        <p:nvSpPr>
          <p:cNvPr name="TextBox 116" id="116"/>
          <p:cNvSpPr txBox="true"/>
          <p:nvPr/>
        </p:nvSpPr>
        <p:spPr>
          <a:xfrm rot="0">
            <a:off x="730253" y="2978153"/>
            <a:ext cx="5377729" cy="661673"/>
          </a:xfrm>
          <a:prstGeom prst="rect">
            <a:avLst/>
          </a:prstGeom>
        </p:spPr>
        <p:txBody>
          <a:bodyPr anchor="t" rtlCol="false" tIns="0" lIns="0" bIns="0" rIns="0">
            <a:spAutoFit/>
          </a:bodyPr>
          <a:lstStyle/>
          <a:p>
            <a:pPr algn="l">
              <a:lnSpc>
                <a:spcPts val="2601"/>
              </a:lnSpc>
            </a:pPr>
            <a:r>
              <a:rPr lang="en-US" sz="1275">
                <a:solidFill>
                  <a:srgbClr val="003865"/>
                </a:solidFill>
                <a:latin typeface="Arial"/>
                <a:ea typeface="Arial"/>
                <a:cs typeface="Arial"/>
                <a:sym typeface="Arial"/>
              </a:rPr>
              <a:t>HHID HC0 HC51 HC60 </a:t>
            </a:r>
            <a:r>
              <a:rPr lang="en-US" sz="1275">
                <a:solidFill>
                  <a:srgbClr val="1E1E1E"/>
                </a:solidFill>
                <a:latin typeface="Arial"/>
                <a:ea typeface="Arial"/>
                <a:cs typeface="Arial"/>
                <a:sym typeface="Arial"/>
              </a:rPr>
              <a:t>— llaves de cruce hogar/madre/persona</a:t>
            </a:r>
          </a:p>
        </p:txBody>
      </p:sp>
      <p:sp>
        <p:nvSpPr>
          <p:cNvPr name="TextBox 117" id="117"/>
          <p:cNvSpPr txBox="true"/>
          <p:nvPr/>
        </p:nvSpPr>
        <p:spPr>
          <a:xfrm rot="0">
            <a:off x="901703" y="4385948"/>
            <a:ext cx="1795986" cy="233048"/>
          </a:xfrm>
          <a:prstGeom prst="rect">
            <a:avLst/>
          </a:prstGeom>
        </p:spPr>
        <p:txBody>
          <a:bodyPr anchor="t" rtlCol="false" tIns="0" lIns="0" bIns="0" rIns="0">
            <a:spAutoFit/>
          </a:bodyPr>
          <a:lstStyle/>
          <a:p>
            <a:pPr algn="l">
              <a:lnSpc>
                <a:spcPts val="1889"/>
              </a:lnSpc>
            </a:pPr>
            <a:r>
              <a:rPr lang="en-US" sz="1575" b="true">
                <a:solidFill>
                  <a:srgbClr val="003865"/>
                </a:solidFill>
                <a:latin typeface="Arial Bold"/>
                <a:ea typeface="Arial Bold"/>
                <a:cs typeface="Arial Bold"/>
                <a:sym typeface="Arial Bold"/>
              </a:rPr>
              <a:t>Demografía básica</a:t>
            </a:r>
          </a:p>
        </p:txBody>
      </p:sp>
      <p:sp>
        <p:nvSpPr>
          <p:cNvPr name="TextBox 118" id="118"/>
          <p:cNvSpPr txBox="true"/>
          <p:nvPr/>
        </p:nvSpPr>
        <p:spPr>
          <a:xfrm rot="0">
            <a:off x="5532758" y="4424048"/>
            <a:ext cx="388544" cy="156848"/>
          </a:xfrm>
          <a:prstGeom prst="rect">
            <a:avLst/>
          </a:prstGeom>
        </p:spPr>
        <p:txBody>
          <a:bodyPr anchor="t" rtlCol="false" tIns="0" lIns="0" bIns="0" rIns="0">
            <a:spAutoFit/>
          </a:bodyPr>
          <a:lstStyle/>
          <a:p>
            <a:pPr algn="l">
              <a:lnSpc>
                <a:spcPts val="1260"/>
              </a:lnSpc>
            </a:pPr>
            <a:r>
              <a:rPr lang="en-US" sz="1050" b="true">
                <a:solidFill>
                  <a:srgbClr val="FFFFFF"/>
                </a:solidFill>
                <a:latin typeface="Arial Bold"/>
                <a:ea typeface="Arial Bold"/>
                <a:cs typeface="Arial Bold"/>
                <a:sym typeface="Arial Bold"/>
              </a:rPr>
              <a:t>6 vars</a:t>
            </a:r>
          </a:p>
        </p:txBody>
      </p:sp>
      <p:sp>
        <p:nvSpPr>
          <p:cNvPr name="TextBox 119" id="119"/>
          <p:cNvSpPr txBox="true"/>
          <p:nvPr/>
        </p:nvSpPr>
        <p:spPr>
          <a:xfrm rot="0">
            <a:off x="730253" y="4612643"/>
            <a:ext cx="5377729" cy="661673"/>
          </a:xfrm>
          <a:prstGeom prst="rect">
            <a:avLst/>
          </a:prstGeom>
        </p:spPr>
        <p:txBody>
          <a:bodyPr anchor="t" rtlCol="false" tIns="0" lIns="0" bIns="0" rIns="0">
            <a:spAutoFit/>
          </a:bodyPr>
          <a:lstStyle/>
          <a:p>
            <a:pPr algn="l">
              <a:lnSpc>
                <a:spcPts val="2601"/>
              </a:lnSpc>
            </a:pPr>
            <a:r>
              <a:rPr lang="en-US" sz="1275">
                <a:solidFill>
                  <a:srgbClr val="003865"/>
                </a:solidFill>
                <a:latin typeface="Arial"/>
                <a:ea typeface="Arial"/>
                <a:cs typeface="Arial"/>
                <a:sym typeface="Arial"/>
              </a:rPr>
              <a:t>HC1 </a:t>
            </a:r>
            <a:r>
              <a:rPr lang="en-US" sz="1275">
                <a:solidFill>
                  <a:srgbClr val="1E1E1E"/>
                </a:solidFill>
                <a:latin typeface="Arial"/>
                <a:ea typeface="Arial"/>
                <a:cs typeface="Arial"/>
                <a:sym typeface="Arial"/>
              </a:rPr>
              <a:t>edad · </a:t>
            </a:r>
            <a:r>
              <a:rPr lang="en-US" sz="1275">
                <a:solidFill>
                  <a:srgbClr val="003865"/>
                </a:solidFill>
                <a:latin typeface="Arial"/>
                <a:ea typeface="Arial"/>
                <a:cs typeface="Arial"/>
                <a:sym typeface="Arial"/>
              </a:rPr>
              <a:t>HC27 </a:t>
            </a:r>
            <a:r>
              <a:rPr lang="en-US" sz="1275">
                <a:solidFill>
                  <a:srgbClr val="1E1E1E"/>
                </a:solidFill>
                <a:latin typeface="Arial"/>
                <a:ea typeface="Arial"/>
                <a:cs typeface="Arial"/>
                <a:sym typeface="Arial"/>
              </a:rPr>
              <a:t>sexo · </a:t>
            </a:r>
            <a:r>
              <a:rPr lang="en-US" sz="1275">
                <a:solidFill>
                  <a:srgbClr val="003865"/>
                </a:solidFill>
                <a:latin typeface="Arial"/>
                <a:ea typeface="Arial"/>
                <a:cs typeface="Arial"/>
                <a:sym typeface="Arial"/>
              </a:rPr>
              <a:t>HC30/HC31 </a:t>
            </a:r>
            <a:r>
              <a:rPr lang="en-US" sz="1275">
                <a:solidFill>
                  <a:srgbClr val="1E1E1E"/>
                </a:solidFill>
                <a:latin typeface="Arial"/>
                <a:ea typeface="Arial"/>
                <a:cs typeface="Arial"/>
                <a:sym typeface="Arial"/>
              </a:rPr>
              <a:t>nacimiento · </a:t>
            </a:r>
            <a:r>
              <a:rPr lang="en-US" sz="1275">
                <a:solidFill>
                  <a:srgbClr val="003865"/>
                </a:solidFill>
                <a:latin typeface="Arial"/>
                <a:ea typeface="Arial"/>
                <a:cs typeface="Arial"/>
                <a:sym typeface="Arial"/>
              </a:rPr>
              <a:t>HC63/HC64 </a:t>
            </a:r>
            <a:r>
              <a:rPr lang="en-US" sz="1275">
                <a:solidFill>
                  <a:srgbClr val="1E1E1E"/>
                </a:solidFill>
                <a:latin typeface="Arial"/>
                <a:ea typeface="Arial"/>
                <a:cs typeface="Arial"/>
                <a:sym typeface="Arial"/>
              </a:rPr>
              <a:t>orden e intervalo de partos</a:t>
            </a:r>
          </a:p>
        </p:txBody>
      </p:sp>
      <p:sp>
        <p:nvSpPr>
          <p:cNvPr name="TextBox 120" id="120"/>
          <p:cNvSpPr txBox="true"/>
          <p:nvPr/>
        </p:nvSpPr>
        <p:spPr>
          <a:xfrm rot="0">
            <a:off x="901703" y="6020438"/>
            <a:ext cx="2541727" cy="233048"/>
          </a:xfrm>
          <a:prstGeom prst="rect">
            <a:avLst/>
          </a:prstGeom>
        </p:spPr>
        <p:txBody>
          <a:bodyPr anchor="t" rtlCol="false" tIns="0" lIns="0" bIns="0" rIns="0">
            <a:spAutoFit/>
          </a:bodyPr>
          <a:lstStyle/>
          <a:p>
            <a:pPr algn="l">
              <a:lnSpc>
                <a:spcPts val="1889"/>
              </a:lnSpc>
            </a:pPr>
            <a:r>
              <a:rPr lang="en-US" sz="1575" b="true">
                <a:solidFill>
                  <a:srgbClr val="003865"/>
                </a:solidFill>
                <a:latin typeface="Arial Bold"/>
                <a:ea typeface="Arial Bold"/>
                <a:cs typeface="Arial Bold"/>
                <a:sym typeface="Arial Bold"/>
              </a:rPr>
              <a:t>Sociodemográfico (madre)</a:t>
            </a:r>
          </a:p>
        </p:txBody>
      </p:sp>
      <p:sp>
        <p:nvSpPr>
          <p:cNvPr name="TextBox 121" id="121"/>
          <p:cNvSpPr txBox="true"/>
          <p:nvPr/>
        </p:nvSpPr>
        <p:spPr>
          <a:xfrm rot="0">
            <a:off x="5532758" y="6058538"/>
            <a:ext cx="388544" cy="156848"/>
          </a:xfrm>
          <a:prstGeom prst="rect">
            <a:avLst/>
          </a:prstGeom>
        </p:spPr>
        <p:txBody>
          <a:bodyPr anchor="t" rtlCol="false" tIns="0" lIns="0" bIns="0" rIns="0">
            <a:spAutoFit/>
          </a:bodyPr>
          <a:lstStyle/>
          <a:p>
            <a:pPr algn="l">
              <a:lnSpc>
                <a:spcPts val="1260"/>
              </a:lnSpc>
            </a:pPr>
            <a:r>
              <a:rPr lang="en-US" sz="1050" b="true">
                <a:solidFill>
                  <a:srgbClr val="FFFFFF"/>
                </a:solidFill>
                <a:latin typeface="Arial Bold"/>
                <a:ea typeface="Arial Bold"/>
                <a:cs typeface="Arial Bold"/>
                <a:sym typeface="Arial Bold"/>
              </a:rPr>
              <a:t>3 vars</a:t>
            </a:r>
          </a:p>
        </p:txBody>
      </p:sp>
      <p:sp>
        <p:nvSpPr>
          <p:cNvPr name="TextBox 122" id="122"/>
          <p:cNvSpPr txBox="true"/>
          <p:nvPr/>
        </p:nvSpPr>
        <p:spPr>
          <a:xfrm rot="0">
            <a:off x="730253" y="6247133"/>
            <a:ext cx="5377729" cy="661673"/>
          </a:xfrm>
          <a:prstGeom prst="rect">
            <a:avLst/>
          </a:prstGeom>
        </p:spPr>
        <p:txBody>
          <a:bodyPr anchor="t" rtlCol="false" tIns="0" lIns="0" bIns="0" rIns="0">
            <a:spAutoFit/>
          </a:bodyPr>
          <a:lstStyle/>
          <a:p>
            <a:pPr algn="l">
              <a:lnSpc>
                <a:spcPts val="2601"/>
              </a:lnSpc>
            </a:pPr>
            <a:r>
              <a:rPr lang="en-US" sz="1275">
                <a:solidFill>
                  <a:srgbClr val="003865"/>
                </a:solidFill>
                <a:latin typeface="Arial"/>
                <a:ea typeface="Arial"/>
                <a:cs typeface="Arial"/>
                <a:sym typeface="Arial"/>
              </a:rPr>
              <a:t>HC61 </a:t>
            </a:r>
            <a:r>
              <a:rPr lang="en-US" sz="1275">
                <a:solidFill>
                  <a:srgbClr val="1E1E1E"/>
                </a:solidFill>
                <a:latin typeface="Arial"/>
                <a:ea typeface="Arial"/>
                <a:cs typeface="Arial"/>
                <a:sym typeface="Arial"/>
              </a:rPr>
              <a:t>nivel educativo · </a:t>
            </a:r>
            <a:r>
              <a:rPr lang="en-US" sz="1275">
                <a:solidFill>
                  <a:srgbClr val="003865"/>
                </a:solidFill>
                <a:latin typeface="Arial"/>
                <a:ea typeface="Arial"/>
                <a:cs typeface="Arial"/>
                <a:sym typeface="Arial"/>
              </a:rPr>
              <a:t>HC62 </a:t>
            </a:r>
            <a:r>
              <a:rPr lang="en-US" sz="1275">
                <a:solidFill>
                  <a:srgbClr val="1E1E1E"/>
                </a:solidFill>
                <a:latin typeface="Arial"/>
                <a:ea typeface="Arial"/>
                <a:cs typeface="Arial"/>
                <a:sym typeface="Arial"/>
              </a:rPr>
              <a:t>años de estudio · </a:t>
            </a:r>
            <a:r>
              <a:rPr lang="en-US" sz="1275">
                <a:solidFill>
                  <a:srgbClr val="003865"/>
                </a:solidFill>
                <a:latin typeface="Arial"/>
                <a:ea typeface="Arial"/>
                <a:cs typeface="Arial"/>
                <a:sym typeface="Arial"/>
              </a:rPr>
              <a:t>HC68 </a:t>
            </a:r>
            <a:r>
              <a:rPr lang="en-US" sz="1275">
                <a:solidFill>
                  <a:srgbClr val="1E1E1E"/>
                </a:solidFill>
                <a:latin typeface="Arial"/>
                <a:ea typeface="Arial"/>
                <a:cs typeface="Arial"/>
                <a:sym typeface="Arial"/>
              </a:rPr>
              <a:t>(redundante con HC61)</a:t>
            </a:r>
          </a:p>
        </p:txBody>
      </p:sp>
      <p:sp>
        <p:nvSpPr>
          <p:cNvPr name="TextBox 123" id="123"/>
          <p:cNvSpPr txBox="true"/>
          <p:nvPr/>
        </p:nvSpPr>
        <p:spPr>
          <a:xfrm rot="0">
            <a:off x="6705524" y="2751458"/>
            <a:ext cx="2040636" cy="233048"/>
          </a:xfrm>
          <a:prstGeom prst="rect">
            <a:avLst/>
          </a:prstGeom>
        </p:spPr>
        <p:txBody>
          <a:bodyPr anchor="t" rtlCol="false" tIns="0" lIns="0" bIns="0" rIns="0">
            <a:spAutoFit/>
          </a:bodyPr>
          <a:lstStyle/>
          <a:p>
            <a:pPr algn="l">
              <a:lnSpc>
                <a:spcPts val="1889"/>
              </a:lnSpc>
            </a:pPr>
            <a:r>
              <a:rPr lang="en-US" sz="1575" b="true">
                <a:solidFill>
                  <a:srgbClr val="003865"/>
                </a:solidFill>
                <a:latin typeface="Arial Bold"/>
                <a:ea typeface="Arial Bold"/>
                <a:cs typeface="Arial Bold"/>
                <a:sym typeface="Arial Bold"/>
              </a:rPr>
              <a:t>Antropometría básica</a:t>
            </a:r>
          </a:p>
        </p:txBody>
      </p:sp>
      <p:sp>
        <p:nvSpPr>
          <p:cNvPr name="TextBox 124" id="124"/>
          <p:cNvSpPr txBox="true"/>
          <p:nvPr/>
        </p:nvSpPr>
        <p:spPr>
          <a:xfrm rot="0">
            <a:off x="11336693" y="2789558"/>
            <a:ext cx="388544" cy="156848"/>
          </a:xfrm>
          <a:prstGeom prst="rect">
            <a:avLst/>
          </a:prstGeom>
        </p:spPr>
        <p:txBody>
          <a:bodyPr anchor="t" rtlCol="false" tIns="0" lIns="0" bIns="0" rIns="0">
            <a:spAutoFit/>
          </a:bodyPr>
          <a:lstStyle/>
          <a:p>
            <a:pPr algn="l">
              <a:lnSpc>
                <a:spcPts val="1260"/>
              </a:lnSpc>
            </a:pPr>
            <a:r>
              <a:rPr lang="en-US" sz="1050" b="true">
                <a:solidFill>
                  <a:srgbClr val="FFFFFF"/>
                </a:solidFill>
                <a:latin typeface="Arial Bold"/>
                <a:ea typeface="Arial Bold"/>
                <a:cs typeface="Arial Bold"/>
                <a:sym typeface="Arial Bold"/>
              </a:rPr>
              <a:t>2 vars</a:t>
            </a:r>
          </a:p>
        </p:txBody>
      </p:sp>
      <p:sp>
        <p:nvSpPr>
          <p:cNvPr name="TextBox 125" id="125"/>
          <p:cNvSpPr txBox="true"/>
          <p:nvPr/>
        </p:nvSpPr>
        <p:spPr>
          <a:xfrm rot="0">
            <a:off x="6534074" y="2978153"/>
            <a:ext cx="5377853" cy="386401"/>
          </a:xfrm>
          <a:prstGeom prst="rect">
            <a:avLst/>
          </a:prstGeom>
        </p:spPr>
        <p:txBody>
          <a:bodyPr anchor="t" rtlCol="false" tIns="0" lIns="0" bIns="0" rIns="0">
            <a:spAutoFit/>
          </a:bodyPr>
          <a:lstStyle/>
          <a:p>
            <a:pPr algn="l">
              <a:lnSpc>
                <a:spcPts val="2601"/>
              </a:lnSpc>
            </a:pPr>
            <a:r>
              <a:rPr lang="en-US" sz="1275">
                <a:solidFill>
                  <a:srgbClr val="003865"/>
                </a:solidFill>
                <a:latin typeface="Arial"/>
                <a:ea typeface="Arial"/>
                <a:cs typeface="Arial"/>
                <a:sym typeface="Arial"/>
              </a:rPr>
              <a:t>HC2 </a:t>
            </a:r>
            <a:r>
              <a:rPr lang="en-US" sz="1275">
                <a:solidFill>
                  <a:srgbClr val="1E1E1E"/>
                </a:solidFill>
                <a:latin typeface="Arial"/>
                <a:ea typeface="Arial"/>
                <a:cs typeface="Arial"/>
                <a:sym typeface="Arial"/>
              </a:rPr>
              <a:t>peso (kg) · </a:t>
            </a:r>
            <a:r>
              <a:rPr lang="en-US" sz="1275">
                <a:solidFill>
                  <a:srgbClr val="003865"/>
                </a:solidFill>
                <a:latin typeface="Arial"/>
                <a:ea typeface="Arial"/>
                <a:cs typeface="Arial"/>
                <a:sym typeface="Arial"/>
              </a:rPr>
              <a:t>HC3 </a:t>
            </a:r>
            <a:r>
              <a:rPr lang="en-US" sz="1275">
                <a:solidFill>
                  <a:srgbClr val="1E1E1E"/>
                </a:solidFill>
                <a:latin typeface="Arial"/>
                <a:ea typeface="Arial"/>
                <a:cs typeface="Arial"/>
                <a:sym typeface="Arial"/>
              </a:rPr>
              <a:t>talla (cm)</a:t>
            </a:r>
          </a:p>
        </p:txBody>
      </p:sp>
      <p:sp>
        <p:nvSpPr>
          <p:cNvPr name="TextBox 126" id="126"/>
          <p:cNvSpPr txBox="true"/>
          <p:nvPr/>
        </p:nvSpPr>
        <p:spPr>
          <a:xfrm rot="0">
            <a:off x="6534074" y="3405826"/>
            <a:ext cx="5377853" cy="444503"/>
          </a:xfrm>
          <a:prstGeom prst="rect">
            <a:avLst/>
          </a:prstGeom>
        </p:spPr>
        <p:txBody>
          <a:bodyPr anchor="t" rtlCol="false" tIns="0" lIns="0" bIns="0" rIns="0">
            <a:spAutoFit/>
          </a:bodyPr>
          <a:lstStyle/>
          <a:p>
            <a:pPr algn="l">
              <a:lnSpc>
                <a:spcPts val="1889"/>
              </a:lnSpc>
            </a:pPr>
            <a:r>
              <a:rPr lang="en-US" sz="1125" i="true">
                <a:solidFill>
                  <a:srgbClr val="6B7280"/>
                </a:solidFill>
                <a:latin typeface="Arial Italics"/>
                <a:ea typeface="Arial Italics"/>
                <a:cs typeface="Arial Italics"/>
                <a:sym typeface="Arial Italics"/>
              </a:rPr>
              <a:t>Frecuentemente enteros (125 = 12.5 kg): limpiar falsos numéricos antes de dividir entre 10</a:t>
            </a:r>
          </a:p>
        </p:txBody>
      </p:sp>
      <p:sp>
        <p:nvSpPr>
          <p:cNvPr name="TextBox 127" id="127"/>
          <p:cNvSpPr txBox="true"/>
          <p:nvPr/>
        </p:nvSpPr>
        <p:spPr>
          <a:xfrm rot="0">
            <a:off x="6705524" y="4310701"/>
            <a:ext cx="3287335" cy="233048"/>
          </a:xfrm>
          <a:prstGeom prst="rect">
            <a:avLst/>
          </a:prstGeom>
        </p:spPr>
        <p:txBody>
          <a:bodyPr anchor="t" rtlCol="false" tIns="0" lIns="0" bIns="0" rIns="0">
            <a:spAutoFit/>
          </a:bodyPr>
          <a:lstStyle/>
          <a:p>
            <a:pPr algn="l">
              <a:lnSpc>
                <a:spcPts val="1889"/>
              </a:lnSpc>
            </a:pPr>
            <a:r>
              <a:rPr lang="en-US" sz="1575" b="true">
                <a:solidFill>
                  <a:srgbClr val="003865"/>
                </a:solidFill>
                <a:latin typeface="Arial Bold"/>
                <a:ea typeface="Arial Bold"/>
                <a:cs typeface="Arial Bold"/>
                <a:sym typeface="Arial Bold"/>
              </a:rPr>
              <a:t>Índices derivados (Z-scores OMS)</a:t>
            </a:r>
          </a:p>
        </p:txBody>
      </p:sp>
      <p:sp>
        <p:nvSpPr>
          <p:cNvPr name="TextBox 128" id="128"/>
          <p:cNvSpPr txBox="true"/>
          <p:nvPr/>
        </p:nvSpPr>
        <p:spPr>
          <a:xfrm rot="0">
            <a:off x="11262522" y="4348801"/>
            <a:ext cx="462715" cy="156848"/>
          </a:xfrm>
          <a:prstGeom prst="rect">
            <a:avLst/>
          </a:prstGeom>
        </p:spPr>
        <p:txBody>
          <a:bodyPr anchor="t" rtlCol="false" tIns="0" lIns="0" bIns="0" rIns="0">
            <a:spAutoFit/>
          </a:bodyPr>
          <a:lstStyle/>
          <a:p>
            <a:pPr algn="l">
              <a:lnSpc>
                <a:spcPts val="1260"/>
              </a:lnSpc>
            </a:pPr>
            <a:r>
              <a:rPr lang="en-US" sz="1050" b="true">
                <a:solidFill>
                  <a:srgbClr val="FFFFFF"/>
                </a:solidFill>
                <a:latin typeface="Arial Bold"/>
                <a:ea typeface="Arial Bold"/>
                <a:cs typeface="Arial Bold"/>
                <a:sym typeface="Arial Bold"/>
              </a:rPr>
              <a:t>10 vars</a:t>
            </a:r>
          </a:p>
        </p:txBody>
      </p:sp>
      <p:sp>
        <p:nvSpPr>
          <p:cNvPr name="TextBox 129" id="129"/>
          <p:cNvSpPr txBox="true"/>
          <p:nvPr/>
        </p:nvSpPr>
        <p:spPr>
          <a:xfrm rot="0">
            <a:off x="6534074" y="4537396"/>
            <a:ext cx="5377853" cy="661673"/>
          </a:xfrm>
          <a:prstGeom prst="rect">
            <a:avLst/>
          </a:prstGeom>
        </p:spPr>
        <p:txBody>
          <a:bodyPr anchor="t" rtlCol="false" tIns="0" lIns="0" bIns="0" rIns="0">
            <a:spAutoFit/>
          </a:bodyPr>
          <a:lstStyle/>
          <a:p>
            <a:pPr algn="l">
              <a:lnSpc>
                <a:spcPts val="2601"/>
              </a:lnSpc>
            </a:pPr>
            <a:r>
              <a:rPr lang="en-US" sz="1275">
                <a:solidFill>
                  <a:srgbClr val="003865"/>
                </a:solidFill>
                <a:latin typeface="Arial"/>
                <a:ea typeface="Arial"/>
                <a:cs typeface="Arial"/>
                <a:sym typeface="Arial"/>
              </a:rPr>
              <a:t>HC4–HC12 </a:t>
            </a:r>
            <a:r>
              <a:rPr lang="en-US" sz="1275">
                <a:solidFill>
                  <a:srgbClr val="1E1E1E"/>
                </a:solidFill>
                <a:latin typeface="Arial"/>
                <a:ea typeface="Arial"/>
                <a:cs typeface="Arial"/>
                <a:sym typeface="Arial"/>
              </a:rPr>
              <a:t>percentiles y desviaciones · </a:t>
            </a:r>
            <a:r>
              <a:rPr lang="en-US" sz="1275">
                <a:solidFill>
                  <a:srgbClr val="003865"/>
                </a:solidFill>
                <a:latin typeface="Arial"/>
                <a:ea typeface="Arial"/>
                <a:cs typeface="Arial"/>
                <a:sym typeface="Arial"/>
              </a:rPr>
              <a:t>HC70 </a:t>
            </a:r>
            <a:r>
              <a:rPr lang="en-US" sz="1275">
                <a:solidFill>
                  <a:srgbClr val="1E1E1E"/>
                </a:solidFill>
                <a:latin typeface="Arial"/>
                <a:ea typeface="Arial"/>
                <a:cs typeface="Arial"/>
                <a:sym typeface="Arial"/>
              </a:rPr>
              <a:t>HAZ · </a:t>
            </a:r>
            <a:r>
              <a:rPr lang="en-US" sz="1275">
                <a:solidFill>
                  <a:srgbClr val="003865"/>
                </a:solidFill>
                <a:latin typeface="Arial"/>
                <a:ea typeface="Arial"/>
                <a:cs typeface="Arial"/>
                <a:sym typeface="Arial"/>
              </a:rPr>
              <a:t>HC71 </a:t>
            </a:r>
            <a:r>
              <a:rPr lang="en-US" sz="1275">
                <a:solidFill>
                  <a:srgbClr val="1E1E1E"/>
                </a:solidFill>
                <a:latin typeface="Arial"/>
                <a:ea typeface="Arial"/>
                <a:cs typeface="Arial"/>
                <a:sym typeface="Arial"/>
              </a:rPr>
              <a:t>WAZ · </a:t>
            </a:r>
            <a:r>
              <a:rPr lang="en-US" sz="1275">
                <a:solidFill>
                  <a:srgbClr val="003865"/>
                </a:solidFill>
                <a:latin typeface="Arial"/>
                <a:ea typeface="Arial"/>
                <a:cs typeface="Arial"/>
                <a:sym typeface="Arial"/>
              </a:rPr>
              <a:t>HC72 </a:t>
            </a:r>
            <a:r>
              <a:rPr lang="en-US" sz="1275">
                <a:solidFill>
                  <a:srgbClr val="1E1E1E"/>
                </a:solidFill>
                <a:latin typeface="Arial"/>
                <a:ea typeface="Arial"/>
                <a:cs typeface="Arial"/>
                <a:sym typeface="Arial"/>
              </a:rPr>
              <a:t>WHZ · </a:t>
            </a:r>
            <a:r>
              <a:rPr lang="en-US" sz="1275">
                <a:solidFill>
                  <a:srgbClr val="003865"/>
                </a:solidFill>
                <a:latin typeface="Arial"/>
                <a:ea typeface="Arial"/>
                <a:cs typeface="Arial"/>
                <a:sym typeface="Arial"/>
              </a:rPr>
              <a:t>HC73 </a:t>
            </a:r>
            <a:r>
              <a:rPr lang="en-US" sz="1275">
                <a:solidFill>
                  <a:srgbClr val="1E1E1E"/>
                </a:solidFill>
                <a:latin typeface="Arial"/>
                <a:ea typeface="Arial"/>
                <a:cs typeface="Arial"/>
                <a:sym typeface="Arial"/>
              </a:rPr>
              <a:t>IMC</a:t>
            </a:r>
          </a:p>
        </p:txBody>
      </p:sp>
      <p:sp>
        <p:nvSpPr>
          <p:cNvPr name="TextBox 130" id="130"/>
          <p:cNvSpPr txBox="true"/>
          <p:nvPr/>
        </p:nvSpPr>
        <p:spPr>
          <a:xfrm rot="0">
            <a:off x="6705524" y="5945191"/>
            <a:ext cx="2982439" cy="233048"/>
          </a:xfrm>
          <a:prstGeom prst="rect">
            <a:avLst/>
          </a:prstGeom>
        </p:spPr>
        <p:txBody>
          <a:bodyPr anchor="t" rtlCol="false" tIns="0" lIns="0" bIns="0" rIns="0">
            <a:spAutoFit/>
          </a:bodyPr>
          <a:lstStyle/>
          <a:p>
            <a:pPr algn="l">
              <a:lnSpc>
                <a:spcPts val="1889"/>
              </a:lnSpc>
            </a:pPr>
            <a:r>
              <a:rPr lang="en-US" sz="1575" b="true">
                <a:solidFill>
                  <a:srgbClr val="003865"/>
                </a:solidFill>
                <a:latin typeface="Arial Bold"/>
                <a:ea typeface="Arial Bold"/>
                <a:cs typeface="Arial Bold"/>
                <a:sym typeface="Arial Bold"/>
              </a:rPr>
              <a:t>Control de calidad y metadatos</a:t>
            </a:r>
          </a:p>
        </p:txBody>
      </p:sp>
      <p:sp>
        <p:nvSpPr>
          <p:cNvPr name="TextBox 131" id="131"/>
          <p:cNvSpPr txBox="true"/>
          <p:nvPr/>
        </p:nvSpPr>
        <p:spPr>
          <a:xfrm rot="0">
            <a:off x="11336693" y="5983291"/>
            <a:ext cx="388544" cy="156848"/>
          </a:xfrm>
          <a:prstGeom prst="rect">
            <a:avLst/>
          </a:prstGeom>
        </p:spPr>
        <p:txBody>
          <a:bodyPr anchor="t" rtlCol="false" tIns="0" lIns="0" bIns="0" rIns="0">
            <a:spAutoFit/>
          </a:bodyPr>
          <a:lstStyle/>
          <a:p>
            <a:pPr algn="l">
              <a:lnSpc>
                <a:spcPts val="1260"/>
              </a:lnSpc>
            </a:pPr>
            <a:r>
              <a:rPr lang="en-US" sz="1050" b="true">
                <a:solidFill>
                  <a:srgbClr val="FFFFFF"/>
                </a:solidFill>
                <a:latin typeface="Arial Bold"/>
                <a:ea typeface="Arial Bold"/>
                <a:cs typeface="Arial Bold"/>
                <a:sym typeface="Arial Bold"/>
              </a:rPr>
              <a:t>6 vars</a:t>
            </a:r>
          </a:p>
        </p:txBody>
      </p:sp>
      <p:sp>
        <p:nvSpPr>
          <p:cNvPr name="TextBox 132" id="132"/>
          <p:cNvSpPr txBox="true"/>
          <p:nvPr/>
        </p:nvSpPr>
        <p:spPr>
          <a:xfrm rot="0">
            <a:off x="6534074" y="6171886"/>
            <a:ext cx="5377853" cy="661673"/>
          </a:xfrm>
          <a:prstGeom prst="rect">
            <a:avLst/>
          </a:prstGeom>
        </p:spPr>
        <p:txBody>
          <a:bodyPr anchor="t" rtlCol="false" tIns="0" lIns="0" bIns="0" rIns="0">
            <a:spAutoFit/>
          </a:bodyPr>
          <a:lstStyle/>
          <a:p>
            <a:pPr algn="l">
              <a:lnSpc>
                <a:spcPts val="2601"/>
              </a:lnSpc>
            </a:pPr>
            <a:r>
              <a:rPr lang="en-US" sz="1275">
                <a:solidFill>
                  <a:srgbClr val="003865"/>
                </a:solidFill>
                <a:latin typeface="Arial"/>
                <a:ea typeface="Arial"/>
                <a:cs typeface="Arial"/>
                <a:sym typeface="Arial"/>
              </a:rPr>
              <a:t>HC13 </a:t>
            </a:r>
            <a:r>
              <a:rPr lang="en-US" sz="1275">
                <a:solidFill>
                  <a:srgbClr val="1E1E1E"/>
                </a:solidFill>
                <a:latin typeface="Arial"/>
                <a:ea typeface="Arial"/>
                <a:cs typeface="Arial"/>
                <a:sym typeface="Arial"/>
              </a:rPr>
              <a:t>razón no medido · </a:t>
            </a:r>
            <a:r>
              <a:rPr lang="en-US" sz="1275">
                <a:solidFill>
                  <a:srgbClr val="003865"/>
                </a:solidFill>
                <a:latin typeface="Arial"/>
                <a:ea typeface="Arial"/>
                <a:cs typeface="Arial"/>
                <a:sym typeface="Arial"/>
              </a:rPr>
              <a:t>HC15 </a:t>
            </a:r>
            <a:r>
              <a:rPr lang="en-US" sz="1275">
                <a:solidFill>
                  <a:srgbClr val="1E1E1E"/>
                </a:solidFill>
                <a:latin typeface="Arial"/>
                <a:ea typeface="Arial"/>
                <a:cs typeface="Arial"/>
                <a:sym typeface="Arial"/>
              </a:rPr>
              <a:t>postura · </a:t>
            </a:r>
            <a:r>
              <a:rPr lang="en-US" sz="1275">
                <a:solidFill>
                  <a:srgbClr val="003865"/>
                </a:solidFill>
                <a:latin typeface="Arial"/>
                <a:ea typeface="Arial"/>
                <a:cs typeface="Arial"/>
                <a:sym typeface="Arial"/>
              </a:rPr>
              <a:t>HC19 </a:t>
            </a:r>
            <a:r>
              <a:rPr lang="en-US" sz="1275">
                <a:solidFill>
                  <a:srgbClr val="1E1E1E"/>
                </a:solidFill>
                <a:latin typeface="Arial"/>
                <a:ea typeface="Arial"/>
                <a:cs typeface="Arial"/>
                <a:sym typeface="Arial"/>
              </a:rPr>
              <a:t>año medición · </a:t>
            </a:r>
            <a:r>
              <a:rPr lang="en-US" sz="1275">
                <a:solidFill>
                  <a:srgbClr val="003865"/>
                </a:solidFill>
                <a:latin typeface="Arial"/>
                <a:ea typeface="Arial"/>
                <a:cs typeface="Arial"/>
                <a:sym typeface="Arial"/>
              </a:rPr>
              <a:t>HC32/HC33 </a:t>
            </a:r>
            <a:r>
              <a:rPr lang="en-US" sz="1275">
                <a:solidFill>
                  <a:srgbClr val="1E1E1E"/>
                </a:solidFill>
                <a:latin typeface="Arial"/>
                <a:ea typeface="Arial"/>
                <a:cs typeface="Arial"/>
                <a:sym typeface="Arial"/>
              </a:rPr>
              <a:t>fecha · </a:t>
            </a:r>
            <a:r>
              <a:rPr lang="en-US" sz="1275">
                <a:solidFill>
                  <a:srgbClr val="003865"/>
                </a:solidFill>
                <a:latin typeface="Arial"/>
                <a:ea typeface="Arial"/>
                <a:cs typeface="Arial"/>
                <a:sym typeface="Arial"/>
              </a:rPr>
              <a:t>HC55 </a:t>
            </a:r>
            <a:r>
              <a:rPr lang="en-US" sz="1275">
                <a:solidFill>
                  <a:srgbClr val="1E1E1E"/>
                </a:solidFill>
                <a:latin typeface="Arial"/>
                <a:ea typeface="Arial"/>
                <a:cs typeface="Arial"/>
                <a:sym typeface="Arial"/>
              </a:rPr>
              <a:t>resultado prueba</a:t>
            </a:r>
          </a:p>
        </p:txBody>
      </p:sp>
      <p:sp>
        <p:nvSpPr>
          <p:cNvPr name="TextBox 133" id="133"/>
          <p:cNvSpPr txBox="true"/>
          <p:nvPr/>
        </p:nvSpPr>
        <p:spPr>
          <a:xfrm rot="0">
            <a:off x="12509459" y="2751458"/>
            <a:ext cx="1453772" cy="233048"/>
          </a:xfrm>
          <a:prstGeom prst="rect">
            <a:avLst/>
          </a:prstGeom>
        </p:spPr>
        <p:txBody>
          <a:bodyPr anchor="t" rtlCol="false" tIns="0" lIns="0" bIns="0" rIns="0">
            <a:spAutoFit/>
          </a:bodyPr>
          <a:lstStyle/>
          <a:p>
            <a:pPr algn="l">
              <a:lnSpc>
                <a:spcPts val="1889"/>
              </a:lnSpc>
            </a:pPr>
            <a:r>
              <a:rPr lang="en-US" sz="1575" b="true">
                <a:solidFill>
                  <a:srgbClr val="A23C39"/>
                </a:solidFill>
                <a:latin typeface="Arial Bold"/>
                <a:ea typeface="Arial Bold"/>
                <a:cs typeface="Arial Bold"/>
                <a:sym typeface="Arial Bold"/>
              </a:rPr>
              <a:t>Target absoluto</a:t>
            </a:r>
          </a:p>
        </p:txBody>
      </p:sp>
      <p:sp>
        <p:nvSpPr>
          <p:cNvPr name="TextBox 134" id="134"/>
          <p:cNvSpPr txBox="true"/>
          <p:nvPr/>
        </p:nvSpPr>
        <p:spPr>
          <a:xfrm rot="0">
            <a:off x="17207313" y="2789558"/>
            <a:ext cx="321869" cy="156848"/>
          </a:xfrm>
          <a:prstGeom prst="rect">
            <a:avLst/>
          </a:prstGeom>
        </p:spPr>
        <p:txBody>
          <a:bodyPr anchor="t" rtlCol="false" tIns="0" lIns="0" bIns="0" rIns="0">
            <a:spAutoFit/>
          </a:bodyPr>
          <a:lstStyle/>
          <a:p>
            <a:pPr algn="l">
              <a:lnSpc>
                <a:spcPts val="1260"/>
              </a:lnSpc>
            </a:pPr>
            <a:r>
              <a:rPr lang="en-US" sz="1050" b="true">
                <a:solidFill>
                  <a:srgbClr val="FFFFFF"/>
                </a:solidFill>
                <a:latin typeface="Arial Bold"/>
                <a:ea typeface="Arial Bold"/>
                <a:cs typeface="Arial Bold"/>
                <a:sym typeface="Arial Bold"/>
              </a:rPr>
              <a:t>1 var</a:t>
            </a:r>
          </a:p>
        </p:txBody>
      </p:sp>
      <p:sp>
        <p:nvSpPr>
          <p:cNvPr name="TextBox 135" id="135"/>
          <p:cNvSpPr txBox="true"/>
          <p:nvPr/>
        </p:nvSpPr>
        <p:spPr>
          <a:xfrm rot="0">
            <a:off x="12338009" y="2997203"/>
            <a:ext cx="5377853" cy="351158"/>
          </a:xfrm>
          <a:prstGeom prst="rect">
            <a:avLst/>
          </a:prstGeom>
        </p:spPr>
        <p:txBody>
          <a:bodyPr anchor="t" rtlCol="false" tIns="0" lIns="0" bIns="0" rIns="0">
            <a:spAutoFit/>
          </a:bodyPr>
          <a:lstStyle/>
          <a:p>
            <a:pPr algn="l">
              <a:lnSpc>
                <a:spcPts val="2448"/>
              </a:lnSpc>
            </a:pPr>
            <a:r>
              <a:rPr lang="en-US" sz="1275">
                <a:solidFill>
                  <a:srgbClr val="A23C39"/>
                </a:solidFill>
                <a:latin typeface="Arial"/>
                <a:ea typeface="Arial"/>
                <a:cs typeface="Arial"/>
                <a:sym typeface="Arial"/>
              </a:rPr>
              <a:t>HC70 </a:t>
            </a:r>
            <a:r>
              <a:rPr lang="en-US" sz="1275">
                <a:solidFill>
                  <a:srgbClr val="1E1E1E"/>
                </a:solidFill>
                <a:latin typeface="Arial"/>
                <a:ea typeface="Arial"/>
                <a:cs typeface="Arial"/>
                <a:sym typeface="Arial"/>
              </a:rPr>
              <a:t>— Talla/Edad Desviación Estándar (HAZ, estándar OMS)</a:t>
            </a:r>
          </a:p>
        </p:txBody>
      </p:sp>
      <p:sp>
        <p:nvSpPr>
          <p:cNvPr name="TextBox 136" id="136"/>
          <p:cNvSpPr txBox="true"/>
          <p:nvPr/>
        </p:nvSpPr>
        <p:spPr>
          <a:xfrm rot="0">
            <a:off x="12338009" y="3389633"/>
            <a:ext cx="5746794" cy="244478"/>
          </a:xfrm>
          <a:prstGeom prst="rect">
            <a:avLst/>
          </a:prstGeom>
        </p:spPr>
        <p:txBody>
          <a:bodyPr anchor="t" rtlCol="false" tIns="0" lIns="0" bIns="0" rIns="0">
            <a:spAutoFit/>
          </a:bodyPr>
          <a:lstStyle/>
          <a:p>
            <a:pPr algn="l">
              <a:lnSpc>
                <a:spcPts val="1889"/>
              </a:lnSpc>
            </a:pPr>
            <a:r>
              <a:rPr lang="en-US" sz="1125" i="true">
                <a:solidFill>
                  <a:srgbClr val="8A6361"/>
                </a:solidFill>
                <a:latin typeface="Arial Italics"/>
                <a:ea typeface="Arial Italics"/>
                <a:cs typeface="Arial Italics"/>
                <a:sym typeface="Arial Italics"/>
              </a:rPr>
              <a:t>Base del indicador de desnutrición crónica infantil</a:t>
            </a:r>
          </a:p>
        </p:txBody>
      </p:sp>
      <p:sp>
        <p:nvSpPr>
          <p:cNvPr name="TextBox 137" id="137"/>
          <p:cNvSpPr txBox="true"/>
          <p:nvPr/>
        </p:nvSpPr>
        <p:spPr>
          <a:xfrm rot="0">
            <a:off x="12509459" y="4094483"/>
            <a:ext cx="3814477" cy="233048"/>
          </a:xfrm>
          <a:prstGeom prst="rect">
            <a:avLst/>
          </a:prstGeom>
        </p:spPr>
        <p:txBody>
          <a:bodyPr anchor="t" rtlCol="false" tIns="0" lIns="0" bIns="0" rIns="0">
            <a:spAutoFit/>
          </a:bodyPr>
          <a:lstStyle/>
          <a:p>
            <a:pPr algn="l">
              <a:lnSpc>
                <a:spcPts val="1889"/>
              </a:lnSpc>
            </a:pPr>
            <a:r>
              <a:rPr lang="en-US" sz="1575" b="true">
                <a:solidFill>
                  <a:srgbClr val="003865"/>
                </a:solidFill>
                <a:latin typeface="Arial Bold"/>
                <a:ea typeface="Arial Bold"/>
                <a:cs typeface="Arial Bold"/>
                <a:sym typeface="Arial Bold"/>
              </a:rPr>
              <a:t>Anemia y hemoglobina — quiebre 2024</a:t>
            </a:r>
          </a:p>
        </p:txBody>
      </p:sp>
      <p:sp>
        <p:nvSpPr>
          <p:cNvPr name="TextBox 138" id="138"/>
          <p:cNvSpPr txBox="true"/>
          <p:nvPr/>
        </p:nvSpPr>
        <p:spPr>
          <a:xfrm rot="0">
            <a:off x="17140638" y="4132583"/>
            <a:ext cx="388544" cy="156848"/>
          </a:xfrm>
          <a:prstGeom prst="rect">
            <a:avLst/>
          </a:prstGeom>
        </p:spPr>
        <p:txBody>
          <a:bodyPr anchor="t" rtlCol="false" tIns="0" lIns="0" bIns="0" rIns="0">
            <a:spAutoFit/>
          </a:bodyPr>
          <a:lstStyle/>
          <a:p>
            <a:pPr algn="l">
              <a:lnSpc>
                <a:spcPts val="1260"/>
              </a:lnSpc>
            </a:pPr>
            <a:r>
              <a:rPr lang="en-US" sz="1050" b="true">
                <a:solidFill>
                  <a:srgbClr val="1E1E1E"/>
                </a:solidFill>
                <a:latin typeface="Arial Bold"/>
                <a:ea typeface="Arial Bold"/>
                <a:cs typeface="Arial Bold"/>
                <a:sym typeface="Arial Bold"/>
              </a:rPr>
              <a:t>4 vars</a:t>
            </a:r>
          </a:p>
        </p:txBody>
      </p:sp>
      <p:sp>
        <p:nvSpPr>
          <p:cNvPr name="TextBox 139" id="139"/>
          <p:cNvSpPr txBox="true"/>
          <p:nvPr/>
        </p:nvSpPr>
        <p:spPr>
          <a:xfrm rot="0">
            <a:off x="12338009" y="4321178"/>
            <a:ext cx="5377853" cy="661673"/>
          </a:xfrm>
          <a:prstGeom prst="rect">
            <a:avLst/>
          </a:prstGeom>
        </p:spPr>
        <p:txBody>
          <a:bodyPr anchor="t" rtlCol="false" tIns="0" lIns="0" bIns="0" rIns="0">
            <a:spAutoFit/>
          </a:bodyPr>
          <a:lstStyle/>
          <a:p>
            <a:pPr algn="l">
              <a:lnSpc>
                <a:spcPts val="2601"/>
              </a:lnSpc>
            </a:pPr>
            <a:r>
              <a:rPr lang="en-US" sz="1275">
                <a:solidFill>
                  <a:srgbClr val="7A5A12"/>
                </a:solidFill>
                <a:latin typeface="Arial"/>
                <a:ea typeface="Arial"/>
                <a:cs typeface="Arial"/>
                <a:sym typeface="Arial"/>
              </a:rPr>
              <a:t>HC53 </a:t>
            </a:r>
            <a:r>
              <a:rPr lang="en-US" sz="1275">
                <a:solidFill>
                  <a:srgbClr val="1E1E1E"/>
                </a:solidFill>
                <a:latin typeface="Arial"/>
                <a:ea typeface="Arial"/>
                <a:cs typeface="Arial"/>
                <a:sym typeface="Arial"/>
              </a:rPr>
              <a:t>hemoglobina bruta · </a:t>
            </a:r>
            <a:r>
              <a:rPr lang="en-US" sz="1275">
                <a:solidFill>
                  <a:srgbClr val="7A5A12"/>
                </a:solidFill>
                <a:latin typeface="Arial"/>
                <a:ea typeface="Arial"/>
                <a:cs typeface="Arial"/>
                <a:sym typeface="Arial"/>
              </a:rPr>
              <a:t>HC56→HC56A </a:t>
            </a:r>
            <a:r>
              <a:rPr lang="en-US" sz="1275">
                <a:solidFill>
                  <a:srgbClr val="1E1E1E"/>
                </a:solidFill>
                <a:latin typeface="Arial"/>
                <a:ea typeface="Arial"/>
                <a:cs typeface="Arial"/>
                <a:sym typeface="Arial"/>
              </a:rPr>
              <a:t>· </a:t>
            </a:r>
            <a:r>
              <a:rPr lang="en-US" sz="1275">
                <a:solidFill>
                  <a:srgbClr val="7A5A12"/>
                </a:solidFill>
                <a:latin typeface="Arial"/>
                <a:ea typeface="Arial"/>
                <a:cs typeface="Arial"/>
                <a:sym typeface="Arial"/>
              </a:rPr>
              <a:t>HC57→HC57A </a:t>
            </a:r>
            <a:r>
              <a:rPr lang="en-US" sz="1275">
                <a:solidFill>
                  <a:srgbClr val="1E1E1E"/>
                </a:solidFill>
                <a:latin typeface="Arial"/>
                <a:ea typeface="Arial"/>
                <a:cs typeface="Arial"/>
                <a:sym typeface="Arial"/>
              </a:rPr>
              <a:t>nivel de anemia</a:t>
            </a:r>
          </a:p>
        </p:txBody>
      </p:sp>
      <p:sp>
        <p:nvSpPr>
          <p:cNvPr name="TextBox 140" id="140"/>
          <p:cNvSpPr txBox="true"/>
          <p:nvPr/>
        </p:nvSpPr>
        <p:spPr>
          <a:xfrm rot="0">
            <a:off x="12338009" y="5024123"/>
            <a:ext cx="5377853" cy="444503"/>
          </a:xfrm>
          <a:prstGeom prst="rect">
            <a:avLst/>
          </a:prstGeom>
        </p:spPr>
        <p:txBody>
          <a:bodyPr anchor="t" rtlCol="false" tIns="0" lIns="0" bIns="0" rIns="0">
            <a:spAutoFit/>
          </a:bodyPr>
          <a:lstStyle/>
          <a:p>
            <a:pPr algn="l">
              <a:lnSpc>
                <a:spcPts val="1889"/>
              </a:lnSpc>
            </a:pPr>
            <a:r>
              <a:rPr lang="en-US" sz="1125" i="true">
                <a:solidFill>
                  <a:srgbClr val="8A7333"/>
                </a:solidFill>
                <a:latin typeface="Arial Italics"/>
                <a:ea typeface="Arial Italics"/>
                <a:cs typeface="Arial Italics"/>
                <a:sym typeface="Arial Italics"/>
              </a:rPr>
              <a:t>Directriz MINSA RM 363-2022 reemplaza HC56/HC57 desde 2024 — requiere COALESCE</a:t>
            </a:r>
          </a:p>
        </p:txBody>
      </p:sp>
      <p:sp>
        <p:nvSpPr>
          <p:cNvPr name="TextBox 141" id="141"/>
          <p:cNvSpPr txBox="true"/>
          <p:nvPr/>
        </p:nvSpPr>
        <p:spPr>
          <a:xfrm rot="0">
            <a:off x="12509459" y="5928998"/>
            <a:ext cx="1331052" cy="233048"/>
          </a:xfrm>
          <a:prstGeom prst="rect">
            <a:avLst/>
          </a:prstGeom>
        </p:spPr>
        <p:txBody>
          <a:bodyPr anchor="t" rtlCol="false" tIns="0" lIns="0" bIns="0" rIns="0">
            <a:spAutoFit/>
          </a:bodyPr>
          <a:lstStyle/>
          <a:p>
            <a:pPr algn="l">
              <a:lnSpc>
                <a:spcPts val="1889"/>
              </a:lnSpc>
            </a:pPr>
            <a:r>
              <a:rPr lang="en-US" sz="1575" b="true">
                <a:solidFill>
                  <a:srgbClr val="003865"/>
                </a:solidFill>
                <a:latin typeface="Arial Bold"/>
                <a:ea typeface="Arial Bold"/>
                <a:cs typeface="Arial Bold"/>
                <a:sym typeface="Arial Bold"/>
              </a:rPr>
              <a:t>Administrativo</a:t>
            </a:r>
          </a:p>
        </p:txBody>
      </p:sp>
      <p:sp>
        <p:nvSpPr>
          <p:cNvPr name="TextBox 142" id="142"/>
          <p:cNvSpPr txBox="true"/>
          <p:nvPr/>
        </p:nvSpPr>
        <p:spPr>
          <a:xfrm rot="0">
            <a:off x="17207313" y="5967098"/>
            <a:ext cx="321869" cy="156848"/>
          </a:xfrm>
          <a:prstGeom prst="rect">
            <a:avLst/>
          </a:prstGeom>
        </p:spPr>
        <p:txBody>
          <a:bodyPr anchor="t" rtlCol="false" tIns="0" lIns="0" bIns="0" rIns="0">
            <a:spAutoFit/>
          </a:bodyPr>
          <a:lstStyle/>
          <a:p>
            <a:pPr algn="l">
              <a:lnSpc>
                <a:spcPts val="1260"/>
              </a:lnSpc>
            </a:pPr>
            <a:r>
              <a:rPr lang="en-US" sz="1050" b="true">
                <a:solidFill>
                  <a:srgbClr val="FFFFFF"/>
                </a:solidFill>
                <a:latin typeface="Arial Bold"/>
                <a:ea typeface="Arial Bold"/>
                <a:cs typeface="Arial Bold"/>
                <a:sym typeface="Arial Bold"/>
              </a:rPr>
              <a:t>1 var</a:t>
            </a:r>
          </a:p>
        </p:txBody>
      </p:sp>
      <p:sp>
        <p:nvSpPr>
          <p:cNvPr name="TextBox 143" id="143"/>
          <p:cNvSpPr txBox="true"/>
          <p:nvPr/>
        </p:nvSpPr>
        <p:spPr>
          <a:xfrm rot="0">
            <a:off x="12338009" y="6174743"/>
            <a:ext cx="5377853" cy="610238"/>
          </a:xfrm>
          <a:prstGeom prst="rect">
            <a:avLst/>
          </a:prstGeom>
        </p:spPr>
        <p:txBody>
          <a:bodyPr anchor="t" rtlCol="false" tIns="0" lIns="0" bIns="0" rIns="0">
            <a:spAutoFit/>
          </a:bodyPr>
          <a:lstStyle/>
          <a:p>
            <a:pPr algn="l">
              <a:lnSpc>
                <a:spcPts val="2448"/>
              </a:lnSpc>
            </a:pPr>
            <a:r>
              <a:rPr lang="en-US" sz="1275">
                <a:solidFill>
                  <a:srgbClr val="003865"/>
                </a:solidFill>
                <a:latin typeface="Arial"/>
                <a:ea typeface="Arial"/>
                <a:cs typeface="Arial"/>
                <a:sym typeface="Arial"/>
              </a:rPr>
              <a:t>HC52 </a:t>
            </a:r>
            <a:r>
              <a:rPr lang="en-US" sz="1275">
                <a:solidFill>
                  <a:srgbClr val="1E1E1E"/>
                </a:solidFill>
                <a:latin typeface="Arial"/>
                <a:ea typeface="Arial"/>
                <a:cs typeface="Arial"/>
                <a:sym typeface="Arial"/>
              </a:rPr>
              <a:t>consentimiento informado — candidata a DROP por ruido administrativo</a:t>
            </a:r>
          </a:p>
        </p:txBody>
      </p:sp>
      <p:sp>
        <p:nvSpPr>
          <p:cNvPr name="TextBox 144" id="144"/>
          <p:cNvSpPr txBox="true"/>
          <p:nvPr/>
        </p:nvSpPr>
        <p:spPr>
          <a:xfrm rot="0">
            <a:off x="12338009" y="6826253"/>
            <a:ext cx="5746794" cy="244478"/>
          </a:xfrm>
          <a:prstGeom prst="rect">
            <a:avLst/>
          </a:prstGeom>
        </p:spPr>
        <p:txBody>
          <a:bodyPr anchor="t" rtlCol="false" tIns="0" lIns="0" bIns="0" rIns="0">
            <a:spAutoFit/>
          </a:bodyPr>
          <a:lstStyle/>
          <a:p>
            <a:pPr algn="l">
              <a:lnSpc>
                <a:spcPts val="1889"/>
              </a:lnSpc>
            </a:pPr>
            <a:r>
              <a:rPr lang="en-US" sz="1125" i="true">
                <a:solidFill>
                  <a:srgbClr val="6B7280"/>
                </a:solidFill>
                <a:latin typeface="Arial Italics"/>
                <a:ea typeface="Arial Italics"/>
                <a:cs typeface="Arial Italics"/>
                <a:sym typeface="Arial Italics"/>
              </a:rPr>
              <a:t>Mutación semántica histórica: “Rechazada” → “Rechazó/otro”</a:t>
            </a:r>
          </a:p>
        </p:txBody>
      </p:sp>
      <p:sp>
        <p:nvSpPr>
          <p:cNvPr name="TextBox 145" id="145"/>
          <p:cNvSpPr txBox="true"/>
          <p:nvPr/>
        </p:nvSpPr>
        <p:spPr>
          <a:xfrm rot="0">
            <a:off x="12345629" y="7519673"/>
            <a:ext cx="5730030" cy="233048"/>
          </a:xfrm>
          <a:prstGeom prst="rect">
            <a:avLst/>
          </a:prstGeom>
        </p:spPr>
        <p:txBody>
          <a:bodyPr anchor="t" rtlCol="false" tIns="0" lIns="0" bIns="0" rIns="0">
            <a:spAutoFit/>
          </a:bodyPr>
          <a:lstStyle/>
          <a:p>
            <a:pPr algn="l">
              <a:lnSpc>
                <a:spcPts val="1889"/>
              </a:lnSpc>
            </a:pPr>
            <a:r>
              <a:rPr lang="en-US" sz="1575" b="true">
                <a:solidFill>
                  <a:srgbClr val="003865"/>
                </a:solidFill>
                <a:latin typeface="Arial Bold"/>
                <a:ea typeface="Arial Bold"/>
                <a:cs typeface="Arial Bold"/>
                <a:sym typeface="Arial Bold"/>
              </a:rPr>
              <a:t>Llave de unión clínica</a:t>
            </a:r>
          </a:p>
        </p:txBody>
      </p:sp>
      <p:sp>
        <p:nvSpPr>
          <p:cNvPr name="TextBox 146" id="146"/>
          <p:cNvSpPr txBox="true"/>
          <p:nvPr/>
        </p:nvSpPr>
        <p:spPr>
          <a:xfrm rot="0">
            <a:off x="12345629" y="7746368"/>
            <a:ext cx="5362156" cy="610238"/>
          </a:xfrm>
          <a:prstGeom prst="rect">
            <a:avLst/>
          </a:prstGeom>
        </p:spPr>
        <p:txBody>
          <a:bodyPr anchor="t" rtlCol="false" tIns="0" lIns="0" bIns="0" rIns="0">
            <a:spAutoFit/>
          </a:bodyPr>
          <a:lstStyle/>
          <a:p>
            <a:pPr algn="l">
              <a:lnSpc>
                <a:spcPts val="2448"/>
              </a:lnSpc>
            </a:pPr>
            <a:r>
              <a:rPr lang="en-US" sz="1275">
                <a:solidFill>
                  <a:srgbClr val="003865"/>
                </a:solidFill>
                <a:latin typeface="Arial"/>
                <a:ea typeface="Arial"/>
                <a:cs typeface="Arial"/>
                <a:sym typeface="Arial"/>
              </a:rPr>
              <a:t>HC55 </a:t>
            </a:r>
            <a:r>
              <a:rPr lang="en-US" sz="1275">
                <a:solidFill>
                  <a:srgbClr val="1E1E1E"/>
                </a:solidFill>
                <a:latin typeface="Arial"/>
                <a:ea typeface="Arial"/>
                <a:cs typeface="Arial"/>
                <a:sym typeface="Arial"/>
              </a:rPr>
              <a:t>resultado de la prueba sirve para imputar nulos en </a:t>
            </a:r>
            <a:r>
              <a:rPr lang="en-US" sz="1275">
                <a:solidFill>
                  <a:srgbClr val="003865"/>
                </a:solidFill>
                <a:latin typeface="Arial"/>
                <a:ea typeface="Arial"/>
                <a:cs typeface="Arial"/>
                <a:sym typeface="Arial"/>
              </a:rPr>
              <a:t>HC53 </a:t>
            </a:r>
            <a:r>
              <a:rPr lang="en-US" sz="1275">
                <a:solidFill>
                  <a:srgbClr val="1E1E1E"/>
                </a:solidFill>
                <a:latin typeface="Arial"/>
                <a:ea typeface="Arial"/>
                <a:cs typeface="Arial"/>
                <a:sym typeface="Arial"/>
              </a:rPr>
              <a:t>(hemoglobina)</a:t>
            </a:r>
          </a:p>
        </p:txBody>
      </p:sp>
      <p:sp>
        <p:nvSpPr>
          <p:cNvPr name="TextBox 147" id="147"/>
          <p:cNvSpPr txBox="true"/>
          <p:nvPr/>
        </p:nvSpPr>
        <p:spPr>
          <a:xfrm rot="0">
            <a:off x="730253" y="9041768"/>
            <a:ext cx="5377729" cy="505463"/>
          </a:xfrm>
          <a:prstGeom prst="rect">
            <a:avLst/>
          </a:prstGeom>
        </p:spPr>
        <p:txBody>
          <a:bodyPr anchor="t" rtlCol="false" tIns="0" lIns="0" bIns="0" rIns="0">
            <a:spAutoFit/>
          </a:bodyPr>
          <a:lstStyle/>
          <a:p>
            <a:pPr algn="l">
              <a:lnSpc>
                <a:spcPts val="2088"/>
              </a:lnSpc>
            </a:pPr>
            <a:r>
              <a:rPr lang="en-US" sz="1200">
                <a:solidFill>
                  <a:srgbClr val="1E1E1E"/>
                </a:solidFill>
                <a:latin typeface="Arial"/>
                <a:ea typeface="Arial"/>
                <a:cs typeface="Arial"/>
                <a:sym typeface="Arial"/>
              </a:rPr>
              <a:t>HC57 y HC57A comparten exactamente las mismas categorías (1–4), facilitando el COALESCE de anemia.</a:t>
            </a:r>
          </a:p>
        </p:txBody>
      </p:sp>
      <p:sp>
        <p:nvSpPr>
          <p:cNvPr name="TextBox 148" id="148"/>
          <p:cNvSpPr txBox="true"/>
          <p:nvPr/>
        </p:nvSpPr>
        <p:spPr>
          <a:xfrm rot="0">
            <a:off x="6534074" y="9041768"/>
            <a:ext cx="5377853" cy="505463"/>
          </a:xfrm>
          <a:prstGeom prst="rect">
            <a:avLst/>
          </a:prstGeom>
        </p:spPr>
        <p:txBody>
          <a:bodyPr anchor="t" rtlCol="false" tIns="0" lIns="0" bIns="0" rIns="0">
            <a:spAutoFit/>
          </a:bodyPr>
          <a:lstStyle/>
          <a:p>
            <a:pPr algn="l">
              <a:lnSpc>
                <a:spcPts val="2088"/>
              </a:lnSpc>
            </a:pPr>
            <a:r>
              <a:rPr lang="en-US" sz="1200">
                <a:solidFill>
                  <a:srgbClr val="1E1E1E"/>
                </a:solidFill>
                <a:latin typeface="Arial"/>
                <a:ea typeface="Arial"/>
                <a:cs typeface="Arial"/>
                <a:sym typeface="Arial"/>
              </a:rPr>
              <a:t>La coexistencia de HC56/HC57 con HC56A/HC57A confirma un cambio oficial de criterio MINSA en 2024.</a:t>
            </a:r>
          </a:p>
        </p:txBody>
      </p:sp>
      <p:sp>
        <p:nvSpPr>
          <p:cNvPr name="TextBox 149" id="149"/>
          <p:cNvSpPr txBox="true"/>
          <p:nvPr/>
        </p:nvSpPr>
        <p:spPr>
          <a:xfrm rot="0">
            <a:off x="12338009" y="8834123"/>
            <a:ext cx="5746794" cy="204473"/>
          </a:xfrm>
          <a:prstGeom prst="rect">
            <a:avLst/>
          </a:prstGeom>
        </p:spPr>
        <p:txBody>
          <a:bodyPr anchor="t" rtlCol="false" tIns="0" lIns="0" bIns="0" rIns="0">
            <a:spAutoFit/>
          </a:bodyPr>
          <a:lstStyle/>
          <a:p>
            <a:pPr algn="l">
              <a:lnSpc>
                <a:spcPts val="1620"/>
              </a:lnSpc>
            </a:pPr>
            <a:r>
              <a:rPr lang="en-US" sz="1350" b="true">
                <a:solidFill>
                  <a:srgbClr val="003865"/>
                </a:solidFill>
                <a:latin typeface="Arial Bold"/>
                <a:ea typeface="Arial Bold"/>
                <a:cs typeface="Arial Bold"/>
                <a:sym typeface="Arial Bold"/>
              </a:rPr>
              <a:t>Regla general de limpieza</a:t>
            </a:r>
          </a:p>
        </p:txBody>
      </p:sp>
      <p:sp>
        <p:nvSpPr>
          <p:cNvPr name="TextBox 150" id="150"/>
          <p:cNvSpPr txBox="true"/>
          <p:nvPr/>
        </p:nvSpPr>
        <p:spPr>
          <a:xfrm rot="0">
            <a:off x="12338009" y="9041768"/>
            <a:ext cx="5377853" cy="505463"/>
          </a:xfrm>
          <a:prstGeom prst="rect">
            <a:avLst/>
          </a:prstGeom>
        </p:spPr>
        <p:txBody>
          <a:bodyPr anchor="t" rtlCol="false" tIns="0" lIns="0" bIns="0" rIns="0">
            <a:spAutoFit/>
          </a:bodyPr>
          <a:lstStyle/>
          <a:p>
            <a:pPr algn="l">
              <a:lnSpc>
                <a:spcPts val="2088"/>
              </a:lnSpc>
            </a:pPr>
            <a:r>
              <a:rPr lang="en-US" sz="1200">
                <a:solidFill>
                  <a:srgbClr val="1E1E1E"/>
                </a:solidFill>
                <a:latin typeface="Arial"/>
                <a:ea typeface="Arial"/>
                <a:cs typeface="Arial"/>
                <a:sym typeface="Arial"/>
              </a:rPr>
              <a:t>Mapear códigos SPSS (8, 97, 98, 9996–9998, 99998) a NaN antes de cualquier transformación numérica (ej. ÷10, ÷100).</a:t>
            </a:r>
          </a:p>
        </p:txBody>
      </p:sp>
      <p:sp>
        <p:nvSpPr>
          <p:cNvPr name="TextBox 151" id="151"/>
          <p:cNvSpPr txBox="true"/>
          <p:nvPr/>
        </p:nvSpPr>
        <p:spPr>
          <a:xfrm rot="0">
            <a:off x="15678001" y="97821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11</a:t>
            </a:r>
          </a:p>
        </p:txBody>
      </p:sp>
      <p:grpSp>
        <p:nvGrpSpPr>
          <p:cNvPr name="Group 152" id="152"/>
          <p:cNvGrpSpPr/>
          <p:nvPr/>
        </p:nvGrpSpPr>
        <p:grpSpPr>
          <a:xfrm rot="0">
            <a:off x="15233028" y="607724"/>
            <a:ext cx="18126" cy="835600"/>
            <a:chOff x="0" y="0"/>
            <a:chExt cx="24168" cy="1114133"/>
          </a:xfrm>
        </p:grpSpPr>
        <p:sp>
          <p:nvSpPr>
            <p:cNvPr name="Freeform 153" id="153"/>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154" id="154"/>
          <p:cNvSpPr txBox="true"/>
          <p:nvPr/>
        </p:nvSpPr>
        <p:spPr>
          <a:xfrm rot="0">
            <a:off x="14540989" y="7969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155" id="155"/>
          <p:cNvSpPr txBox="true"/>
          <p:nvPr/>
        </p:nvSpPr>
        <p:spPr>
          <a:xfrm rot="0">
            <a:off x="14540989" y="11062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Freeform 8" id="8"/>
          <p:cNvSpPr/>
          <p:nvPr/>
        </p:nvSpPr>
        <p:spPr>
          <a:xfrm flipH="false" flipV="false" rot="0">
            <a:off x="1455723" y="4779348"/>
            <a:ext cx="7191308" cy="3751822"/>
          </a:xfrm>
          <a:custGeom>
            <a:avLst/>
            <a:gdLst/>
            <a:ahLst/>
            <a:cxnLst/>
            <a:rect r="r" b="b" t="t" l="l"/>
            <a:pathLst>
              <a:path h="3751822" w="7191308">
                <a:moveTo>
                  <a:pt x="0" y="0"/>
                </a:moveTo>
                <a:lnTo>
                  <a:pt x="7191308" y="0"/>
                </a:lnTo>
                <a:lnTo>
                  <a:pt x="7191308" y="3751823"/>
                </a:lnTo>
                <a:lnTo>
                  <a:pt x="0" y="3751823"/>
                </a:lnTo>
                <a:lnTo>
                  <a:pt x="0" y="0"/>
                </a:lnTo>
                <a:close/>
              </a:path>
            </a:pathLst>
          </a:custGeom>
          <a:blipFill>
            <a:blip r:embed="rId8"/>
            <a:stretch>
              <a:fillRect l="0" t="-15" r="0" b="-15"/>
            </a:stretch>
          </a:blipFill>
        </p:spPr>
      </p:sp>
      <p:sp>
        <p:nvSpPr>
          <p:cNvPr name="Freeform 9" id="9"/>
          <p:cNvSpPr/>
          <p:nvPr/>
        </p:nvSpPr>
        <p:spPr>
          <a:xfrm flipH="false" flipV="false" rot="0">
            <a:off x="9241221" y="1447227"/>
            <a:ext cx="5816575" cy="7090415"/>
          </a:xfrm>
          <a:custGeom>
            <a:avLst/>
            <a:gdLst/>
            <a:ahLst/>
            <a:cxnLst/>
            <a:rect r="r" b="b" t="t" l="l"/>
            <a:pathLst>
              <a:path h="7090415" w="5816575">
                <a:moveTo>
                  <a:pt x="0" y="0"/>
                </a:moveTo>
                <a:lnTo>
                  <a:pt x="5816575" y="0"/>
                </a:lnTo>
                <a:lnTo>
                  <a:pt x="5816575" y="7090415"/>
                </a:lnTo>
                <a:lnTo>
                  <a:pt x="0" y="7090415"/>
                </a:lnTo>
                <a:lnTo>
                  <a:pt x="0" y="0"/>
                </a:lnTo>
                <a:close/>
              </a:path>
            </a:pathLst>
          </a:custGeom>
          <a:blipFill>
            <a:blip r:embed="rId9"/>
            <a:stretch>
              <a:fillRect l="0" t="0" r="0" b="0"/>
            </a:stretch>
          </a:blipFill>
        </p:spPr>
      </p:sp>
      <p:sp>
        <p:nvSpPr>
          <p:cNvPr name="Freeform 10" id="10"/>
          <p:cNvSpPr/>
          <p:nvPr/>
        </p:nvSpPr>
        <p:spPr>
          <a:xfrm flipH="false" flipV="false" rot="0">
            <a:off x="1455723" y="1561529"/>
            <a:ext cx="6227725" cy="3103518"/>
          </a:xfrm>
          <a:custGeom>
            <a:avLst/>
            <a:gdLst/>
            <a:ahLst/>
            <a:cxnLst/>
            <a:rect r="r" b="b" t="t" l="l"/>
            <a:pathLst>
              <a:path h="3103518" w="6227725">
                <a:moveTo>
                  <a:pt x="0" y="0"/>
                </a:moveTo>
                <a:lnTo>
                  <a:pt x="6227725" y="0"/>
                </a:lnTo>
                <a:lnTo>
                  <a:pt x="6227725" y="3103518"/>
                </a:lnTo>
                <a:lnTo>
                  <a:pt x="0" y="3103518"/>
                </a:lnTo>
                <a:lnTo>
                  <a:pt x="0" y="0"/>
                </a:lnTo>
                <a:close/>
              </a:path>
            </a:pathLst>
          </a:custGeom>
          <a:blipFill>
            <a:blip r:embed="rId10"/>
            <a:stretch>
              <a:fillRect l="0" t="0" r="0" b="0"/>
            </a:stretch>
          </a:blipFill>
        </p:spPr>
      </p:sp>
      <p:sp>
        <p:nvSpPr>
          <p:cNvPr name="TextBox 11" id="11"/>
          <p:cNvSpPr txBox="true"/>
          <p:nvPr/>
        </p:nvSpPr>
        <p:spPr>
          <a:xfrm rot="0">
            <a:off x="925450" y="8985266"/>
            <a:ext cx="5778516" cy="326935"/>
          </a:xfrm>
          <a:prstGeom prst="rect">
            <a:avLst/>
          </a:prstGeom>
        </p:spPr>
        <p:txBody>
          <a:bodyPr anchor="t" rtlCol="false" tIns="0" lIns="0" bIns="0" rIns="0">
            <a:spAutoFit/>
          </a:bodyPr>
          <a:lstStyle/>
          <a:p>
            <a:pPr algn="l">
              <a:lnSpc>
                <a:spcPts val="2507"/>
              </a:lnSpc>
            </a:pPr>
            <a:r>
              <a:rPr lang="en-US" sz="1791" u="sng">
                <a:solidFill>
                  <a:srgbClr val="000000"/>
                </a:solidFill>
                <a:latin typeface="Arimo"/>
                <a:ea typeface="Arimo"/>
                <a:cs typeface="Arimo"/>
                <a:sym typeface="Arimo"/>
                <a:hlinkClick r:id="rId11" tooltip="https://www.who.int/tools/child-growth-standards/software"/>
              </a:rPr>
              <a:t>https://www.who.int/tools/child-growth-standards/software</a:t>
            </a:r>
          </a:p>
        </p:txBody>
      </p:sp>
      <p:sp>
        <p:nvSpPr>
          <p:cNvPr name="TextBox 12" id="12"/>
          <p:cNvSpPr txBox="true"/>
          <p:nvPr/>
        </p:nvSpPr>
        <p:spPr>
          <a:xfrm rot="0">
            <a:off x="6410349" y="834819"/>
            <a:ext cx="3416722" cy="323850"/>
          </a:xfrm>
          <a:prstGeom prst="rect">
            <a:avLst/>
          </a:prstGeom>
        </p:spPr>
        <p:txBody>
          <a:bodyPr anchor="t" rtlCol="false" tIns="0" lIns="0" bIns="0" rIns="0">
            <a:spAutoFit/>
          </a:bodyPr>
          <a:lstStyle/>
          <a:p>
            <a:pPr algn="ctr">
              <a:lnSpc>
                <a:spcPts val="2553"/>
              </a:lnSpc>
              <a:spcBef>
                <a:spcPct val="0"/>
              </a:spcBef>
            </a:pPr>
            <a:r>
              <a:rPr lang="en-US" b="true" sz="2127">
                <a:solidFill>
                  <a:srgbClr val="12315F"/>
                </a:solidFill>
                <a:latin typeface="DM Sans Bold"/>
                <a:ea typeface="DM Sans Bold"/>
                <a:cs typeface="DM Sans Bold"/>
                <a:sym typeface="DM Sans Bold"/>
              </a:rPr>
              <a:t>Comprensión de los datos</a:t>
            </a:r>
          </a:p>
        </p:txBody>
      </p:sp>
      <p:sp>
        <p:nvSpPr>
          <p:cNvPr name="TextBox 13" id="13"/>
          <p:cNvSpPr txBox="true"/>
          <p:nvPr/>
        </p:nvSpPr>
        <p:spPr>
          <a:xfrm rot="0">
            <a:off x="15678001" y="9761571"/>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12</a:t>
            </a:r>
          </a:p>
        </p:txBody>
      </p:sp>
      <p:sp>
        <p:nvSpPr>
          <p:cNvPr name="TextBox 14" id="14"/>
          <p:cNvSpPr txBox="true"/>
          <p:nvPr/>
        </p:nvSpPr>
        <p:spPr>
          <a:xfrm rot="0">
            <a:off x="14540989" y="7969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15" id="15"/>
          <p:cNvSpPr txBox="true"/>
          <p:nvPr/>
        </p:nvSpPr>
        <p:spPr>
          <a:xfrm rot="0">
            <a:off x="14540989" y="11062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9" id="9"/>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Freeform 10" id="10"/>
          <p:cNvSpPr/>
          <p:nvPr/>
        </p:nvSpPr>
        <p:spPr>
          <a:xfrm flipH="false" flipV="false" rot="0">
            <a:off x="1346107" y="1915795"/>
            <a:ext cx="7671679" cy="2953597"/>
          </a:xfrm>
          <a:custGeom>
            <a:avLst/>
            <a:gdLst/>
            <a:ahLst/>
            <a:cxnLst/>
            <a:rect r="r" b="b" t="t" l="l"/>
            <a:pathLst>
              <a:path h="2953597" w="7671679">
                <a:moveTo>
                  <a:pt x="0" y="0"/>
                </a:moveTo>
                <a:lnTo>
                  <a:pt x="7671679" y="0"/>
                </a:lnTo>
                <a:lnTo>
                  <a:pt x="7671679" y="2953597"/>
                </a:lnTo>
                <a:lnTo>
                  <a:pt x="0" y="2953597"/>
                </a:lnTo>
                <a:lnTo>
                  <a:pt x="0" y="0"/>
                </a:lnTo>
                <a:close/>
              </a:path>
            </a:pathLst>
          </a:custGeom>
          <a:blipFill>
            <a:blip r:embed="rId9"/>
            <a:stretch>
              <a:fillRect l="0" t="0" r="0" b="0"/>
            </a:stretch>
          </a:blipFill>
        </p:spPr>
      </p:sp>
      <p:sp>
        <p:nvSpPr>
          <p:cNvPr name="Freeform 11" id="11"/>
          <p:cNvSpPr/>
          <p:nvPr/>
        </p:nvSpPr>
        <p:spPr>
          <a:xfrm flipH="false" flipV="false" rot="0">
            <a:off x="1346107" y="5015679"/>
            <a:ext cx="8162963" cy="3321305"/>
          </a:xfrm>
          <a:custGeom>
            <a:avLst/>
            <a:gdLst/>
            <a:ahLst/>
            <a:cxnLst/>
            <a:rect r="r" b="b" t="t" l="l"/>
            <a:pathLst>
              <a:path h="3321305" w="8162963">
                <a:moveTo>
                  <a:pt x="0" y="0"/>
                </a:moveTo>
                <a:lnTo>
                  <a:pt x="8162963" y="0"/>
                </a:lnTo>
                <a:lnTo>
                  <a:pt x="8162963" y="3321306"/>
                </a:lnTo>
                <a:lnTo>
                  <a:pt x="0" y="3321306"/>
                </a:lnTo>
                <a:lnTo>
                  <a:pt x="0" y="0"/>
                </a:lnTo>
                <a:close/>
              </a:path>
            </a:pathLst>
          </a:custGeom>
          <a:blipFill>
            <a:blip r:embed="rId10"/>
            <a:stretch>
              <a:fillRect l="0" t="0" r="0" b="0"/>
            </a:stretch>
          </a:blipFill>
        </p:spPr>
      </p:sp>
      <p:sp>
        <p:nvSpPr>
          <p:cNvPr name="Freeform 12" id="12"/>
          <p:cNvSpPr/>
          <p:nvPr/>
        </p:nvSpPr>
        <p:spPr>
          <a:xfrm flipH="false" flipV="false" rot="0">
            <a:off x="9509070" y="2009149"/>
            <a:ext cx="5548727" cy="1848420"/>
          </a:xfrm>
          <a:custGeom>
            <a:avLst/>
            <a:gdLst/>
            <a:ahLst/>
            <a:cxnLst/>
            <a:rect r="r" b="b" t="t" l="l"/>
            <a:pathLst>
              <a:path h="1848420" w="5548727">
                <a:moveTo>
                  <a:pt x="0" y="0"/>
                </a:moveTo>
                <a:lnTo>
                  <a:pt x="5548726" y="0"/>
                </a:lnTo>
                <a:lnTo>
                  <a:pt x="5548726" y="1848419"/>
                </a:lnTo>
                <a:lnTo>
                  <a:pt x="0" y="1848419"/>
                </a:lnTo>
                <a:lnTo>
                  <a:pt x="0" y="0"/>
                </a:lnTo>
                <a:close/>
              </a:path>
            </a:pathLst>
          </a:custGeom>
          <a:blipFill>
            <a:blip r:embed="rId11"/>
            <a:stretch>
              <a:fillRect l="0" t="0" r="0" b="0"/>
            </a:stretch>
          </a:blipFill>
        </p:spPr>
      </p:sp>
      <p:sp>
        <p:nvSpPr>
          <p:cNvPr name="Freeform 13" id="13"/>
          <p:cNvSpPr/>
          <p:nvPr/>
        </p:nvSpPr>
        <p:spPr>
          <a:xfrm flipH="false" flipV="false" rot="0">
            <a:off x="10439856" y="4104741"/>
            <a:ext cx="3903886" cy="3920427"/>
          </a:xfrm>
          <a:custGeom>
            <a:avLst/>
            <a:gdLst/>
            <a:ahLst/>
            <a:cxnLst/>
            <a:rect r="r" b="b" t="t" l="l"/>
            <a:pathLst>
              <a:path h="3920427" w="3903886">
                <a:moveTo>
                  <a:pt x="0" y="0"/>
                </a:moveTo>
                <a:lnTo>
                  <a:pt x="3903885" y="0"/>
                </a:lnTo>
                <a:lnTo>
                  <a:pt x="3903885" y="3920428"/>
                </a:lnTo>
                <a:lnTo>
                  <a:pt x="0" y="3920428"/>
                </a:lnTo>
                <a:lnTo>
                  <a:pt x="0" y="0"/>
                </a:lnTo>
                <a:close/>
              </a:path>
            </a:pathLst>
          </a:custGeom>
          <a:blipFill>
            <a:blip r:embed="rId12"/>
            <a:stretch>
              <a:fillRect l="0" t="0" r="0" b="0"/>
            </a:stretch>
          </a:blipFill>
        </p:spPr>
      </p:sp>
      <p:sp>
        <p:nvSpPr>
          <p:cNvPr name="TextBox 14" id="14"/>
          <p:cNvSpPr txBox="true"/>
          <p:nvPr/>
        </p:nvSpPr>
        <p:spPr>
          <a:xfrm rot="0">
            <a:off x="1096900" y="8837285"/>
            <a:ext cx="5540374" cy="315816"/>
          </a:xfrm>
          <a:prstGeom prst="rect">
            <a:avLst/>
          </a:prstGeom>
        </p:spPr>
        <p:txBody>
          <a:bodyPr anchor="t" rtlCol="false" tIns="0" lIns="0" bIns="0" rIns="0">
            <a:spAutoFit/>
          </a:bodyPr>
          <a:lstStyle/>
          <a:p>
            <a:pPr algn="l">
              <a:lnSpc>
                <a:spcPts val="2404"/>
              </a:lnSpc>
            </a:pPr>
            <a:r>
              <a:rPr lang="en-US" sz="1717" u="sng">
                <a:solidFill>
                  <a:srgbClr val="000000"/>
                </a:solidFill>
                <a:latin typeface="Arimo"/>
                <a:ea typeface="Arimo"/>
                <a:cs typeface="Arimo"/>
                <a:sym typeface="Arimo"/>
                <a:hlinkClick r:id="rId13" tooltip="https://www.who.int/tools/child-growth-standards/software"/>
              </a:rPr>
              <a:t>https://www.who.int/tools/child-growth-standards/software</a:t>
            </a:r>
          </a:p>
        </p:txBody>
      </p:sp>
      <p:sp>
        <p:nvSpPr>
          <p:cNvPr name="TextBox 15" id="15"/>
          <p:cNvSpPr txBox="true"/>
          <p:nvPr/>
        </p:nvSpPr>
        <p:spPr>
          <a:xfrm rot="0">
            <a:off x="6569453" y="1329909"/>
            <a:ext cx="2814204" cy="275525"/>
          </a:xfrm>
          <a:prstGeom prst="rect">
            <a:avLst/>
          </a:prstGeom>
        </p:spPr>
        <p:txBody>
          <a:bodyPr anchor="t" rtlCol="false" tIns="0" lIns="0" bIns="0" rIns="0">
            <a:spAutoFit/>
          </a:bodyPr>
          <a:lstStyle/>
          <a:p>
            <a:pPr algn="ctr">
              <a:lnSpc>
                <a:spcPts val="2217"/>
              </a:lnSpc>
              <a:spcBef>
                <a:spcPct val="0"/>
              </a:spcBef>
            </a:pPr>
            <a:r>
              <a:rPr lang="en-US" b="true" sz="1848">
                <a:solidFill>
                  <a:srgbClr val="12315F"/>
                </a:solidFill>
                <a:latin typeface="DM Sans Bold"/>
                <a:ea typeface="DM Sans Bold"/>
                <a:cs typeface="DM Sans Bold"/>
                <a:sym typeface="DM Sans Bold"/>
              </a:rPr>
              <a:t>Preparación de los datos</a:t>
            </a:r>
          </a:p>
        </p:txBody>
      </p:sp>
      <p:sp>
        <p:nvSpPr>
          <p:cNvPr name="TextBox 16" id="16"/>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13</a:t>
            </a:r>
          </a:p>
        </p:txBody>
      </p:sp>
      <p:sp>
        <p:nvSpPr>
          <p:cNvPr name="TextBox 17" id="17"/>
          <p:cNvSpPr txBox="true"/>
          <p:nvPr/>
        </p:nvSpPr>
        <p:spPr>
          <a:xfrm rot="0">
            <a:off x="14540989" y="7969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18" id="18"/>
          <p:cNvSpPr txBox="true"/>
          <p:nvPr/>
        </p:nvSpPr>
        <p:spPr>
          <a:xfrm rot="0">
            <a:off x="14540989" y="11062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9" id="9"/>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Freeform 10" id="10"/>
          <p:cNvSpPr/>
          <p:nvPr/>
        </p:nvSpPr>
        <p:spPr>
          <a:xfrm flipH="false" flipV="false" rot="0">
            <a:off x="1442890" y="1585428"/>
            <a:ext cx="7688922" cy="3167354"/>
          </a:xfrm>
          <a:custGeom>
            <a:avLst/>
            <a:gdLst/>
            <a:ahLst/>
            <a:cxnLst/>
            <a:rect r="r" b="b" t="t" l="l"/>
            <a:pathLst>
              <a:path h="3167354" w="7688922">
                <a:moveTo>
                  <a:pt x="0" y="0"/>
                </a:moveTo>
                <a:lnTo>
                  <a:pt x="7688922" y="0"/>
                </a:lnTo>
                <a:lnTo>
                  <a:pt x="7688922" y="3167354"/>
                </a:lnTo>
                <a:lnTo>
                  <a:pt x="0" y="3167354"/>
                </a:lnTo>
                <a:lnTo>
                  <a:pt x="0" y="0"/>
                </a:lnTo>
                <a:close/>
              </a:path>
            </a:pathLst>
          </a:custGeom>
          <a:blipFill>
            <a:blip r:embed="rId9"/>
            <a:stretch>
              <a:fillRect l="0" t="0" r="-19618" b="0"/>
            </a:stretch>
          </a:blipFill>
        </p:spPr>
      </p:sp>
      <p:sp>
        <p:nvSpPr>
          <p:cNvPr name="Freeform 11" id="11"/>
          <p:cNvSpPr/>
          <p:nvPr/>
        </p:nvSpPr>
        <p:spPr>
          <a:xfrm flipH="false" flipV="false" rot="0">
            <a:off x="7829331" y="4732469"/>
            <a:ext cx="7323720" cy="4229448"/>
          </a:xfrm>
          <a:custGeom>
            <a:avLst/>
            <a:gdLst/>
            <a:ahLst/>
            <a:cxnLst/>
            <a:rect r="r" b="b" t="t" l="l"/>
            <a:pathLst>
              <a:path h="4229448" w="7323720">
                <a:moveTo>
                  <a:pt x="0" y="0"/>
                </a:moveTo>
                <a:lnTo>
                  <a:pt x="7323721" y="0"/>
                </a:lnTo>
                <a:lnTo>
                  <a:pt x="7323721" y="4229448"/>
                </a:lnTo>
                <a:lnTo>
                  <a:pt x="0" y="4229448"/>
                </a:lnTo>
                <a:lnTo>
                  <a:pt x="0" y="0"/>
                </a:lnTo>
                <a:close/>
              </a:path>
            </a:pathLst>
          </a:custGeom>
          <a:blipFill>
            <a:blip r:embed="rId10"/>
            <a:stretch>
              <a:fillRect l="0" t="0" r="0" b="0"/>
            </a:stretch>
          </a:blipFill>
        </p:spPr>
      </p:sp>
      <p:sp>
        <p:nvSpPr>
          <p:cNvPr name="Freeform 12" id="12"/>
          <p:cNvSpPr/>
          <p:nvPr/>
        </p:nvSpPr>
        <p:spPr>
          <a:xfrm flipH="false" flipV="false" rot="0">
            <a:off x="1442890" y="5078504"/>
            <a:ext cx="6059395" cy="3883413"/>
          </a:xfrm>
          <a:custGeom>
            <a:avLst/>
            <a:gdLst/>
            <a:ahLst/>
            <a:cxnLst/>
            <a:rect r="r" b="b" t="t" l="l"/>
            <a:pathLst>
              <a:path h="3883413" w="6059395">
                <a:moveTo>
                  <a:pt x="0" y="0"/>
                </a:moveTo>
                <a:lnTo>
                  <a:pt x="6059395" y="0"/>
                </a:lnTo>
                <a:lnTo>
                  <a:pt x="6059395" y="3883413"/>
                </a:lnTo>
                <a:lnTo>
                  <a:pt x="0" y="3883413"/>
                </a:lnTo>
                <a:lnTo>
                  <a:pt x="0" y="0"/>
                </a:lnTo>
                <a:close/>
              </a:path>
            </a:pathLst>
          </a:custGeom>
          <a:blipFill>
            <a:blip r:embed="rId11"/>
            <a:stretch>
              <a:fillRect l="0" t="0" r="0" b="0"/>
            </a:stretch>
          </a:blipFill>
        </p:spPr>
      </p:sp>
      <p:sp>
        <p:nvSpPr>
          <p:cNvPr name="TextBox 13" id="13"/>
          <p:cNvSpPr txBox="true"/>
          <p:nvPr/>
        </p:nvSpPr>
        <p:spPr>
          <a:xfrm rot="0">
            <a:off x="6380971" y="976103"/>
            <a:ext cx="2896722" cy="283604"/>
          </a:xfrm>
          <a:prstGeom prst="rect">
            <a:avLst/>
          </a:prstGeom>
        </p:spPr>
        <p:txBody>
          <a:bodyPr anchor="t" rtlCol="false" tIns="0" lIns="0" bIns="0" rIns="0">
            <a:spAutoFit/>
          </a:bodyPr>
          <a:lstStyle/>
          <a:p>
            <a:pPr algn="ctr">
              <a:lnSpc>
                <a:spcPts val="2282"/>
              </a:lnSpc>
              <a:spcBef>
                <a:spcPct val="0"/>
              </a:spcBef>
            </a:pPr>
            <a:r>
              <a:rPr lang="en-US" b="true" sz="1902">
                <a:solidFill>
                  <a:srgbClr val="12315F"/>
                </a:solidFill>
                <a:latin typeface="DM Sans Bold"/>
                <a:ea typeface="DM Sans Bold"/>
                <a:cs typeface="DM Sans Bold"/>
                <a:sym typeface="DM Sans Bold"/>
              </a:rPr>
              <a:t>Preparación de los datos</a:t>
            </a:r>
          </a:p>
        </p:txBody>
      </p:sp>
      <p:sp>
        <p:nvSpPr>
          <p:cNvPr name="TextBox 14" id="14"/>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14</a:t>
            </a:r>
          </a:p>
        </p:txBody>
      </p:sp>
      <p:sp>
        <p:nvSpPr>
          <p:cNvPr name="TextBox 15" id="15"/>
          <p:cNvSpPr txBox="true"/>
          <p:nvPr/>
        </p:nvSpPr>
        <p:spPr>
          <a:xfrm rot="0">
            <a:off x="14540989" y="7969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16" id="16"/>
          <p:cNvSpPr txBox="true"/>
          <p:nvPr/>
        </p:nvSpPr>
        <p:spPr>
          <a:xfrm rot="0">
            <a:off x="14540989" y="11062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959392" y="-6001817"/>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6985873" y="5085283"/>
            <a:ext cx="620030" cy="66675"/>
            <a:chOff x="0" y="0"/>
            <a:chExt cx="826706" cy="88900"/>
          </a:xfrm>
        </p:grpSpPr>
        <p:sp>
          <p:nvSpPr>
            <p:cNvPr name="Freeform 6" id="6"/>
            <p:cNvSpPr/>
            <p:nvPr/>
          </p:nvSpPr>
          <p:spPr>
            <a:xfrm flipH="false" flipV="false" rot="0">
              <a:off x="0" y="0"/>
              <a:ext cx="826770" cy="88900"/>
            </a:xfrm>
            <a:custGeom>
              <a:avLst/>
              <a:gdLst/>
              <a:ahLst/>
              <a:cxnLst/>
              <a:rect r="r" b="b" t="t" l="l"/>
              <a:pathLst>
                <a:path h="88900" w="826770">
                  <a:moveTo>
                    <a:pt x="0" y="0"/>
                  </a:moveTo>
                  <a:lnTo>
                    <a:pt x="826770" y="88900"/>
                  </a:lnTo>
                </a:path>
              </a:pathLst>
            </a:custGeom>
            <a:blipFill>
              <a:blip r:embed="rId4">
                <a:alphaModFix amt="0"/>
              </a:blip>
              <a:stretch>
                <a:fillRect l="0" t="-131196" r="7" b="-131196"/>
              </a:stretch>
            </a:blipFill>
            <a:ln w="66675" cap="sq">
              <a:solidFill>
                <a:srgbClr val="183685"/>
              </a:solidFill>
              <a:prstDash val="lgDash"/>
              <a:miter/>
            </a:ln>
          </p:spPr>
        </p:sp>
      </p:grpSp>
      <p:sp>
        <p:nvSpPr>
          <p:cNvPr name="Freeform 7" id="7"/>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14928228" y="302924"/>
            <a:ext cx="18126" cy="835600"/>
            <a:chOff x="0" y="0"/>
            <a:chExt cx="24168" cy="1114133"/>
          </a:xfrm>
        </p:grpSpPr>
        <p:sp>
          <p:nvSpPr>
            <p:cNvPr name="Freeform 10" id="10"/>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graphicFrame>
        <p:nvGraphicFramePr>
          <p:cNvPr name="Object 11" id="11"/>
          <p:cNvGraphicFramePr/>
          <p:nvPr/>
        </p:nvGraphicFramePr>
        <p:xfrm>
          <a:off x="515030" y="2619488"/>
          <a:ext cx="5657850" cy="6915150"/>
        </p:xfrm>
        <a:graphic>
          <a:graphicData uri="http://schemas.openxmlformats.org/presentationml/2006/ole">
            <p:oleObj imgW="7035800" imgH="82931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graphicFrame>
        <p:nvGraphicFramePr>
          <p:cNvPr name="Object 12" id="12"/>
          <p:cNvGraphicFramePr/>
          <p:nvPr/>
        </p:nvGraphicFramePr>
        <p:xfrm>
          <a:off x="4096577" y="2619488"/>
          <a:ext cx="5657850" cy="6915150"/>
        </p:xfrm>
        <a:graphic>
          <a:graphicData uri="http://schemas.openxmlformats.org/presentationml/2006/ole">
            <p:oleObj imgW="7035800" imgH="8293100" r:id="rId12" progId="Excel.Sheet.12" name="Worksheet">
              <p:embed/>
              <p:pic>
                <p:nvPicPr>
                  <p:cNvPr name="" id="0"/>
                  <p:cNvPicPr/>
                  <p:nvPr/>
                </p:nvPicPr>
                <p:blipFill>
                  <a:blip r:embed="rId11"/>
                  <a:stretch>
                    <a:fillRect/>
                  </a:stretch>
                </p:blipFill>
                <p:spPr>
                  <a:xfrm>
                    <a:off x="1270000" y="1270000"/>
                    <a:ext cx="1270000" cy="1270000"/>
                  </a:xfrm>
                  <a:prstGeom prst="rect"/>
                </p:spPr>
              </p:pic>
            </p:oleObj>
          </a:graphicData>
        </a:graphic>
      </p:graphicFrame>
      <p:graphicFrame>
        <p:nvGraphicFramePr>
          <p:cNvPr name="Object 13" id="13"/>
          <p:cNvGraphicFramePr/>
          <p:nvPr/>
        </p:nvGraphicFramePr>
        <p:xfrm>
          <a:off x="7786878" y="2619488"/>
          <a:ext cx="5657850" cy="6915150"/>
        </p:xfrm>
        <a:graphic>
          <a:graphicData uri="http://schemas.openxmlformats.org/presentationml/2006/ole">
            <p:oleObj imgW="7035800" imgH="8293100" r:id="rId14" progId="Excel.Sheet.12" name="Worksheet">
              <p:embed/>
              <p:pic>
                <p:nvPicPr>
                  <p:cNvPr name="" id="0"/>
                  <p:cNvPicPr/>
                  <p:nvPr/>
                </p:nvPicPr>
                <p:blipFill>
                  <a:blip r:embed="rId13"/>
                  <a:stretch>
                    <a:fillRect/>
                  </a:stretch>
                </p:blipFill>
                <p:spPr>
                  <a:xfrm>
                    <a:off x="1270000" y="1270000"/>
                    <a:ext cx="1270000" cy="1270000"/>
                  </a:xfrm>
                  <a:prstGeom prst="rect"/>
                </p:spPr>
              </p:pic>
            </p:oleObj>
          </a:graphicData>
        </a:graphic>
      </p:graphicFrame>
      <p:graphicFrame>
        <p:nvGraphicFramePr>
          <p:cNvPr name="Object 14" id="14"/>
          <p:cNvGraphicFramePr/>
          <p:nvPr/>
        </p:nvGraphicFramePr>
        <p:xfrm>
          <a:off x="11323505" y="2619488"/>
          <a:ext cx="5657850" cy="6915150"/>
        </p:xfrm>
        <a:graphic>
          <a:graphicData uri="http://schemas.openxmlformats.org/presentationml/2006/ole">
            <p:oleObj imgW="7035800" imgH="8293100" r:id="rId16" progId="Excel.Sheet.12" name="Worksheet">
              <p:embed/>
              <p:pic>
                <p:nvPicPr>
                  <p:cNvPr name="" id="0"/>
                  <p:cNvPicPr/>
                  <p:nvPr/>
                </p:nvPicPr>
                <p:blipFill>
                  <a:blip r:embed="rId15"/>
                  <a:stretch>
                    <a:fillRect/>
                  </a:stretch>
                </p:blipFill>
                <p:spPr>
                  <a:xfrm>
                    <a:off x="1270000" y="1270000"/>
                    <a:ext cx="1270000" cy="1270000"/>
                  </a:xfrm>
                  <a:prstGeom prst="rect"/>
                </p:spPr>
              </p:pic>
            </p:oleObj>
          </a:graphicData>
        </a:graphic>
      </p:graphicFrame>
      <p:graphicFrame>
        <p:nvGraphicFramePr>
          <p:cNvPr name="Object 15" id="15"/>
          <p:cNvGraphicFramePr/>
          <p:nvPr/>
        </p:nvGraphicFramePr>
        <p:xfrm>
          <a:off x="14937291" y="2791681"/>
          <a:ext cx="5657850" cy="2514600"/>
        </p:xfrm>
        <a:graphic>
          <a:graphicData uri="http://schemas.openxmlformats.org/presentationml/2006/ole">
            <p:oleObj imgW="6781800" imgH="3644900" r:id="rId18" progId="Excel.Sheet.12" name="Worksheet">
              <p:embed/>
              <p:pic>
                <p:nvPicPr>
                  <p:cNvPr name="" id="0"/>
                  <p:cNvPicPr/>
                  <p:nvPr/>
                </p:nvPicPr>
                <p:blipFill>
                  <a:blip r:embed="rId17"/>
                  <a:stretch>
                    <a:fillRect/>
                  </a:stretch>
                </p:blipFill>
                <p:spPr>
                  <a:xfrm>
                    <a:off x="1270000" y="1270000"/>
                    <a:ext cx="1270000" cy="1270000"/>
                  </a:xfrm>
                  <a:prstGeom prst="rect"/>
                </p:spPr>
              </p:pic>
            </p:oleObj>
          </a:graphicData>
        </a:graphic>
      </p:graphicFrame>
      <p:sp>
        <p:nvSpPr>
          <p:cNvPr name="TextBox 16" id="16"/>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17" id="17"/>
          <p:cNvGrpSpPr/>
          <p:nvPr/>
        </p:nvGrpSpPr>
        <p:grpSpPr>
          <a:xfrm rot="0">
            <a:off x="3433957" y="1468060"/>
            <a:ext cx="9152578" cy="2061685"/>
            <a:chOff x="0" y="0"/>
            <a:chExt cx="12203437" cy="2748914"/>
          </a:xfrm>
        </p:grpSpPr>
        <p:sp>
          <p:nvSpPr>
            <p:cNvPr name="TextBox 18" id="18"/>
            <p:cNvSpPr txBox="true"/>
            <p:nvPr/>
          </p:nvSpPr>
          <p:spPr>
            <a:xfrm rot="0">
              <a:off x="0" y="1986913"/>
              <a:ext cx="10781546" cy="762001"/>
            </a:xfrm>
            <a:prstGeom prst="rect">
              <a:avLst/>
            </a:prstGeom>
          </p:spPr>
          <p:txBody>
            <a:bodyPr anchor="t" rtlCol="false" tIns="0" lIns="0" bIns="0" rIns="0">
              <a:spAutoFit/>
            </a:bodyPr>
            <a:lstStyle/>
            <a:p>
              <a:pPr algn="ctr" marL="0" indent="0" lvl="0">
                <a:lnSpc>
                  <a:spcPts val="3825"/>
                </a:lnSpc>
                <a:spcBef>
                  <a:spcPct val="0"/>
                </a:spcBef>
              </a:pPr>
            </a:p>
          </p:txBody>
        </p:sp>
        <p:sp>
          <p:nvSpPr>
            <p:cNvPr name="TextBox 19" id="19"/>
            <p:cNvSpPr txBox="true"/>
            <p:nvPr/>
          </p:nvSpPr>
          <p:spPr>
            <a:xfrm rot="0">
              <a:off x="0" y="152400"/>
              <a:ext cx="12203437" cy="762001"/>
            </a:xfrm>
            <a:prstGeom prst="rect">
              <a:avLst/>
            </a:prstGeom>
          </p:spPr>
          <p:txBody>
            <a:bodyPr anchor="t" rtlCol="false" tIns="0" lIns="0" bIns="0" rIns="0">
              <a:spAutoFit/>
            </a:bodyPr>
            <a:lstStyle/>
            <a:p>
              <a:pPr algn="ctr" marL="0" indent="0" lvl="0">
                <a:lnSpc>
                  <a:spcPts val="3825"/>
                </a:lnSpc>
              </a:pPr>
              <a:r>
                <a:rPr lang="en-US" sz="4500">
                  <a:solidFill>
                    <a:srgbClr val="12315F"/>
                  </a:solidFill>
                  <a:latin typeface="Open Sans"/>
                  <a:ea typeface="Open Sans"/>
                  <a:cs typeface="Open Sans"/>
                  <a:sym typeface="Open Sans"/>
                </a:rPr>
                <a:t>Variables seleccionadas</a:t>
              </a:r>
            </a:p>
          </p:txBody>
        </p:sp>
      </p:grpSp>
      <p:sp>
        <p:nvSpPr>
          <p:cNvPr name="TextBox 20" id="20"/>
          <p:cNvSpPr txBox="true"/>
          <p:nvPr/>
        </p:nvSpPr>
        <p:spPr>
          <a:xfrm rot="0">
            <a:off x="3749495" y="589558"/>
            <a:ext cx="8244518" cy="704035"/>
          </a:xfrm>
          <a:prstGeom prst="rect">
            <a:avLst/>
          </a:prstGeom>
        </p:spPr>
        <p:txBody>
          <a:bodyPr anchor="t" rtlCol="false" tIns="0" lIns="0" bIns="0" rIns="0">
            <a:spAutoFit/>
          </a:bodyPr>
          <a:lstStyle/>
          <a:p>
            <a:pPr algn="ctr">
              <a:lnSpc>
                <a:spcPts val="5155"/>
              </a:lnSpc>
            </a:pPr>
            <a:r>
              <a:rPr lang="en-US" sz="5728" b="true">
                <a:solidFill>
                  <a:srgbClr val="003865"/>
                </a:solidFill>
                <a:latin typeface="DM Sans Bold"/>
                <a:ea typeface="DM Sans Bold"/>
                <a:cs typeface="DM Sans Bold"/>
                <a:sym typeface="DM Sans Bold"/>
              </a:rPr>
              <a:t>PRODUCTO INGENIERIL</a:t>
            </a:r>
          </a:p>
        </p:txBody>
      </p:sp>
      <p:sp>
        <p:nvSpPr>
          <p:cNvPr name="TextBox 21" id="21"/>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15</a:t>
            </a:r>
          </a:p>
        </p:txBody>
      </p:sp>
      <p:sp>
        <p:nvSpPr>
          <p:cNvPr name="TextBox 22" id="22"/>
          <p:cNvSpPr txBox="true"/>
          <p:nvPr/>
        </p:nvSpPr>
        <p:spPr>
          <a:xfrm rot="0">
            <a:off x="14540989" y="7969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23" id="23"/>
          <p:cNvSpPr txBox="true"/>
          <p:nvPr/>
        </p:nvSpPr>
        <p:spPr>
          <a:xfrm rot="0">
            <a:off x="14540989" y="11062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10093666" y="-6090712"/>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Freeform 9" id="9"/>
          <p:cNvSpPr/>
          <p:nvPr/>
        </p:nvSpPr>
        <p:spPr>
          <a:xfrm flipH="false" flipV="false" rot="0">
            <a:off x="7841133" y="976103"/>
            <a:ext cx="5753081" cy="8065877"/>
          </a:xfrm>
          <a:custGeom>
            <a:avLst/>
            <a:gdLst/>
            <a:ahLst/>
            <a:cxnLst/>
            <a:rect r="r" b="b" t="t" l="l"/>
            <a:pathLst>
              <a:path h="8065877" w="5753081">
                <a:moveTo>
                  <a:pt x="0" y="0"/>
                </a:moveTo>
                <a:lnTo>
                  <a:pt x="5753080" y="0"/>
                </a:lnTo>
                <a:lnTo>
                  <a:pt x="5753080" y="8065877"/>
                </a:lnTo>
                <a:lnTo>
                  <a:pt x="0" y="8065877"/>
                </a:lnTo>
                <a:lnTo>
                  <a:pt x="0" y="0"/>
                </a:lnTo>
                <a:close/>
              </a:path>
            </a:pathLst>
          </a:custGeom>
          <a:blipFill>
            <a:blip r:embed="rId9"/>
            <a:stretch>
              <a:fillRect l="0" t="0" r="0" b="0"/>
            </a:stretch>
          </a:blipFill>
        </p:spPr>
      </p:sp>
      <p:graphicFrame>
        <p:nvGraphicFramePr>
          <p:cNvPr name="Object 10" id="10"/>
          <p:cNvGraphicFramePr/>
          <p:nvPr/>
        </p:nvGraphicFramePr>
        <p:xfrm>
          <a:off x="586764" y="1603547"/>
          <a:ext cx="9429750" cy="3143250"/>
        </p:xfrm>
        <a:graphic>
          <a:graphicData uri="http://schemas.openxmlformats.org/presentationml/2006/ole">
            <p:oleObj imgW="11315700" imgH="50292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1" id="11"/>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TextBox 12" id="12"/>
          <p:cNvSpPr txBox="true"/>
          <p:nvPr/>
        </p:nvSpPr>
        <p:spPr>
          <a:xfrm rot="0">
            <a:off x="7649392" y="9498005"/>
            <a:ext cx="5896570" cy="317508"/>
          </a:xfrm>
          <a:prstGeom prst="rect">
            <a:avLst/>
          </a:prstGeom>
        </p:spPr>
        <p:txBody>
          <a:bodyPr anchor="t" rtlCol="false" tIns="0" lIns="0" bIns="0" rIns="0">
            <a:spAutoFit/>
          </a:bodyPr>
          <a:lstStyle/>
          <a:p>
            <a:pPr algn="ctr">
              <a:lnSpc>
                <a:spcPts val="2599"/>
              </a:lnSpc>
              <a:spcBef>
                <a:spcPct val="0"/>
              </a:spcBef>
            </a:pPr>
            <a:r>
              <a:rPr lang="en-US" b="true" sz="2000" spc="43" u="sng">
                <a:solidFill>
                  <a:srgbClr val="000000"/>
                </a:solidFill>
                <a:latin typeface="Prompt Bold"/>
                <a:ea typeface="Prompt Bold"/>
                <a:cs typeface="Prompt Bold"/>
                <a:sym typeface="Prompt Bold"/>
                <a:hlinkClick r:id="rId12" tooltip="https://doi.org/10.1186/s40795-020-00378-z"/>
              </a:rPr>
              <a:t>https://doi.org/10.1186/s40795-020-00378-z </a:t>
            </a:r>
          </a:p>
        </p:txBody>
      </p:sp>
      <p:sp>
        <p:nvSpPr>
          <p:cNvPr name="TextBox 13" id="13"/>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16</a:t>
            </a:r>
          </a:p>
        </p:txBody>
      </p:sp>
      <p:grpSp>
        <p:nvGrpSpPr>
          <p:cNvPr name="Group 14" id="14"/>
          <p:cNvGrpSpPr/>
          <p:nvPr/>
        </p:nvGrpSpPr>
        <p:grpSpPr>
          <a:xfrm rot="0">
            <a:off x="15080628" y="455324"/>
            <a:ext cx="18126" cy="835600"/>
            <a:chOff x="0" y="0"/>
            <a:chExt cx="24168" cy="1114133"/>
          </a:xfrm>
        </p:grpSpPr>
        <p:sp>
          <p:nvSpPr>
            <p:cNvPr name="Freeform 15" id="15"/>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16" id="16"/>
          <p:cNvSpPr txBox="true"/>
          <p:nvPr/>
        </p:nvSpPr>
        <p:spPr>
          <a:xfrm rot="0">
            <a:off x="14693389" y="9493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17" id="17"/>
          <p:cNvSpPr txBox="true"/>
          <p:nvPr/>
        </p:nvSpPr>
        <p:spPr>
          <a:xfrm rot="0">
            <a:off x="14693389" y="12586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959392" y="-5943135"/>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aphicFrame>
        <p:nvGraphicFramePr>
          <p:cNvPr name="Object 9" id="9"/>
          <p:cNvGraphicFramePr/>
          <p:nvPr/>
        </p:nvGraphicFramePr>
        <p:xfrm>
          <a:off x="628526" y="2965858"/>
          <a:ext cx="9429750" cy="1885950"/>
        </p:xfrm>
        <a:graphic>
          <a:graphicData uri="http://schemas.openxmlformats.org/presentationml/2006/ole">
            <p:oleObj imgW="11315700" imgH="37719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Freeform 10" id="10"/>
          <p:cNvSpPr/>
          <p:nvPr/>
        </p:nvSpPr>
        <p:spPr>
          <a:xfrm flipH="false" flipV="false" rot="0">
            <a:off x="7860294" y="7344502"/>
            <a:ext cx="6400955" cy="1211448"/>
          </a:xfrm>
          <a:custGeom>
            <a:avLst/>
            <a:gdLst/>
            <a:ahLst/>
            <a:cxnLst/>
            <a:rect r="r" b="b" t="t" l="l"/>
            <a:pathLst>
              <a:path h="1211448" w="6400955">
                <a:moveTo>
                  <a:pt x="0" y="0"/>
                </a:moveTo>
                <a:lnTo>
                  <a:pt x="6400955" y="0"/>
                </a:lnTo>
                <a:lnTo>
                  <a:pt x="6400955" y="1211448"/>
                </a:lnTo>
                <a:lnTo>
                  <a:pt x="0" y="1211448"/>
                </a:lnTo>
                <a:lnTo>
                  <a:pt x="0" y="0"/>
                </a:lnTo>
                <a:close/>
              </a:path>
            </a:pathLst>
          </a:custGeom>
          <a:blipFill>
            <a:blip r:embed="rId11"/>
            <a:stretch>
              <a:fillRect l="-1709" t="0" r="0" b="0"/>
            </a:stretch>
          </a:blipFill>
        </p:spPr>
      </p:sp>
      <p:sp>
        <p:nvSpPr>
          <p:cNvPr name="Freeform 11" id="11"/>
          <p:cNvSpPr/>
          <p:nvPr/>
        </p:nvSpPr>
        <p:spPr>
          <a:xfrm flipH="false" flipV="false" rot="0">
            <a:off x="7836127" y="1615659"/>
            <a:ext cx="6425122" cy="5521658"/>
          </a:xfrm>
          <a:custGeom>
            <a:avLst/>
            <a:gdLst/>
            <a:ahLst/>
            <a:cxnLst/>
            <a:rect r="r" b="b" t="t" l="l"/>
            <a:pathLst>
              <a:path h="5521658" w="6425122">
                <a:moveTo>
                  <a:pt x="0" y="0"/>
                </a:moveTo>
                <a:lnTo>
                  <a:pt x="6425122" y="0"/>
                </a:lnTo>
                <a:lnTo>
                  <a:pt x="6425122" y="5521658"/>
                </a:lnTo>
                <a:lnTo>
                  <a:pt x="0" y="5521658"/>
                </a:lnTo>
                <a:lnTo>
                  <a:pt x="0" y="0"/>
                </a:lnTo>
                <a:close/>
              </a:path>
            </a:pathLst>
          </a:custGeom>
          <a:blipFill>
            <a:blip r:embed="rId12"/>
            <a:stretch>
              <a:fillRect l="0" t="0" r="0" b="-957"/>
            </a:stretch>
          </a:blipFill>
        </p:spPr>
      </p:sp>
      <p:sp>
        <p:nvSpPr>
          <p:cNvPr name="TextBox 12" id="12"/>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TextBox 13" id="13"/>
          <p:cNvSpPr txBox="true"/>
          <p:nvPr/>
        </p:nvSpPr>
        <p:spPr>
          <a:xfrm rot="0">
            <a:off x="9795512" y="9239250"/>
            <a:ext cx="3391049" cy="317508"/>
          </a:xfrm>
          <a:prstGeom prst="rect">
            <a:avLst/>
          </a:prstGeom>
        </p:spPr>
        <p:txBody>
          <a:bodyPr anchor="t" rtlCol="false" tIns="0" lIns="0" bIns="0" rIns="0">
            <a:spAutoFit/>
          </a:bodyPr>
          <a:lstStyle/>
          <a:p>
            <a:pPr algn="ctr">
              <a:lnSpc>
                <a:spcPts val="2599"/>
              </a:lnSpc>
              <a:spcBef>
                <a:spcPct val="0"/>
              </a:spcBef>
            </a:pPr>
            <a:r>
              <a:rPr lang="en-US" b="true" sz="2000" spc="43">
                <a:solidFill>
                  <a:srgbClr val="000000"/>
                </a:solidFill>
                <a:latin typeface="Prompt Bold"/>
                <a:ea typeface="Prompt Bold"/>
                <a:cs typeface="Prompt Bold"/>
                <a:sym typeface="Prompt Bold"/>
              </a:rPr>
              <a:t>10.1186/s13052-017-0433-1</a:t>
            </a:r>
          </a:p>
        </p:txBody>
      </p:sp>
      <p:sp>
        <p:nvSpPr>
          <p:cNvPr name="TextBox 14" id="14"/>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17</a:t>
            </a:r>
          </a:p>
        </p:txBody>
      </p:sp>
      <p:sp>
        <p:nvSpPr>
          <p:cNvPr name="TextBox 15" id="15"/>
          <p:cNvSpPr txBox="true"/>
          <p:nvPr/>
        </p:nvSpPr>
        <p:spPr>
          <a:xfrm rot="0">
            <a:off x="14693389" y="471721"/>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16" id="16"/>
          <p:cNvSpPr txBox="true"/>
          <p:nvPr/>
        </p:nvSpPr>
        <p:spPr>
          <a:xfrm rot="0">
            <a:off x="14693389" y="777064"/>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959392" y="-5934739"/>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aphicFrame>
        <p:nvGraphicFramePr>
          <p:cNvPr name="Object 9" id="9"/>
          <p:cNvGraphicFramePr/>
          <p:nvPr/>
        </p:nvGraphicFramePr>
        <p:xfrm>
          <a:off x="211036" y="1306680"/>
          <a:ext cx="9429750" cy="6286500"/>
        </p:xfrm>
        <a:graphic>
          <a:graphicData uri="http://schemas.openxmlformats.org/presentationml/2006/ole">
            <p:oleObj imgW="11315700" imgH="81661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Freeform 10" id="10"/>
          <p:cNvSpPr/>
          <p:nvPr/>
        </p:nvSpPr>
        <p:spPr>
          <a:xfrm flipH="false" flipV="false" rot="0">
            <a:off x="6100189" y="287141"/>
            <a:ext cx="6398650" cy="5282490"/>
          </a:xfrm>
          <a:custGeom>
            <a:avLst/>
            <a:gdLst/>
            <a:ahLst/>
            <a:cxnLst/>
            <a:rect r="r" b="b" t="t" l="l"/>
            <a:pathLst>
              <a:path h="5282490" w="6398650">
                <a:moveTo>
                  <a:pt x="0" y="0"/>
                </a:moveTo>
                <a:lnTo>
                  <a:pt x="6398649" y="0"/>
                </a:lnTo>
                <a:lnTo>
                  <a:pt x="6398649" y="5282490"/>
                </a:lnTo>
                <a:lnTo>
                  <a:pt x="0" y="5282490"/>
                </a:lnTo>
                <a:lnTo>
                  <a:pt x="0" y="0"/>
                </a:lnTo>
                <a:close/>
              </a:path>
            </a:pathLst>
          </a:custGeom>
          <a:blipFill>
            <a:blip r:embed="rId11"/>
            <a:stretch>
              <a:fillRect l="0" t="0" r="0" b="-2915"/>
            </a:stretch>
          </a:blipFill>
        </p:spPr>
      </p:sp>
      <p:sp>
        <p:nvSpPr>
          <p:cNvPr name="Freeform 11" id="11"/>
          <p:cNvSpPr/>
          <p:nvPr/>
        </p:nvSpPr>
        <p:spPr>
          <a:xfrm flipH="false" flipV="false" rot="0">
            <a:off x="6085286" y="8500240"/>
            <a:ext cx="6449603" cy="1064331"/>
          </a:xfrm>
          <a:custGeom>
            <a:avLst/>
            <a:gdLst/>
            <a:ahLst/>
            <a:cxnLst/>
            <a:rect r="r" b="b" t="t" l="l"/>
            <a:pathLst>
              <a:path h="1064331" w="6449603">
                <a:moveTo>
                  <a:pt x="0" y="0"/>
                </a:moveTo>
                <a:lnTo>
                  <a:pt x="6449604" y="0"/>
                </a:lnTo>
                <a:lnTo>
                  <a:pt x="6449604" y="1064331"/>
                </a:lnTo>
                <a:lnTo>
                  <a:pt x="0" y="1064331"/>
                </a:lnTo>
                <a:lnTo>
                  <a:pt x="0" y="0"/>
                </a:lnTo>
                <a:close/>
              </a:path>
            </a:pathLst>
          </a:custGeom>
          <a:blipFill>
            <a:blip r:embed="rId12"/>
            <a:stretch>
              <a:fillRect l="0" t="-10085" r="-8999" b="0"/>
            </a:stretch>
          </a:blipFill>
        </p:spPr>
      </p:sp>
      <p:sp>
        <p:nvSpPr>
          <p:cNvPr name="Freeform 12" id="12"/>
          <p:cNvSpPr/>
          <p:nvPr/>
        </p:nvSpPr>
        <p:spPr>
          <a:xfrm flipH="false" flipV="false" rot="0">
            <a:off x="6111258" y="6859941"/>
            <a:ext cx="6397659" cy="1287969"/>
          </a:xfrm>
          <a:custGeom>
            <a:avLst/>
            <a:gdLst/>
            <a:ahLst/>
            <a:cxnLst/>
            <a:rect r="r" b="b" t="t" l="l"/>
            <a:pathLst>
              <a:path h="1287969" w="6397659">
                <a:moveTo>
                  <a:pt x="0" y="0"/>
                </a:moveTo>
                <a:lnTo>
                  <a:pt x="6397659" y="0"/>
                </a:lnTo>
                <a:lnTo>
                  <a:pt x="6397659" y="1287968"/>
                </a:lnTo>
                <a:lnTo>
                  <a:pt x="0" y="1287968"/>
                </a:lnTo>
                <a:lnTo>
                  <a:pt x="0" y="0"/>
                </a:lnTo>
                <a:close/>
              </a:path>
            </a:pathLst>
          </a:custGeom>
          <a:blipFill>
            <a:blip r:embed="rId13"/>
            <a:stretch>
              <a:fillRect l="0" t="0" r="0" b="-113730"/>
            </a:stretch>
          </a:blipFill>
        </p:spPr>
      </p:sp>
      <p:sp>
        <p:nvSpPr>
          <p:cNvPr name="TextBox 13" id="13"/>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Freeform 14" id="14"/>
          <p:cNvSpPr/>
          <p:nvPr/>
        </p:nvSpPr>
        <p:spPr>
          <a:xfrm flipH="false" flipV="false" rot="0">
            <a:off x="6111258" y="5801983"/>
            <a:ext cx="6387580" cy="825605"/>
          </a:xfrm>
          <a:custGeom>
            <a:avLst/>
            <a:gdLst/>
            <a:ahLst/>
            <a:cxnLst/>
            <a:rect r="r" b="b" t="t" l="l"/>
            <a:pathLst>
              <a:path h="825605" w="6387580">
                <a:moveTo>
                  <a:pt x="0" y="0"/>
                </a:moveTo>
                <a:lnTo>
                  <a:pt x="6387580" y="0"/>
                </a:lnTo>
                <a:lnTo>
                  <a:pt x="6387580" y="825605"/>
                </a:lnTo>
                <a:lnTo>
                  <a:pt x="0" y="825605"/>
                </a:lnTo>
                <a:lnTo>
                  <a:pt x="0" y="0"/>
                </a:lnTo>
                <a:close/>
              </a:path>
            </a:pathLst>
          </a:custGeom>
          <a:blipFill>
            <a:blip r:embed="rId13"/>
            <a:stretch>
              <a:fillRect l="0" t="-232900" r="0" b="0"/>
            </a:stretch>
          </a:blipFill>
        </p:spPr>
      </p:sp>
      <p:sp>
        <p:nvSpPr>
          <p:cNvPr name="TextBox 15" id="15"/>
          <p:cNvSpPr txBox="true"/>
          <p:nvPr/>
        </p:nvSpPr>
        <p:spPr>
          <a:xfrm rot="0">
            <a:off x="6546647" y="9796462"/>
            <a:ext cx="5526881" cy="317508"/>
          </a:xfrm>
          <a:prstGeom prst="rect">
            <a:avLst/>
          </a:prstGeom>
        </p:spPr>
        <p:txBody>
          <a:bodyPr anchor="t" rtlCol="false" tIns="0" lIns="0" bIns="0" rIns="0">
            <a:spAutoFit/>
          </a:bodyPr>
          <a:lstStyle/>
          <a:p>
            <a:pPr algn="ctr">
              <a:lnSpc>
                <a:spcPts val="2599"/>
              </a:lnSpc>
              <a:spcBef>
                <a:spcPct val="0"/>
              </a:spcBef>
            </a:pPr>
            <a:r>
              <a:rPr lang="en-US" b="true" sz="2000" spc="43" u="sng">
                <a:solidFill>
                  <a:srgbClr val="000000"/>
                </a:solidFill>
                <a:latin typeface="Prompt Bold"/>
                <a:ea typeface="Prompt Bold"/>
                <a:cs typeface="Prompt Bold"/>
                <a:sym typeface="Prompt Bold"/>
                <a:hlinkClick r:id="rId14" tooltip="https://doi.org/10.1186/s12937-019-0505-8"/>
              </a:rPr>
              <a:t>https://doi.org/10.1186/s12937-019-0505-8</a:t>
            </a:r>
          </a:p>
        </p:txBody>
      </p:sp>
      <p:sp>
        <p:nvSpPr>
          <p:cNvPr name="TextBox 16" id="16"/>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18</a:t>
            </a:r>
          </a:p>
        </p:txBody>
      </p:sp>
      <p:grpSp>
        <p:nvGrpSpPr>
          <p:cNvPr name="Group 17" id="17"/>
          <p:cNvGrpSpPr/>
          <p:nvPr/>
        </p:nvGrpSpPr>
        <p:grpSpPr>
          <a:xfrm rot="0">
            <a:off x="15080628" y="455324"/>
            <a:ext cx="18126" cy="835600"/>
            <a:chOff x="0" y="0"/>
            <a:chExt cx="24168" cy="1114133"/>
          </a:xfrm>
        </p:grpSpPr>
        <p:sp>
          <p:nvSpPr>
            <p:cNvPr name="Freeform 18" id="1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19" id="19"/>
          <p:cNvSpPr txBox="true"/>
          <p:nvPr/>
        </p:nvSpPr>
        <p:spPr>
          <a:xfrm rot="0">
            <a:off x="14698212" y="581935"/>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20" id="20"/>
          <p:cNvSpPr txBox="true"/>
          <p:nvPr/>
        </p:nvSpPr>
        <p:spPr>
          <a:xfrm rot="0">
            <a:off x="14698212" y="905666"/>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959392" y="-6096562"/>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aphicFrame>
        <p:nvGraphicFramePr>
          <p:cNvPr name="Object 9" id="9"/>
          <p:cNvGraphicFramePr/>
          <p:nvPr/>
        </p:nvGraphicFramePr>
        <p:xfrm>
          <a:off x="471848" y="2428932"/>
          <a:ext cx="9429750" cy="5029200"/>
        </p:xfrm>
        <a:graphic>
          <a:graphicData uri="http://schemas.openxmlformats.org/presentationml/2006/ole">
            <p:oleObj imgW="11315700" imgH="69088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Freeform 10" id="10"/>
          <p:cNvSpPr/>
          <p:nvPr/>
        </p:nvSpPr>
        <p:spPr>
          <a:xfrm flipH="false" flipV="false" rot="0">
            <a:off x="7780470" y="2280331"/>
            <a:ext cx="8300787" cy="1056464"/>
          </a:xfrm>
          <a:custGeom>
            <a:avLst/>
            <a:gdLst/>
            <a:ahLst/>
            <a:cxnLst/>
            <a:rect r="r" b="b" t="t" l="l"/>
            <a:pathLst>
              <a:path h="1056464" w="8300787">
                <a:moveTo>
                  <a:pt x="0" y="0"/>
                </a:moveTo>
                <a:lnTo>
                  <a:pt x="8300787" y="0"/>
                </a:lnTo>
                <a:lnTo>
                  <a:pt x="8300787" y="1056464"/>
                </a:lnTo>
                <a:lnTo>
                  <a:pt x="0" y="1056464"/>
                </a:lnTo>
                <a:lnTo>
                  <a:pt x="0" y="0"/>
                </a:lnTo>
                <a:close/>
              </a:path>
            </a:pathLst>
          </a:custGeom>
          <a:blipFill>
            <a:blip r:embed="rId11"/>
            <a:stretch>
              <a:fillRect l="0" t="0" r="0" b="0"/>
            </a:stretch>
          </a:blipFill>
        </p:spPr>
      </p:sp>
      <p:sp>
        <p:nvSpPr>
          <p:cNvPr name="Freeform 11" id="11"/>
          <p:cNvSpPr/>
          <p:nvPr/>
        </p:nvSpPr>
        <p:spPr>
          <a:xfrm flipH="false" flipV="false" rot="0">
            <a:off x="7780470" y="3435828"/>
            <a:ext cx="8233998" cy="876470"/>
          </a:xfrm>
          <a:custGeom>
            <a:avLst/>
            <a:gdLst/>
            <a:ahLst/>
            <a:cxnLst/>
            <a:rect r="r" b="b" t="t" l="l"/>
            <a:pathLst>
              <a:path h="876470" w="8233998">
                <a:moveTo>
                  <a:pt x="0" y="0"/>
                </a:moveTo>
                <a:lnTo>
                  <a:pt x="8233998" y="0"/>
                </a:lnTo>
                <a:lnTo>
                  <a:pt x="8233998" y="876470"/>
                </a:lnTo>
                <a:lnTo>
                  <a:pt x="0" y="876470"/>
                </a:lnTo>
                <a:lnTo>
                  <a:pt x="0" y="0"/>
                </a:lnTo>
                <a:close/>
              </a:path>
            </a:pathLst>
          </a:custGeom>
          <a:blipFill>
            <a:blip r:embed="rId12"/>
            <a:stretch>
              <a:fillRect l="0" t="0" r="0" b="0"/>
            </a:stretch>
          </a:blipFill>
        </p:spPr>
      </p:sp>
      <p:sp>
        <p:nvSpPr>
          <p:cNvPr name="Freeform 12" id="12"/>
          <p:cNvSpPr/>
          <p:nvPr/>
        </p:nvSpPr>
        <p:spPr>
          <a:xfrm flipH="false" flipV="false" rot="0">
            <a:off x="7780470" y="4535260"/>
            <a:ext cx="8300787" cy="870310"/>
          </a:xfrm>
          <a:custGeom>
            <a:avLst/>
            <a:gdLst/>
            <a:ahLst/>
            <a:cxnLst/>
            <a:rect r="r" b="b" t="t" l="l"/>
            <a:pathLst>
              <a:path h="870310" w="8300787">
                <a:moveTo>
                  <a:pt x="0" y="0"/>
                </a:moveTo>
                <a:lnTo>
                  <a:pt x="8300787" y="0"/>
                </a:lnTo>
                <a:lnTo>
                  <a:pt x="8300787" y="870310"/>
                </a:lnTo>
                <a:lnTo>
                  <a:pt x="0" y="870310"/>
                </a:lnTo>
                <a:lnTo>
                  <a:pt x="0" y="0"/>
                </a:lnTo>
                <a:close/>
              </a:path>
            </a:pathLst>
          </a:custGeom>
          <a:blipFill>
            <a:blip r:embed="rId13"/>
            <a:stretch>
              <a:fillRect l="0" t="0" r="0" b="0"/>
            </a:stretch>
          </a:blipFill>
        </p:spPr>
      </p:sp>
      <p:sp>
        <p:nvSpPr>
          <p:cNvPr name="Freeform 13" id="13"/>
          <p:cNvSpPr/>
          <p:nvPr/>
        </p:nvSpPr>
        <p:spPr>
          <a:xfrm flipH="false" flipV="false" rot="0">
            <a:off x="7773470" y="5695604"/>
            <a:ext cx="8240998" cy="888468"/>
          </a:xfrm>
          <a:custGeom>
            <a:avLst/>
            <a:gdLst/>
            <a:ahLst/>
            <a:cxnLst/>
            <a:rect r="r" b="b" t="t" l="l"/>
            <a:pathLst>
              <a:path h="888468" w="8240998">
                <a:moveTo>
                  <a:pt x="0" y="0"/>
                </a:moveTo>
                <a:lnTo>
                  <a:pt x="8240998" y="0"/>
                </a:lnTo>
                <a:lnTo>
                  <a:pt x="8240998" y="888468"/>
                </a:lnTo>
                <a:lnTo>
                  <a:pt x="0" y="888468"/>
                </a:lnTo>
                <a:lnTo>
                  <a:pt x="0" y="0"/>
                </a:lnTo>
                <a:close/>
              </a:path>
            </a:pathLst>
          </a:custGeom>
          <a:blipFill>
            <a:blip r:embed="rId14"/>
            <a:stretch>
              <a:fillRect l="0" t="0" r="0" b="0"/>
            </a:stretch>
          </a:blipFill>
        </p:spPr>
      </p:sp>
      <p:sp>
        <p:nvSpPr>
          <p:cNvPr name="Freeform 14" id="14"/>
          <p:cNvSpPr/>
          <p:nvPr/>
        </p:nvSpPr>
        <p:spPr>
          <a:xfrm flipH="false" flipV="false" rot="0">
            <a:off x="7773470" y="6805117"/>
            <a:ext cx="8189409" cy="821620"/>
          </a:xfrm>
          <a:custGeom>
            <a:avLst/>
            <a:gdLst/>
            <a:ahLst/>
            <a:cxnLst/>
            <a:rect r="r" b="b" t="t" l="l"/>
            <a:pathLst>
              <a:path h="821620" w="8189409">
                <a:moveTo>
                  <a:pt x="0" y="0"/>
                </a:moveTo>
                <a:lnTo>
                  <a:pt x="8189409" y="0"/>
                </a:lnTo>
                <a:lnTo>
                  <a:pt x="8189409" y="821620"/>
                </a:lnTo>
                <a:lnTo>
                  <a:pt x="0" y="821620"/>
                </a:lnTo>
                <a:lnTo>
                  <a:pt x="0" y="0"/>
                </a:lnTo>
                <a:close/>
              </a:path>
            </a:pathLst>
          </a:custGeom>
          <a:blipFill>
            <a:blip r:embed="rId15"/>
            <a:stretch>
              <a:fillRect l="0" t="0" r="0" b="0"/>
            </a:stretch>
          </a:blipFill>
        </p:spPr>
      </p:sp>
      <p:sp>
        <p:nvSpPr>
          <p:cNvPr name="TextBox 15" id="15"/>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TextBox 16" id="16"/>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19</a:t>
            </a:r>
          </a:p>
        </p:txBody>
      </p:sp>
      <p:grpSp>
        <p:nvGrpSpPr>
          <p:cNvPr name="Group 17" id="17"/>
          <p:cNvGrpSpPr/>
          <p:nvPr/>
        </p:nvGrpSpPr>
        <p:grpSpPr>
          <a:xfrm rot="0">
            <a:off x="15080628" y="455324"/>
            <a:ext cx="18126" cy="835600"/>
            <a:chOff x="0" y="0"/>
            <a:chExt cx="24168" cy="1114133"/>
          </a:xfrm>
        </p:grpSpPr>
        <p:sp>
          <p:nvSpPr>
            <p:cNvPr name="Freeform 18" id="1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pSp>
        <p:nvGrpSpPr>
          <p:cNvPr name="Group 19" id="19"/>
          <p:cNvGrpSpPr/>
          <p:nvPr/>
        </p:nvGrpSpPr>
        <p:grpSpPr>
          <a:xfrm rot="0">
            <a:off x="15233028" y="607724"/>
            <a:ext cx="18126" cy="835600"/>
            <a:chOff x="0" y="0"/>
            <a:chExt cx="24168" cy="1114133"/>
          </a:xfrm>
        </p:grpSpPr>
        <p:sp>
          <p:nvSpPr>
            <p:cNvPr name="Freeform 20" id="20"/>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21" id="21"/>
          <p:cNvSpPr txBox="true"/>
          <p:nvPr/>
        </p:nvSpPr>
        <p:spPr>
          <a:xfrm rot="0">
            <a:off x="14850612" y="579149"/>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22" id="22"/>
          <p:cNvSpPr txBox="true"/>
          <p:nvPr/>
        </p:nvSpPr>
        <p:spPr>
          <a:xfrm rot="0">
            <a:off x="14850612" y="902489"/>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959392" y="-6035731"/>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Freeform 9" id="9"/>
          <p:cNvSpPr/>
          <p:nvPr/>
        </p:nvSpPr>
        <p:spPr>
          <a:xfrm flipH="false" flipV="false" rot="0">
            <a:off x="8744698" y="4310220"/>
            <a:ext cx="9870480" cy="5848260"/>
          </a:xfrm>
          <a:custGeom>
            <a:avLst/>
            <a:gdLst/>
            <a:ahLst/>
            <a:cxnLst/>
            <a:rect r="r" b="b" t="t" l="l"/>
            <a:pathLst>
              <a:path h="5848260" w="9870480">
                <a:moveTo>
                  <a:pt x="0" y="0"/>
                </a:moveTo>
                <a:lnTo>
                  <a:pt x="9870480" y="0"/>
                </a:lnTo>
                <a:lnTo>
                  <a:pt x="9870480" y="5848259"/>
                </a:lnTo>
                <a:lnTo>
                  <a:pt x="0" y="5848259"/>
                </a:lnTo>
                <a:lnTo>
                  <a:pt x="0" y="0"/>
                </a:lnTo>
                <a:close/>
              </a:path>
            </a:pathLst>
          </a:custGeom>
          <a:blipFill>
            <a:blip r:embed="rId9"/>
            <a:stretch>
              <a:fillRect l="0" t="0" r="0" b="0"/>
            </a:stretch>
          </a:blipFill>
        </p:spPr>
      </p:sp>
      <p:sp>
        <p:nvSpPr>
          <p:cNvPr name="Freeform 10" id="10"/>
          <p:cNvSpPr/>
          <p:nvPr/>
        </p:nvSpPr>
        <p:spPr>
          <a:xfrm flipH="false" flipV="false" rot="0">
            <a:off x="26150" y="287141"/>
            <a:ext cx="9669056" cy="5728916"/>
          </a:xfrm>
          <a:custGeom>
            <a:avLst/>
            <a:gdLst/>
            <a:ahLst/>
            <a:cxnLst/>
            <a:rect r="r" b="b" t="t" l="l"/>
            <a:pathLst>
              <a:path h="5728916" w="9669056">
                <a:moveTo>
                  <a:pt x="0" y="0"/>
                </a:moveTo>
                <a:lnTo>
                  <a:pt x="9669056" y="0"/>
                </a:lnTo>
                <a:lnTo>
                  <a:pt x="9669056" y="5728916"/>
                </a:lnTo>
                <a:lnTo>
                  <a:pt x="0" y="5728916"/>
                </a:lnTo>
                <a:lnTo>
                  <a:pt x="0" y="0"/>
                </a:lnTo>
                <a:close/>
              </a:path>
            </a:pathLst>
          </a:custGeom>
          <a:blipFill>
            <a:blip r:embed="rId10"/>
            <a:stretch>
              <a:fillRect l="0" t="0" r="0" b="0"/>
            </a:stretch>
          </a:blipFill>
        </p:spPr>
      </p:sp>
      <p:sp>
        <p:nvSpPr>
          <p:cNvPr name="TextBox 11" id="11"/>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TextBox 12" id="12"/>
          <p:cNvSpPr txBox="true"/>
          <p:nvPr/>
        </p:nvSpPr>
        <p:spPr>
          <a:xfrm rot="0">
            <a:off x="15678001"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Página 20</a:t>
            </a:r>
          </a:p>
        </p:txBody>
      </p:sp>
      <p:grpSp>
        <p:nvGrpSpPr>
          <p:cNvPr name="Group 13" id="13"/>
          <p:cNvGrpSpPr/>
          <p:nvPr/>
        </p:nvGrpSpPr>
        <p:grpSpPr>
          <a:xfrm rot="0">
            <a:off x="14785474" y="-1876"/>
            <a:ext cx="18126" cy="835600"/>
            <a:chOff x="0" y="0"/>
            <a:chExt cx="24168" cy="1114133"/>
          </a:xfrm>
        </p:grpSpPr>
        <p:sp>
          <p:nvSpPr>
            <p:cNvPr name="Freeform 14" id="14"/>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pSp>
        <p:nvGrpSpPr>
          <p:cNvPr name="Group 15" id="15"/>
          <p:cNvGrpSpPr/>
          <p:nvPr/>
        </p:nvGrpSpPr>
        <p:grpSpPr>
          <a:xfrm rot="0">
            <a:off x="14937874" y="150524"/>
            <a:ext cx="18126" cy="835600"/>
            <a:chOff x="0" y="0"/>
            <a:chExt cx="24168" cy="1114133"/>
          </a:xfrm>
        </p:grpSpPr>
        <p:sp>
          <p:nvSpPr>
            <p:cNvPr name="Freeform 16" id="1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pSp>
        <p:nvGrpSpPr>
          <p:cNvPr name="Group 17" id="17"/>
          <p:cNvGrpSpPr/>
          <p:nvPr/>
        </p:nvGrpSpPr>
        <p:grpSpPr>
          <a:xfrm rot="0">
            <a:off x="15090274" y="302924"/>
            <a:ext cx="18126" cy="835600"/>
            <a:chOff x="0" y="0"/>
            <a:chExt cx="24168" cy="1114133"/>
          </a:xfrm>
        </p:grpSpPr>
        <p:sp>
          <p:nvSpPr>
            <p:cNvPr name="Freeform 18" id="1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19" id="19"/>
          <p:cNvSpPr txBox="true"/>
          <p:nvPr/>
        </p:nvSpPr>
        <p:spPr>
          <a:xfrm rot="0">
            <a:off x="14919256" y="387348"/>
            <a:ext cx="3053011" cy="299314"/>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20" id="20"/>
          <p:cNvSpPr txBox="true"/>
          <p:nvPr/>
        </p:nvSpPr>
        <p:spPr>
          <a:xfrm rot="0">
            <a:off x="14707858" y="720309"/>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9" id="9"/>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Freeform 10" id="10"/>
          <p:cNvSpPr/>
          <p:nvPr/>
        </p:nvSpPr>
        <p:spPr>
          <a:xfrm flipH="false" flipV="false" rot="0">
            <a:off x="1216291" y="2142304"/>
            <a:ext cx="4818809" cy="2666820"/>
          </a:xfrm>
          <a:custGeom>
            <a:avLst/>
            <a:gdLst/>
            <a:ahLst/>
            <a:cxnLst/>
            <a:rect r="r" b="b" t="t" l="l"/>
            <a:pathLst>
              <a:path h="2666820" w="4818809">
                <a:moveTo>
                  <a:pt x="0" y="0"/>
                </a:moveTo>
                <a:lnTo>
                  <a:pt x="4818809" y="0"/>
                </a:lnTo>
                <a:lnTo>
                  <a:pt x="4818809" y="2666820"/>
                </a:lnTo>
                <a:lnTo>
                  <a:pt x="0" y="2666820"/>
                </a:lnTo>
                <a:lnTo>
                  <a:pt x="0" y="0"/>
                </a:lnTo>
                <a:close/>
              </a:path>
            </a:pathLst>
          </a:custGeom>
          <a:blipFill>
            <a:blip r:embed="rId9"/>
            <a:stretch>
              <a:fillRect l="0" t="0" r="0" b="0"/>
            </a:stretch>
          </a:blipFill>
        </p:spPr>
      </p:sp>
      <p:sp>
        <p:nvSpPr>
          <p:cNvPr name="Freeform 11" id="11"/>
          <p:cNvSpPr/>
          <p:nvPr/>
        </p:nvSpPr>
        <p:spPr>
          <a:xfrm flipH="false" flipV="false" rot="0">
            <a:off x="8507288" y="2624280"/>
            <a:ext cx="7279655" cy="7083841"/>
          </a:xfrm>
          <a:custGeom>
            <a:avLst/>
            <a:gdLst/>
            <a:ahLst/>
            <a:cxnLst/>
            <a:rect r="r" b="b" t="t" l="l"/>
            <a:pathLst>
              <a:path h="7083841" w="7279655">
                <a:moveTo>
                  <a:pt x="0" y="0"/>
                </a:moveTo>
                <a:lnTo>
                  <a:pt x="7279654" y="0"/>
                </a:lnTo>
                <a:lnTo>
                  <a:pt x="7279654" y="7083841"/>
                </a:lnTo>
                <a:lnTo>
                  <a:pt x="0" y="7083841"/>
                </a:lnTo>
                <a:lnTo>
                  <a:pt x="0" y="0"/>
                </a:lnTo>
                <a:close/>
              </a:path>
            </a:pathLst>
          </a:custGeom>
          <a:blipFill>
            <a:blip r:embed="rId10"/>
            <a:stretch>
              <a:fillRect l="0" t="0" r="0" b="0"/>
            </a:stretch>
          </a:blipFill>
        </p:spPr>
      </p:sp>
      <p:sp>
        <p:nvSpPr>
          <p:cNvPr name="Freeform 12" id="12"/>
          <p:cNvSpPr/>
          <p:nvPr/>
        </p:nvSpPr>
        <p:spPr>
          <a:xfrm flipH="false" flipV="false" rot="0">
            <a:off x="1216291" y="4809124"/>
            <a:ext cx="5255197" cy="2618062"/>
          </a:xfrm>
          <a:custGeom>
            <a:avLst/>
            <a:gdLst/>
            <a:ahLst/>
            <a:cxnLst/>
            <a:rect r="r" b="b" t="t" l="l"/>
            <a:pathLst>
              <a:path h="2618062" w="5255197">
                <a:moveTo>
                  <a:pt x="0" y="0"/>
                </a:moveTo>
                <a:lnTo>
                  <a:pt x="5255198" y="0"/>
                </a:lnTo>
                <a:lnTo>
                  <a:pt x="5255198" y="2618062"/>
                </a:lnTo>
                <a:lnTo>
                  <a:pt x="0" y="2618062"/>
                </a:lnTo>
                <a:lnTo>
                  <a:pt x="0" y="0"/>
                </a:lnTo>
                <a:close/>
              </a:path>
            </a:pathLst>
          </a:custGeom>
          <a:blipFill>
            <a:blip r:embed="rId11"/>
            <a:stretch>
              <a:fillRect l="-2157" t="0" r="-110086" b="0"/>
            </a:stretch>
          </a:blipFill>
        </p:spPr>
      </p:sp>
      <p:sp>
        <p:nvSpPr>
          <p:cNvPr name="TextBox 13" id="13"/>
          <p:cNvSpPr txBox="true"/>
          <p:nvPr/>
        </p:nvSpPr>
        <p:spPr>
          <a:xfrm rot="0">
            <a:off x="6658746" y="1656973"/>
            <a:ext cx="2035799" cy="298073"/>
          </a:xfrm>
          <a:prstGeom prst="rect">
            <a:avLst/>
          </a:prstGeom>
        </p:spPr>
        <p:txBody>
          <a:bodyPr anchor="t" rtlCol="false" tIns="0" lIns="0" bIns="0" rIns="0">
            <a:spAutoFit/>
          </a:bodyPr>
          <a:lstStyle/>
          <a:p>
            <a:pPr algn="ctr">
              <a:lnSpc>
                <a:spcPts val="2399"/>
              </a:lnSpc>
              <a:spcBef>
                <a:spcPct val="0"/>
              </a:spcBef>
            </a:pPr>
            <a:r>
              <a:rPr lang="en-US" b="true" sz="1999">
                <a:solidFill>
                  <a:srgbClr val="12315F"/>
                </a:solidFill>
                <a:latin typeface="DM Sans Bold"/>
                <a:ea typeface="DM Sans Bold"/>
                <a:cs typeface="DM Sans Bold"/>
                <a:sym typeface="DM Sans Bold"/>
              </a:rPr>
              <a:t>MODELAMIENTO</a:t>
            </a:r>
          </a:p>
        </p:txBody>
      </p:sp>
      <p:sp>
        <p:nvSpPr>
          <p:cNvPr name="Freeform 14" id="14"/>
          <p:cNvSpPr/>
          <p:nvPr/>
        </p:nvSpPr>
        <p:spPr>
          <a:xfrm flipH="false" flipV="false" rot="0">
            <a:off x="1216291" y="7427186"/>
            <a:ext cx="1494689" cy="2214475"/>
          </a:xfrm>
          <a:custGeom>
            <a:avLst/>
            <a:gdLst/>
            <a:ahLst/>
            <a:cxnLst/>
            <a:rect r="r" b="b" t="t" l="l"/>
            <a:pathLst>
              <a:path h="2214475" w="1494689">
                <a:moveTo>
                  <a:pt x="0" y="0"/>
                </a:moveTo>
                <a:lnTo>
                  <a:pt x="1494689" y="0"/>
                </a:lnTo>
                <a:lnTo>
                  <a:pt x="1494689" y="2214476"/>
                </a:lnTo>
                <a:lnTo>
                  <a:pt x="0" y="2214476"/>
                </a:lnTo>
                <a:lnTo>
                  <a:pt x="0" y="0"/>
                </a:lnTo>
                <a:close/>
              </a:path>
            </a:pathLst>
          </a:custGeom>
          <a:blipFill>
            <a:blip r:embed="rId11"/>
            <a:stretch>
              <a:fillRect l="-7586" t="-18224" r="-638647" b="0"/>
            </a:stretch>
          </a:blipFill>
        </p:spPr>
      </p:sp>
      <p:sp>
        <p:nvSpPr>
          <p:cNvPr name="Freeform 15" id="15"/>
          <p:cNvSpPr/>
          <p:nvPr/>
        </p:nvSpPr>
        <p:spPr>
          <a:xfrm flipH="false" flipV="false" rot="0">
            <a:off x="2710980" y="7427186"/>
            <a:ext cx="3606061" cy="2214475"/>
          </a:xfrm>
          <a:custGeom>
            <a:avLst/>
            <a:gdLst/>
            <a:ahLst/>
            <a:cxnLst/>
            <a:rect r="r" b="b" t="t" l="l"/>
            <a:pathLst>
              <a:path h="2214475" w="3606061">
                <a:moveTo>
                  <a:pt x="0" y="0"/>
                </a:moveTo>
                <a:lnTo>
                  <a:pt x="3606060" y="0"/>
                </a:lnTo>
                <a:lnTo>
                  <a:pt x="3606060" y="2214476"/>
                </a:lnTo>
                <a:lnTo>
                  <a:pt x="0" y="2214476"/>
                </a:lnTo>
                <a:lnTo>
                  <a:pt x="0" y="0"/>
                </a:lnTo>
                <a:close/>
              </a:path>
            </a:pathLst>
          </a:custGeom>
          <a:blipFill>
            <a:blip r:embed="rId11"/>
            <a:stretch>
              <a:fillRect l="-143400" t="-18224" r="-65908" b="0"/>
            </a:stretch>
          </a:blipFill>
        </p:spPr>
      </p:sp>
      <p:sp>
        <p:nvSpPr>
          <p:cNvPr name="TextBox 16" id="16"/>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21</a:t>
            </a:r>
          </a:p>
        </p:txBody>
      </p:sp>
      <p:sp>
        <p:nvSpPr>
          <p:cNvPr name="TextBox 17" id="17"/>
          <p:cNvSpPr txBox="true"/>
          <p:nvPr/>
        </p:nvSpPr>
        <p:spPr>
          <a:xfrm rot="0">
            <a:off x="3749495" y="589558"/>
            <a:ext cx="8244518" cy="704035"/>
          </a:xfrm>
          <a:prstGeom prst="rect">
            <a:avLst/>
          </a:prstGeom>
        </p:spPr>
        <p:txBody>
          <a:bodyPr anchor="t" rtlCol="false" tIns="0" lIns="0" bIns="0" rIns="0">
            <a:spAutoFit/>
          </a:bodyPr>
          <a:lstStyle/>
          <a:p>
            <a:pPr algn="ctr">
              <a:lnSpc>
                <a:spcPts val="5155"/>
              </a:lnSpc>
            </a:pPr>
            <a:r>
              <a:rPr lang="en-US" sz="5728" b="true">
                <a:solidFill>
                  <a:srgbClr val="003865"/>
                </a:solidFill>
                <a:latin typeface="DM Sans Bold"/>
                <a:ea typeface="DM Sans Bold"/>
                <a:cs typeface="DM Sans Bold"/>
                <a:sym typeface="DM Sans Bold"/>
              </a:rPr>
              <a:t>RESULTADOS</a:t>
            </a:r>
          </a:p>
        </p:txBody>
      </p:sp>
      <p:grpSp>
        <p:nvGrpSpPr>
          <p:cNvPr name="Group 18" id="18"/>
          <p:cNvGrpSpPr/>
          <p:nvPr/>
        </p:nvGrpSpPr>
        <p:grpSpPr>
          <a:xfrm rot="0">
            <a:off x="14928228" y="302924"/>
            <a:ext cx="18126" cy="835600"/>
            <a:chOff x="0" y="0"/>
            <a:chExt cx="24168" cy="1114133"/>
          </a:xfrm>
        </p:grpSpPr>
        <p:sp>
          <p:nvSpPr>
            <p:cNvPr name="Freeform 19" id="1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pSp>
        <p:nvGrpSpPr>
          <p:cNvPr name="Group 20" id="20"/>
          <p:cNvGrpSpPr/>
          <p:nvPr/>
        </p:nvGrpSpPr>
        <p:grpSpPr>
          <a:xfrm rot="0">
            <a:off x="14785474" y="-1876"/>
            <a:ext cx="18126" cy="835600"/>
            <a:chOff x="0" y="0"/>
            <a:chExt cx="24168" cy="1114133"/>
          </a:xfrm>
        </p:grpSpPr>
        <p:sp>
          <p:nvSpPr>
            <p:cNvPr name="Freeform 21" id="21"/>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pSp>
        <p:nvGrpSpPr>
          <p:cNvPr name="Group 22" id="22"/>
          <p:cNvGrpSpPr/>
          <p:nvPr/>
        </p:nvGrpSpPr>
        <p:grpSpPr>
          <a:xfrm rot="0">
            <a:off x="14937874" y="150524"/>
            <a:ext cx="18126" cy="835600"/>
            <a:chOff x="0" y="0"/>
            <a:chExt cx="24168" cy="1114133"/>
          </a:xfrm>
        </p:grpSpPr>
        <p:sp>
          <p:nvSpPr>
            <p:cNvPr name="Freeform 23" id="23"/>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pSp>
        <p:nvGrpSpPr>
          <p:cNvPr name="Group 24" id="24"/>
          <p:cNvGrpSpPr/>
          <p:nvPr/>
        </p:nvGrpSpPr>
        <p:grpSpPr>
          <a:xfrm rot="0">
            <a:off x="15090274" y="302924"/>
            <a:ext cx="18126" cy="835600"/>
            <a:chOff x="0" y="0"/>
            <a:chExt cx="24168" cy="1114133"/>
          </a:xfrm>
        </p:grpSpPr>
        <p:sp>
          <p:nvSpPr>
            <p:cNvPr name="Freeform 25" id="25"/>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TextBox 26" id="26"/>
          <p:cNvSpPr txBox="true"/>
          <p:nvPr/>
        </p:nvSpPr>
        <p:spPr>
          <a:xfrm rot="0">
            <a:off x="14919256" y="387348"/>
            <a:ext cx="3053011" cy="299314"/>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27" id="27"/>
          <p:cNvSpPr txBox="true"/>
          <p:nvPr/>
        </p:nvSpPr>
        <p:spPr>
          <a:xfrm rot="0">
            <a:off x="14707858" y="720309"/>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grpSp>
        <p:nvGrpSpPr>
          <p:cNvPr name="Group 9" id="9"/>
          <p:cNvGrpSpPr/>
          <p:nvPr/>
        </p:nvGrpSpPr>
        <p:grpSpPr>
          <a:xfrm rot="0">
            <a:off x="14528302" y="860612"/>
            <a:ext cx="229438" cy="256623"/>
            <a:chOff x="0" y="0"/>
            <a:chExt cx="305918" cy="342163"/>
          </a:xfrm>
        </p:grpSpPr>
        <p:sp>
          <p:nvSpPr>
            <p:cNvPr name="Freeform 10" id="10"/>
            <p:cNvSpPr/>
            <p:nvPr/>
          </p:nvSpPr>
          <p:spPr>
            <a:xfrm flipH="false" flipV="false" rot="0">
              <a:off x="0" y="0"/>
              <a:ext cx="305943" cy="342138"/>
            </a:xfrm>
            <a:custGeom>
              <a:avLst/>
              <a:gdLst/>
              <a:ahLst/>
              <a:cxnLst/>
              <a:rect r="r" b="b" t="t" l="l"/>
              <a:pathLst>
                <a:path h="342138" w="305943">
                  <a:moveTo>
                    <a:pt x="305943" y="0"/>
                  </a:moveTo>
                  <a:lnTo>
                    <a:pt x="305943" y="189992"/>
                  </a:lnTo>
                  <a:cubicBezTo>
                    <a:pt x="305943" y="299974"/>
                    <a:pt x="247015" y="342138"/>
                    <a:pt x="152908" y="342138"/>
                  </a:cubicBezTo>
                  <a:cubicBezTo>
                    <a:pt x="58801" y="342138"/>
                    <a:pt x="0" y="299974"/>
                    <a:pt x="0" y="189992"/>
                  </a:cubicBezTo>
                  <a:lnTo>
                    <a:pt x="0" y="0"/>
                  </a:lnTo>
                  <a:lnTo>
                    <a:pt x="84328" y="0"/>
                  </a:lnTo>
                  <a:lnTo>
                    <a:pt x="84328" y="168910"/>
                  </a:lnTo>
                  <a:cubicBezTo>
                    <a:pt x="84328" y="240919"/>
                    <a:pt x="111252" y="268351"/>
                    <a:pt x="153035" y="268351"/>
                  </a:cubicBezTo>
                  <a:cubicBezTo>
                    <a:pt x="194818" y="268351"/>
                    <a:pt x="221742" y="240919"/>
                    <a:pt x="221742" y="168910"/>
                  </a:cubicBezTo>
                  <a:lnTo>
                    <a:pt x="221742" y="0"/>
                  </a:lnTo>
                  <a:close/>
                </a:path>
              </a:pathLst>
            </a:custGeom>
            <a:solidFill>
              <a:srgbClr val="003865"/>
            </a:solidFill>
          </p:spPr>
        </p:sp>
      </p:grpSp>
      <p:sp>
        <p:nvSpPr>
          <p:cNvPr name="TextBox 11" id="11"/>
          <p:cNvSpPr txBox="true"/>
          <p:nvPr/>
        </p:nvSpPr>
        <p:spPr>
          <a:xfrm rot="0">
            <a:off x="13679938" y="1140809"/>
            <a:ext cx="1162622" cy="141475"/>
          </a:xfrm>
          <a:prstGeom prst="rect">
            <a:avLst/>
          </a:prstGeom>
        </p:spPr>
        <p:txBody>
          <a:bodyPr anchor="t" rtlCol="false" tIns="0" lIns="0" bIns="0" rIns="0">
            <a:spAutoFit/>
          </a:bodyPr>
          <a:lstStyle/>
          <a:p>
            <a:pPr algn="l">
              <a:lnSpc>
                <a:spcPts val="981"/>
              </a:lnSpc>
            </a:pPr>
            <a:r>
              <a:rPr lang="en-US" sz="701">
                <a:solidFill>
                  <a:srgbClr val="12315F"/>
                </a:solidFill>
                <a:latin typeface="Arimo"/>
                <a:ea typeface="Arimo"/>
                <a:cs typeface="Arimo"/>
                <a:sym typeface="Arimo"/>
              </a:rPr>
              <a:t>UNIVERSIDAD PERUANA UNIÓN</a:t>
            </a:r>
          </a:p>
        </p:txBody>
      </p:sp>
      <p:sp>
        <p:nvSpPr>
          <p:cNvPr name="TextBox 12" id="12"/>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Freeform 13" id="13"/>
          <p:cNvSpPr/>
          <p:nvPr/>
        </p:nvSpPr>
        <p:spPr>
          <a:xfrm flipH="false" flipV="false" rot="0">
            <a:off x="682466" y="2331534"/>
            <a:ext cx="7709392" cy="6172332"/>
          </a:xfrm>
          <a:custGeom>
            <a:avLst/>
            <a:gdLst/>
            <a:ahLst/>
            <a:cxnLst/>
            <a:rect r="r" b="b" t="t" l="l"/>
            <a:pathLst>
              <a:path h="6172332" w="7709392">
                <a:moveTo>
                  <a:pt x="0" y="0"/>
                </a:moveTo>
                <a:lnTo>
                  <a:pt x="7709391" y="0"/>
                </a:lnTo>
                <a:lnTo>
                  <a:pt x="7709391" y="6172332"/>
                </a:lnTo>
                <a:lnTo>
                  <a:pt x="0" y="6172332"/>
                </a:lnTo>
                <a:lnTo>
                  <a:pt x="0" y="0"/>
                </a:lnTo>
                <a:close/>
              </a:path>
            </a:pathLst>
          </a:custGeom>
          <a:blipFill>
            <a:blip r:embed="rId9"/>
            <a:stretch>
              <a:fillRect l="0" t="0" r="0" b="0"/>
            </a:stretch>
          </a:blipFill>
        </p:spPr>
      </p:sp>
      <p:sp>
        <p:nvSpPr>
          <p:cNvPr name="Freeform 14" id="14"/>
          <p:cNvSpPr/>
          <p:nvPr/>
        </p:nvSpPr>
        <p:spPr>
          <a:xfrm flipH="false" flipV="false" rot="0">
            <a:off x="8554894" y="2331534"/>
            <a:ext cx="7932314" cy="6172332"/>
          </a:xfrm>
          <a:custGeom>
            <a:avLst/>
            <a:gdLst/>
            <a:ahLst/>
            <a:cxnLst/>
            <a:rect r="r" b="b" t="t" l="l"/>
            <a:pathLst>
              <a:path h="6172332" w="7932314">
                <a:moveTo>
                  <a:pt x="0" y="0"/>
                </a:moveTo>
                <a:lnTo>
                  <a:pt x="7932314" y="0"/>
                </a:lnTo>
                <a:lnTo>
                  <a:pt x="7932314" y="6172332"/>
                </a:lnTo>
                <a:lnTo>
                  <a:pt x="0" y="6172332"/>
                </a:lnTo>
                <a:lnTo>
                  <a:pt x="0" y="0"/>
                </a:lnTo>
                <a:close/>
              </a:path>
            </a:pathLst>
          </a:custGeom>
          <a:blipFill>
            <a:blip r:embed="rId10"/>
            <a:stretch>
              <a:fillRect l="0" t="0" r="0" b="0"/>
            </a:stretch>
          </a:blipFill>
        </p:spPr>
      </p:sp>
      <p:sp>
        <p:nvSpPr>
          <p:cNvPr name="TextBox 15" id="15"/>
          <p:cNvSpPr txBox="true"/>
          <p:nvPr/>
        </p:nvSpPr>
        <p:spPr>
          <a:xfrm rot="0">
            <a:off x="7437183" y="1606134"/>
            <a:ext cx="1909349" cy="320240"/>
          </a:xfrm>
          <a:prstGeom prst="rect">
            <a:avLst/>
          </a:prstGeom>
        </p:spPr>
        <p:txBody>
          <a:bodyPr anchor="t" rtlCol="false" tIns="0" lIns="0" bIns="0" rIns="0">
            <a:spAutoFit/>
          </a:bodyPr>
          <a:lstStyle/>
          <a:p>
            <a:pPr algn="ctr">
              <a:lnSpc>
                <a:spcPts val="2577"/>
              </a:lnSpc>
              <a:spcBef>
                <a:spcPct val="0"/>
              </a:spcBef>
            </a:pPr>
            <a:r>
              <a:rPr lang="en-US" b="true" sz="2148">
                <a:solidFill>
                  <a:srgbClr val="12315F"/>
                </a:solidFill>
                <a:latin typeface="DM Sans Bold"/>
                <a:ea typeface="DM Sans Bold"/>
                <a:cs typeface="DM Sans Bold"/>
                <a:sym typeface="DM Sans Bold"/>
              </a:rPr>
              <a:t>Modelamiento</a:t>
            </a:r>
          </a:p>
        </p:txBody>
      </p:sp>
      <p:sp>
        <p:nvSpPr>
          <p:cNvPr name="TextBox 16" id="16"/>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Freeform 9" id="9"/>
          <p:cNvSpPr/>
          <p:nvPr/>
        </p:nvSpPr>
        <p:spPr>
          <a:xfrm flipH="false" flipV="false" rot="0">
            <a:off x="13965774" y="287141"/>
            <a:ext cx="590950" cy="538039"/>
          </a:xfrm>
          <a:custGeom>
            <a:avLst/>
            <a:gdLst/>
            <a:ahLst/>
            <a:cxnLst/>
            <a:rect r="r" b="b" t="t" l="l"/>
            <a:pathLst>
              <a:path h="538039" w="590950">
                <a:moveTo>
                  <a:pt x="0" y="0"/>
                </a:moveTo>
                <a:lnTo>
                  <a:pt x="590950" y="0"/>
                </a:lnTo>
                <a:lnTo>
                  <a:pt x="590950" y="538038"/>
                </a:lnTo>
                <a:lnTo>
                  <a:pt x="0" y="5380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13764749" y="860612"/>
            <a:ext cx="229438" cy="256623"/>
            <a:chOff x="0" y="0"/>
            <a:chExt cx="305918" cy="342163"/>
          </a:xfrm>
        </p:grpSpPr>
        <p:sp>
          <p:nvSpPr>
            <p:cNvPr name="Freeform 11" id="11"/>
            <p:cNvSpPr/>
            <p:nvPr/>
          </p:nvSpPr>
          <p:spPr>
            <a:xfrm flipH="false" flipV="false" rot="0">
              <a:off x="0" y="0"/>
              <a:ext cx="305943" cy="342138"/>
            </a:xfrm>
            <a:custGeom>
              <a:avLst/>
              <a:gdLst/>
              <a:ahLst/>
              <a:cxnLst/>
              <a:rect r="r" b="b" t="t" l="l"/>
              <a:pathLst>
                <a:path h="342138" w="305943">
                  <a:moveTo>
                    <a:pt x="305943" y="0"/>
                  </a:moveTo>
                  <a:lnTo>
                    <a:pt x="305943" y="189992"/>
                  </a:lnTo>
                  <a:cubicBezTo>
                    <a:pt x="305943" y="299974"/>
                    <a:pt x="247015" y="342138"/>
                    <a:pt x="152908" y="342138"/>
                  </a:cubicBezTo>
                  <a:cubicBezTo>
                    <a:pt x="58801" y="342138"/>
                    <a:pt x="0" y="299974"/>
                    <a:pt x="0" y="189992"/>
                  </a:cubicBezTo>
                  <a:lnTo>
                    <a:pt x="0" y="0"/>
                  </a:lnTo>
                  <a:lnTo>
                    <a:pt x="84328" y="0"/>
                  </a:lnTo>
                  <a:lnTo>
                    <a:pt x="84328" y="168910"/>
                  </a:lnTo>
                  <a:cubicBezTo>
                    <a:pt x="84328" y="240919"/>
                    <a:pt x="111252" y="268351"/>
                    <a:pt x="153035" y="268351"/>
                  </a:cubicBezTo>
                  <a:cubicBezTo>
                    <a:pt x="194818" y="268351"/>
                    <a:pt x="221742" y="240919"/>
                    <a:pt x="221742" y="168910"/>
                  </a:cubicBezTo>
                  <a:lnTo>
                    <a:pt x="221742" y="0"/>
                  </a:lnTo>
                  <a:close/>
                </a:path>
              </a:pathLst>
            </a:custGeom>
            <a:solidFill>
              <a:srgbClr val="003865"/>
            </a:solidFill>
          </p:spPr>
        </p:sp>
      </p:grpSp>
      <p:sp>
        <p:nvSpPr>
          <p:cNvPr name="Freeform 12" id="12"/>
          <p:cNvSpPr/>
          <p:nvPr/>
        </p:nvSpPr>
        <p:spPr>
          <a:xfrm flipH="false" flipV="false" rot="0">
            <a:off x="14041603" y="860603"/>
            <a:ext cx="455066" cy="255984"/>
          </a:xfrm>
          <a:custGeom>
            <a:avLst/>
            <a:gdLst/>
            <a:ahLst/>
            <a:cxnLst/>
            <a:rect r="r" b="b" t="t" l="l"/>
            <a:pathLst>
              <a:path h="255984" w="455066">
                <a:moveTo>
                  <a:pt x="0" y="0"/>
                </a:moveTo>
                <a:lnTo>
                  <a:pt x="455066" y="0"/>
                </a:lnTo>
                <a:lnTo>
                  <a:pt x="455066" y="255984"/>
                </a:lnTo>
                <a:lnTo>
                  <a:pt x="0" y="2559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3" id="13"/>
          <p:cNvGrpSpPr/>
          <p:nvPr/>
        </p:nvGrpSpPr>
        <p:grpSpPr>
          <a:xfrm rot="0">
            <a:off x="14528302" y="860612"/>
            <a:ext cx="229438" cy="256623"/>
            <a:chOff x="0" y="0"/>
            <a:chExt cx="305918" cy="342163"/>
          </a:xfrm>
        </p:grpSpPr>
        <p:sp>
          <p:nvSpPr>
            <p:cNvPr name="Freeform 14" id="14"/>
            <p:cNvSpPr/>
            <p:nvPr/>
          </p:nvSpPr>
          <p:spPr>
            <a:xfrm flipH="false" flipV="false" rot="0">
              <a:off x="0" y="0"/>
              <a:ext cx="305943" cy="342138"/>
            </a:xfrm>
            <a:custGeom>
              <a:avLst/>
              <a:gdLst/>
              <a:ahLst/>
              <a:cxnLst/>
              <a:rect r="r" b="b" t="t" l="l"/>
              <a:pathLst>
                <a:path h="342138" w="305943">
                  <a:moveTo>
                    <a:pt x="305943" y="0"/>
                  </a:moveTo>
                  <a:lnTo>
                    <a:pt x="305943" y="189992"/>
                  </a:lnTo>
                  <a:cubicBezTo>
                    <a:pt x="305943" y="299974"/>
                    <a:pt x="247015" y="342138"/>
                    <a:pt x="152908" y="342138"/>
                  </a:cubicBezTo>
                  <a:cubicBezTo>
                    <a:pt x="58801" y="342138"/>
                    <a:pt x="0" y="299974"/>
                    <a:pt x="0" y="189992"/>
                  </a:cubicBezTo>
                  <a:lnTo>
                    <a:pt x="0" y="0"/>
                  </a:lnTo>
                  <a:lnTo>
                    <a:pt x="84328" y="0"/>
                  </a:lnTo>
                  <a:lnTo>
                    <a:pt x="84328" y="168910"/>
                  </a:lnTo>
                  <a:cubicBezTo>
                    <a:pt x="84328" y="240919"/>
                    <a:pt x="111252" y="268351"/>
                    <a:pt x="153035" y="268351"/>
                  </a:cubicBezTo>
                  <a:cubicBezTo>
                    <a:pt x="194818" y="268351"/>
                    <a:pt x="221742" y="240919"/>
                    <a:pt x="221742" y="168910"/>
                  </a:cubicBezTo>
                  <a:lnTo>
                    <a:pt x="221742" y="0"/>
                  </a:lnTo>
                  <a:close/>
                </a:path>
              </a:pathLst>
            </a:custGeom>
            <a:solidFill>
              <a:srgbClr val="003865"/>
            </a:solidFill>
          </p:spPr>
        </p:sp>
      </p:grpSp>
      <p:sp>
        <p:nvSpPr>
          <p:cNvPr name="TextBox 15" id="15"/>
          <p:cNvSpPr txBox="true"/>
          <p:nvPr/>
        </p:nvSpPr>
        <p:spPr>
          <a:xfrm rot="0">
            <a:off x="15057796" y="261985"/>
            <a:ext cx="2858824" cy="572833"/>
          </a:xfrm>
          <a:prstGeom prst="rect">
            <a:avLst/>
          </a:prstGeom>
        </p:spPr>
        <p:txBody>
          <a:bodyPr anchor="t" rtlCol="false" tIns="0" lIns="0" bIns="0" rIns="0">
            <a:spAutoFit/>
          </a:bodyPr>
          <a:lstStyle/>
          <a:p>
            <a:pPr algn="l">
              <a:lnSpc>
                <a:spcPts val="4417"/>
              </a:lnSpc>
            </a:pPr>
            <a:r>
              <a:rPr lang="en-US" sz="3486" spc="282">
                <a:solidFill>
                  <a:srgbClr val="12315F"/>
                </a:solidFill>
                <a:latin typeface="Prompt Light"/>
                <a:ea typeface="Prompt Light"/>
                <a:cs typeface="Prompt Light"/>
                <a:sym typeface="Prompt Light"/>
              </a:rPr>
              <a:t>INGENIERÍA </a:t>
            </a:r>
          </a:p>
        </p:txBody>
      </p:sp>
      <p:sp>
        <p:nvSpPr>
          <p:cNvPr name="TextBox 16" id="16"/>
          <p:cNvSpPr txBox="true"/>
          <p:nvPr/>
        </p:nvSpPr>
        <p:spPr>
          <a:xfrm rot="0">
            <a:off x="15057796" y="675322"/>
            <a:ext cx="560546" cy="563461"/>
          </a:xfrm>
          <a:prstGeom prst="rect">
            <a:avLst/>
          </a:prstGeom>
        </p:spPr>
        <p:txBody>
          <a:bodyPr anchor="t" rtlCol="false" tIns="0" lIns="0" bIns="0" rIns="0">
            <a:spAutoFit/>
          </a:bodyPr>
          <a:lstStyle/>
          <a:p>
            <a:pPr algn="l">
              <a:lnSpc>
                <a:spcPts val="4246"/>
              </a:lnSpc>
            </a:pPr>
            <a:r>
              <a:rPr lang="en-US" b="true" sz="3267" spc="71">
                <a:solidFill>
                  <a:srgbClr val="12315F"/>
                </a:solidFill>
                <a:latin typeface="Prompt Bold"/>
                <a:ea typeface="Prompt Bold"/>
                <a:cs typeface="Prompt Bold"/>
                <a:sym typeface="Prompt Bold"/>
              </a:rPr>
              <a:t>DE</a:t>
            </a:r>
          </a:p>
        </p:txBody>
      </p:sp>
      <p:sp>
        <p:nvSpPr>
          <p:cNvPr name="TextBox 17" id="17"/>
          <p:cNvSpPr txBox="true"/>
          <p:nvPr/>
        </p:nvSpPr>
        <p:spPr>
          <a:xfrm rot="0">
            <a:off x="15679845" y="675322"/>
            <a:ext cx="2162642" cy="563461"/>
          </a:xfrm>
          <a:prstGeom prst="rect">
            <a:avLst/>
          </a:prstGeom>
        </p:spPr>
        <p:txBody>
          <a:bodyPr anchor="t" rtlCol="false" tIns="0" lIns="0" bIns="0" rIns="0">
            <a:spAutoFit/>
          </a:bodyPr>
          <a:lstStyle/>
          <a:p>
            <a:pPr algn="l">
              <a:lnSpc>
                <a:spcPts val="4246"/>
              </a:lnSpc>
            </a:pPr>
            <a:r>
              <a:rPr lang="en-US" b="true" sz="3267" spc="98">
                <a:solidFill>
                  <a:srgbClr val="12315F"/>
                </a:solidFill>
                <a:latin typeface="Prompt Bold"/>
                <a:ea typeface="Prompt Bold"/>
                <a:cs typeface="Prompt Bold"/>
                <a:sym typeface="Prompt Bold"/>
              </a:rPr>
              <a:t>SISTEMAS</a:t>
            </a:r>
          </a:p>
        </p:txBody>
      </p:sp>
      <p:sp>
        <p:nvSpPr>
          <p:cNvPr name="TextBox 18" id="18"/>
          <p:cNvSpPr txBox="true"/>
          <p:nvPr/>
        </p:nvSpPr>
        <p:spPr>
          <a:xfrm rot="0">
            <a:off x="13679938" y="1140809"/>
            <a:ext cx="1162622" cy="141475"/>
          </a:xfrm>
          <a:prstGeom prst="rect">
            <a:avLst/>
          </a:prstGeom>
        </p:spPr>
        <p:txBody>
          <a:bodyPr anchor="t" rtlCol="false" tIns="0" lIns="0" bIns="0" rIns="0">
            <a:spAutoFit/>
          </a:bodyPr>
          <a:lstStyle/>
          <a:p>
            <a:pPr algn="l">
              <a:lnSpc>
                <a:spcPts val="981"/>
              </a:lnSpc>
            </a:pPr>
            <a:r>
              <a:rPr lang="en-US" sz="701">
                <a:solidFill>
                  <a:srgbClr val="12315F"/>
                </a:solidFill>
                <a:latin typeface="Arimo"/>
                <a:ea typeface="Arimo"/>
                <a:cs typeface="Arimo"/>
                <a:sym typeface="Arimo"/>
              </a:rPr>
              <a:t>UNIVERSIDAD PERUANA UNIÓN</a:t>
            </a:r>
          </a:p>
        </p:txBody>
      </p:sp>
      <p:sp>
        <p:nvSpPr>
          <p:cNvPr name="TextBox 19" id="19"/>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Freeform 20" id="20"/>
          <p:cNvSpPr/>
          <p:nvPr/>
        </p:nvSpPr>
        <p:spPr>
          <a:xfrm flipH="false" flipV="false" rot="0">
            <a:off x="2043461" y="1499594"/>
            <a:ext cx="12714279" cy="7946424"/>
          </a:xfrm>
          <a:custGeom>
            <a:avLst/>
            <a:gdLst/>
            <a:ahLst/>
            <a:cxnLst/>
            <a:rect r="r" b="b" t="t" l="l"/>
            <a:pathLst>
              <a:path h="7946424" w="12714279">
                <a:moveTo>
                  <a:pt x="0" y="0"/>
                </a:moveTo>
                <a:lnTo>
                  <a:pt x="12714279" y="0"/>
                </a:lnTo>
                <a:lnTo>
                  <a:pt x="12714279" y="7946425"/>
                </a:lnTo>
                <a:lnTo>
                  <a:pt x="0" y="7946425"/>
                </a:lnTo>
                <a:lnTo>
                  <a:pt x="0" y="0"/>
                </a:lnTo>
                <a:close/>
              </a:path>
            </a:pathLst>
          </a:custGeom>
          <a:blipFill>
            <a:blip r:embed="rId13"/>
            <a:stretch>
              <a:fillRect l="0" t="0" r="0" b="0"/>
            </a:stretch>
          </a:blipFill>
        </p:spPr>
      </p:sp>
      <p:sp>
        <p:nvSpPr>
          <p:cNvPr name="TextBox 21" id="21"/>
          <p:cNvSpPr txBox="true"/>
          <p:nvPr/>
        </p:nvSpPr>
        <p:spPr>
          <a:xfrm rot="0">
            <a:off x="7443180" y="834819"/>
            <a:ext cx="1914840" cy="321161"/>
          </a:xfrm>
          <a:prstGeom prst="rect">
            <a:avLst/>
          </a:prstGeom>
        </p:spPr>
        <p:txBody>
          <a:bodyPr anchor="t" rtlCol="false" tIns="0" lIns="0" bIns="0" rIns="0">
            <a:spAutoFit/>
          </a:bodyPr>
          <a:lstStyle/>
          <a:p>
            <a:pPr algn="ctr">
              <a:lnSpc>
                <a:spcPts val="2585"/>
              </a:lnSpc>
              <a:spcBef>
                <a:spcPct val="0"/>
              </a:spcBef>
            </a:pPr>
            <a:r>
              <a:rPr lang="en-US" b="true" sz="2154">
                <a:solidFill>
                  <a:srgbClr val="12315F"/>
                </a:solidFill>
                <a:latin typeface="DM Sans Bold"/>
                <a:ea typeface="DM Sans Bold"/>
                <a:cs typeface="DM Sans Bold"/>
                <a:sym typeface="DM Sans Bold"/>
              </a:rPr>
              <a:t>Modelamiento</a:t>
            </a:r>
          </a:p>
        </p:txBody>
      </p:sp>
      <p:sp>
        <p:nvSpPr>
          <p:cNvPr name="TextBox 22" id="2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sp>
        <p:nvSpPr>
          <p:cNvPr name="Freeform 4" id="4"/>
          <p:cNvSpPr/>
          <p:nvPr/>
        </p:nvSpPr>
        <p:spPr>
          <a:xfrm flipH="false" flipV="false" rot="0">
            <a:off x="-7711897" y="-6859972"/>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437653" y="843344"/>
            <a:ext cx="6933752" cy="6933752"/>
          </a:xfrm>
          <a:custGeom>
            <a:avLst/>
            <a:gdLst/>
            <a:ahLst/>
            <a:cxnLst/>
            <a:rect r="r" b="b" t="t" l="l"/>
            <a:pathLst>
              <a:path h="6933752" w="6933752">
                <a:moveTo>
                  <a:pt x="0" y="0"/>
                </a:moveTo>
                <a:lnTo>
                  <a:pt x="6933753" y="0"/>
                </a:lnTo>
                <a:lnTo>
                  <a:pt x="6933753" y="6933752"/>
                </a:lnTo>
                <a:lnTo>
                  <a:pt x="0" y="6933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705097" y="7214359"/>
            <a:ext cx="2038502" cy="2043941"/>
          </a:xfrm>
          <a:custGeom>
            <a:avLst/>
            <a:gdLst/>
            <a:ahLst/>
            <a:cxnLst/>
            <a:rect r="r" b="b" t="t" l="l"/>
            <a:pathLst>
              <a:path h="2043941" w="2038502">
                <a:moveTo>
                  <a:pt x="0" y="0"/>
                </a:moveTo>
                <a:lnTo>
                  <a:pt x="2038503" y="0"/>
                </a:lnTo>
                <a:lnTo>
                  <a:pt x="2038503" y="2043941"/>
                </a:lnTo>
                <a:lnTo>
                  <a:pt x="0" y="20439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14928228" y="302924"/>
            <a:ext cx="18126" cy="835600"/>
            <a:chOff x="0" y="0"/>
            <a:chExt cx="24168" cy="1114133"/>
          </a:xfrm>
        </p:grpSpPr>
        <p:sp>
          <p:nvSpPr>
            <p:cNvPr name="Freeform 8" id="8"/>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8">
                <a:alphaModFix amt="0"/>
              </a:blip>
              <a:stretch>
                <a:fillRect l="-5873967" t="0" r="-5874125" b="3"/>
              </a:stretch>
            </a:blipFill>
            <a:ln w="24169" cap="sq">
              <a:solidFill>
                <a:srgbClr val="FFFFFF"/>
              </a:solidFill>
              <a:prstDash val="solid"/>
              <a:miter/>
            </a:ln>
          </p:spPr>
        </p:sp>
      </p:grpSp>
      <p:sp>
        <p:nvSpPr>
          <p:cNvPr name="Freeform 9" id="9"/>
          <p:cNvSpPr/>
          <p:nvPr/>
        </p:nvSpPr>
        <p:spPr>
          <a:xfrm flipH="false" flipV="false" rot="0">
            <a:off x="13965774" y="287141"/>
            <a:ext cx="590950" cy="538039"/>
          </a:xfrm>
          <a:custGeom>
            <a:avLst/>
            <a:gdLst/>
            <a:ahLst/>
            <a:cxnLst/>
            <a:rect r="r" b="b" t="t" l="l"/>
            <a:pathLst>
              <a:path h="538039" w="590950">
                <a:moveTo>
                  <a:pt x="0" y="0"/>
                </a:moveTo>
                <a:lnTo>
                  <a:pt x="590950" y="0"/>
                </a:lnTo>
                <a:lnTo>
                  <a:pt x="590950" y="538038"/>
                </a:lnTo>
                <a:lnTo>
                  <a:pt x="0" y="5380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13764749" y="860612"/>
            <a:ext cx="229438" cy="256623"/>
            <a:chOff x="0" y="0"/>
            <a:chExt cx="305918" cy="342163"/>
          </a:xfrm>
        </p:grpSpPr>
        <p:sp>
          <p:nvSpPr>
            <p:cNvPr name="Freeform 11" id="11"/>
            <p:cNvSpPr/>
            <p:nvPr/>
          </p:nvSpPr>
          <p:spPr>
            <a:xfrm flipH="false" flipV="false" rot="0">
              <a:off x="0" y="0"/>
              <a:ext cx="305943" cy="342138"/>
            </a:xfrm>
            <a:custGeom>
              <a:avLst/>
              <a:gdLst/>
              <a:ahLst/>
              <a:cxnLst/>
              <a:rect r="r" b="b" t="t" l="l"/>
              <a:pathLst>
                <a:path h="342138" w="305943">
                  <a:moveTo>
                    <a:pt x="305943" y="0"/>
                  </a:moveTo>
                  <a:lnTo>
                    <a:pt x="305943" y="189992"/>
                  </a:lnTo>
                  <a:cubicBezTo>
                    <a:pt x="305943" y="299974"/>
                    <a:pt x="247015" y="342138"/>
                    <a:pt x="152908" y="342138"/>
                  </a:cubicBezTo>
                  <a:cubicBezTo>
                    <a:pt x="58801" y="342138"/>
                    <a:pt x="0" y="299974"/>
                    <a:pt x="0" y="189992"/>
                  </a:cubicBezTo>
                  <a:lnTo>
                    <a:pt x="0" y="0"/>
                  </a:lnTo>
                  <a:lnTo>
                    <a:pt x="84328" y="0"/>
                  </a:lnTo>
                  <a:lnTo>
                    <a:pt x="84328" y="168910"/>
                  </a:lnTo>
                  <a:cubicBezTo>
                    <a:pt x="84328" y="240919"/>
                    <a:pt x="111252" y="268351"/>
                    <a:pt x="153035" y="268351"/>
                  </a:cubicBezTo>
                  <a:cubicBezTo>
                    <a:pt x="194818" y="268351"/>
                    <a:pt x="221742" y="240919"/>
                    <a:pt x="221742" y="168910"/>
                  </a:cubicBezTo>
                  <a:lnTo>
                    <a:pt x="221742" y="0"/>
                  </a:lnTo>
                  <a:close/>
                </a:path>
              </a:pathLst>
            </a:custGeom>
            <a:solidFill>
              <a:srgbClr val="003865"/>
            </a:solidFill>
          </p:spPr>
        </p:sp>
      </p:grpSp>
      <p:sp>
        <p:nvSpPr>
          <p:cNvPr name="Freeform 12" id="12"/>
          <p:cNvSpPr/>
          <p:nvPr/>
        </p:nvSpPr>
        <p:spPr>
          <a:xfrm flipH="false" flipV="false" rot="0">
            <a:off x="14041603" y="860603"/>
            <a:ext cx="455066" cy="255984"/>
          </a:xfrm>
          <a:custGeom>
            <a:avLst/>
            <a:gdLst/>
            <a:ahLst/>
            <a:cxnLst/>
            <a:rect r="r" b="b" t="t" l="l"/>
            <a:pathLst>
              <a:path h="255984" w="455066">
                <a:moveTo>
                  <a:pt x="0" y="0"/>
                </a:moveTo>
                <a:lnTo>
                  <a:pt x="455066" y="0"/>
                </a:lnTo>
                <a:lnTo>
                  <a:pt x="455066" y="255984"/>
                </a:lnTo>
                <a:lnTo>
                  <a:pt x="0" y="25598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3" id="13"/>
          <p:cNvGrpSpPr/>
          <p:nvPr/>
        </p:nvGrpSpPr>
        <p:grpSpPr>
          <a:xfrm rot="0">
            <a:off x="14528302" y="860612"/>
            <a:ext cx="229438" cy="256623"/>
            <a:chOff x="0" y="0"/>
            <a:chExt cx="305918" cy="342163"/>
          </a:xfrm>
        </p:grpSpPr>
        <p:sp>
          <p:nvSpPr>
            <p:cNvPr name="Freeform 14" id="14"/>
            <p:cNvSpPr/>
            <p:nvPr/>
          </p:nvSpPr>
          <p:spPr>
            <a:xfrm flipH="false" flipV="false" rot="0">
              <a:off x="0" y="0"/>
              <a:ext cx="305943" cy="342138"/>
            </a:xfrm>
            <a:custGeom>
              <a:avLst/>
              <a:gdLst/>
              <a:ahLst/>
              <a:cxnLst/>
              <a:rect r="r" b="b" t="t" l="l"/>
              <a:pathLst>
                <a:path h="342138" w="305943">
                  <a:moveTo>
                    <a:pt x="305943" y="0"/>
                  </a:moveTo>
                  <a:lnTo>
                    <a:pt x="305943" y="189992"/>
                  </a:lnTo>
                  <a:cubicBezTo>
                    <a:pt x="305943" y="299974"/>
                    <a:pt x="247015" y="342138"/>
                    <a:pt x="152908" y="342138"/>
                  </a:cubicBezTo>
                  <a:cubicBezTo>
                    <a:pt x="58801" y="342138"/>
                    <a:pt x="0" y="299974"/>
                    <a:pt x="0" y="189992"/>
                  </a:cubicBezTo>
                  <a:lnTo>
                    <a:pt x="0" y="0"/>
                  </a:lnTo>
                  <a:lnTo>
                    <a:pt x="84328" y="0"/>
                  </a:lnTo>
                  <a:lnTo>
                    <a:pt x="84328" y="168910"/>
                  </a:lnTo>
                  <a:cubicBezTo>
                    <a:pt x="84328" y="240919"/>
                    <a:pt x="111252" y="268351"/>
                    <a:pt x="153035" y="268351"/>
                  </a:cubicBezTo>
                  <a:cubicBezTo>
                    <a:pt x="194818" y="268351"/>
                    <a:pt x="221742" y="240919"/>
                    <a:pt x="221742" y="168910"/>
                  </a:cubicBezTo>
                  <a:lnTo>
                    <a:pt x="221742" y="0"/>
                  </a:lnTo>
                  <a:close/>
                </a:path>
              </a:pathLst>
            </a:custGeom>
            <a:solidFill>
              <a:srgbClr val="003865"/>
            </a:solidFill>
          </p:spPr>
        </p:sp>
      </p:grpSp>
      <p:sp>
        <p:nvSpPr>
          <p:cNvPr name="TextBox 15" id="15"/>
          <p:cNvSpPr txBox="true"/>
          <p:nvPr/>
        </p:nvSpPr>
        <p:spPr>
          <a:xfrm rot="0">
            <a:off x="15057796" y="261985"/>
            <a:ext cx="2858824" cy="572833"/>
          </a:xfrm>
          <a:prstGeom prst="rect">
            <a:avLst/>
          </a:prstGeom>
        </p:spPr>
        <p:txBody>
          <a:bodyPr anchor="t" rtlCol="false" tIns="0" lIns="0" bIns="0" rIns="0">
            <a:spAutoFit/>
          </a:bodyPr>
          <a:lstStyle/>
          <a:p>
            <a:pPr algn="l">
              <a:lnSpc>
                <a:spcPts val="4417"/>
              </a:lnSpc>
            </a:pPr>
            <a:r>
              <a:rPr lang="en-US" sz="3486" spc="282">
                <a:solidFill>
                  <a:srgbClr val="12315F"/>
                </a:solidFill>
                <a:latin typeface="Prompt Light"/>
                <a:ea typeface="Prompt Light"/>
                <a:cs typeface="Prompt Light"/>
                <a:sym typeface="Prompt Light"/>
              </a:rPr>
              <a:t>INGENIERÍA </a:t>
            </a:r>
          </a:p>
        </p:txBody>
      </p:sp>
      <p:sp>
        <p:nvSpPr>
          <p:cNvPr name="TextBox 16" id="16"/>
          <p:cNvSpPr txBox="true"/>
          <p:nvPr/>
        </p:nvSpPr>
        <p:spPr>
          <a:xfrm rot="0">
            <a:off x="15057796" y="675322"/>
            <a:ext cx="560546" cy="563461"/>
          </a:xfrm>
          <a:prstGeom prst="rect">
            <a:avLst/>
          </a:prstGeom>
        </p:spPr>
        <p:txBody>
          <a:bodyPr anchor="t" rtlCol="false" tIns="0" lIns="0" bIns="0" rIns="0">
            <a:spAutoFit/>
          </a:bodyPr>
          <a:lstStyle/>
          <a:p>
            <a:pPr algn="l">
              <a:lnSpc>
                <a:spcPts val="4246"/>
              </a:lnSpc>
            </a:pPr>
            <a:r>
              <a:rPr lang="en-US" b="true" sz="3267" spc="71">
                <a:solidFill>
                  <a:srgbClr val="12315F"/>
                </a:solidFill>
                <a:latin typeface="Prompt Bold"/>
                <a:ea typeface="Prompt Bold"/>
                <a:cs typeface="Prompt Bold"/>
                <a:sym typeface="Prompt Bold"/>
              </a:rPr>
              <a:t>DE</a:t>
            </a:r>
          </a:p>
        </p:txBody>
      </p:sp>
      <p:sp>
        <p:nvSpPr>
          <p:cNvPr name="TextBox 17" id="17"/>
          <p:cNvSpPr txBox="true"/>
          <p:nvPr/>
        </p:nvSpPr>
        <p:spPr>
          <a:xfrm rot="0">
            <a:off x="15679845" y="675322"/>
            <a:ext cx="2162642" cy="563461"/>
          </a:xfrm>
          <a:prstGeom prst="rect">
            <a:avLst/>
          </a:prstGeom>
        </p:spPr>
        <p:txBody>
          <a:bodyPr anchor="t" rtlCol="false" tIns="0" lIns="0" bIns="0" rIns="0">
            <a:spAutoFit/>
          </a:bodyPr>
          <a:lstStyle/>
          <a:p>
            <a:pPr algn="l">
              <a:lnSpc>
                <a:spcPts val="4246"/>
              </a:lnSpc>
            </a:pPr>
            <a:r>
              <a:rPr lang="en-US" b="true" sz="3267" spc="98">
                <a:solidFill>
                  <a:srgbClr val="12315F"/>
                </a:solidFill>
                <a:latin typeface="Prompt Bold"/>
                <a:ea typeface="Prompt Bold"/>
                <a:cs typeface="Prompt Bold"/>
                <a:sym typeface="Prompt Bold"/>
              </a:rPr>
              <a:t>SISTEMAS</a:t>
            </a:r>
          </a:p>
        </p:txBody>
      </p:sp>
      <p:sp>
        <p:nvSpPr>
          <p:cNvPr name="TextBox 18" id="18"/>
          <p:cNvSpPr txBox="true"/>
          <p:nvPr/>
        </p:nvSpPr>
        <p:spPr>
          <a:xfrm rot="0">
            <a:off x="13679938" y="1140809"/>
            <a:ext cx="1162622" cy="141475"/>
          </a:xfrm>
          <a:prstGeom prst="rect">
            <a:avLst/>
          </a:prstGeom>
        </p:spPr>
        <p:txBody>
          <a:bodyPr anchor="t" rtlCol="false" tIns="0" lIns="0" bIns="0" rIns="0">
            <a:spAutoFit/>
          </a:bodyPr>
          <a:lstStyle/>
          <a:p>
            <a:pPr algn="l">
              <a:lnSpc>
                <a:spcPts val="981"/>
              </a:lnSpc>
            </a:pPr>
            <a:r>
              <a:rPr lang="en-US" sz="701">
                <a:solidFill>
                  <a:srgbClr val="12315F"/>
                </a:solidFill>
                <a:latin typeface="Arimo"/>
                <a:ea typeface="Arimo"/>
                <a:cs typeface="Arimo"/>
                <a:sym typeface="Arimo"/>
              </a:rPr>
              <a:t>UNIVERSIDAD PERUANA UNIÓN</a:t>
            </a:r>
          </a:p>
        </p:txBody>
      </p:sp>
      <p:sp>
        <p:nvSpPr>
          <p:cNvPr name="TextBox 19" id="19"/>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Freeform 20" id="20"/>
          <p:cNvSpPr/>
          <p:nvPr/>
        </p:nvSpPr>
        <p:spPr>
          <a:xfrm flipH="false" flipV="false" rot="0">
            <a:off x="842305" y="1945063"/>
            <a:ext cx="5412403" cy="1920530"/>
          </a:xfrm>
          <a:custGeom>
            <a:avLst/>
            <a:gdLst/>
            <a:ahLst/>
            <a:cxnLst/>
            <a:rect r="r" b="b" t="t" l="l"/>
            <a:pathLst>
              <a:path h="1920530" w="5412403">
                <a:moveTo>
                  <a:pt x="0" y="0"/>
                </a:moveTo>
                <a:lnTo>
                  <a:pt x="5412403" y="0"/>
                </a:lnTo>
                <a:lnTo>
                  <a:pt x="5412403" y="1920530"/>
                </a:lnTo>
                <a:lnTo>
                  <a:pt x="0" y="1920530"/>
                </a:lnTo>
                <a:lnTo>
                  <a:pt x="0" y="0"/>
                </a:lnTo>
                <a:close/>
              </a:path>
            </a:pathLst>
          </a:custGeom>
          <a:blipFill>
            <a:blip r:embed="rId13"/>
            <a:stretch>
              <a:fillRect l="0" t="0" r="0" b="0"/>
            </a:stretch>
          </a:blipFill>
        </p:spPr>
      </p:sp>
      <p:sp>
        <p:nvSpPr>
          <p:cNvPr name="Freeform 21" id="21"/>
          <p:cNvSpPr/>
          <p:nvPr/>
        </p:nvSpPr>
        <p:spPr>
          <a:xfrm flipH="false" flipV="false" rot="0">
            <a:off x="211036" y="4844294"/>
            <a:ext cx="7001339" cy="4161421"/>
          </a:xfrm>
          <a:custGeom>
            <a:avLst/>
            <a:gdLst/>
            <a:ahLst/>
            <a:cxnLst/>
            <a:rect r="r" b="b" t="t" l="l"/>
            <a:pathLst>
              <a:path h="4161421" w="7001339">
                <a:moveTo>
                  <a:pt x="0" y="0"/>
                </a:moveTo>
                <a:lnTo>
                  <a:pt x="7001339" y="0"/>
                </a:lnTo>
                <a:lnTo>
                  <a:pt x="7001339" y="4161421"/>
                </a:lnTo>
                <a:lnTo>
                  <a:pt x="0" y="4161421"/>
                </a:lnTo>
                <a:lnTo>
                  <a:pt x="0" y="0"/>
                </a:lnTo>
                <a:close/>
              </a:path>
            </a:pathLst>
          </a:custGeom>
          <a:blipFill>
            <a:blip r:embed="rId14"/>
            <a:stretch>
              <a:fillRect l="0" t="0" r="0" b="0"/>
            </a:stretch>
          </a:blipFill>
        </p:spPr>
      </p:sp>
      <p:sp>
        <p:nvSpPr>
          <p:cNvPr name="Freeform 22" id="22"/>
          <p:cNvSpPr/>
          <p:nvPr/>
        </p:nvSpPr>
        <p:spPr>
          <a:xfrm flipH="false" flipV="false" rot="0">
            <a:off x="7472244" y="2190255"/>
            <a:ext cx="9967766" cy="6815460"/>
          </a:xfrm>
          <a:custGeom>
            <a:avLst/>
            <a:gdLst/>
            <a:ahLst/>
            <a:cxnLst/>
            <a:rect r="r" b="b" t="t" l="l"/>
            <a:pathLst>
              <a:path h="6815460" w="9967766">
                <a:moveTo>
                  <a:pt x="0" y="0"/>
                </a:moveTo>
                <a:lnTo>
                  <a:pt x="9967765" y="0"/>
                </a:lnTo>
                <a:lnTo>
                  <a:pt x="9967765" y="6815460"/>
                </a:lnTo>
                <a:lnTo>
                  <a:pt x="0" y="6815460"/>
                </a:lnTo>
                <a:lnTo>
                  <a:pt x="0" y="0"/>
                </a:lnTo>
                <a:close/>
              </a:path>
            </a:pathLst>
          </a:custGeom>
          <a:blipFill>
            <a:blip r:embed="rId15"/>
            <a:stretch>
              <a:fillRect l="0" t="0" r="0" b="0"/>
            </a:stretch>
          </a:blipFill>
        </p:spPr>
      </p:sp>
      <p:sp>
        <p:nvSpPr>
          <p:cNvPr name="TextBox 23" id="23"/>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24</a:t>
            </a:r>
          </a:p>
        </p:txBody>
      </p:sp>
      <p:sp>
        <p:nvSpPr>
          <p:cNvPr name="TextBox 24" id="24"/>
          <p:cNvSpPr txBox="true"/>
          <p:nvPr/>
        </p:nvSpPr>
        <p:spPr>
          <a:xfrm rot="0">
            <a:off x="6885859" y="1656973"/>
            <a:ext cx="1581574" cy="298073"/>
          </a:xfrm>
          <a:prstGeom prst="rect">
            <a:avLst/>
          </a:prstGeom>
        </p:spPr>
        <p:txBody>
          <a:bodyPr anchor="t" rtlCol="false" tIns="0" lIns="0" bIns="0" rIns="0">
            <a:spAutoFit/>
          </a:bodyPr>
          <a:lstStyle/>
          <a:p>
            <a:pPr algn="ctr">
              <a:lnSpc>
                <a:spcPts val="2399"/>
              </a:lnSpc>
              <a:spcBef>
                <a:spcPct val="0"/>
              </a:spcBef>
            </a:pPr>
            <a:r>
              <a:rPr lang="en-US" b="true" sz="1999">
                <a:solidFill>
                  <a:srgbClr val="12315F"/>
                </a:solidFill>
                <a:latin typeface="DM Sans Bold"/>
                <a:ea typeface="DM Sans Bold"/>
                <a:cs typeface="DM Sans Bold"/>
                <a:sym typeface="DM Sans Bold"/>
              </a:rPr>
              <a:t>VALIIDACIÓN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grpSp>
        <p:nvGrpSpPr>
          <p:cNvPr name="Group 2" id="2"/>
          <p:cNvGrpSpPr/>
          <p:nvPr/>
        </p:nvGrpSpPr>
        <p:grpSpPr>
          <a:xfrm rot="0">
            <a:off x="6502079" y="4616520"/>
            <a:ext cx="18324719" cy="9861594"/>
            <a:chOff x="0" y="0"/>
            <a:chExt cx="24432958" cy="13148793"/>
          </a:xfrm>
        </p:grpSpPr>
        <p:sp>
          <p:nvSpPr>
            <p:cNvPr name="Freeform 3" id="3"/>
            <p:cNvSpPr/>
            <p:nvPr/>
          </p:nvSpPr>
          <p:spPr>
            <a:xfrm flipH="false" flipV="false" rot="0">
              <a:off x="-18" y="0"/>
              <a:ext cx="24432876" cy="13148818"/>
            </a:xfrm>
            <a:custGeom>
              <a:avLst/>
              <a:gdLst/>
              <a:ahLst/>
              <a:cxnLst/>
              <a:rect r="r" b="b" t="t" l="l"/>
              <a:pathLst>
                <a:path h="13148818" w="24432876">
                  <a:moveTo>
                    <a:pt x="12889248" y="290703"/>
                  </a:moveTo>
                  <a:lnTo>
                    <a:pt x="24317597" y="12433935"/>
                  </a:lnTo>
                  <a:cubicBezTo>
                    <a:pt x="24433548" y="12557125"/>
                    <a:pt x="24465171" y="12737592"/>
                    <a:pt x="24398115" y="12892913"/>
                  </a:cubicBezTo>
                  <a:cubicBezTo>
                    <a:pt x="24331060" y="13048233"/>
                    <a:pt x="24178024" y="13148818"/>
                    <a:pt x="24008734" y="13148818"/>
                  </a:cubicBezTo>
                  <a:lnTo>
                    <a:pt x="424198" y="13148818"/>
                  </a:lnTo>
                  <a:cubicBezTo>
                    <a:pt x="255034" y="13148818"/>
                    <a:pt x="101999" y="13048233"/>
                    <a:pt x="34816" y="12892913"/>
                  </a:cubicBezTo>
                  <a:cubicBezTo>
                    <a:pt x="-32367" y="12737592"/>
                    <a:pt x="-617" y="12557251"/>
                    <a:pt x="115334" y="12433935"/>
                  </a:cubicBezTo>
                  <a:lnTo>
                    <a:pt x="11543683" y="290703"/>
                  </a:lnTo>
                  <a:cubicBezTo>
                    <a:pt x="11718308" y="105156"/>
                    <a:pt x="11961767" y="0"/>
                    <a:pt x="12216529" y="0"/>
                  </a:cubicBezTo>
                  <a:cubicBezTo>
                    <a:pt x="12471291" y="0"/>
                    <a:pt x="12714750" y="105156"/>
                    <a:pt x="12889248" y="290703"/>
                  </a:cubicBezTo>
                  <a:close/>
                </a:path>
              </a:pathLst>
            </a:custGeom>
            <a:solidFill>
              <a:srgbClr val="003865"/>
            </a:solidFill>
          </p:spPr>
        </p:sp>
      </p:grpSp>
      <p:sp>
        <p:nvSpPr>
          <p:cNvPr name="Freeform 4" id="4"/>
          <p:cNvSpPr/>
          <p:nvPr/>
        </p:nvSpPr>
        <p:spPr>
          <a:xfrm flipH="false" flipV="false" rot="0">
            <a:off x="9953292" y="-2195770"/>
            <a:ext cx="18309574" cy="9160402"/>
          </a:xfrm>
          <a:custGeom>
            <a:avLst/>
            <a:gdLst/>
            <a:ahLst/>
            <a:cxnLst/>
            <a:rect r="r" b="b" t="t" l="l"/>
            <a:pathLst>
              <a:path h="9160402" w="18309574">
                <a:moveTo>
                  <a:pt x="0" y="0"/>
                </a:moveTo>
                <a:lnTo>
                  <a:pt x="18309574" y="0"/>
                </a:lnTo>
                <a:lnTo>
                  <a:pt x="18309574" y="9160402"/>
                </a:lnTo>
                <a:lnTo>
                  <a:pt x="0" y="9160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980799"/>
            <a:ext cx="8988457" cy="841058"/>
          </a:xfrm>
          <a:prstGeom prst="rect">
            <a:avLst/>
          </a:prstGeom>
        </p:spPr>
        <p:txBody>
          <a:bodyPr anchor="t" rtlCol="false" tIns="0" lIns="0" bIns="0" rIns="0">
            <a:spAutoFit/>
          </a:bodyPr>
          <a:lstStyle/>
          <a:p>
            <a:pPr algn="l">
              <a:lnSpc>
                <a:spcPts val="8167"/>
              </a:lnSpc>
            </a:pPr>
            <a:r>
              <a:rPr lang="en-US" sz="9075" b="true">
                <a:solidFill>
                  <a:srgbClr val="003865"/>
                </a:solidFill>
                <a:latin typeface="DM Sans Bold"/>
                <a:ea typeface="DM Sans Bold"/>
                <a:cs typeface="DM Sans Bold"/>
                <a:sym typeface="DM Sans Bold"/>
              </a:rPr>
              <a:t>CONCLUSIONES</a:t>
            </a:r>
          </a:p>
        </p:txBody>
      </p:sp>
      <p:sp>
        <p:nvSpPr>
          <p:cNvPr name="Freeform 6" id="6"/>
          <p:cNvSpPr/>
          <p:nvPr/>
        </p:nvSpPr>
        <p:spPr>
          <a:xfrm flipH="false" flipV="false" rot="0">
            <a:off x="13830071" y="3312462"/>
            <a:ext cx="1474108" cy="1474108"/>
          </a:xfrm>
          <a:custGeom>
            <a:avLst/>
            <a:gdLst/>
            <a:ahLst/>
            <a:cxnLst/>
            <a:rect r="r" b="b" t="t" l="l"/>
            <a:pathLst>
              <a:path h="1474108" w="1474108">
                <a:moveTo>
                  <a:pt x="0" y="0"/>
                </a:moveTo>
                <a:lnTo>
                  <a:pt x="1474108" y="0"/>
                </a:lnTo>
                <a:lnTo>
                  <a:pt x="1474108" y="1474108"/>
                </a:lnTo>
                <a:lnTo>
                  <a:pt x="0" y="14741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5137216" y="191386"/>
            <a:ext cx="19050" cy="836524"/>
            <a:chOff x="0" y="0"/>
            <a:chExt cx="25400" cy="1115365"/>
          </a:xfrm>
        </p:grpSpPr>
        <p:sp>
          <p:nvSpPr>
            <p:cNvPr name="Freeform 8" id="8"/>
            <p:cNvSpPr/>
            <p:nvPr/>
          </p:nvSpPr>
          <p:spPr>
            <a:xfrm flipH="false" flipV="false" rot="0">
              <a:off x="0" y="0"/>
              <a:ext cx="25400" cy="1115314"/>
            </a:xfrm>
            <a:custGeom>
              <a:avLst/>
              <a:gdLst/>
              <a:ahLst/>
              <a:cxnLst/>
              <a:rect r="r" b="b" t="t" l="l"/>
              <a:pathLst>
                <a:path h="1115314" w="25400">
                  <a:moveTo>
                    <a:pt x="0" y="1115314"/>
                  </a:moveTo>
                  <a:lnTo>
                    <a:pt x="25400" y="0"/>
                  </a:lnTo>
                </a:path>
              </a:pathLst>
            </a:custGeom>
            <a:blipFill>
              <a:blip r:embed="rId6">
                <a:alphaModFix amt="0"/>
              </a:blip>
              <a:stretch>
                <a:fillRect l="-5584066" t="0" r="-5584066" b="-4"/>
              </a:stretch>
            </a:blipFill>
            <a:ln w="19050" cap="sq">
              <a:solidFill>
                <a:srgbClr val="FFFFFF"/>
              </a:solidFill>
              <a:prstDash val="solid"/>
              <a:miter/>
            </a:ln>
          </p:spPr>
        </p:sp>
      </p:grpSp>
      <p:sp>
        <p:nvSpPr>
          <p:cNvPr name="Freeform 9" id="9"/>
          <p:cNvSpPr/>
          <p:nvPr/>
        </p:nvSpPr>
        <p:spPr>
          <a:xfrm flipH="false" flipV="false" rot="0">
            <a:off x="14175229" y="176060"/>
            <a:ext cx="590950" cy="538039"/>
          </a:xfrm>
          <a:custGeom>
            <a:avLst/>
            <a:gdLst/>
            <a:ahLst/>
            <a:cxnLst/>
            <a:rect r="r" b="b" t="t" l="l"/>
            <a:pathLst>
              <a:path h="538039" w="590950">
                <a:moveTo>
                  <a:pt x="0" y="0"/>
                </a:moveTo>
                <a:lnTo>
                  <a:pt x="590950" y="0"/>
                </a:lnTo>
                <a:lnTo>
                  <a:pt x="590950" y="538039"/>
                </a:lnTo>
                <a:lnTo>
                  <a:pt x="0" y="53803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3974204" y="749532"/>
            <a:ext cx="992991" cy="256632"/>
          </a:xfrm>
          <a:custGeom>
            <a:avLst/>
            <a:gdLst/>
            <a:ahLst/>
            <a:cxnLst/>
            <a:rect r="r" b="b" t="t" l="l"/>
            <a:pathLst>
              <a:path h="256632" w="992991">
                <a:moveTo>
                  <a:pt x="0" y="0"/>
                </a:moveTo>
                <a:lnTo>
                  <a:pt x="992990" y="0"/>
                </a:lnTo>
                <a:lnTo>
                  <a:pt x="992990" y="256632"/>
                </a:lnTo>
                <a:lnTo>
                  <a:pt x="0" y="2566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5267251" y="143761"/>
            <a:ext cx="2858824" cy="579977"/>
          </a:xfrm>
          <a:prstGeom prst="rect">
            <a:avLst/>
          </a:prstGeom>
        </p:spPr>
        <p:txBody>
          <a:bodyPr anchor="t" rtlCol="false" tIns="0" lIns="0" bIns="0" rIns="0">
            <a:spAutoFit/>
          </a:bodyPr>
          <a:lstStyle/>
          <a:p>
            <a:pPr algn="l">
              <a:lnSpc>
                <a:spcPts val="4417"/>
              </a:lnSpc>
            </a:pPr>
            <a:r>
              <a:rPr lang="en-US" sz="3486" spc="282">
                <a:solidFill>
                  <a:srgbClr val="12315F"/>
                </a:solidFill>
                <a:latin typeface="Prompt Light"/>
                <a:ea typeface="Prompt Light"/>
                <a:cs typeface="Prompt Light"/>
                <a:sym typeface="Prompt Light"/>
              </a:rPr>
              <a:t>INGENIERÍA </a:t>
            </a:r>
          </a:p>
        </p:txBody>
      </p:sp>
      <p:sp>
        <p:nvSpPr>
          <p:cNvPr name="TextBox 12" id="12"/>
          <p:cNvSpPr txBox="true"/>
          <p:nvPr/>
        </p:nvSpPr>
        <p:spPr>
          <a:xfrm rot="0">
            <a:off x="15267251" y="554717"/>
            <a:ext cx="560546" cy="572986"/>
          </a:xfrm>
          <a:prstGeom prst="rect">
            <a:avLst/>
          </a:prstGeom>
        </p:spPr>
        <p:txBody>
          <a:bodyPr anchor="t" rtlCol="false" tIns="0" lIns="0" bIns="0" rIns="0">
            <a:spAutoFit/>
          </a:bodyPr>
          <a:lstStyle/>
          <a:p>
            <a:pPr algn="l">
              <a:lnSpc>
                <a:spcPts val="4246"/>
              </a:lnSpc>
            </a:pPr>
            <a:r>
              <a:rPr lang="en-US" b="true" sz="3267" spc="71">
                <a:solidFill>
                  <a:srgbClr val="12315F"/>
                </a:solidFill>
                <a:latin typeface="Prompt Bold"/>
                <a:ea typeface="Prompt Bold"/>
                <a:cs typeface="Prompt Bold"/>
                <a:sym typeface="Prompt Bold"/>
              </a:rPr>
              <a:t>DE</a:t>
            </a:r>
          </a:p>
        </p:txBody>
      </p:sp>
      <p:sp>
        <p:nvSpPr>
          <p:cNvPr name="TextBox 13" id="13"/>
          <p:cNvSpPr txBox="true"/>
          <p:nvPr/>
        </p:nvSpPr>
        <p:spPr>
          <a:xfrm rot="0">
            <a:off x="15889300" y="554717"/>
            <a:ext cx="2162642" cy="572986"/>
          </a:xfrm>
          <a:prstGeom prst="rect">
            <a:avLst/>
          </a:prstGeom>
        </p:spPr>
        <p:txBody>
          <a:bodyPr anchor="t" rtlCol="false" tIns="0" lIns="0" bIns="0" rIns="0">
            <a:spAutoFit/>
          </a:bodyPr>
          <a:lstStyle/>
          <a:p>
            <a:pPr algn="l">
              <a:lnSpc>
                <a:spcPts val="4246"/>
              </a:lnSpc>
            </a:pPr>
            <a:r>
              <a:rPr lang="en-US" b="true" sz="3267" spc="98">
                <a:solidFill>
                  <a:srgbClr val="12315F"/>
                </a:solidFill>
                <a:latin typeface="Prompt Bold"/>
                <a:ea typeface="Prompt Bold"/>
                <a:cs typeface="Prompt Bold"/>
                <a:sym typeface="Prompt Bold"/>
              </a:rPr>
              <a:t>SISTEMAS</a:t>
            </a:r>
          </a:p>
        </p:txBody>
      </p:sp>
      <p:sp>
        <p:nvSpPr>
          <p:cNvPr name="TextBox 14" id="14"/>
          <p:cNvSpPr txBox="true"/>
          <p:nvPr/>
        </p:nvSpPr>
        <p:spPr>
          <a:xfrm rot="0">
            <a:off x="13889384" y="1022585"/>
            <a:ext cx="1162622" cy="148619"/>
          </a:xfrm>
          <a:prstGeom prst="rect">
            <a:avLst/>
          </a:prstGeom>
        </p:spPr>
        <p:txBody>
          <a:bodyPr anchor="t" rtlCol="false" tIns="0" lIns="0" bIns="0" rIns="0">
            <a:spAutoFit/>
          </a:bodyPr>
          <a:lstStyle/>
          <a:p>
            <a:pPr algn="l">
              <a:lnSpc>
                <a:spcPts val="981"/>
              </a:lnSpc>
            </a:pPr>
            <a:r>
              <a:rPr lang="en-US" sz="701">
                <a:solidFill>
                  <a:srgbClr val="12315F"/>
                </a:solidFill>
                <a:latin typeface="Arimo"/>
                <a:ea typeface="Arimo"/>
                <a:cs typeface="Arimo"/>
                <a:sym typeface="Arimo"/>
              </a:rPr>
              <a:t>UNIVERSIDAD PERUANA UNIÓN</a:t>
            </a:r>
          </a:p>
        </p:txBody>
      </p:sp>
      <p:sp>
        <p:nvSpPr>
          <p:cNvPr name="TextBox 15" id="15"/>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sp>
        <p:nvSpPr>
          <p:cNvPr name="TextBox 16" id="16"/>
          <p:cNvSpPr txBox="true"/>
          <p:nvPr/>
        </p:nvSpPr>
        <p:spPr>
          <a:xfrm rot="0">
            <a:off x="1018193" y="2264022"/>
            <a:ext cx="12172731" cy="5583350"/>
          </a:xfrm>
          <a:prstGeom prst="rect">
            <a:avLst/>
          </a:prstGeom>
        </p:spPr>
        <p:txBody>
          <a:bodyPr anchor="t" rtlCol="false" tIns="0" lIns="0" bIns="0" rIns="0">
            <a:spAutoFit/>
          </a:bodyPr>
          <a:lstStyle/>
          <a:p>
            <a:pPr algn="l">
              <a:lnSpc>
                <a:spcPts val="3727"/>
              </a:lnSpc>
            </a:pPr>
            <a:r>
              <a:rPr lang="en-US" sz="2867" spc="62">
                <a:solidFill>
                  <a:srgbClr val="000000"/>
                </a:solidFill>
                <a:latin typeface="Prompt"/>
                <a:ea typeface="Prompt"/>
                <a:cs typeface="Prompt"/>
                <a:sym typeface="Prompt"/>
              </a:rPr>
              <a:t>CONCLUSIONES</a:t>
            </a:r>
          </a:p>
          <a:p>
            <a:pPr algn="l" marL="618987" indent="-309494" lvl="1">
              <a:lnSpc>
                <a:spcPts val="3727"/>
              </a:lnSpc>
              <a:buFont typeface="Arial"/>
              <a:buChar char="•"/>
            </a:pPr>
            <a:r>
              <a:rPr lang="en-US" sz="2867" spc="62">
                <a:solidFill>
                  <a:srgbClr val="000000"/>
                </a:solidFill>
                <a:latin typeface="Prompt"/>
                <a:ea typeface="Prompt"/>
                <a:cs typeface="Prompt"/>
                <a:sym typeface="Prompt"/>
              </a:rPr>
              <a:t>Se consolidaron y depuraron los datos históricos de la ENDES para construir una base adecuada para el análisis.</a:t>
            </a:r>
          </a:p>
          <a:p>
            <a:pPr algn="l" marL="618987" indent="-309494" lvl="1">
              <a:lnSpc>
                <a:spcPts val="3727"/>
              </a:lnSpc>
              <a:buFont typeface="Arial"/>
              <a:buChar char="•"/>
            </a:pPr>
            <a:r>
              <a:rPr lang="en-US" sz="2867" spc="62">
                <a:solidFill>
                  <a:srgbClr val="000000"/>
                </a:solidFill>
                <a:latin typeface="Prompt"/>
                <a:ea typeface="Prompt"/>
                <a:cs typeface="Prompt"/>
                <a:sym typeface="Prompt"/>
              </a:rPr>
              <a:t>Se identificaron los principales factores asociados con la desnutrición crónica infantil.</a:t>
            </a:r>
          </a:p>
          <a:p>
            <a:pPr algn="l" marL="618987" indent="-309494" lvl="1">
              <a:lnSpc>
                <a:spcPts val="3727"/>
              </a:lnSpc>
              <a:buFont typeface="Arial"/>
              <a:buChar char="•"/>
            </a:pPr>
            <a:r>
              <a:rPr lang="en-US" sz="2867" spc="62">
                <a:solidFill>
                  <a:srgbClr val="000000"/>
                </a:solidFill>
                <a:latin typeface="Prompt"/>
                <a:ea typeface="Prompt"/>
                <a:cs typeface="Prompt"/>
                <a:sym typeface="Prompt"/>
              </a:rPr>
              <a:t>El análisis departamental permitió visualizar el perfil y los factores predominantes de cada región.</a:t>
            </a:r>
          </a:p>
          <a:p>
            <a:pPr algn="l" marL="618987" indent="-309494" lvl="1">
              <a:lnSpc>
                <a:spcPts val="3727"/>
              </a:lnSpc>
              <a:buFont typeface="Arial"/>
              <a:buChar char="•"/>
            </a:pPr>
            <a:r>
              <a:rPr lang="en-US" sz="2867" spc="62">
                <a:solidFill>
                  <a:srgbClr val="000000"/>
                </a:solidFill>
                <a:latin typeface="Prompt"/>
                <a:ea typeface="Prompt"/>
                <a:cs typeface="Prompt"/>
                <a:sym typeface="Prompt"/>
              </a:rPr>
              <a:t>LightGBM fue seleccionado como el modelo con mejor desempeño predictivo.</a:t>
            </a:r>
          </a:p>
          <a:p>
            <a:pPr algn="l" marL="618987" indent="-309494" lvl="1">
              <a:lnSpc>
                <a:spcPts val="3727"/>
              </a:lnSpc>
              <a:buFont typeface="Arial"/>
              <a:buChar char="•"/>
            </a:pPr>
            <a:r>
              <a:rPr lang="en-US" sz="2867" spc="62">
                <a:solidFill>
                  <a:srgbClr val="000000"/>
                </a:solidFill>
                <a:latin typeface="Prompt"/>
                <a:ea typeface="Prompt"/>
                <a:cs typeface="Prompt"/>
                <a:sym typeface="Prompt"/>
              </a:rPr>
              <a:t>El sistema integra un análisis territorial y un predictor individual que estima el riesgo y explica los factores más influyentes.</a:t>
            </a:r>
          </a:p>
        </p:txBody>
      </p:sp>
      <p:sp>
        <p:nvSpPr>
          <p:cNvPr name="TextBox 17" id="17"/>
          <p:cNvSpPr txBox="true"/>
          <p:nvPr/>
        </p:nvSpPr>
        <p:spPr>
          <a:xfrm rot="0">
            <a:off x="15678001"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Página 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7F7F7"/>
        </a:solidFill>
      </p:bgPr>
    </p:bg>
    <p:spTree>
      <p:nvGrpSpPr>
        <p:cNvPr id="1" name=""/>
        <p:cNvGrpSpPr/>
        <p:nvPr/>
      </p:nvGrpSpPr>
      <p:grpSpPr>
        <a:xfrm>
          <a:off x="0" y="0"/>
          <a:ext cx="0" cy="0"/>
          <a:chOff x="0" y="0"/>
          <a:chExt cx="0" cy="0"/>
        </a:xfrm>
      </p:grpSpPr>
      <p:sp>
        <p:nvSpPr>
          <p:cNvPr name="Freeform 2" id="2"/>
          <p:cNvSpPr/>
          <p:nvPr/>
        </p:nvSpPr>
        <p:spPr>
          <a:xfrm flipH="false" flipV="false" rot="0">
            <a:off x="-1035891" y="9090374"/>
            <a:ext cx="21518861" cy="2241080"/>
          </a:xfrm>
          <a:custGeom>
            <a:avLst/>
            <a:gdLst/>
            <a:ahLst/>
            <a:cxnLst/>
            <a:rect r="r" b="b" t="t" l="l"/>
            <a:pathLst>
              <a:path h="2241080" w="21518861">
                <a:moveTo>
                  <a:pt x="0" y="0"/>
                </a:moveTo>
                <a:lnTo>
                  <a:pt x="21518861" y="0"/>
                </a:lnTo>
                <a:lnTo>
                  <a:pt x="21518861" y="2241080"/>
                </a:lnTo>
                <a:lnTo>
                  <a:pt x="0" y="22410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12459" y="1937766"/>
            <a:ext cx="12205021" cy="12095236"/>
            <a:chOff x="0" y="0"/>
            <a:chExt cx="16273361" cy="16126981"/>
          </a:xfrm>
        </p:grpSpPr>
        <p:sp>
          <p:nvSpPr>
            <p:cNvPr name="Freeform 4" id="4"/>
            <p:cNvSpPr/>
            <p:nvPr/>
          </p:nvSpPr>
          <p:spPr>
            <a:xfrm flipH="false" flipV="false" rot="0">
              <a:off x="0" y="64"/>
              <a:ext cx="16273272" cy="16126969"/>
            </a:xfrm>
            <a:custGeom>
              <a:avLst/>
              <a:gdLst/>
              <a:ahLst/>
              <a:cxnLst/>
              <a:rect r="r" b="b" t="t" l="l"/>
              <a:pathLst>
                <a:path h="16126969" w="16273272">
                  <a:moveTo>
                    <a:pt x="9002776" y="356425"/>
                  </a:moveTo>
                  <a:lnTo>
                    <a:pt x="15915514" y="7205281"/>
                  </a:lnTo>
                  <a:cubicBezTo>
                    <a:pt x="16144494" y="7432103"/>
                    <a:pt x="16273272" y="7741094"/>
                    <a:pt x="16273272" y="8063421"/>
                  </a:cubicBezTo>
                  <a:cubicBezTo>
                    <a:pt x="16273272" y="8385747"/>
                    <a:pt x="16144494" y="8694737"/>
                    <a:pt x="15915514" y="8921560"/>
                  </a:cubicBezTo>
                  <a:lnTo>
                    <a:pt x="9002776" y="15770542"/>
                  </a:lnTo>
                  <a:cubicBezTo>
                    <a:pt x="8523097" y="16245777"/>
                    <a:pt x="7750175" y="16245777"/>
                    <a:pt x="7270497" y="15770542"/>
                  </a:cubicBezTo>
                  <a:lnTo>
                    <a:pt x="357759" y="8921559"/>
                  </a:lnTo>
                  <a:cubicBezTo>
                    <a:pt x="128778" y="8694737"/>
                    <a:pt x="0" y="8385746"/>
                    <a:pt x="0" y="8063420"/>
                  </a:cubicBezTo>
                  <a:cubicBezTo>
                    <a:pt x="0" y="7741094"/>
                    <a:pt x="128778" y="7432103"/>
                    <a:pt x="357759" y="7205281"/>
                  </a:cubicBezTo>
                  <a:lnTo>
                    <a:pt x="7270496" y="356425"/>
                  </a:lnTo>
                  <a:cubicBezTo>
                    <a:pt x="7750175" y="-118809"/>
                    <a:pt x="8523097" y="-118809"/>
                    <a:pt x="9002776" y="356425"/>
                  </a:cubicBezTo>
                  <a:close/>
                </a:path>
              </a:pathLst>
            </a:custGeom>
            <a:solidFill>
              <a:srgbClr val="F8A900"/>
            </a:solidFill>
          </p:spPr>
        </p:sp>
      </p:grpSp>
      <p:sp>
        <p:nvSpPr>
          <p:cNvPr name="Freeform 5" id="5"/>
          <p:cNvSpPr/>
          <p:nvPr/>
        </p:nvSpPr>
        <p:spPr>
          <a:xfrm flipH="false" flipV="false" rot="0">
            <a:off x="7663605" y="-6859972"/>
            <a:ext cx="18309574" cy="9160402"/>
          </a:xfrm>
          <a:custGeom>
            <a:avLst/>
            <a:gdLst/>
            <a:ahLst/>
            <a:cxnLst/>
            <a:rect r="r" b="b" t="t" l="l"/>
            <a:pathLst>
              <a:path h="9160402" w="18309574">
                <a:moveTo>
                  <a:pt x="0" y="0"/>
                </a:moveTo>
                <a:lnTo>
                  <a:pt x="18309575" y="0"/>
                </a:lnTo>
                <a:lnTo>
                  <a:pt x="18309575" y="9160402"/>
                </a:lnTo>
                <a:lnTo>
                  <a:pt x="0" y="91604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8459610" y="4366412"/>
            <a:ext cx="9294990" cy="1493720"/>
          </a:xfrm>
          <a:prstGeom prst="rect">
            <a:avLst/>
          </a:prstGeom>
        </p:spPr>
        <p:txBody>
          <a:bodyPr anchor="t" rtlCol="false" tIns="0" lIns="0" bIns="0" rIns="0">
            <a:spAutoFit/>
          </a:bodyPr>
          <a:lstStyle/>
          <a:p>
            <a:pPr algn="l">
              <a:lnSpc>
                <a:spcPts val="14118"/>
              </a:lnSpc>
            </a:pPr>
            <a:r>
              <a:rPr lang="en-US" sz="15687" b="true">
                <a:solidFill>
                  <a:srgbClr val="003865"/>
                </a:solidFill>
                <a:latin typeface="DM Sans Bold"/>
                <a:ea typeface="DM Sans Bold"/>
                <a:cs typeface="DM Sans Bold"/>
                <a:sym typeface="DM Sans Bold"/>
              </a:rPr>
              <a:t>GRACIAS</a:t>
            </a:r>
          </a:p>
        </p:txBody>
      </p:sp>
      <p:sp>
        <p:nvSpPr>
          <p:cNvPr name="Freeform 7" id="7"/>
          <p:cNvSpPr/>
          <p:nvPr/>
        </p:nvSpPr>
        <p:spPr>
          <a:xfrm flipH="false" flipV="false" rot="0">
            <a:off x="7088067" y="3835165"/>
            <a:ext cx="1371543" cy="1516209"/>
          </a:xfrm>
          <a:custGeom>
            <a:avLst/>
            <a:gdLst/>
            <a:ahLst/>
            <a:cxnLst/>
            <a:rect r="r" b="b" t="t" l="l"/>
            <a:pathLst>
              <a:path h="1516209" w="1371543">
                <a:moveTo>
                  <a:pt x="0" y="0"/>
                </a:moveTo>
                <a:lnTo>
                  <a:pt x="1371543" y="0"/>
                </a:lnTo>
                <a:lnTo>
                  <a:pt x="1371543" y="1516209"/>
                </a:lnTo>
                <a:lnTo>
                  <a:pt x="0" y="15162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4305443" y="2675296"/>
            <a:ext cx="10980715" cy="11098701"/>
            <a:chOff x="0" y="0"/>
            <a:chExt cx="14640954" cy="14798269"/>
          </a:xfrm>
        </p:grpSpPr>
        <p:sp>
          <p:nvSpPr>
            <p:cNvPr name="Freeform 9" id="9"/>
            <p:cNvSpPr/>
            <p:nvPr/>
          </p:nvSpPr>
          <p:spPr>
            <a:xfrm flipH="false" flipV="false" rot="0">
              <a:off x="0" y="0"/>
              <a:ext cx="14640941" cy="14798167"/>
            </a:xfrm>
            <a:custGeom>
              <a:avLst/>
              <a:gdLst/>
              <a:ahLst/>
              <a:cxnLst/>
              <a:rect r="r" b="b" t="t" l="l"/>
              <a:pathLst>
                <a:path h="14798167" w="14640941">
                  <a:moveTo>
                    <a:pt x="8262239" y="393065"/>
                  </a:moveTo>
                  <a:lnTo>
                    <a:pt x="14249654" y="6446901"/>
                  </a:lnTo>
                  <a:cubicBezTo>
                    <a:pt x="14771370" y="6974459"/>
                    <a:pt x="14771370" y="7823708"/>
                    <a:pt x="14249654" y="8351266"/>
                  </a:cubicBezTo>
                  <a:lnTo>
                    <a:pt x="8262239" y="14405102"/>
                  </a:lnTo>
                  <a:cubicBezTo>
                    <a:pt x="8013446" y="14656690"/>
                    <a:pt x="7674356" y="14798167"/>
                    <a:pt x="7320534" y="14798167"/>
                  </a:cubicBezTo>
                  <a:cubicBezTo>
                    <a:pt x="6966712" y="14798167"/>
                    <a:pt x="6627622" y="14656563"/>
                    <a:pt x="6378829" y="14405102"/>
                  </a:cubicBezTo>
                  <a:lnTo>
                    <a:pt x="391287" y="8351266"/>
                  </a:lnTo>
                  <a:cubicBezTo>
                    <a:pt x="-130429" y="7823708"/>
                    <a:pt x="-130429" y="6974460"/>
                    <a:pt x="391287" y="6446901"/>
                  </a:cubicBezTo>
                  <a:lnTo>
                    <a:pt x="6378702" y="393065"/>
                  </a:lnTo>
                  <a:cubicBezTo>
                    <a:pt x="6627622" y="141605"/>
                    <a:pt x="6966712" y="0"/>
                    <a:pt x="7320534" y="0"/>
                  </a:cubicBezTo>
                  <a:cubicBezTo>
                    <a:pt x="7674356" y="0"/>
                    <a:pt x="8013446" y="141605"/>
                    <a:pt x="8262239" y="393065"/>
                  </a:cubicBezTo>
                  <a:close/>
                </a:path>
              </a:pathLst>
            </a:custGeom>
            <a:solidFill>
              <a:srgbClr val="003865"/>
            </a:solidFill>
          </p:spPr>
        </p:sp>
      </p:grpSp>
      <p:sp>
        <p:nvSpPr>
          <p:cNvPr name="TextBox 10" id="10"/>
          <p:cNvSpPr txBox="true"/>
          <p:nvPr/>
        </p:nvSpPr>
        <p:spPr>
          <a:xfrm rot="0">
            <a:off x="211036" y="236077"/>
            <a:ext cx="5825842" cy="342900"/>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 Jornada Científica - EP. Ing. Sistemas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27</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1 · COMPRENSION NEGOCIO</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El Problema de Política Pública</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La brecha: la cobertura sanitaria no llega a todos</a:t>
            </a:r>
          </a:p>
        </p:txBody>
      </p:sp>
      <p:sp>
        <p:nvSpPr>
          <p:cNvPr id="46" name="TextBox 45"/>
          <p:cNvSpPr txBox="1"/>
          <p:nvPr/>
        </p:nvSpPr>
        <p:spPr>
          <a:xfrm>
            <a:off x="1371600" y="2606040"/>
            <a:ext cx="15544800" cy="320040"/>
          </a:xfrm>
          <a:prstGeom prst="rect">
            <a:avLst/>
          </a:prstGeom>
          <a:noFill/>
        </p:spPr>
        <p:txBody>
          <a:bodyPr wrap="square">
            <a:spAutoFit/>
          </a:bodyPr>
          <a:lstStyle/>
          <a:p>
            <a:pPr algn="l"/>
            <a:r>
              <a:rPr sz="1100" b="0" i="0">
                <a:solidFill>
                  <a:srgbClr val="1E1E1E"/>
                </a:solidFill>
              </a:rPr>
              <a:t>•  La desnutrición crónica infantil en el Perú es estructuralmente desigual: se concentra en zonas rurales, sierra y quintiles de mayor pobreza.</a:t>
            </a:r>
          </a:p>
        </p:txBody>
      </p:sp>
      <p:sp>
        <p:nvSpPr>
          <p:cNvPr id="47" name="TextBox 46"/>
          <p:cNvSpPr txBox="1"/>
          <p:nvPr/>
        </p:nvSpPr>
        <p:spPr>
          <a:xfrm>
            <a:off x="1371600" y="3026664"/>
            <a:ext cx="15544800" cy="320040"/>
          </a:xfrm>
          <a:prstGeom prst="rect">
            <a:avLst/>
          </a:prstGeom>
          <a:noFill/>
        </p:spPr>
        <p:txBody>
          <a:bodyPr wrap="square">
            <a:spAutoFit/>
          </a:bodyPr>
          <a:lstStyle/>
          <a:p>
            <a:pPr algn="l"/>
            <a:r>
              <a:rPr sz="1100" b="0" i="0">
                <a:solidFill>
                  <a:srgbClr val="1E1E1E"/>
                </a:solidFill>
              </a:rPr>
              <a:t>•  Los recursos de intervención en salud pública son finitos.</a:t>
            </a:r>
          </a:p>
        </p:txBody>
      </p:sp>
      <p:sp>
        <p:nvSpPr>
          <p:cNvPr id="48" name="TextBox 47"/>
          <p:cNvSpPr txBox="1"/>
          <p:nvPr/>
        </p:nvSpPr>
        <p:spPr>
          <a:xfrm>
            <a:off x="1371600" y="3447288"/>
            <a:ext cx="15544800" cy="320040"/>
          </a:xfrm>
          <a:prstGeom prst="rect">
            <a:avLst/>
          </a:prstGeom>
          <a:noFill/>
        </p:spPr>
        <p:txBody>
          <a:bodyPr wrap="square">
            <a:spAutoFit/>
          </a:bodyPr>
          <a:lstStyle/>
          <a:p>
            <a:pPr algn="l"/>
            <a:r>
              <a:rPr sz="1100" b="0" i="0">
                <a:solidFill>
                  <a:srgbClr val="1E1E1E"/>
                </a:solidFill>
              </a:rPr>
              <a:t>•  Las visitas de supervisión nutricional se ejecutan de forma reactiva o ciega — sin criterio de priorización basado en datos.</a:t>
            </a:r>
          </a:p>
        </p:txBody>
      </p:sp>
      <p:sp>
        <p:nvSpPr>
          <p:cNvPr id="49" name="TextBox 48"/>
          <p:cNvSpPr txBox="1"/>
          <p:nvPr/>
        </p:nvSpPr>
        <p:spPr>
          <a:xfrm>
            <a:off x="1069848" y="3867912"/>
            <a:ext cx="16002000" cy="347472"/>
          </a:xfrm>
          <a:prstGeom prst="rect">
            <a:avLst/>
          </a:prstGeom>
          <a:noFill/>
        </p:spPr>
        <p:txBody>
          <a:bodyPr wrap="square">
            <a:spAutoFit/>
          </a:bodyPr>
          <a:lstStyle/>
          <a:p>
            <a:pPr algn="l"/>
            <a:r>
              <a:rPr sz="1200" b="1" i="0">
                <a:solidFill>
                  <a:srgbClr val="003865"/>
                </a:solidFill>
              </a:rPr>
              <a:t>Pregunta central de investigación</a:t>
            </a:r>
          </a:p>
        </p:txBody>
      </p:sp>
      <p:sp>
        <p:nvSpPr>
          <p:cNvPr id="50" name="TextBox 49"/>
          <p:cNvSpPr txBox="1"/>
          <p:nvPr/>
        </p:nvSpPr>
        <p:spPr>
          <a:xfrm>
            <a:off x="1371600" y="4325112"/>
            <a:ext cx="15544800" cy="320040"/>
          </a:xfrm>
          <a:prstGeom prst="rect">
            <a:avLst/>
          </a:prstGeom>
          <a:noFill/>
        </p:spPr>
        <p:txBody>
          <a:bodyPr wrap="square">
            <a:spAutoFit/>
          </a:bodyPr>
          <a:lstStyle/>
          <a:p>
            <a:pPr algn="l"/>
            <a:r>
              <a:rPr sz="1000" b="0" i="1">
                <a:solidFill>
                  <a:srgbClr val="6B7280"/>
                </a:solidFill>
              </a:rPr>
              <a:t>¿Puede un modelo de Machine Learning identificar, con datos de encuesta de hogar, qué niños tienen mayor riesgo de desnutrición crónica *antes* de que un agente de salud llegue al hogar?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28</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1 · COMPRENSION NEGOCIO</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El Objetivo Analítico — Triaje, No Diagnóstico</a:t>
            </a:r>
          </a:p>
        </p:txBody>
      </p:sp>
      <p:graphicFrame>
        <p:nvGraphicFramePr>
          <p:cNvPr id="45" name="Table 44"/>
          <p:cNvGraphicFramePr>
            <a:graphicFrameLocks noGrp="1"/>
          </p:cNvGraphicFramePr>
          <p:nvPr/>
        </p:nvGraphicFramePr>
        <p:xfrm>
          <a:off x="1069848" y="2148840"/>
          <a:ext cx="16002000" cy="1508760"/>
        </p:xfrm>
        <a:graphic>
          <a:graphicData uri="http://schemas.openxmlformats.org/drawingml/2006/table">
            <a:tbl>
              <a:tblPr firstRow="1" bandRow="1">
                <a:tableStyleId>{5C22544A-7EE6-4342-B048-85BDC9FD1C3A}</a:tableStyleId>
              </a:tblPr>
              <a:tblGrid>
                <a:gridCol w="8001000"/>
                <a:gridCol w="8001000"/>
              </a:tblGrid>
              <a:tr h="301752">
                <a:tc>
                  <a:txBody>
                    <a:bodyPr/>
                    <a:lstStyle/>
                    <a:p>
                      <a:r>
                        <a:rPr sz="1000" b="1">
                          <a:solidFill>
                            <a:srgbClr val="FFFFFF"/>
                          </a:solidFill>
                        </a:rPr>
                        <a:t>Enfoque Tradicional</a:t>
                      </a:r>
                    </a:p>
                  </a:txBody>
                  <a:tcPr>
                    <a:solidFill>
                      <a:srgbClr val="003865"/>
                    </a:solidFill>
                  </a:tcPr>
                </a:tc>
                <a:tc>
                  <a:txBody>
                    <a:bodyPr/>
                    <a:lstStyle/>
                    <a:p>
                      <a:r>
                        <a:rPr sz="1000" b="1">
                          <a:solidFill>
                            <a:srgbClr val="FFFFFF"/>
                          </a:solidFill>
                        </a:rPr>
                        <a:t>Este Sistema</a:t>
                      </a:r>
                    </a:p>
                  </a:txBody>
                  <a:tcPr>
                    <a:solidFill>
                      <a:srgbClr val="003865"/>
                    </a:solidFill>
                  </a:tcPr>
                </a:tc>
              </a:tr>
              <a:tr h="301752">
                <a:tc>
                  <a:txBody>
                    <a:bodyPr/>
                    <a:lstStyle/>
                    <a:p>
                      <a:r>
                        <a:rPr sz="900"/>
                        <a:t>Diagnóstico clínico individual</a:t>
                      </a:r>
                    </a:p>
                  </a:txBody>
                  <a:tcPr>
                    <a:solidFill>
                      <a:srgbClr val="F0F4F8"/>
                    </a:solidFill>
                  </a:tcPr>
                </a:tc>
                <a:tc>
                  <a:txBody>
                    <a:bodyPr/>
                    <a:lstStyle/>
                    <a:p>
                      <a:r>
                        <a:rPr sz="900"/>
                        <a:t>Perfil de riesgo sociodemográfico</a:t>
                      </a:r>
                    </a:p>
                  </a:txBody>
                  <a:tcPr>
                    <a:solidFill>
                      <a:srgbClr val="F0F4F8"/>
                    </a:solidFill>
                  </a:tcPr>
                </a:tc>
              </a:tr>
              <a:tr h="301752">
                <a:tc>
                  <a:txBody>
                    <a:bodyPr/>
                    <a:lstStyle/>
                    <a:p>
                      <a:r>
                        <a:rPr sz="900"/>
                        <a:t>Requiere medición antropométrica directa</a:t>
                      </a:r>
                    </a:p>
                  </a:txBody>
                  <a:tcPr>
                    <a:solidFill>
                      <a:srgbClr val="FFFFFF"/>
                    </a:solidFill>
                  </a:tcPr>
                </a:tc>
                <a:tc>
                  <a:txBody>
                    <a:bodyPr/>
                    <a:lstStyle/>
                    <a:p>
                      <a:r>
                        <a:rPr sz="900"/>
                        <a:t>Opera con datos de encuesta de hogar</a:t>
                      </a:r>
                    </a:p>
                  </a:txBody>
                  <a:tcPr>
                    <a:solidFill>
                      <a:srgbClr val="FFFFFF"/>
                    </a:solidFill>
                  </a:tcPr>
                </a:tc>
              </a:tr>
              <a:tr h="301752">
                <a:tc>
                  <a:txBody>
                    <a:bodyPr/>
                    <a:lstStyle/>
                    <a:p>
                      <a:r>
                        <a:rPr sz="900"/>
                        <a:t>Reemplaza al profesional de salud</a:t>
                      </a:r>
                    </a:p>
                  </a:txBody>
                  <a:tcPr>
                    <a:solidFill>
                      <a:srgbClr val="F0F4F8"/>
                    </a:solidFill>
                  </a:tcPr>
                </a:tc>
                <a:tc>
                  <a:txBody>
                    <a:bodyPr/>
                    <a:lstStyle/>
                    <a:p>
                      <a:r>
                        <a:rPr sz="900"/>
                        <a:t>Orienta al tomador de decisiones</a:t>
                      </a:r>
                    </a:p>
                  </a:txBody>
                  <a:tcPr>
                    <a:solidFill>
                      <a:srgbClr val="F0F4F8"/>
                    </a:solidFill>
                  </a:tcPr>
                </a:tc>
              </a:tr>
              <a:tr h="301752">
                <a:tc>
                  <a:txBody>
                    <a:bodyPr/>
                    <a:lstStyle/>
                    <a:p>
                      <a:r>
                        <a:rPr sz="900"/>
                        <a:t>Maximiza Precisión</a:t>
                      </a:r>
                    </a:p>
                  </a:txBody>
                  <a:tcPr>
                    <a:solidFill>
                      <a:srgbClr val="FFFFFF"/>
                    </a:solidFill>
                  </a:tcPr>
                </a:tc>
                <a:tc>
                  <a:txBody>
                    <a:bodyPr/>
                    <a:lstStyle/>
                    <a:p>
                      <a:r>
                        <a:rPr sz="900"/>
                        <a:t>Maximiza Recall (Sensibilidad)</a:t>
                      </a:r>
                    </a:p>
                  </a:txBody>
                  <a:tcPr>
                    <a:solidFill>
                      <a:srgbClr val="FFFFFF"/>
                    </a:solidFill>
                  </a:tcPr>
                </a:tc>
              </a:tr>
            </a:tbl>
          </a:graphicData>
        </a:graphic>
      </p:graphicFrame>
      <p:sp>
        <p:nvSpPr>
          <p:cNvPr id="46" name="TextBox 45"/>
          <p:cNvSpPr txBox="1"/>
          <p:nvPr/>
        </p:nvSpPr>
        <p:spPr>
          <a:xfrm>
            <a:off x="1069848" y="3913632"/>
            <a:ext cx="16002000" cy="347472"/>
          </a:xfrm>
          <a:prstGeom prst="rect">
            <a:avLst/>
          </a:prstGeom>
          <a:noFill/>
        </p:spPr>
        <p:txBody>
          <a:bodyPr wrap="square">
            <a:spAutoFit/>
          </a:bodyPr>
          <a:lstStyle/>
          <a:p>
            <a:pPr algn="l"/>
            <a:r>
              <a:rPr sz="1200" b="1" i="0">
                <a:solidFill>
                  <a:srgbClr val="003865"/>
                </a:solidFill>
              </a:rPr>
              <a:t>Objetivo formal</a:t>
            </a:r>
          </a:p>
        </p:txBody>
      </p:sp>
      <p:sp>
        <p:nvSpPr>
          <p:cNvPr id="47" name="TextBox 46"/>
          <p:cNvSpPr txBox="1"/>
          <p:nvPr/>
        </p:nvSpPr>
        <p:spPr>
          <a:xfrm>
            <a:off x="1371600" y="4370832"/>
            <a:ext cx="15544800" cy="320040"/>
          </a:xfrm>
          <a:prstGeom prst="rect">
            <a:avLst/>
          </a:prstGeom>
          <a:noFill/>
        </p:spPr>
        <p:txBody>
          <a:bodyPr wrap="square">
            <a:spAutoFit/>
          </a:bodyPr>
          <a:lstStyle/>
          <a:p>
            <a:pPr algn="l"/>
            <a:r>
              <a:rPr sz="1000" b="0" i="1">
                <a:solidFill>
                  <a:srgbClr val="6B7280"/>
                </a:solidFill>
              </a:rPr>
              <a:t>Predecir el perfil de riesgo de desnutrición crónica infantil utilizando 18 años de datos de la ENDES, para orientar la focalización de recursos en salud pública.</a:t>
            </a:r>
          </a:p>
        </p:txBody>
      </p:sp>
      <p:sp>
        <p:nvSpPr>
          <p:cNvPr id="48" name="TextBox 47"/>
          <p:cNvSpPr txBox="1"/>
          <p:nvPr/>
        </p:nvSpPr>
        <p:spPr>
          <a:xfrm>
            <a:off x="1069848" y="4791456"/>
            <a:ext cx="16002000" cy="347472"/>
          </a:xfrm>
          <a:prstGeom prst="rect">
            <a:avLst/>
          </a:prstGeom>
          <a:noFill/>
        </p:spPr>
        <p:txBody>
          <a:bodyPr wrap="square">
            <a:spAutoFit/>
          </a:bodyPr>
          <a:lstStyle/>
          <a:p>
            <a:pPr algn="l"/>
            <a:r>
              <a:rPr sz="1200" b="1" i="0">
                <a:solidFill>
                  <a:srgbClr val="003865"/>
                </a:solidFill>
              </a:rPr>
              <a:t>Métrica de éxito primaria: Recall &gt;= 80%</a:t>
            </a:r>
          </a:p>
        </p:txBody>
      </p:sp>
      <p:sp>
        <p:nvSpPr>
          <p:cNvPr id="49" name="TextBox 48"/>
          <p:cNvSpPr txBox="1"/>
          <p:nvPr/>
        </p:nvSpPr>
        <p:spPr>
          <a:xfrm>
            <a:off x="1371600" y="5248656"/>
            <a:ext cx="15544800" cy="320040"/>
          </a:xfrm>
          <a:prstGeom prst="rect">
            <a:avLst/>
          </a:prstGeom>
          <a:noFill/>
        </p:spPr>
        <p:txBody>
          <a:bodyPr wrap="square">
            <a:spAutoFit/>
          </a:bodyPr>
          <a:lstStyle/>
          <a:p>
            <a:pPr algn="l"/>
            <a:r>
              <a:rPr sz="1000" b="0" i="1">
                <a:solidFill>
                  <a:srgbClr val="6B7280"/>
                </a:solidFill>
              </a:rPr>
              <a:t>En triaje de política pública, el costo de un falso negativo supera al de un falso positivo.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29</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1 · COMPRENSION NEGOCIO</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Definición del Target Clínico</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¿Qué es un Z-score?</a:t>
            </a:r>
          </a:p>
        </p:txBody>
      </p:sp>
      <p:sp>
        <p:nvSpPr>
          <p:cNvPr id="46" name="TextBox 45"/>
          <p:cNvSpPr txBox="1"/>
          <p:nvPr/>
        </p:nvSpPr>
        <p:spPr>
          <a:xfrm>
            <a:off x="1069848" y="2606040"/>
            <a:ext cx="16002000" cy="347472"/>
          </a:xfrm>
          <a:prstGeom prst="rect">
            <a:avLst/>
          </a:prstGeom>
          <a:noFill/>
        </p:spPr>
        <p:txBody>
          <a:bodyPr wrap="square">
            <a:spAutoFit/>
          </a:bodyPr>
          <a:lstStyle/>
          <a:p>
            <a:pPr algn="l"/>
            <a:r>
              <a:rPr sz="1100" b="0" i="0">
                <a:solidFill>
                  <a:srgbClr val="1E1E1E"/>
                </a:solidFill>
              </a:rPr>
              <a:t>Un Z-score expresa cuántas desviaciones estándar se aleja un valor de la mediana de una población de referencia.</a:t>
            </a:r>
          </a:p>
        </p:txBody>
      </p:sp>
      <p:sp>
        <p:nvSpPr>
          <p:cNvPr id="47" name="TextBox 46"/>
          <p:cNvSpPr txBox="1"/>
          <p:nvPr/>
        </p:nvSpPr>
        <p:spPr>
          <a:xfrm>
            <a:off x="1069848" y="3063240"/>
            <a:ext cx="16002000" cy="1161288"/>
          </a:xfrm>
          <a:prstGeom prst="rect">
            <a:avLst/>
          </a:prstGeom>
          <a:noFill/>
        </p:spPr>
        <p:txBody>
          <a:bodyPr wrap="none">
            <a:spAutoFit/>
          </a:bodyPr>
          <a:lstStyle/>
          <a:p>
            <a:r>
              <a:rPr sz="900">
                <a:solidFill>
                  <a:srgbClr val="1E3A2A"/>
                </a:solidFill>
                <a:latin typeface="Courier New"/>
              </a:rPr>
              <a:t>Z = 0       →  Talla exactamente en la mediana mundial (niño de referencia OMS)
Z = -1      →  1 desviación estándar por debajo
Z = -2      →  Umbral clínico de Desnutrición Crónica
Z &lt; -3      →  Desnutrición crónica severa</a:t>
            </a:r>
          </a:p>
        </p:txBody>
      </p:sp>
      <p:sp>
        <p:nvSpPr>
          <p:cNvPr id="48" name="TextBox 47"/>
          <p:cNvSpPr txBox="1"/>
          <p:nvPr/>
        </p:nvSpPr>
        <p:spPr>
          <a:xfrm>
            <a:off x="1069848" y="4389120"/>
            <a:ext cx="16002000" cy="347472"/>
          </a:xfrm>
          <a:prstGeom prst="rect">
            <a:avLst/>
          </a:prstGeom>
          <a:noFill/>
        </p:spPr>
        <p:txBody>
          <a:bodyPr wrap="square">
            <a:spAutoFit/>
          </a:bodyPr>
          <a:lstStyle/>
          <a:p>
            <a:pPr algn="l"/>
            <a:r>
              <a:rPr sz="1200" b="1" i="0">
                <a:solidFill>
                  <a:srgbClr val="003865"/>
                </a:solidFill>
              </a:rPr>
              <a:t>Estándar oficial: KPI 4 — INEI / OMS</a:t>
            </a:r>
          </a:p>
        </p:txBody>
      </p:sp>
      <p:graphicFrame>
        <p:nvGraphicFramePr>
          <p:cNvPr id="49" name="Table 48"/>
          <p:cNvGraphicFramePr>
            <a:graphicFrameLocks noGrp="1"/>
          </p:cNvGraphicFramePr>
          <p:nvPr/>
        </p:nvGraphicFramePr>
        <p:xfrm>
          <a:off x="1069848" y="4846320"/>
          <a:ext cx="16002000" cy="1508760"/>
        </p:xfrm>
        <a:graphic>
          <a:graphicData uri="http://schemas.openxmlformats.org/drawingml/2006/table">
            <a:tbl>
              <a:tblPr firstRow="1" bandRow="1">
                <a:tableStyleId>{5C22544A-7EE6-4342-B048-85BDC9FD1C3A}</a:tableStyleId>
              </a:tblPr>
              <a:tblGrid>
                <a:gridCol w="8001000"/>
                <a:gridCol w="8001000"/>
              </a:tblGrid>
              <a:tr h="301752">
                <a:tc>
                  <a:txBody>
                    <a:bodyPr/>
                    <a:lstStyle/>
                    <a:p>
                      <a:r>
                        <a:rPr sz="1000" b="1">
                          <a:solidFill>
                            <a:srgbClr val="FFFFFF"/>
                          </a:solidFill>
                        </a:rPr>
                        <a:t>Campo</a:t>
                      </a:r>
                    </a:p>
                  </a:txBody>
                  <a:tcPr>
                    <a:solidFill>
                      <a:srgbClr val="003865"/>
                    </a:solidFill>
                  </a:tcPr>
                </a:tc>
                <a:tc>
                  <a:txBody>
                    <a:bodyPr/>
                    <a:lstStyle/>
                    <a:p>
                      <a:r>
                        <a:rPr sz="1000" b="1">
                          <a:solidFill>
                            <a:srgbClr val="FFFFFF"/>
                          </a:solidFill>
                        </a:rPr>
                        <a:t>Valor</a:t>
                      </a:r>
                    </a:p>
                  </a:txBody>
                  <a:tcPr>
                    <a:solidFill>
                      <a:srgbClr val="003865"/>
                    </a:solidFill>
                  </a:tcPr>
                </a:tc>
              </a:tr>
              <a:tr h="301752">
                <a:tc>
                  <a:txBody>
                    <a:bodyPr/>
                    <a:lstStyle/>
                    <a:p>
                      <a:r>
                        <a:rPr sz="900"/>
                        <a:t>Variable ENDES</a:t>
                      </a:r>
                    </a:p>
                  </a:txBody>
                  <a:tcPr>
                    <a:solidFill>
                      <a:srgbClr val="F0F4F8"/>
                    </a:solidFill>
                  </a:tcPr>
                </a:tc>
                <a:tc>
                  <a:txBody>
                    <a:bodyPr/>
                    <a:lstStyle/>
                    <a:p>
                      <a:r>
                        <a:rPr sz="900"/>
                        <a:t>HC70 — Z-score Talla/Edad (calculado por el INEI según metodología OMS)</a:t>
                      </a:r>
                    </a:p>
                  </a:txBody>
                  <a:tcPr>
                    <a:solidFill>
                      <a:srgbClr val="F0F4F8"/>
                    </a:solidFill>
                  </a:tcPr>
                </a:tc>
              </a:tr>
              <a:tr h="301752">
                <a:tc>
                  <a:txBody>
                    <a:bodyPr/>
                    <a:lstStyle/>
                    <a:p>
                      <a:r>
                        <a:rPr sz="900"/>
                        <a:t>Almacenamiento SPSS crudo</a:t>
                      </a:r>
                    </a:p>
                  </a:txBody>
                  <a:tcPr>
                    <a:solidFill>
                      <a:srgbClr val="FFFFFF"/>
                    </a:solidFill>
                  </a:tcPr>
                </a:tc>
                <a:tc>
                  <a:txBody>
                    <a:bodyPr/>
                    <a:lstStyle/>
                    <a:p>
                      <a:r>
                        <a:rPr sz="900"/>
                        <a:t>HC70 = -200 equivale a -2.0 DS (el INEI guarda el valor × 100)</a:t>
                      </a:r>
                    </a:p>
                  </a:txBody>
                  <a:tcPr>
                    <a:solidFill>
                      <a:srgbClr val="FFFFFF"/>
                    </a:solidFill>
                  </a:tcPr>
                </a:tc>
              </a:tr>
              <a:tr h="301752">
                <a:tc>
                  <a:txBody>
                    <a:bodyPr/>
                    <a:lstStyle/>
                    <a:p>
                      <a:r>
                        <a:rPr sz="900"/>
                        <a:t>Umbral de clasificación</a:t>
                      </a:r>
                    </a:p>
                  </a:txBody>
                  <a:tcPr>
                    <a:solidFill>
                      <a:srgbClr val="F0F4F8"/>
                    </a:solidFill>
                  </a:tcPr>
                </a:tc>
                <a:tc>
                  <a:txBody>
                    <a:bodyPr/>
                    <a:lstStyle/>
                    <a:p>
                      <a:r>
                        <a:rPr sz="900"/>
                        <a:t>HC70 &lt; -2.0 desviaciones estándar (post-normalización)</a:t>
                      </a:r>
                    </a:p>
                  </a:txBody>
                  <a:tcPr>
                    <a:solidFill>
                      <a:srgbClr val="F0F4F8"/>
                    </a:solidFill>
                  </a:tcPr>
                </a:tc>
              </a:tr>
              <a:tr h="301752">
                <a:tc>
                  <a:txBody>
                    <a:bodyPr/>
                    <a:lstStyle/>
                    <a:p>
                      <a:r>
                        <a:rPr sz="900"/>
                        <a:t>Resultado</a:t>
                      </a:r>
                    </a:p>
                  </a:txBody>
                  <a:tcPr>
                    <a:solidFill>
                      <a:srgbClr val="FFFFFF"/>
                    </a:solidFill>
                  </a:tcPr>
                </a:tc>
                <a:tc>
                  <a:txBody>
                    <a:bodyPr/>
                    <a:lstStyle/>
                    <a:p>
                      <a:r>
                        <a:rPr sz="900"/>
                        <a:t>Variable binaria de clasificación</a:t>
                      </a:r>
                    </a:p>
                  </a:txBody>
                  <a:tcPr>
                    <a:solidFill>
                      <a:srgbClr val="FFFFFF"/>
                    </a:solidFill>
                  </a:tcPr>
                </a:tc>
              </a:tr>
            </a:tbl>
          </a:graphicData>
        </a:graphic>
      </p:graphicFrame>
      <p:sp>
        <p:nvSpPr>
          <p:cNvPr id="50" name="TextBox 49"/>
          <p:cNvSpPr txBox="1"/>
          <p:nvPr/>
        </p:nvSpPr>
        <p:spPr>
          <a:xfrm>
            <a:off x="1069848" y="6611112"/>
            <a:ext cx="16002000" cy="905256"/>
          </a:xfrm>
          <a:prstGeom prst="rect">
            <a:avLst/>
          </a:prstGeom>
          <a:noFill/>
        </p:spPr>
        <p:txBody>
          <a:bodyPr wrap="none">
            <a:spAutoFit/>
          </a:bodyPr>
          <a:lstStyle/>
          <a:p>
            <a:r>
              <a:rPr sz="900">
                <a:solidFill>
                  <a:srgbClr val="1E3A2A"/>
                </a:solidFill>
                <a:latin typeface="Courier New"/>
              </a:rPr>
              <a:t>TARGET_DESNUTRICION = (HC70 &lt; -2.0).astype(int)
# 0 → Talla adecuada para la edad
# 1 → Desnutrición Crónica</a:t>
            </a:r>
          </a:p>
        </p:txBody>
      </p:sp>
      <p:sp>
        <p:nvSpPr>
          <p:cNvPr id="51" name="TextBox 50"/>
          <p:cNvSpPr txBox="1"/>
          <p:nvPr/>
        </p:nvSpPr>
        <p:spPr>
          <a:xfrm>
            <a:off x="1069848" y="7680960"/>
            <a:ext cx="16002000" cy="347472"/>
          </a:xfrm>
          <a:prstGeom prst="rect">
            <a:avLst/>
          </a:prstGeom>
          <a:noFill/>
        </p:spPr>
        <p:txBody>
          <a:bodyPr wrap="square">
            <a:spAutoFit/>
          </a:bodyPr>
          <a:lstStyle/>
          <a:p>
            <a:pPr algn="l"/>
            <a:r>
              <a:rPr sz="1200" b="1" i="0">
                <a:solidFill>
                  <a:srgbClr val="003865"/>
                </a:solidFill>
              </a:rPr>
              <a:t>Variables descartadas por Data Leakage</a:t>
            </a:r>
          </a:p>
        </p:txBody>
      </p:sp>
      <p:sp>
        <p:nvSpPr>
          <p:cNvPr id="52" name="TextBox 51"/>
          <p:cNvSpPr txBox="1"/>
          <p:nvPr/>
        </p:nvSpPr>
        <p:spPr>
          <a:xfrm>
            <a:off x="1371600" y="8138160"/>
            <a:ext cx="15544800" cy="320040"/>
          </a:xfrm>
          <a:prstGeom prst="rect">
            <a:avLst/>
          </a:prstGeom>
          <a:noFill/>
        </p:spPr>
        <p:txBody>
          <a:bodyPr wrap="square">
            <a:spAutoFit/>
          </a:bodyPr>
          <a:lstStyle/>
          <a:p>
            <a:pPr algn="l"/>
            <a:r>
              <a:rPr sz="1100" b="0" i="0">
                <a:solidFill>
                  <a:srgbClr val="1E1E1E"/>
                </a:solidFill>
              </a:rPr>
              <a:t>•  HC2 Peso crudo, HC3 Talla cruda, HC71/72/73 Z-scores derivados — si se conoce la talla del niño, el diagnóstico es trivial.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30</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1 · COMPRENSION NEGOCIO</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La Fuente de Datos y los Módulos Seleccionados</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ENDES — Encuesta Demográfica y de Salud Familiar (INEI)</a:t>
            </a:r>
          </a:p>
        </p:txBody>
      </p:sp>
      <p:sp>
        <p:nvSpPr>
          <p:cNvPr id="46" name="TextBox 45"/>
          <p:cNvSpPr txBox="1"/>
          <p:nvPr/>
        </p:nvSpPr>
        <p:spPr>
          <a:xfrm>
            <a:off x="1371600" y="2606040"/>
            <a:ext cx="15544800" cy="320040"/>
          </a:xfrm>
          <a:prstGeom prst="rect">
            <a:avLst/>
          </a:prstGeom>
          <a:noFill/>
        </p:spPr>
        <p:txBody>
          <a:bodyPr wrap="square">
            <a:spAutoFit/>
          </a:bodyPr>
          <a:lstStyle/>
          <a:p>
            <a:pPr algn="l"/>
            <a:r>
              <a:rPr sz="1100" b="0" i="0">
                <a:solidFill>
                  <a:srgbClr val="1E1E1E"/>
                </a:solidFill>
              </a:rPr>
              <a:t>•  Cobertura: 24 departamentos, zonas urbanas y rurales, todos los estratos socioeconómicos.</a:t>
            </a:r>
          </a:p>
        </p:txBody>
      </p:sp>
      <p:sp>
        <p:nvSpPr>
          <p:cNvPr id="47" name="TextBox 46"/>
          <p:cNvSpPr txBox="1"/>
          <p:nvPr/>
        </p:nvSpPr>
        <p:spPr>
          <a:xfrm>
            <a:off x="1371600" y="3026664"/>
            <a:ext cx="15544800" cy="320040"/>
          </a:xfrm>
          <a:prstGeom prst="rect">
            <a:avLst/>
          </a:prstGeom>
          <a:noFill/>
        </p:spPr>
        <p:txBody>
          <a:bodyPr wrap="square">
            <a:spAutoFit/>
          </a:bodyPr>
          <a:lstStyle/>
          <a:p>
            <a:pPr algn="l"/>
            <a:r>
              <a:rPr sz="1100" b="0" i="0">
                <a:solidFill>
                  <a:srgbClr val="1E1E1E"/>
                </a:solidFill>
              </a:rPr>
              <a:t>•  Horizonte temporal del proyecto: 2007 – 2024 (18 años)</a:t>
            </a:r>
          </a:p>
        </p:txBody>
      </p:sp>
      <p:sp>
        <p:nvSpPr>
          <p:cNvPr id="48" name="TextBox 47"/>
          <p:cNvSpPr txBox="1"/>
          <p:nvPr/>
        </p:nvSpPr>
        <p:spPr>
          <a:xfrm>
            <a:off x="1371600" y="3447288"/>
            <a:ext cx="15544800" cy="320040"/>
          </a:xfrm>
          <a:prstGeom prst="rect">
            <a:avLst/>
          </a:prstGeom>
          <a:noFill/>
        </p:spPr>
        <p:txBody>
          <a:bodyPr wrap="square">
            <a:spAutoFit/>
          </a:bodyPr>
          <a:lstStyle/>
          <a:p>
            <a:pPr algn="l"/>
            <a:r>
              <a:rPr sz="1100" b="0" i="0">
                <a:solidFill>
                  <a:srgbClr val="1E1E1E"/>
                </a:solidFill>
              </a:rPr>
              <a:t>•  Universo analizable: 294,109 niños menores de 5 años con antropometría válida</a:t>
            </a:r>
          </a:p>
        </p:txBody>
      </p:sp>
      <p:sp>
        <p:nvSpPr>
          <p:cNvPr id="49" name="TextBox 48"/>
          <p:cNvSpPr txBox="1"/>
          <p:nvPr/>
        </p:nvSpPr>
        <p:spPr>
          <a:xfrm>
            <a:off x="1371600" y="3867912"/>
            <a:ext cx="15544800" cy="320040"/>
          </a:xfrm>
          <a:prstGeom prst="rect">
            <a:avLst/>
          </a:prstGeom>
          <a:noFill/>
        </p:spPr>
        <p:txBody>
          <a:bodyPr wrap="square">
            <a:spAutoFit/>
          </a:bodyPr>
          <a:lstStyle/>
          <a:p>
            <a:pPr algn="l"/>
            <a:r>
              <a:rPr sz="1100" b="0" i="0">
                <a:solidFill>
                  <a:srgbClr val="1E1E1E"/>
                </a:solidFill>
              </a:rPr>
              <a:t>•  Formato de origen: archivos SPSS (.sav) con etiquetas de valor variables por año</a:t>
            </a:r>
          </a:p>
        </p:txBody>
      </p:sp>
      <p:sp>
        <p:nvSpPr>
          <p:cNvPr id="50" name="TextBox 49"/>
          <p:cNvSpPr txBox="1"/>
          <p:nvPr/>
        </p:nvSpPr>
        <p:spPr>
          <a:xfrm>
            <a:off x="1069848" y="4288536"/>
            <a:ext cx="16002000" cy="347472"/>
          </a:xfrm>
          <a:prstGeom prst="rect">
            <a:avLst/>
          </a:prstGeom>
          <a:noFill/>
        </p:spPr>
        <p:txBody>
          <a:bodyPr wrap="square">
            <a:spAutoFit/>
          </a:bodyPr>
          <a:lstStyle/>
          <a:p>
            <a:pPr algn="l"/>
            <a:r>
              <a:rPr sz="1200" b="1" i="0">
                <a:solidFill>
                  <a:srgbClr val="003865"/>
                </a:solidFill>
              </a:rPr>
              <a:t>4 módulos ENDES seleccionados — 5 registros activos</a:t>
            </a:r>
          </a:p>
        </p:txBody>
      </p:sp>
      <p:graphicFrame>
        <p:nvGraphicFramePr>
          <p:cNvPr id="51" name="Table 50"/>
          <p:cNvGraphicFramePr>
            <a:graphicFrameLocks noGrp="1"/>
          </p:cNvGraphicFramePr>
          <p:nvPr/>
        </p:nvGraphicFramePr>
        <p:xfrm>
          <a:off x="1069848" y="4745736"/>
          <a:ext cx="16002000" cy="1508760"/>
        </p:xfrm>
        <a:graphic>
          <a:graphicData uri="http://schemas.openxmlformats.org/drawingml/2006/table">
            <a:tbl>
              <a:tblPr firstRow="1" bandRow="1">
                <a:tableStyleId>{5C22544A-7EE6-4342-B048-85BDC9FD1C3A}</a:tableStyleId>
              </a:tblPr>
              <a:tblGrid>
                <a:gridCol w="4000500"/>
                <a:gridCol w="4000500"/>
                <a:gridCol w="4000500"/>
                <a:gridCol w="4000500"/>
              </a:tblGrid>
              <a:tr h="301752">
                <a:tc>
                  <a:txBody>
                    <a:bodyPr/>
                    <a:lstStyle/>
                    <a:p>
                      <a:r>
                        <a:rPr sz="1000" b="1">
                          <a:solidFill>
                            <a:srgbClr val="FFFFFF"/>
                          </a:solidFill>
                        </a:rPr>
                        <a:t>Módulo ENDES</a:t>
                      </a:r>
                    </a:p>
                  </a:txBody>
                  <a:tcPr>
                    <a:solidFill>
                      <a:srgbClr val="003865"/>
                    </a:solidFill>
                  </a:tcPr>
                </a:tc>
                <a:tc>
                  <a:txBody>
                    <a:bodyPr/>
                    <a:lstStyle/>
                    <a:p>
                      <a:r>
                        <a:rPr sz="1000" b="1">
                          <a:solidFill>
                            <a:srgbClr val="FFFFFF"/>
                          </a:solidFill>
                        </a:rPr>
                        <a:t>Registros</a:t>
                      </a:r>
                    </a:p>
                  </a:txBody>
                  <a:tcPr>
                    <a:solidFill>
                      <a:srgbClr val="003865"/>
                    </a:solidFill>
                  </a:tcPr>
                </a:tc>
                <a:tc>
                  <a:txBody>
                    <a:bodyPr/>
                    <a:lstStyle/>
                    <a:p>
                      <a:r>
                        <a:rPr sz="1000" b="1">
                          <a:solidFill>
                            <a:srgbClr val="FFFFFF"/>
                          </a:solidFill>
                        </a:rPr>
                        <a:t>Contenido</a:t>
                      </a:r>
                    </a:p>
                  </a:txBody>
                  <a:tcPr>
                    <a:solidFill>
                      <a:srgbClr val="003865"/>
                    </a:solidFill>
                  </a:tcPr>
                </a:tc>
                <a:tc>
                  <a:txBody>
                    <a:bodyPr/>
                    <a:lstStyle/>
                    <a:p>
                      <a:r>
                        <a:rPr sz="1000" b="1">
                          <a:solidFill>
                            <a:srgbClr val="FFFFFF"/>
                          </a:solidFill>
                        </a:rPr>
                        <a:t>Rol en el Modelo</a:t>
                      </a:r>
                    </a:p>
                  </a:txBody>
                  <a:tcPr>
                    <a:solidFill>
                      <a:srgbClr val="003865"/>
                    </a:solidFill>
                  </a:tcPr>
                </a:tc>
              </a:tr>
              <a:tr h="301752">
                <a:tc>
                  <a:txBody>
                    <a:bodyPr/>
                    <a:lstStyle/>
                    <a:p>
                      <a:r>
                        <a:rPr sz="900"/>
                        <a:t>Peso y Talla - Anemia</a:t>
                      </a:r>
                    </a:p>
                  </a:txBody>
                  <a:tcPr>
                    <a:solidFill>
                      <a:srgbClr val="F0F4F8"/>
                    </a:solidFill>
                  </a:tcPr>
                </a:tc>
                <a:tc>
                  <a:txBody>
                    <a:bodyPr/>
                    <a:lstStyle/>
                    <a:p>
                      <a:r>
                        <a:rPr sz="900"/>
                        <a:t>RECH6</a:t>
                      </a:r>
                    </a:p>
                  </a:txBody>
                  <a:tcPr>
                    <a:solidFill>
                      <a:srgbClr val="F0F4F8"/>
                    </a:solidFill>
                  </a:tcPr>
                </a:tc>
                <a:tc>
                  <a:txBody>
                    <a:bodyPr/>
                    <a:lstStyle/>
                    <a:p>
                      <a:r>
                        <a:rPr sz="900"/>
                        <a:t>Biometría infantil y hemoglobina</a:t>
                      </a:r>
                    </a:p>
                  </a:txBody>
                  <a:tcPr>
                    <a:solidFill>
                      <a:srgbClr val="F0F4F8"/>
                    </a:solidFill>
                  </a:tcPr>
                </a:tc>
                <a:tc>
                  <a:txBody>
                    <a:bodyPr/>
                    <a:lstStyle/>
                    <a:p>
                      <a:r>
                        <a:rPr sz="900"/>
                        <a:t>Target + predictor clínico (Anemia)</a:t>
                      </a:r>
                    </a:p>
                  </a:txBody>
                  <a:tcPr>
                    <a:solidFill>
                      <a:srgbClr val="F0F4F8"/>
                    </a:solidFill>
                  </a:tcPr>
                </a:tc>
              </a:tr>
              <a:tr h="301752">
                <a:tc>
                  <a:txBody>
                    <a:bodyPr/>
                    <a:lstStyle/>
                    <a:p>
                      <a:r>
                        <a:rPr sz="900"/>
                        <a:t>Características del Hogar</a:t>
                      </a:r>
                    </a:p>
                  </a:txBody>
                  <a:tcPr>
                    <a:solidFill>
                      <a:srgbClr val="FFFFFF"/>
                    </a:solidFill>
                  </a:tcPr>
                </a:tc>
                <a:tc>
                  <a:txBody>
                    <a:bodyPr/>
                    <a:lstStyle/>
                    <a:p>
                      <a:r>
                        <a:rPr sz="900"/>
                        <a:t>RECH0, RECH1</a:t>
                      </a:r>
                    </a:p>
                  </a:txBody>
                  <a:tcPr>
                    <a:solidFill>
                      <a:srgbClr val="FFFFFF"/>
                    </a:solidFill>
                  </a:tcPr>
                </a:tc>
                <a:tc>
                  <a:txBody>
                    <a:bodyPr/>
                    <a:lstStyle/>
                    <a:p>
                      <a:r>
                        <a:rPr sz="900"/>
                        <a:t>Composición familiar, demografía y servicios básicos</a:t>
                      </a:r>
                    </a:p>
                  </a:txBody>
                  <a:tcPr>
                    <a:solidFill>
                      <a:srgbClr val="FFFFFF"/>
                    </a:solidFill>
                  </a:tcPr>
                </a:tc>
                <a:tc>
                  <a:txBody>
                    <a:bodyPr/>
                    <a:lstStyle/>
                    <a:p>
                      <a:r>
                        <a:rPr sz="900"/>
                        <a:t>Perfil familiar y criterios de inclusión</a:t>
                      </a:r>
                    </a:p>
                  </a:txBody>
                  <a:tcPr>
                    <a:solidFill>
                      <a:srgbClr val="FFFFFF"/>
                    </a:solidFill>
                  </a:tcPr>
                </a:tc>
              </a:tr>
              <a:tr h="301752">
                <a:tc>
                  <a:txBody>
                    <a:bodyPr/>
                    <a:lstStyle/>
                    <a:p>
                      <a:r>
                        <a:rPr sz="900"/>
                        <a:t>Características de la Vivienda</a:t>
                      </a:r>
                    </a:p>
                  </a:txBody>
                  <a:tcPr>
                    <a:solidFill>
                      <a:srgbClr val="F0F4F8"/>
                    </a:solidFill>
                  </a:tcPr>
                </a:tc>
                <a:tc>
                  <a:txBody>
                    <a:bodyPr/>
                    <a:lstStyle/>
                    <a:p>
                      <a:r>
                        <a:rPr sz="900"/>
                        <a:t>RECH23</a:t>
                      </a:r>
                    </a:p>
                  </a:txBody>
                  <a:tcPr>
                    <a:solidFill>
                      <a:srgbClr val="F0F4F8"/>
                    </a:solidFill>
                  </a:tcPr>
                </a:tc>
                <a:tc>
                  <a:txBody>
                    <a:bodyPr/>
                    <a:lstStyle/>
                    <a:p>
                      <a:r>
                        <a:rPr sz="900"/>
                        <a:t>Infraestructura del hogar, altitud y entorno regional</a:t>
                      </a:r>
                    </a:p>
                  </a:txBody>
                  <a:tcPr>
                    <a:solidFill>
                      <a:srgbClr val="F0F4F8"/>
                    </a:solidFill>
                  </a:tcPr>
                </a:tc>
                <a:tc>
                  <a:txBody>
                    <a:bodyPr/>
                    <a:lstStyle/>
                    <a:p>
                      <a:r>
                        <a:rPr sz="900"/>
                        <a:t>Determinantes ambientales y socioeconómicos</a:t>
                      </a:r>
                    </a:p>
                  </a:txBody>
                  <a:tcPr>
                    <a:solidFill>
                      <a:srgbClr val="F0F4F8"/>
                    </a:solidFill>
                  </a:tcPr>
                </a:tc>
              </a:tr>
              <a:tr h="301752">
                <a:tc>
                  <a:txBody>
                    <a:bodyPr/>
                    <a:lstStyle/>
                    <a:p>
                      <a:r>
                        <a:rPr sz="900"/>
                        <a:t>Embarazo, Parto, Puerperio y Lactancia</a:t>
                      </a:r>
                    </a:p>
                  </a:txBody>
                  <a:tcPr>
                    <a:solidFill>
                      <a:srgbClr val="FFFFFF"/>
                    </a:solidFill>
                  </a:tcPr>
                </a:tc>
                <a:tc>
                  <a:txBody>
                    <a:bodyPr/>
                    <a:lstStyle/>
                    <a:p>
                      <a:r>
                        <a:rPr sz="900"/>
                        <a:t>REC41</a:t>
                      </a:r>
                    </a:p>
                  </a:txBody>
                  <a:tcPr>
                    <a:solidFill>
                      <a:srgbClr val="FFFFFF"/>
                    </a:solidFill>
                  </a:tcPr>
                </a:tc>
                <a:tc>
                  <a:txBody>
                    <a:bodyPr/>
                    <a:lstStyle/>
                    <a:p>
                      <a:r>
                        <a:rPr sz="900"/>
                        <a:t>Prenatal, parto, lactancia y peso al nacer</a:t>
                      </a:r>
                    </a:p>
                  </a:txBody>
                  <a:tcPr>
                    <a:solidFill>
                      <a:srgbClr val="FFFFFF"/>
                    </a:solidFill>
                  </a:tcPr>
                </a:tc>
                <a:tc>
                  <a:txBody>
                    <a:bodyPr/>
                    <a:lstStyle/>
                    <a:p>
                      <a:r>
                        <a:rPr sz="900"/>
                        <a:t>Determinantes biológicos del primer año</a:t>
                      </a:r>
                    </a:p>
                  </a:txBody>
                  <a:tcP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31</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1 · COMPRENSION NEGOCIO</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Diseño Metodológico</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Diseño de la investigación</a:t>
            </a:r>
          </a:p>
        </p:txBody>
      </p:sp>
      <p:graphicFrame>
        <p:nvGraphicFramePr>
          <p:cNvPr id="46" name="Table 45"/>
          <p:cNvGraphicFramePr>
            <a:graphicFrameLocks noGrp="1"/>
          </p:cNvGraphicFramePr>
          <p:nvPr/>
        </p:nvGraphicFramePr>
        <p:xfrm>
          <a:off x="1069848" y="2606040"/>
          <a:ext cx="16002000" cy="2414016"/>
        </p:xfrm>
        <a:graphic>
          <a:graphicData uri="http://schemas.openxmlformats.org/drawingml/2006/table">
            <a:tbl>
              <a:tblPr firstRow="1" bandRow="1">
                <a:tableStyleId>{5C22544A-7EE6-4342-B048-85BDC9FD1C3A}</a:tableStyleId>
              </a:tblPr>
              <a:tblGrid>
                <a:gridCol w="8001000"/>
                <a:gridCol w="8001000"/>
              </a:tblGrid>
              <a:tr h="301752">
                <a:tc>
                  <a:txBody>
                    <a:bodyPr/>
                    <a:lstStyle/>
                    <a:p>
                      <a:r>
                        <a:rPr sz="1000" b="1">
                          <a:solidFill>
                            <a:srgbClr val="FFFFFF"/>
                          </a:solidFill>
                        </a:rPr>
                        <a:t>Dimensión</a:t>
                      </a:r>
                    </a:p>
                  </a:txBody>
                  <a:tcPr>
                    <a:solidFill>
                      <a:srgbClr val="003865"/>
                    </a:solidFill>
                  </a:tcPr>
                </a:tc>
                <a:tc>
                  <a:txBody>
                    <a:bodyPr/>
                    <a:lstStyle/>
                    <a:p>
                      <a:r>
                        <a:rPr sz="1000" b="1">
                          <a:solidFill>
                            <a:srgbClr val="FFFFFF"/>
                          </a:solidFill>
                        </a:rPr>
                        <a:t>Definición</a:t>
                      </a:r>
                    </a:p>
                  </a:txBody>
                  <a:tcPr>
                    <a:solidFill>
                      <a:srgbClr val="003865"/>
                    </a:solidFill>
                  </a:tcPr>
                </a:tc>
              </a:tr>
              <a:tr h="301752">
                <a:tc>
                  <a:txBody>
                    <a:bodyPr/>
                    <a:lstStyle/>
                    <a:p>
                      <a:r>
                        <a:rPr sz="900"/>
                        <a:t>Tipo de investigación</a:t>
                      </a:r>
                    </a:p>
                  </a:txBody>
                  <a:tcPr>
                    <a:solidFill>
                      <a:srgbClr val="F0F4F8"/>
                    </a:solidFill>
                  </a:tcPr>
                </a:tc>
                <a:tc>
                  <a:txBody>
                    <a:bodyPr/>
                    <a:lstStyle/>
                    <a:p>
                      <a:r>
                        <a:rPr sz="900"/>
                        <a:t>Cuantitativa</a:t>
                      </a:r>
                    </a:p>
                  </a:txBody>
                  <a:tcPr>
                    <a:solidFill>
                      <a:srgbClr val="F0F4F8"/>
                    </a:solidFill>
                  </a:tcPr>
                </a:tc>
              </a:tr>
              <a:tr h="301752">
                <a:tc>
                  <a:txBody>
                    <a:bodyPr/>
                    <a:lstStyle/>
                    <a:p>
                      <a:r>
                        <a:rPr sz="900"/>
                        <a:t>Nivel</a:t>
                      </a:r>
                    </a:p>
                  </a:txBody>
                  <a:tcPr>
                    <a:solidFill>
                      <a:srgbClr val="FFFFFF"/>
                    </a:solidFill>
                  </a:tcPr>
                </a:tc>
                <a:tc>
                  <a:txBody>
                    <a:bodyPr/>
                    <a:lstStyle/>
                    <a:p>
                      <a:r>
                        <a:rPr sz="900"/>
                        <a:t>Predictivo</a:t>
                      </a:r>
                    </a:p>
                  </a:txBody>
                  <a:tcPr>
                    <a:solidFill>
                      <a:srgbClr val="FFFFFF"/>
                    </a:solidFill>
                  </a:tcPr>
                </a:tc>
              </a:tr>
              <a:tr h="301752">
                <a:tc>
                  <a:txBody>
                    <a:bodyPr/>
                    <a:lstStyle/>
                    <a:p>
                      <a:r>
                        <a:rPr sz="900"/>
                        <a:t>Diseño</a:t>
                      </a:r>
                    </a:p>
                  </a:txBody>
                  <a:tcPr>
                    <a:solidFill>
                      <a:srgbClr val="F0F4F8"/>
                    </a:solidFill>
                  </a:tcPr>
                </a:tc>
                <a:tc>
                  <a:txBody>
                    <a:bodyPr/>
                    <a:lstStyle/>
                    <a:p>
                      <a:r>
                        <a:rPr sz="900"/>
                        <a:t>No experimental, transversal</a:t>
                      </a:r>
                    </a:p>
                  </a:txBody>
                  <a:tcPr>
                    <a:solidFill>
                      <a:srgbClr val="F0F4F8"/>
                    </a:solidFill>
                  </a:tcPr>
                </a:tc>
              </a:tr>
              <a:tr h="301752">
                <a:tc>
                  <a:txBody>
                    <a:bodyPr/>
                    <a:lstStyle/>
                    <a:p>
                      <a:r>
                        <a:rPr sz="900"/>
                        <a:t>Fuente de datos</a:t>
                      </a:r>
                    </a:p>
                  </a:txBody>
                  <a:tcPr>
                    <a:solidFill>
                      <a:srgbClr val="FFFFFF"/>
                    </a:solidFill>
                  </a:tcPr>
                </a:tc>
                <a:tc>
                  <a:txBody>
                    <a:bodyPr/>
                    <a:lstStyle/>
                    <a:p>
                      <a:r>
                        <a:rPr sz="900"/>
                        <a:t>ENDES — INEI (2007–2024)</a:t>
                      </a:r>
                    </a:p>
                  </a:txBody>
                  <a:tcPr>
                    <a:solidFill>
                      <a:srgbClr val="FFFFFF"/>
                    </a:solidFill>
                  </a:tcPr>
                </a:tc>
              </a:tr>
              <a:tr h="301752">
                <a:tc>
                  <a:txBody>
                    <a:bodyPr/>
                    <a:lstStyle/>
                    <a:p>
                      <a:r>
                        <a:rPr sz="900"/>
                        <a:t>Alcance temporal</a:t>
                      </a:r>
                    </a:p>
                  </a:txBody>
                  <a:tcPr>
                    <a:solidFill>
                      <a:srgbClr val="F0F4F8"/>
                    </a:solidFill>
                  </a:tcPr>
                </a:tc>
                <a:tc>
                  <a:txBody>
                    <a:bodyPr/>
                    <a:lstStyle/>
                    <a:p>
                      <a:r>
                        <a:rPr sz="900"/>
                        <a:t>18 años de encuestas anuales independientes</a:t>
                      </a:r>
                    </a:p>
                  </a:txBody>
                  <a:tcPr>
                    <a:solidFill>
                      <a:srgbClr val="F0F4F8"/>
                    </a:solidFill>
                  </a:tcPr>
                </a:tc>
              </a:tr>
              <a:tr h="301752">
                <a:tc>
                  <a:txBody>
                    <a:bodyPr/>
                    <a:lstStyle/>
                    <a:p>
                      <a:r>
                        <a:rPr sz="900"/>
                        <a:t>Unidad de análisis</a:t>
                      </a:r>
                    </a:p>
                  </a:txBody>
                  <a:tcPr>
                    <a:solidFill>
                      <a:srgbClr val="FFFFFF"/>
                    </a:solidFill>
                  </a:tcPr>
                </a:tc>
                <a:tc>
                  <a:txBody>
                    <a:bodyPr/>
                    <a:lstStyle/>
                    <a:p>
                      <a:r>
                        <a:rPr sz="900"/>
                        <a:t>Niño menor de 5 años con registro antropométrico válido</a:t>
                      </a:r>
                    </a:p>
                  </a:txBody>
                  <a:tcPr>
                    <a:solidFill>
                      <a:srgbClr val="FFFFFF"/>
                    </a:solidFill>
                  </a:tcPr>
                </a:tc>
              </a:tr>
              <a:tr h="301752">
                <a:tc>
                  <a:txBody>
                    <a:bodyPr/>
                    <a:lstStyle/>
                    <a:p>
                      <a:r>
                        <a:rPr sz="900"/>
                        <a:t>Marco metodológico</a:t>
                      </a:r>
                    </a:p>
                  </a:txBody>
                  <a:tcPr>
                    <a:solidFill>
                      <a:srgbClr val="F0F4F8"/>
                    </a:solidFill>
                  </a:tcPr>
                </a:tc>
                <a:tc>
                  <a:txBody>
                    <a:bodyPr/>
                    <a:lstStyle/>
                    <a:p>
                      <a:r>
                        <a:rPr sz="900"/>
                        <a:t>CRISP-DM (6 fases)</a:t>
                      </a:r>
                    </a:p>
                  </a:txBody>
                  <a:tcPr>
                    <a:solidFill>
                      <a:srgbClr val="F0F4F8"/>
                    </a:solidFill>
                  </a:tcPr>
                </a:tc>
              </a:tr>
            </a:tbl>
          </a:graphicData>
        </a:graphic>
      </p:graphicFrame>
      <p:sp>
        <p:nvSpPr>
          <p:cNvPr id="47" name="TextBox 46"/>
          <p:cNvSpPr txBox="1"/>
          <p:nvPr/>
        </p:nvSpPr>
        <p:spPr>
          <a:xfrm>
            <a:off x="1069848" y="5276088"/>
            <a:ext cx="16002000" cy="347472"/>
          </a:xfrm>
          <a:prstGeom prst="rect">
            <a:avLst/>
          </a:prstGeom>
          <a:noFill/>
        </p:spPr>
        <p:txBody>
          <a:bodyPr wrap="square">
            <a:spAutoFit/>
          </a:bodyPr>
          <a:lstStyle/>
          <a:p>
            <a:pPr algn="l"/>
            <a:r>
              <a:rPr sz="1200" b="1" i="0">
                <a:solidFill>
                  <a:srgbClr val="003865"/>
                </a:solidFill>
              </a:rPr>
              <a:t>Diseño del sistema de Machine Learning</a:t>
            </a:r>
          </a:p>
        </p:txBody>
      </p:sp>
      <p:graphicFrame>
        <p:nvGraphicFramePr>
          <p:cNvPr id="48" name="Table 47"/>
          <p:cNvGraphicFramePr>
            <a:graphicFrameLocks noGrp="1"/>
          </p:cNvGraphicFramePr>
          <p:nvPr/>
        </p:nvGraphicFramePr>
        <p:xfrm>
          <a:off x="1069848" y="5733288"/>
          <a:ext cx="16002000" cy="2112264"/>
        </p:xfrm>
        <a:graphic>
          <a:graphicData uri="http://schemas.openxmlformats.org/drawingml/2006/table">
            <a:tbl>
              <a:tblPr firstRow="1" bandRow="1">
                <a:tableStyleId>{5C22544A-7EE6-4342-B048-85BDC9FD1C3A}</a:tableStyleId>
              </a:tblPr>
              <a:tblGrid>
                <a:gridCol w="8001000"/>
                <a:gridCol w="8001000"/>
              </a:tblGrid>
              <a:tr h="301752">
                <a:tc>
                  <a:txBody>
                    <a:bodyPr/>
                    <a:lstStyle/>
                    <a:p>
                      <a:r>
                        <a:rPr sz="1000" b="1">
                          <a:solidFill>
                            <a:srgbClr val="FFFFFF"/>
                          </a:solidFill>
                        </a:rPr>
                        <a:t>Dimensión</a:t>
                      </a:r>
                    </a:p>
                  </a:txBody>
                  <a:tcPr>
                    <a:solidFill>
                      <a:srgbClr val="003865"/>
                    </a:solidFill>
                  </a:tcPr>
                </a:tc>
                <a:tc>
                  <a:txBody>
                    <a:bodyPr/>
                    <a:lstStyle/>
                    <a:p>
                      <a:r>
                        <a:rPr sz="1000" b="1">
                          <a:solidFill>
                            <a:srgbClr val="FFFFFF"/>
                          </a:solidFill>
                        </a:rPr>
                        <a:t>Decisión</a:t>
                      </a:r>
                    </a:p>
                  </a:txBody>
                  <a:tcPr>
                    <a:solidFill>
                      <a:srgbClr val="003865"/>
                    </a:solidFill>
                  </a:tcPr>
                </a:tc>
              </a:tr>
              <a:tr h="301752">
                <a:tc>
                  <a:txBody>
                    <a:bodyPr/>
                    <a:lstStyle/>
                    <a:p>
                      <a:r>
                        <a:rPr sz="900"/>
                        <a:t>Tipo de problema</a:t>
                      </a:r>
                    </a:p>
                  </a:txBody>
                  <a:tcPr>
                    <a:solidFill>
                      <a:srgbClr val="F0F4F8"/>
                    </a:solidFill>
                  </a:tcPr>
                </a:tc>
                <a:tc>
                  <a:txBody>
                    <a:bodyPr/>
                    <a:lstStyle/>
                    <a:p>
                      <a:r>
                        <a:rPr sz="900"/>
                        <a:t>Clasificación binaria supervisada</a:t>
                      </a:r>
                    </a:p>
                  </a:txBody>
                  <a:tcPr>
                    <a:solidFill>
                      <a:srgbClr val="F0F4F8"/>
                    </a:solidFill>
                  </a:tcPr>
                </a:tc>
              </a:tr>
              <a:tr h="301752">
                <a:tc>
                  <a:txBody>
                    <a:bodyPr/>
                    <a:lstStyle/>
                    <a:p>
                      <a:r>
                        <a:rPr sz="900"/>
                        <a:t>Familias de algoritmos evaluadas</a:t>
                      </a:r>
                    </a:p>
                  </a:txBody>
                  <a:tcPr>
                    <a:solidFill>
                      <a:srgbClr val="FFFFFF"/>
                    </a:solidFill>
                  </a:tcPr>
                </a:tc>
                <a:tc>
                  <a:txBody>
                    <a:bodyPr/>
                    <a:lstStyle/>
                    <a:p>
                      <a:r>
                        <a:rPr sz="900"/>
                        <a:t>Gradient Boosting (LightGBM, CatBoost, XGBoost) · Red Neuronal · Regresión Logística · Árbol de Decisión</a:t>
                      </a:r>
                    </a:p>
                  </a:txBody>
                  <a:tcPr>
                    <a:solidFill>
                      <a:srgbClr val="FFFFFF"/>
                    </a:solidFill>
                  </a:tcPr>
                </a:tc>
              </a:tr>
              <a:tr h="301752">
                <a:tc>
                  <a:txBody>
                    <a:bodyPr/>
                    <a:lstStyle/>
                    <a:p>
                      <a:r>
                        <a:rPr sz="900"/>
                        <a:t>Hiperparámetros</a:t>
                      </a:r>
                    </a:p>
                  </a:txBody>
                  <a:tcPr>
                    <a:solidFill>
                      <a:srgbClr val="F0F4F8"/>
                    </a:solidFill>
                  </a:tcPr>
                </a:tc>
                <a:tc>
                  <a:txBody>
                    <a:bodyPr/>
                    <a:lstStyle/>
                    <a:p>
                      <a:r>
                        <a:rPr sz="900"/>
                        <a:t>Valores por defecto — comparación en condiciones iguales</a:t>
                      </a:r>
                    </a:p>
                  </a:txBody>
                  <a:tcPr>
                    <a:solidFill>
                      <a:srgbClr val="F0F4F8"/>
                    </a:solidFill>
                  </a:tcPr>
                </a:tc>
              </a:tr>
              <a:tr h="301752">
                <a:tc>
                  <a:txBody>
                    <a:bodyPr/>
                    <a:lstStyle/>
                    <a:p>
                      <a:r>
                        <a:rPr sz="900"/>
                        <a:t>Framework de validación</a:t>
                      </a:r>
                    </a:p>
                  </a:txBody>
                  <a:tcPr>
                    <a:solidFill>
                      <a:srgbClr val="FFFFFF"/>
                    </a:solidFill>
                  </a:tcPr>
                </a:tc>
                <a:tc>
                  <a:txBody>
                    <a:bodyPr/>
                    <a:lstStyle/>
                    <a:p>
                      <a:r>
                        <a:rPr sz="900"/>
                        <a:t>Validación Cruzada Estratificada 5-Fold con pesos muestrales HV005</a:t>
                      </a:r>
                    </a:p>
                  </a:txBody>
                  <a:tcPr>
                    <a:solidFill>
                      <a:srgbClr val="FFFFFF"/>
                    </a:solidFill>
                  </a:tcPr>
                </a:tc>
              </a:tr>
              <a:tr h="301752">
                <a:tc>
                  <a:txBody>
                    <a:bodyPr/>
                    <a:lstStyle/>
                    <a:p>
                      <a:r>
                        <a:rPr sz="900"/>
                        <a:t>Métrica primaria</a:t>
                      </a:r>
                    </a:p>
                  </a:txBody>
                  <a:tcPr>
                    <a:solidFill>
                      <a:srgbClr val="F0F4F8"/>
                    </a:solidFill>
                  </a:tcPr>
                </a:tc>
                <a:tc>
                  <a:txBody>
                    <a:bodyPr/>
                    <a:lstStyle/>
                    <a:p>
                      <a:r>
                        <a:rPr sz="900"/>
                        <a:t>AUC-ROC</a:t>
                      </a:r>
                    </a:p>
                  </a:txBody>
                  <a:tcPr>
                    <a:solidFill>
                      <a:srgbClr val="F0F4F8"/>
                    </a:solidFill>
                  </a:tcPr>
                </a:tc>
              </a:tr>
              <a:tr h="301752">
                <a:tc>
                  <a:txBody>
                    <a:bodyPr/>
                    <a:lstStyle/>
                    <a:p>
                      <a:r>
                        <a:rPr sz="900"/>
                        <a:t>Métrica de política</a:t>
                      </a:r>
                    </a:p>
                  </a:txBody>
                  <a:tcPr>
                    <a:solidFill>
                      <a:srgbClr val="FFFFFF"/>
                    </a:solidFill>
                  </a:tcPr>
                </a:tc>
                <a:tc>
                  <a:txBody>
                    <a:bodyPr/>
                    <a:lstStyle/>
                    <a:p>
                      <a:r>
                        <a:rPr sz="900"/>
                        <a:t>Recall (Sensibilidad)</a:t>
                      </a:r>
                    </a:p>
                  </a:txBody>
                  <a:tcP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32</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2 · COMPRENSION DATOS</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El Reto de 18 Años en SPSS</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El problema: los archivos SPSS no son estáticos</a:t>
            </a:r>
          </a:p>
        </p:txBody>
      </p:sp>
      <p:sp>
        <p:nvSpPr>
          <p:cNvPr id="46" name="TextBox 45"/>
          <p:cNvSpPr txBox="1"/>
          <p:nvPr/>
        </p:nvSpPr>
        <p:spPr>
          <a:xfrm>
            <a:off x="1371600" y="2606040"/>
            <a:ext cx="15544800" cy="320040"/>
          </a:xfrm>
          <a:prstGeom prst="rect">
            <a:avLst/>
          </a:prstGeom>
          <a:noFill/>
        </p:spPr>
        <p:txBody>
          <a:bodyPr wrap="square">
            <a:spAutoFit/>
          </a:bodyPr>
          <a:lstStyle/>
          <a:p>
            <a:pPr algn="l"/>
            <a:r>
              <a:rPr sz="1100" b="0" i="0">
                <a:solidFill>
                  <a:srgbClr val="1E1E1E"/>
                </a:solidFill>
              </a:rPr>
              <a:t>•  La ENDES distribuye sus datos en archivos .sav con etiquetas de columnas y valores que cambian entre ediciones anuales.</a:t>
            </a:r>
          </a:p>
        </p:txBody>
      </p:sp>
      <p:sp>
        <p:nvSpPr>
          <p:cNvPr id="47" name="TextBox 46"/>
          <p:cNvSpPr txBox="1"/>
          <p:nvPr/>
        </p:nvSpPr>
        <p:spPr>
          <a:xfrm>
            <a:off x="1371600" y="3026664"/>
            <a:ext cx="15544800" cy="320040"/>
          </a:xfrm>
          <a:prstGeom prst="rect">
            <a:avLst/>
          </a:prstGeom>
          <a:noFill/>
        </p:spPr>
        <p:txBody>
          <a:bodyPr wrap="square">
            <a:spAutoFit/>
          </a:bodyPr>
          <a:lstStyle/>
          <a:p>
            <a:pPr algn="l"/>
            <a:r>
              <a:rPr sz="1100" b="0" i="0">
                <a:solidFill>
                  <a:srgbClr val="1E1E1E"/>
                </a:solidFill>
              </a:rPr>
              <a:t>•  Concatenar directamente los 18 años de datos produce inconsistencias silenciosas — el mismo concepto con distintos nombres o códigos.</a:t>
            </a:r>
          </a:p>
        </p:txBody>
      </p:sp>
      <p:sp>
        <p:nvSpPr>
          <p:cNvPr id="48" name="TextBox 47"/>
          <p:cNvSpPr txBox="1"/>
          <p:nvPr/>
        </p:nvSpPr>
        <p:spPr>
          <a:xfrm>
            <a:off x="1069848" y="3447288"/>
            <a:ext cx="16002000" cy="347472"/>
          </a:xfrm>
          <a:prstGeom prst="rect">
            <a:avLst/>
          </a:prstGeom>
          <a:noFill/>
        </p:spPr>
        <p:txBody>
          <a:bodyPr wrap="square">
            <a:spAutoFit/>
          </a:bodyPr>
          <a:lstStyle/>
          <a:p>
            <a:pPr algn="l"/>
            <a:r>
              <a:rPr sz="1200" b="1" i="0">
                <a:solidFill>
                  <a:srgbClr val="003865"/>
                </a:solidFill>
              </a:rPr>
              <a:t>Tipos de inconsistencia encontrados</a:t>
            </a:r>
          </a:p>
        </p:txBody>
      </p:sp>
      <p:graphicFrame>
        <p:nvGraphicFramePr>
          <p:cNvPr id="49" name="Table 48"/>
          <p:cNvGraphicFramePr>
            <a:graphicFrameLocks noGrp="1"/>
          </p:cNvGraphicFramePr>
          <p:nvPr/>
        </p:nvGraphicFramePr>
        <p:xfrm>
          <a:off x="1069848" y="3904487"/>
          <a:ext cx="16002000" cy="1508760"/>
        </p:xfrm>
        <a:graphic>
          <a:graphicData uri="http://schemas.openxmlformats.org/drawingml/2006/table">
            <a:tbl>
              <a:tblPr firstRow="1" bandRow="1">
                <a:tableStyleId>{5C22544A-7EE6-4342-B048-85BDC9FD1C3A}</a:tableStyleId>
              </a:tblPr>
              <a:tblGrid>
                <a:gridCol w="5334000"/>
                <a:gridCol w="5334000"/>
                <a:gridCol w="5334000"/>
              </a:tblGrid>
              <a:tr h="301752">
                <a:tc>
                  <a:txBody>
                    <a:bodyPr/>
                    <a:lstStyle/>
                    <a:p>
                      <a:r>
                        <a:rPr sz="1000" b="1">
                          <a:solidFill>
                            <a:srgbClr val="FFFFFF"/>
                          </a:solidFill>
                        </a:rPr>
                        <a:t>Tipo</a:t>
                      </a:r>
                    </a:p>
                  </a:txBody>
                  <a:tcPr>
                    <a:solidFill>
                      <a:srgbClr val="003865"/>
                    </a:solidFill>
                  </a:tcPr>
                </a:tc>
                <a:tc>
                  <a:txBody>
                    <a:bodyPr/>
                    <a:lstStyle/>
                    <a:p>
                      <a:r>
                        <a:rPr sz="1000" b="1">
                          <a:solidFill>
                            <a:srgbClr val="FFFFFF"/>
                          </a:solidFill>
                        </a:rPr>
                        <a:t>Descripción</a:t>
                      </a:r>
                    </a:p>
                  </a:txBody>
                  <a:tcPr>
                    <a:solidFill>
                      <a:srgbClr val="003865"/>
                    </a:solidFill>
                  </a:tcPr>
                </a:tc>
                <a:tc>
                  <a:txBody>
                    <a:bodyPr/>
                    <a:lstStyle/>
                    <a:p>
                      <a:r>
                        <a:rPr sz="1000" b="1">
                          <a:solidFill>
                            <a:srgbClr val="FFFFFF"/>
                          </a:solidFill>
                        </a:rPr>
                        <a:t>Ejemplo real</a:t>
                      </a:r>
                    </a:p>
                  </a:txBody>
                  <a:tcPr>
                    <a:solidFill>
                      <a:srgbClr val="003865"/>
                    </a:solidFill>
                  </a:tcPr>
                </a:tc>
              </a:tr>
              <a:tr h="301752">
                <a:tc>
                  <a:txBody>
                    <a:bodyPr/>
                    <a:lstStyle/>
                    <a:p>
                      <a:r>
                        <a:rPr sz="900"/>
                        <a:t>Renombre de columna</a:t>
                      </a:r>
                    </a:p>
                  </a:txBody>
                  <a:tcPr>
                    <a:solidFill>
                      <a:srgbClr val="F0F4F8"/>
                    </a:solidFill>
                  </a:tcPr>
                </a:tc>
                <a:tc>
                  <a:txBody>
                    <a:bodyPr/>
                    <a:lstStyle/>
                    <a:p>
                      <a:r>
                        <a:rPr sz="900"/>
                        <a:t>La misma variable cambia de nombre entre años</a:t>
                      </a:r>
                    </a:p>
                  </a:txBody>
                  <a:tcPr>
                    <a:solidFill>
                      <a:srgbClr val="F0F4F8"/>
                    </a:solidFill>
                  </a:tcPr>
                </a:tc>
                <a:tc>
                  <a:txBody>
                    <a:bodyPr/>
                    <a:lstStyle/>
                    <a:p>
                      <a:r>
                        <a:rPr sz="900"/>
                        <a:t>HV022 / hv022 / Estrato</a:t>
                      </a:r>
                    </a:p>
                  </a:txBody>
                  <a:tcPr>
                    <a:solidFill>
                      <a:srgbClr val="F0F4F8"/>
                    </a:solidFill>
                  </a:tcPr>
                </a:tc>
              </a:tr>
              <a:tr h="301752">
                <a:tc>
                  <a:txBody>
                    <a:bodyPr/>
                    <a:lstStyle/>
                    <a:p>
                      <a:r>
                        <a:rPr sz="900"/>
                        <a:t>Reetiquetado de valor</a:t>
                      </a:r>
                    </a:p>
                  </a:txBody>
                  <a:tcPr>
                    <a:solidFill>
                      <a:srgbClr val="FFFFFF"/>
                    </a:solidFill>
                  </a:tcPr>
                </a:tc>
                <a:tc>
                  <a:txBody>
                    <a:bodyPr/>
                    <a:lstStyle/>
                    <a:p>
                      <a:r>
                        <a:rPr sz="900"/>
                        <a:t>El mismo código numérico cambia de significado</a:t>
                      </a:r>
                    </a:p>
                  </a:txBody>
                  <a:tcPr>
                    <a:solidFill>
                      <a:srgbClr val="FFFFFF"/>
                    </a:solidFill>
                  </a:tcPr>
                </a:tc>
                <a:tc>
                  <a:txBody>
                    <a:bodyPr/>
                    <a:lstStyle/>
                    <a:p>
                      <a:r>
                        <a:rPr sz="900"/>
                        <a:t>1.0 / "Sí" / "Si" / "Yes"</a:t>
                      </a:r>
                    </a:p>
                  </a:txBody>
                  <a:tcPr>
                    <a:solidFill>
                      <a:srgbClr val="FFFFFF"/>
                    </a:solidFill>
                  </a:tcPr>
                </a:tc>
              </a:tr>
              <a:tr h="301752">
                <a:tc>
                  <a:txBody>
                    <a:bodyPr/>
                    <a:lstStyle/>
                    <a:p>
                      <a:r>
                        <a:rPr sz="900"/>
                        <a:t>Variable reciclada</a:t>
                      </a:r>
                    </a:p>
                  </a:txBody>
                  <a:tcPr>
                    <a:solidFill>
                      <a:srgbClr val="F0F4F8"/>
                    </a:solidFill>
                  </a:tcPr>
                </a:tc>
                <a:tc>
                  <a:txBody>
                    <a:bodyPr/>
                    <a:lstStyle/>
                    <a:p>
                      <a:r>
                        <a:rPr sz="900"/>
                        <a:t>Una columna desaparece y reaparece con distinto contenido</a:t>
                      </a:r>
                    </a:p>
                  </a:txBody>
                  <a:tcPr>
                    <a:solidFill>
                      <a:srgbClr val="F0F4F8"/>
                    </a:solidFill>
                  </a:tcPr>
                </a:tc>
                <a:tc>
                  <a:txBody>
                    <a:bodyPr/>
                    <a:lstStyle/>
                    <a:p>
                      <a:r>
                        <a:rPr sz="900"/>
                        <a:t>Preguntas de saneamiento post-2015</a:t>
                      </a:r>
                    </a:p>
                  </a:txBody>
                  <a:tcPr>
                    <a:solidFill>
                      <a:srgbClr val="F0F4F8"/>
                    </a:solidFill>
                  </a:tcPr>
                </a:tc>
              </a:tr>
              <a:tr h="301752">
                <a:tc>
                  <a:txBody>
                    <a:bodyPr/>
                    <a:lstStyle/>
                    <a:p>
                      <a:r>
                        <a:rPr sz="900"/>
                        <a:t>Falso numérico SPSS</a:t>
                      </a:r>
                    </a:p>
                  </a:txBody>
                  <a:tcPr>
                    <a:solidFill>
                      <a:srgbClr val="FFFFFF"/>
                    </a:solidFill>
                  </a:tcPr>
                </a:tc>
                <a:tc>
                  <a:txBody>
                    <a:bodyPr/>
                    <a:lstStyle/>
                    <a:p>
                      <a:r>
                        <a:rPr sz="900"/>
                        <a:t>Valores de control codificados como números reales</a:t>
                      </a:r>
                    </a:p>
                  </a:txBody>
                  <a:tcPr>
                    <a:solidFill>
                      <a:srgbClr val="FFFFFF"/>
                    </a:solidFill>
                  </a:tcPr>
                </a:tc>
                <a:tc>
                  <a:txBody>
                    <a:bodyPr/>
                    <a:lstStyle/>
                    <a:p>
                      <a:r>
                        <a:rPr sz="900"/>
                        <a:t>9998 → significa "No sabe", no 9998 unidades</a:t>
                      </a:r>
                    </a:p>
                  </a:txBody>
                  <a:tcP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33</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2 · COMPRENSION DATOS</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Hallazgos del Análisis Exploratorio</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RECH6 — El Target en movimiento (294,109 niños)</a:t>
            </a:r>
          </a:p>
        </p:txBody>
      </p:sp>
      <p:sp>
        <p:nvSpPr>
          <p:cNvPr id="46" name="TextBox 45"/>
          <p:cNvSpPr txBox="1"/>
          <p:nvPr/>
        </p:nvSpPr>
        <p:spPr>
          <a:xfrm>
            <a:off x="1069848" y="2606040"/>
            <a:ext cx="16002000" cy="365760"/>
          </a:xfrm>
          <a:prstGeom prst="rect">
            <a:avLst/>
          </a:prstGeom>
          <a:noFill/>
        </p:spPr>
        <p:txBody>
          <a:bodyPr wrap="square">
            <a:spAutoFit/>
          </a:bodyPr>
          <a:lstStyle/>
          <a:p>
            <a:pPr algn="l"/>
            <a:r>
              <a:rPr sz="1000" b="0" i="1">
                <a:solidFill>
                  <a:srgbClr val="6B7280"/>
                </a:solidFill>
              </a:rPr>
              <a:t>[ IMAGEN: notebooks/01_data_understanding/clean/01_eda_interim_rech6.ipynb ]</a:t>
            </a:r>
          </a:p>
        </p:txBody>
      </p:sp>
      <p:graphicFrame>
        <p:nvGraphicFramePr>
          <p:cNvPr id="47" name="Table 46"/>
          <p:cNvGraphicFramePr>
            <a:graphicFrameLocks noGrp="1"/>
          </p:cNvGraphicFramePr>
          <p:nvPr/>
        </p:nvGraphicFramePr>
        <p:xfrm>
          <a:off x="1069848" y="3090672"/>
          <a:ext cx="16002000" cy="1810512"/>
        </p:xfrm>
        <a:graphic>
          <a:graphicData uri="http://schemas.openxmlformats.org/drawingml/2006/table">
            <a:tbl>
              <a:tblPr firstRow="1" bandRow="1">
                <a:tableStyleId>{5C22544A-7EE6-4342-B048-85BDC9FD1C3A}</a:tableStyleId>
              </a:tblPr>
              <a:tblGrid>
                <a:gridCol w="8001000"/>
                <a:gridCol w="8001000"/>
              </a:tblGrid>
              <a:tr h="301752">
                <a:tc>
                  <a:txBody>
                    <a:bodyPr/>
                    <a:lstStyle/>
                    <a:p>
                      <a:r>
                        <a:rPr sz="1000" b="1">
                          <a:solidFill>
                            <a:srgbClr val="FFFFFF"/>
                          </a:solidFill>
                        </a:rPr>
                        <a:t>Hallazgo</a:t>
                      </a:r>
                    </a:p>
                  </a:txBody>
                  <a:tcPr>
                    <a:solidFill>
                      <a:srgbClr val="003865"/>
                    </a:solidFill>
                  </a:tcPr>
                </a:tc>
                <a:tc>
                  <a:txBody>
                    <a:bodyPr/>
                    <a:lstStyle/>
                    <a:p>
                      <a:r>
                        <a:rPr sz="1000" b="1">
                          <a:solidFill>
                            <a:srgbClr val="FFFFFF"/>
                          </a:solidFill>
                        </a:rPr>
                        <a:t>Dato</a:t>
                      </a:r>
                    </a:p>
                  </a:txBody>
                  <a:tcPr>
                    <a:solidFill>
                      <a:srgbClr val="003865"/>
                    </a:solidFill>
                  </a:tcPr>
                </a:tc>
              </a:tr>
              <a:tr h="301752">
                <a:tc>
                  <a:txBody>
                    <a:bodyPr/>
                    <a:lstStyle/>
                    <a:p>
                      <a:r>
                        <a:rPr sz="900"/>
                        <a:t>Prevalencia 2007</a:t>
                      </a:r>
                    </a:p>
                  </a:txBody>
                  <a:tcPr>
                    <a:solidFill>
                      <a:srgbClr val="F0F4F8"/>
                    </a:solidFill>
                  </a:tcPr>
                </a:tc>
                <a:tc>
                  <a:txBody>
                    <a:bodyPr/>
                    <a:lstStyle/>
                    <a:p>
                      <a:r>
                        <a:rPr sz="900"/>
                        <a:t>~30% de desnutrición crónica</a:t>
                      </a:r>
                    </a:p>
                  </a:txBody>
                  <a:tcPr>
                    <a:solidFill>
                      <a:srgbClr val="F0F4F8"/>
                    </a:solidFill>
                  </a:tcPr>
                </a:tc>
              </a:tr>
              <a:tr h="301752">
                <a:tc>
                  <a:txBody>
                    <a:bodyPr/>
                    <a:lstStyle/>
                    <a:p>
                      <a:r>
                        <a:rPr sz="900"/>
                        <a:t>Prevalencia 2024</a:t>
                      </a:r>
                    </a:p>
                  </a:txBody>
                  <a:tcPr>
                    <a:solidFill>
                      <a:srgbClr val="FFFFFF"/>
                    </a:solidFill>
                  </a:tcPr>
                </a:tc>
                <a:tc>
                  <a:txBody>
                    <a:bodyPr/>
                    <a:lstStyle/>
                    <a:p>
                      <a:r>
                        <a:rPr sz="900"/>
                        <a:t>~11% — el problema se volvió un bolsón residual</a:t>
                      </a:r>
                    </a:p>
                  </a:txBody>
                  <a:tcPr>
                    <a:solidFill>
                      <a:srgbClr val="FFFFFF"/>
                    </a:solidFill>
                  </a:tcPr>
                </a:tc>
              </a:tr>
              <a:tr h="301752">
                <a:tc>
                  <a:txBody>
                    <a:bodyPr/>
                    <a:lstStyle/>
                    <a:p>
                      <a:r>
                        <a:rPr sz="900"/>
                        <a:t>Desbalance de clases</a:t>
                      </a:r>
                    </a:p>
                  </a:txBody>
                  <a:tcPr>
                    <a:solidFill>
                      <a:srgbClr val="F0F4F8"/>
                    </a:solidFill>
                  </a:tcPr>
                </a:tc>
                <a:tc>
                  <a:txBody>
                    <a:bodyPr/>
                    <a:lstStyle/>
                    <a:p>
                      <a:r>
                        <a:rPr sz="900"/>
                        <a:t>~16% positivos vs ~84% negativos — el Accuracy queda prohibido</a:t>
                      </a:r>
                    </a:p>
                  </a:txBody>
                  <a:tcPr>
                    <a:solidFill>
                      <a:srgbClr val="F0F4F8"/>
                    </a:solidFill>
                  </a:tcPr>
                </a:tc>
              </a:tr>
              <a:tr h="301752">
                <a:tc>
                  <a:txBody>
                    <a:bodyPr/>
                    <a:lstStyle/>
                    <a:p>
                      <a:r>
                        <a:rPr sz="900"/>
                        <a:t>Ventana crítica</a:t>
                      </a:r>
                    </a:p>
                  </a:txBody>
                  <a:tcPr>
                    <a:solidFill>
                      <a:srgbClr val="FFFFFF"/>
                    </a:solidFill>
                  </a:tcPr>
                </a:tc>
                <a:tc>
                  <a:txBody>
                    <a:bodyPr/>
                    <a:lstStyle/>
                    <a:p>
                      <a:r>
                        <a:rPr sz="900"/>
                        <a:t>Caída nutricional mes 6-20, escalón de recuperación en mes 24 (artefacto OMS) → justifica algoritmos no lineales</a:t>
                      </a:r>
                    </a:p>
                  </a:txBody>
                  <a:tcPr>
                    <a:solidFill>
                      <a:srgbClr val="FFFFFF"/>
                    </a:solidFill>
                  </a:tcPr>
                </a:tc>
              </a:tr>
              <a:tr h="301752">
                <a:tc>
                  <a:txBody>
                    <a:bodyPr/>
                    <a:lstStyle/>
                    <a:p>
                      <a:r>
                        <a:rPr sz="900"/>
                        <a:t>Anemia (HC57)</a:t>
                      </a:r>
                    </a:p>
                  </a:txBody>
                  <a:tcPr>
                    <a:solidFill>
                      <a:srgbClr val="F0F4F8"/>
                    </a:solidFill>
                  </a:tcPr>
                </a:tc>
                <a:tc>
                  <a:txBody>
                    <a:bodyPr/>
                    <a:lstStyle/>
                    <a:p>
                      <a:r>
                        <a:rPr sz="900"/>
                        <a:t>~30% de niños afectados en 2024 — predictor estable sin drift</a:t>
                      </a:r>
                    </a:p>
                  </a:txBody>
                  <a:tcPr>
                    <a:solidFill>
                      <a:srgbClr val="F0F4F8"/>
                    </a:solidFill>
                  </a:tcPr>
                </a:tc>
              </a:tr>
            </a:tbl>
          </a:graphicData>
        </a:graphic>
      </p:graphicFrame>
      <p:pic>
        <p:nvPicPr>
          <p:cNvPr id="48" name="Picture 47" descr="output3.2.1.png"/>
          <p:cNvPicPr>
            <a:picLocks noChangeAspect="1"/>
          </p:cNvPicPr>
          <p:nvPr/>
        </p:nvPicPr>
        <p:blipFill>
          <a:blip r:embed="rId2"/>
          <a:stretch>
            <a:fillRect/>
          </a:stretch>
        </p:blipFill>
        <p:spPr>
          <a:xfrm>
            <a:off x="1069848" y="5157216"/>
            <a:ext cx="4598554" cy="3200400"/>
          </a:xfrm>
          <a:prstGeom prst="rect">
            <a:avLst/>
          </a:prstGeom>
        </p:spPr>
      </p:pic>
      <p:sp>
        <p:nvSpPr>
          <p:cNvPr id="49" name="TextBox 48"/>
          <p:cNvSpPr txBox="1"/>
          <p:nvPr/>
        </p:nvSpPr>
        <p:spPr>
          <a:xfrm>
            <a:off x="1069848" y="8430767"/>
            <a:ext cx="16002000" cy="347472"/>
          </a:xfrm>
          <a:prstGeom prst="rect">
            <a:avLst/>
          </a:prstGeom>
          <a:noFill/>
        </p:spPr>
        <p:txBody>
          <a:bodyPr wrap="square">
            <a:spAutoFit/>
          </a:bodyPr>
          <a:lstStyle/>
          <a:p>
            <a:pPr algn="l"/>
            <a:r>
              <a:rPr sz="1200" b="1" i="0">
                <a:solidFill>
                  <a:srgbClr val="003865"/>
                </a:solidFill>
              </a:rPr>
              <a:t>RECH0, RECH1, RECH23 — El ecosistema socioeconómico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34</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2 · COMPRENSION DATOS</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Reglas de Retención y Calidad de Datos</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Cuatro operaciones de estandarización aplicadas</a:t>
            </a:r>
          </a:p>
        </p:txBody>
      </p:sp>
      <p:graphicFrame>
        <p:nvGraphicFramePr>
          <p:cNvPr id="46" name="Table 45"/>
          <p:cNvGraphicFramePr>
            <a:graphicFrameLocks noGrp="1"/>
          </p:cNvGraphicFramePr>
          <p:nvPr/>
        </p:nvGraphicFramePr>
        <p:xfrm>
          <a:off x="1069848" y="2606040"/>
          <a:ext cx="16002000" cy="1508760"/>
        </p:xfrm>
        <a:graphic>
          <a:graphicData uri="http://schemas.openxmlformats.org/drawingml/2006/table">
            <a:tbl>
              <a:tblPr firstRow="1" bandRow="1">
                <a:tableStyleId>{5C22544A-7EE6-4342-B048-85BDC9FD1C3A}</a:tableStyleId>
              </a:tblPr>
              <a:tblGrid>
                <a:gridCol w="5334000"/>
                <a:gridCol w="5334000"/>
                <a:gridCol w="5334000"/>
              </a:tblGrid>
              <a:tr h="301752">
                <a:tc>
                  <a:txBody>
                    <a:bodyPr/>
                    <a:lstStyle/>
                    <a:p>
                      <a:r>
                        <a:rPr sz="1000" b="1">
                          <a:solidFill>
                            <a:srgbClr val="FFFFFF"/>
                          </a:solidFill>
                        </a:rPr>
                        <a:t>Operación</a:t>
                      </a:r>
                    </a:p>
                  </a:txBody>
                  <a:tcPr>
                    <a:solidFill>
                      <a:srgbClr val="003865"/>
                    </a:solidFill>
                  </a:tcPr>
                </a:tc>
                <a:tc>
                  <a:txBody>
                    <a:bodyPr/>
                    <a:lstStyle/>
                    <a:p>
                      <a:r>
                        <a:rPr sz="1000" b="1">
                          <a:solidFill>
                            <a:srgbClr val="FFFFFF"/>
                          </a:solidFill>
                        </a:rPr>
                        <a:t>Criterio</a:t>
                      </a:r>
                    </a:p>
                  </a:txBody>
                  <a:tcPr>
                    <a:solidFill>
                      <a:srgbClr val="003865"/>
                    </a:solidFill>
                  </a:tcPr>
                </a:tc>
                <a:tc>
                  <a:txBody>
                    <a:bodyPr/>
                    <a:lstStyle/>
                    <a:p>
                      <a:r>
                        <a:rPr sz="1000" b="1">
                          <a:solidFill>
                            <a:srgbClr val="FFFFFF"/>
                          </a:solidFill>
                        </a:rPr>
                        <a:t>Ejemplo</a:t>
                      </a:r>
                    </a:p>
                  </a:txBody>
                  <a:tcPr>
                    <a:solidFill>
                      <a:srgbClr val="003865"/>
                    </a:solidFill>
                  </a:tcPr>
                </a:tc>
              </a:tr>
              <a:tr h="301752">
                <a:tc>
                  <a:txBody>
                    <a:bodyPr/>
                    <a:lstStyle/>
                    <a:p>
                      <a:r>
                        <a:rPr sz="900"/>
                        <a:t>DROP</a:t>
                      </a:r>
                    </a:p>
                  </a:txBody>
                  <a:tcPr>
                    <a:solidFill>
                      <a:srgbClr val="F0F4F8"/>
                    </a:solidFill>
                  </a:tcPr>
                </a:tc>
                <a:tc>
                  <a:txBody>
                    <a:bodyPr/>
                    <a:lstStyle/>
                    <a:p>
                      <a:r>
                        <a:rPr sz="900"/>
                        <a:t>Variables con más del 70% de nulos en el merge / 60% en selección de variables</a:t>
                      </a:r>
                    </a:p>
                  </a:txBody>
                  <a:tcPr>
                    <a:solidFill>
                      <a:srgbClr val="F0F4F8"/>
                    </a:solidFill>
                  </a:tcPr>
                </a:tc>
                <a:tc>
                  <a:txBody>
                    <a:bodyPr/>
                    <a:lstStyle/>
                    <a:p>
                      <a:r>
                        <a:rPr sz="900"/>
                        <a:t>HV018 — ID del entrevistador</a:t>
                      </a:r>
                    </a:p>
                  </a:txBody>
                  <a:tcPr>
                    <a:solidFill>
                      <a:srgbClr val="F0F4F8"/>
                    </a:solidFill>
                  </a:tcPr>
                </a:tc>
              </a:tr>
              <a:tr h="301752">
                <a:tc>
                  <a:txBody>
                    <a:bodyPr/>
                    <a:lstStyle/>
                    <a:p>
                      <a:r>
                        <a:rPr sz="900"/>
                        <a:t>KEEP</a:t>
                      </a:r>
                    </a:p>
                  </a:txBody>
                  <a:tcPr>
                    <a:solidFill>
                      <a:srgbClr val="FFFFFF"/>
                    </a:solidFill>
                  </a:tcPr>
                </a:tc>
                <a:tc>
                  <a:txBody>
                    <a:bodyPr/>
                    <a:lstStyle/>
                    <a:p>
                      <a:r>
                        <a:rPr sz="900"/>
                        <a:t>Variables core con presencia longitudinal estable</a:t>
                      </a:r>
                    </a:p>
                  </a:txBody>
                  <a:tcPr>
                    <a:solidFill>
                      <a:srgbClr val="FFFFFF"/>
                    </a:solidFill>
                  </a:tcPr>
                </a:tc>
                <a:tc>
                  <a:txBody>
                    <a:bodyPr/>
                    <a:lstStyle/>
                    <a:p>
                      <a:r>
                        <a:rPr sz="900"/>
                        <a:t>HC1 — Edad en meses</a:t>
                      </a:r>
                    </a:p>
                  </a:txBody>
                  <a:tcPr>
                    <a:solidFill>
                      <a:srgbClr val="FFFFFF"/>
                    </a:solidFill>
                  </a:tcPr>
                </a:tc>
              </a:tr>
              <a:tr h="301752">
                <a:tc>
                  <a:txBody>
                    <a:bodyPr/>
                    <a:lstStyle/>
                    <a:p>
                      <a:r>
                        <a:rPr sz="900"/>
                        <a:t>COALESCE</a:t>
                      </a:r>
                    </a:p>
                  </a:txBody>
                  <a:tcPr>
                    <a:solidFill>
                      <a:srgbClr val="F0F4F8"/>
                    </a:solidFill>
                  </a:tcPr>
                </a:tc>
                <a:tc>
                  <a:txBody>
                    <a:bodyPr/>
                    <a:lstStyle/>
                    <a:p>
                      <a:r>
                        <a:rPr sz="900"/>
                        <a:t>Fusión de columnas con mismo concepto, distinto nombre</a:t>
                      </a:r>
                    </a:p>
                  </a:txBody>
                  <a:tcPr>
                    <a:solidFill>
                      <a:srgbClr val="F0F4F8"/>
                    </a:solidFill>
                  </a:tcPr>
                </a:tc>
                <a:tc>
                  <a:txBody>
                    <a:bodyPr/>
                    <a:lstStyle/>
                    <a:p>
                      <a:r>
                        <a:rPr sz="900"/>
                        <a:t>HV022 / hv022 / Estrato → una sola serie continua</a:t>
                      </a:r>
                    </a:p>
                  </a:txBody>
                  <a:tcPr>
                    <a:solidFill>
                      <a:srgbClr val="F0F4F8"/>
                    </a:solidFill>
                  </a:tcPr>
                </a:tc>
              </a:tr>
              <a:tr h="301752">
                <a:tc>
                  <a:txBody>
                    <a:bodyPr/>
                    <a:lstStyle/>
                    <a:p>
                      <a:r>
                        <a:rPr sz="900"/>
                        <a:t>Neutralización SPSS</a:t>
                      </a:r>
                    </a:p>
                  </a:txBody>
                  <a:tcPr>
                    <a:solidFill>
                      <a:srgbClr val="FFFFFF"/>
                    </a:solidFill>
                  </a:tcPr>
                </a:tc>
                <a:tc>
                  <a:txBody>
                    <a:bodyPr/>
                    <a:lstStyle/>
                    <a:p>
                      <a:r>
                        <a:rPr sz="900"/>
                        <a:t>Conversión de falsos numéricos a nulo matemático</a:t>
                      </a:r>
                    </a:p>
                  </a:txBody>
                  <a:tcPr>
                    <a:solidFill>
                      <a:srgbClr val="FFFFFF"/>
                    </a:solidFill>
                  </a:tcPr>
                </a:tc>
                <a:tc>
                  <a:txBody>
                    <a:bodyPr/>
                    <a:lstStyle/>
                    <a:p>
                      <a:r>
                        <a:rPr sz="900"/>
                        <a:t>9998 → NaN, HC3 / 10.0 → cm reales</a:t>
                      </a:r>
                    </a:p>
                  </a:txBody>
                  <a:tcPr>
                    <a:solidFill>
                      <a:srgbClr val="FFFFFF"/>
                    </a:solidFill>
                  </a:tcPr>
                </a:tc>
              </a:tr>
            </a:tbl>
          </a:graphicData>
        </a:graphic>
      </p:graphicFrame>
      <p:sp>
        <p:nvSpPr>
          <p:cNvPr id="47" name="TextBox 46"/>
          <p:cNvSpPr txBox="1"/>
          <p:nvPr/>
        </p:nvSpPr>
        <p:spPr>
          <a:xfrm>
            <a:off x="1069848" y="4370832"/>
            <a:ext cx="16002000" cy="347472"/>
          </a:xfrm>
          <a:prstGeom prst="rect">
            <a:avLst/>
          </a:prstGeom>
          <a:noFill/>
        </p:spPr>
        <p:txBody>
          <a:bodyPr wrap="square">
            <a:spAutoFit/>
          </a:bodyPr>
          <a:lstStyle/>
          <a:p>
            <a:pPr algn="l"/>
            <a:r>
              <a:rPr sz="1200" b="1" i="0">
                <a:solidFill>
                  <a:srgbClr val="003865"/>
                </a:solidFill>
              </a:rPr>
              <a:t>Nulos en el Target — decisión de eliminación, no imputación</a:t>
            </a:r>
          </a:p>
        </p:txBody>
      </p:sp>
      <p:sp>
        <p:nvSpPr>
          <p:cNvPr id="48" name="TextBox 47"/>
          <p:cNvSpPr txBox="1"/>
          <p:nvPr/>
        </p:nvSpPr>
        <p:spPr>
          <a:xfrm>
            <a:off x="1371600" y="4828032"/>
            <a:ext cx="15544800" cy="320040"/>
          </a:xfrm>
          <a:prstGeom prst="rect">
            <a:avLst/>
          </a:prstGeom>
          <a:noFill/>
        </p:spPr>
        <p:txBody>
          <a:bodyPr wrap="square">
            <a:spAutoFit/>
          </a:bodyPr>
          <a:lstStyle/>
          <a:p>
            <a:pPr algn="l"/>
            <a:r>
              <a:rPr sz="1100" b="0" i="0">
                <a:solidFill>
                  <a:srgbClr val="1E1E1E"/>
                </a:solidFill>
              </a:rPr>
              <a:t>•  Los nulos en HC70 son MNAR (Missing Not At Random): causados por rechazo de la madre o ausencia del niño, no por error aleatorio.</a:t>
            </a:r>
          </a:p>
        </p:txBody>
      </p:sp>
      <p:sp>
        <p:nvSpPr>
          <p:cNvPr id="49" name="TextBox 48"/>
          <p:cNvSpPr txBox="1"/>
          <p:nvPr/>
        </p:nvSpPr>
        <p:spPr>
          <a:xfrm>
            <a:off x="1371600" y="5248656"/>
            <a:ext cx="15544800" cy="320040"/>
          </a:xfrm>
          <a:prstGeom prst="rect">
            <a:avLst/>
          </a:prstGeom>
          <a:noFill/>
        </p:spPr>
        <p:txBody>
          <a:bodyPr wrap="square">
            <a:spAutoFit/>
          </a:bodyPr>
          <a:lstStyle/>
          <a:p>
            <a:pPr algn="l"/>
            <a:r>
              <a:rPr sz="1100" b="0" i="0">
                <a:solidFill>
                  <a:srgbClr val="1E1E1E"/>
                </a:solidFill>
              </a:rPr>
              <a:t>•  Imputar la variable objetivo es estadísticamente inválido.</a:t>
            </a:r>
          </a:p>
        </p:txBody>
      </p:sp>
      <p:sp>
        <p:nvSpPr>
          <p:cNvPr id="50" name="TextBox 49"/>
          <p:cNvSpPr txBox="1"/>
          <p:nvPr/>
        </p:nvSpPr>
        <p:spPr>
          <a:xfrm>
            <a:off x="1371600" y="5669280"/>
            <a:ext cx="15544800" cy="320040"/>
          </a:xfrm>
          <a:prstGeom prst="rect">
            <a:avLst/>
          </a:prstGeom>
          <a:noFill/>
        </p:spPr>
        <p:txBody>
          <a:bodyPr wrap="square">
            <a:spAutoFit/>
          </a:bodyPr>
          <a:lstStyle/>
          <a:p>
            <a:pPr algn="l"/>
            <a:r>
              <a:rPr sz="1100" b="0" i="0">
                <a:solidFill>
                  <a:srgbClr val="1E1E1E"/>
                </a:solidFill>
              </a:rPr>
              <a:t>•  Porcentaje eliminado: menor al 3% en años recientes — pérdida aceptable.</a:t>
            </a:r>
          </a:p>
        </p:txBody>
      </p:sp>
      <p:sp>
        <p:nvSpPr>
          <p:cNvPr id="51" name="TextBox 50"/>
          <p:cNvSpPr txBox="1"/>
          <p:nvPr/>
        </p:nvSpPr>
        <p:spPr>
          <a:xfrm>
            <a:off x="1069848" y="6089904"/>
            <a:ext cx="16002000" cy="347472"/>
          </a:xfrm>
          <a:prstGeom prst="rect">
            <a:avLst/>
          </a:prstGeom>
          <a:noFill/>
        </p:spPr>
        <p:txBody>
          <a:bodyPr wrap="square">
            <a:spAutoFit/>
          </a:bodyPr>
          <a:lstStyle/>
          <a:p>
            <a:pPr algn="l"/>
            <a:r>
              <a:rPr sz="1200" b="1" i="0">
                <a:solidFill>
                  <a:srgbClr val="003865"/>
                </a:solidFill>
              </a:rPr>
              <a:t>Variables bloqueadas por Data Leakage</a:t>
            </a:r>
          </a:p>
        </p:txBody>
      </p:sp>
      <p:sp>
        <p:nvSpPr>
          <p:cNvPr id="52" name="TextBox 51"/>
          <p:cNvSpPr txBox="1"/>
          <p:nvPr/>
        </p:nvSpPr>
        <p:spPr>
          <a:xfrm>
            <a:off x="1371600" y="6547104"/>
            <a:ext cx="15544800" cy="320040"/>
          </a:xfrm>
          <a:prstGeom prst="rect">
            <a:avLst/>
          </a:prstGeom>
          <a:noFill/>
        </p:spPr>
        <p:txBody>
          <a:bodyPr wrap="square">
            <a:spAutoFit/>
          </a:bodyPr>
          <a:lstStyle/>
          <a:p>
            <a:pPr algn="l"/>
            <a:r>
              <a:rPr sz="1100" b="0" i="0">
                <a:solidFill>
                  <a:srgbClr val="1E1E1E"/>
                </a:solidFill>
              </a:rPr>
              <a:t>•  HC2 Peso crudo, HC3 Talla cruda — con estas variables el diagnóstico es trivial</a:t>
            </a:r>
          </a:p>
        </p:txBody>
      </p:sp>
      <p:sp>
        <p:nvSpPr>
          <p:cNvPr id="53" name="TextBox 52"/>
          <p:cNvSpPr txBox="1"/>
          <p:nvPr/>
        </p:nvSpPr>
        <p:spPr>
          <a:xfrm>
            <a:off x="1371600" y="6967728"/>
            <a:ext cx="15544800" cy="320040"/>
          </a:xfrm>
          <a:prstGeom prst="rect">
            <a:avLst/>
          </a:prstGeom>
          <a:noFill/>
        </p:spPr>
        <p:txBody>
          <a:bodyPr wrap="square">
            <a:spAutoFit/>
          </a:bodyPr>
          <a:lstStyle/>
          <a:p>
            <a:pPr algn="l"/>
            <a:r>
              <a:rPr sz="1100" b="0" i="0">
                <a:solidFill>
                  <a:srgbClr val="1E1E1E"/>
                </a:solidFill>
              </a:rPr>
              <a:t>•  HC71, HC72, HC73 — Z-scores derivados del mismo cálculo que el target</a:t>
            </a:r>
          </a:p>
        </p:txBody>
      </p:sp>
      <p:sp>
        <p:nvSpPr>
          <p:cNvPr id="54" name="TextBox 53"/>
          <p:cNvSpPr txBox="1"/>
          <p:nvPr/>
        </p:nvSpPr>
        <p:spPr>
          <a:xfrm>
            <a:off x="1371600" y="7388352"/>
            <a:ext cx="15544800" cy="320040"/>
          </a:xfrm>
          <a:prstGeom prst="rect">
            <a:avLst/>
          </a:prstGeom>
          <a:noFill/>
        </p:spPr>
        <p:txBody>
          <a:bodyPr wrap="square">
            <a:spAutoFit/>
          </a:bodyPr>
          <a:lstStyle/>
          <a:p>
            <a:pPr algn="l"/>
            <a:r>
              <a:rPr sz="1100" b="0" i="0">
                <a:solidFill>
                  <a:srgbClr val="1E1E1E"/>
                </a:solidFill>
              </a:rPr>
              <a:t>•  HC15 — método de medición (acostado / de pie): correlación espuria con la edad del niño</a:t>
            </a:r>
          </a:p>
        </p:txBody>
      </p:sp>
      <p:pic>
        <p:nvPicPr>
          <p:cNvPr id="55" name="Picture 54" descr="output3.1.5.png"/>
          <p:cNvPicPr>
            <a:picLocks noChangeAspect="1"/>
          </p:cNvPicPr>
          <p:nvPr/>
        </p:nvPicPr>
        <p:blipFill>
          <a:blip r:embed="rId2"/>
          <a:stretch>
            <a:fillRect/>
          </a:stretch>
        </p:blipFill>
        <p:spPr>
          <a:xfrm>
            <a:off x="1069848" y="7808976"/>
            <a:ext cx="3410938" cy="83210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35</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3 · PREPARACION DATOS</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Criterios de Inclusión y Merge Longitudinal</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¿Quién entra al dataset?</a:t>
            </a:r>
          </a:p>
        </p:txBody>
      </p:sp>
      <p:graphicFrame>
        <p:nvGraphicFramePr>
          <p:cNvPr id="46" name="Table 45"/>
          <p:cNvGraphicFramePr>
            <a:graphicFrameLocks noGrp="1"/>
          </p:cNvGraphicFramePr>
          <p:nvPr/>
        </p:nvGraphicFramePr>
        <p:xfrm>
          <a:off x="1069848" y="2606040"/>
          <a:ext cx="16002000" cy="905256"/>
        </p:xfrm>
        <a:graphic>
          <a:graphicData uri="http://schemas.openxmlformats.org/drawingml/2006/table">
            <a:tbl>
              <a:tblPr firstRow="1" bandRow="1">
                <a:tableStyleId>{5C22544A-7EE6-4342-B048-85BDC9FD1C3A}</a:tableStyleId>
              </a:tblPr>
              <a:tblGrid>
                <a:gridCol w="5334000"/>
                <a:gridCol w="5334000"/>
                <a:gridCol w="5334000"/>
              </a:tblGrid>
              <a:tr h="301752">
                <a:tc>
                  <a:txBody>
                    <a:bodyPr/>
                    <a:lstStyle/>
                    <a:p>
                      <a:r>
                        <a:rPr sz="1000" b="1">
                          <a:solidFill>
                            <a:srgbClr val="FFFFFF"/>
                          </a:solidFill>
                        </a:rPr>
                        <a:t>Criterio</a:t>
                      </a:r>
                    </a:p>
                  </a:txBody>
                  <a:tcPr>
                    <a:solidFill>
                      <a:srgbClr val="003865"/>
                    </a:solidFill>
                  </a:tcPr>
                </a:tc>
                <a:tc>
                  <a:txBody>
                    <a:bodyPr/>
                    <a:lstStyle/>
                    <a:p>
                      <a:r>
                        <a:rPr sz="1000" b="1">
                          <a:solidFill>
                            <a:srgbClr val="FFFFFF"/>
                          </a:solidFill>
                        </a:rPr>
                        <a:t>Regla</a:t>
                      </a:r>
                    </a:p>
                  </a:txBody>
                  <a:tcPr>
                    <a:solidFill>
                      <a:srgbClr val="003865"/>
                    </a:solidFill>
                  </a:tcPr>
                </a:tc>
                <a:tc>
                  <a:txBody>
                    <a:bodyPr/>
                    <a:lstStyle/>
                    <a:p>
                      <a:r>
                        <a:rPr sz="1000" b="1">
                          <a:solidFill>
                            <a:srgbClr val="FFFFFF"/>
                          </a:solidFill>
                        </a:rPr>
                        <a:t>Fuente</a:t>
                      </a:r>
                    </a:p>
                  </a:txBody>
                  <a:tcPr>
                    <a:solidFill>
                      <a:srgbClr val="003865"/>
                    </a:solidFill>
                  </a:tcPr>
                </a:tc>
              </a:tr>
              <a:tr h="301752">
                <a:tc>
                  <a:txBody>
                    <a:bodyPr/>
                    <a:lstStyle/>
                    <a:p>
                      <a:r>
                        <a:rPr sz="900"/>
                        <a:t>Residente habitual</a:t>
                      </a:r>
                    </a:p>
                  </a:txBody>
                  <a:tcPr>
                    <a:solidFill>
                      <a:srgbClr val="F0F4F8"/>
                    </a:solidFill>
                  </a:tcPr>
                </a:tc>
                <a:tc>
                  <a:txBody>
                    <a:bodyPr/>
                    <a:lstStyle/>
                    <a:p>
                      <a:r>
                        <a:rPr sz="900"/>
                        <a:t>HV103 = 1 — solo personas que durmieron en el hogar la noche anterior</a:t>
                      </a:r>
                    </a:p>
                  </a:txBody>
                  <a:tcPr>
                    <a:solidFill>
                      <a:srgbClr val="F0F4F8"/>
                    </a:solidFill>
                  </a:tcPr>
                </a:tc>
                <a:tc>
                  <a:txBody>
                    <a:bodyPr/>
                    <a:lstStyle/>
                    <a:p>
                      <a:r>
                        <a:rPr sz="900"/>
                        <a:t>RECH1</a:t>
                      </a:r>
                    </a:p>
                  </a:txBody>
                  <a:tcPr>
                    <a:solidFill>
                      <a:srgbClr val="F0F4F8"/>
                    </a:solidFill>
                  </a:tcPr>
                </a:tc>
              </a:tr>
              <a:tr h="301752">
                <a:tc>
                  <a:txBody>
                    <a:bodyPr/>
                    <a:lstStyle/>
                    <a:p>
                      <a:r>
                        <a:rPr sz="900"/>
                        <a:t>Target válido</a:t>
                      </a:r>
                    </a:p>
                  </a:txBody>
                  <a:tcPr>
                    <a:solidFill>
                      <a:srgbClr val="FFFFFF"/>
                    </a:solidFill>
                  </a:tcPr>
                </a:tc>
                <a:tc>
                  <a:txBody>
                    <a:bodyPr/>
                    <a:lstStyle/>
                    <a:p>
                      <a:r>
                        <a:rPr sz="900"/>
                        <a:t>HC70 no nulo — nulos MNAR excluidos sin imputación</a:t>
                      </a:r>
                    </a:p>
                  </a:txBody>
                  <a:tcPr>
                    <a:solidFill>
                      <a:srgbClr val="FFFFFF"/>
                    </a:solidFill>
                  </a:tcPr>
                </a:tc>
                <a:tc>
                  <a:txBody>
                    <a:bodyPr/>
                    <a:lstStyle/>
                    <a:p>
                      <a:r>
                        <a:rPr sz="900"/>
                        <a:t>RECH6</a:t>
                      </a:r>
                    </a:p>
                  </a:txBody>
                  <a:tcPr>
                    <a:solidFill>
                      <a:srgbClr val="FFFFFF"/>
                    </a:solidFill>
                  </a:tcPr>
                </a:tc>
              </a:tr>
            </a:tbl>
          </a:graphicData>
        </a:graphic>
      </p:graphicFrame>
      <p:sp>
        <p:nvSpPr>
          <p:cNvPr id="47" name="TextBox 46"/>
          <p:cNvSpPr txBox="1"/>
          <p:nvPr/>
        </p:nvSpPr>
        <p:spPr>
          <a:xfrm>
            <a:off x="1371600" y="3767328"/>
            <a:ext cx="15544800" cy="320040"/>
          </a:xfrm>
          <a:prstGeom prst="rect">
            <a:avLst/>
          </a:prstGeom>
          <a:noFill/>
        </p:spPr>
        <p:txBody>
          <a:bodyPr wrap="square">
            <a:spAutoFit/>
          </a:bodyPr>
          <a:lstStyle/>
          <a:p>
            <a:pPr algn="l"/>
            <a:r>
              <a:rPr sz="1000" b="0" i="1">
                <a:solidFill>
                  <a:srgbClr val="6B7280"/>
                </a:solidFill>
              </a:rPr>
              <a:t>RECH6 contiene por diseño solo niños menores de 5 años — no fue necesario aplicar un filtro adicional de edad.</a:t>
            </a:r>
          </a:p>
        </p:txBody>
      </p:sp>
      <p:sp>
        <p:nvSpPr>
          <p:cNvPr id="48" name="TextBox 47"/>
          <p:cNvSpPr txBox="1"/>
          <p:nvPr/>
        </p:nvSpPr>
        <p:spPr>
          <a:xfrm>
            <a:off x="1069848" y="4187952"/>
            <a:ext cx="16002000" cy="347472"/>
          </a:xfrm>
          <a:prstGeom prst="rect">
            <a:avLst/>
          </a:prstGeom>
          <a:noFill/>
        </p:spPr>
        <p:txBody>
          <a:bodyPr wrap="square">
            <a:spAutoFit/>
          </a:bodyPr>
          <a:lstStyle/>
          <a:p>
            <a:pPr algn="l"/>
            <a:r>
              <a:rPr sz="1200" b="1" i="0">
                <a:solidFill>
                  <a:srgbClr val="003865"/>
                </a:solidFill>
              </a:rPr>
              <a:t>Universo inicial por módulo (antes del merge)</a:t>
            </a:r>
          </a:p>
        </p:txBody>
      </p:sp>
      <p:pic>
        <p:nvPicPr>
          <p:cNvPr id="49" name="Picture 48" descr="1782299208471.png"/>
          <p:cNvPicPr>
            <a:picLocks noChangeAspect="1"/>
          </p:cNvPicPr>
          <p:nvPr/>
        </p:nvPicPr>
        <p:blipFill>
          <a:blip r:embed="rId2"/>
          <a:stretch>
            <a:fillRect/>
          </a:stretch>
        </p:blipFill>
        <p:spPr>
          <a:xfrm>
            <a:off x="1069848" y="4645152"/>
            <a:ext cx="12001500" cy="3200400"/>
          </a:xfrm>
          <a:prstGeom prst="rect">
            <a:avLst/>
          </a:prstGeom>
        </p:spPr>
      </p:pic>
      <p:sp>
        <p:nvSpPr>
          <p:cNvPr id="50" name="TextBox 49"/>
          <p:cNvSpPr txBox="1"/>
          <p:nvPr/>
        </p:nvSpPr>
        <p:spPr>
          <a:xfrm>
            <a:off x="1069848" y="7918704"/>
            <a:ext cx="16002000" cy="347472"/>
          </a:xfrm>
          <a:prstGeom prst="rect">
            <a:avLst/>
          </a:prstGeom>
          <a:noFill/>
        </p:spPr>
        <p:txBody>
          <a:bodyPr wrap="square">
            <a:spAutoFit/>
          </a:bodyPr>
          <a:lstStyle/>
          <a:p>
            <a:pPr algn="l"/>
            <a:r>
              <a:rPr sz="1200" b="1" i="0">
                <a:solidFill>
                  <a:srgbClr val="003865"/>
                </a:solidFill>
              </a:rPr>
              <a:t>Validación del puente REC21 (auditoría biológica cruzada)</a:t>
            </a:r>
          </a:p>
        </p:txBody>
      </p:sp>
      <p:sp>
        <p:nvSpPr>
          <p:cNvPr id="51" name="TextBox 50"/>
          <p:cNvSpPr txBox="1"/>
          <p:nvPr/>
        </p:nvSpPr>
        <p:spPr>
          <a:xfrm>
            <a:off x="1069848" y="8375904"/>
            <a:ext cx="16002000" cy="347472"/>
          </a:xfrm>
          <a:prstGeom prst="rect">
            <a:avLst/>
          </a:prstGeom>
          <a:noFill/>
        </p:spPr>
        <p:txBody>
          <a:bodyPr wrap="square">
            <a:spAutoFit/>
          </a:bodyPr>
          <a:lstStyle/>
          <a:p>
            <a:pPr algn="l"/>
            <a:r>
              <a:rPr sz="1200" b="1" i="0">
                <a:solidFill>
                  <a:srgbClr val="003865"/>
                </a:solidFill>
              </a:rPr>
              <a:t>Estructura del merge por llaves primarias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36</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3 · PREPARACION DATOS</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Ingeniería de Variables Clínicas</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Hemoglobina y el problema de la altitud</a:t>
            </a:r>
          </a:p>
        </p:txBody>
      </p:sp>
      <p:sp>
        <p:nvSpPr>
          <p:cNvPr id="46" name="TextBox 45"/>
          <p:cNvSpPr txBox="1"/>
          <p:nvPr/>
        </p:nvSpPr>
        <p:spPr>
          <a:xfrm>
            <a:off x="1371600" y="2606040"/>
            <a:ext cx="15544800" cy="320040"/>
          </a:xfrm>
          <a:prstGeom prst="rect">
            <a:avLst/>
          </a:prstGeom>
          <a:noFill/>
        </p:spPr>
        <p:txBody>
          <a:bodyPr wrap="square">
            <a:spAutoFit/>
          </a:bodyPr>
          <a:lstStyle/>
          <a:p>
            <a:pPr algn="l"/>
            <a:r>
              <a:rPr sz="1100" b="0" i="0">
                <a:solidFill>
                  <a:srgbClr val="1E1E1E"/>
                </a:solidFill>
              </a:rPr>
              <a:t>•  HC57 — hemoglobina cruda: no comparable entre costa y sierra sin corrección</a:t>
            </a:r>
          </a:p>
        </p:txBody>
      </p:sp>
      <p:sp>
        <p:nvSpPr>
          <p:cNvPr id="47" name="TextBox 46"/>
          <p:cNvSpPr txBox="1"/>
          <p:nvPr/>
        </p:nvSpPr>
        <p:spPr>
          <a:xfrm>
            <a:off x="1371600" y="3026664"/>
            <a:ext cx="15544800" cy="320040"/>
          </a:xfrm>
          <a:prstGeom prst="rect">
            <a:avLst/>
          </a:prstGeom>
          <a:noFill/>
        </p:spPr>
        <p:txBody>
          <a:bodyPr wrap="square">
            <a:spAutoFit/>
          </a:bodyPr>
          <a:lstStyle/>
          <a:p>
            <a:pPr algn="l"/>
            <a:r>
              <a:rPr sz="1100" b="0" i="0">
                <a:solidFill>
                  <a:srgbClr val="1E1E1E"/>
                </a:solidFill>
              </a:rPr>
              <a:t>•  HC56 — hemoglobina ajustada por altitud: calculada por el INEI según la directriz OMS, actualizada en 2024 con la RM 251-2024-MINSA</a:t>
            </a:r>
          </a:p>
        </p:txBody>
      </p:sp>
      <p:sp>
        <p:nvSpPr>
          <p:cNvPr id="48" name="TextBox 47"/>
          <p:cNvSpPr txBox="1"/>
          <p:nvPr/>
        </p:nvSpPr>
        <p:spPr>
          <a:xfrm>
            <a:off x="1371600" y="3447288"/>
            <a:ext cx="15544800" cy="320040"/>
          </a:xfrm>
          <a:prstGeom prst="rect">
            <a:avLst/>
          </a:prstGeom>
          <a:noFill/>
        </p:spPr>
        <p:txBody>
          <a:bodyPr wrap="square">
            <a:spAutoFit/>
          </a:bodyPr>
          <a:lstStyle/>
          <a:p>
            <a:pPr algn="l"/>
            <a:r>
              <a:rPr sz="1100" b="0" i="0">
                <a:solidFill>
                  <a:srgbClr val="1E1E1E"/>
                </a:solidFill>
              </a:rPr>
              <a:t>•  El proyecto usa HC56 directamente — la corrección ya viene hecha en los datos del INEI</a:t>
            </a:r>
          </a:p>
        </p:txBody>
      </p:sp>
      <p:sp>
        <p:nvSpPr>
          <p:cNvPr id="49" name="TextBox 48"/>
          <p:cNvSpPr txBox="1"/>
          <p:nvPr/>
        </p:nvSpPr>
        <p:spPr>
          <a:xfrm>
            <a:off x="1371600" y="3867912"/>
            <a:ext cx="15544800" cy="320040"/>
          </a:xfrm>
          <a:prstGeom prst="rect">
            <a:avLst/>
          </a:prstGeom>
          <a:noFill/>
        </p:spPr>
        <p:txBody>
          <a:bodyPr wrap="square">
            <a:spAutoFit/>
          </a:bodyPr>
          <a:lstStyle/>
          <a:p>
            <a:pPr algn="l"/>
            <a:r>
              <a:rPr sz="1000" b="0" i="1">
                <a:solidFill>
                  <a:srgbClr val="6B7280"/>
                </a:solidFill>
              </a:rPr>
              <a:t>A mayor altitud, el cuerpo produce más hemoglobina por hipoxia. Sin corregir, un niño en Puno parece sano cuando en realidad está anémico.</a:t>
            </a:r>
          </a:p>
        </p:txBody>
      </p:sp>
      <p:sp>
        <p:nvSpPr>
          <p:cNvPr id="50" name="TextBox 49"/>
          <p:cNvSpPr txBox="1"/>
          <p:nvPr/>
        </p:nvSpPr>
        <p:spPr>
          <a:xfrm>
            <a:off x="1069848" y="4288536"/>
            <a:ext cx="16002000" cy="347472"/>
          </a:xfrm>
          <a:prstGeom prst="rect">
            <a:avLst/>
          </a:prstGeom>
          <a:noFill/>
        </p:spPr>
        <p:txBody>
          <a:bodyPr wrap="square">
            <a:spAutoFit/>
          </a:bodyPr>
          <a:lstStyle/>
          <a:p>
            <a:pPr algn="l"/>
            <a:r>
              <a:rPr sz="1200" b="1" i="0">
                <a:solidFill>
                  <a:srgbClr val="003865"/>
                </a:solidFill>
              </a:rPr>
              <a:t>Target binario</a:t>
            </a:r>
          </a:p>
        </p:txBody>
      </p:sp>
      <p:sp>
        <p:nvSpPr>
          <p:cNvPr id="51" name="TextBox 50"/>
          <p:cNvSpPr txBox="1"/>
          <p:nvPr/>
        </p:nvSpPr>
        <p:spPr>
          <a:xfrm>
            <a:off x="1069848" y="4745736"/>
            <a:ext cx="16002000" cy="649224"/>
          </a:xfrm>
          <a:prstGeom prst="rect">
            <a:avLst/>
          </a:prstGeom>
          <a:noFill/>
        </p:spPr>
        <p:txBody>
          <a:bodyPr wrap="none">
            <a:spAutoFit/>
          </a:bodyPr>
          <a:lstStyle/>
          <a:p>
            <a:r>
              <a:rPr sz="900">
                <a:solidFill>
                  <a:srgbClr val="1E3A2A"/>
                </a:solidFill>
                <a:latin typeface="Courier New"/>
              </a:rPr>
              <a:t>TARGET_DESNUTRICION = (HC70 &lt; -2.0).astype(int)
# 285,284 registros con HC70 válido → usados en modelado</a:t>
            </a:r>
          </a:p>
        </p:txBody>
      </p:sp>
      <p:sp>
        <p:nvSpPr>
          <p:cNvPr id="52" name="TextBox 51"/>
          <p:cNvSpPr txBox="1"/>
          <p:nvPr/>
        </p:nvSpPr>
        <p:spPr>
          <a:xfrm>
            <a:off x="1069848" y="5559552"/>
            <a:ext cx="16002000" cy="347472"/>
          </a:xfrm>
          <a:prstGeom prst="rect">
            <a:avLst/>
          </a:prstGeom>
          <a:noFill/>
        </p:spPr>
        <p:txBody>
          <a:bodyPr wrap="square">
            <a:spAutoFit/>
          </a:bodyPr>
          <a:lstStyle/>
          <a:p>
            <a:pPr algn="l"/>
            <a:r>
              <a:rPr sz="1200" b="1" i="0">
                <a:solidFill>
                  <a:srgbClr val="003865"/>
                </a:solidFill>
              </a:rPr>
              <a:t>Ingeniería aplicada a REC41 (historia clínica materna)</a:t>
            </a:r>
          </a:p>
        </p:txBody>
      </p:sp>
      <p:graphicFrame>
        <p:nvGraphicFramePr>
          <p:cNvPr id="53" name="Table 52"/>
          <p:cNvGraphicFramePr>
            <a:graphicFrameLocks noGrp="1"/>
          </p:cNvGraphicFramePr>
          <p:nvPr/>
        </p:nvGraphicFramePr>
        <p:xfrm>
          <a:off x="1069848" y="6016752"/>
          <a:ext cx="16002000" cy="1508760"/>
        </p:xfrm>
        <a:graphic>
          <a:graphicData uri="http://schemas.openxmlformats.org/drawingml/2006/table">
            <a:tbl>
              <a:tblPr firstRow="1" bandRow="1">
                <a:tableStyleId>{5C22544A-7EE6-4342-B048-85BDC9FD1C3A}</a:tableStyleId>
              </a:tblPr>
              <a:tblGrid>
                <a:gridCol w="5334000"/>
                <a:gridCol w="5334000"/>
                <a:gridCol w="5334000"/>
              </a:tblGrid>
              <a:tr h="301752">
                <a:tc>
                  <a:txBody>
                    <a:bodyPr/>
                    <a:lstStyle/>
                    <a:p>
                      <a:r>
                        <a:rPr sz="1000" b="1">
                          <a:solidFill>
                            <a:srgbClr val="FFFFFF"/>
                          </a:solidFill>
                        </a:rPr>
                        <a:t>Variable original</a:t>
                      </a:r>
                    </a:p>
                  </a:txBody>
                  <a:tcPr>
                    <a:solidFill>
                      <a:srgbClr val="003865"/>
                    </a:solidFill>
                  </a:tcPr>
                </a:tc>
                <a:tc>
                  <a:txBody>
                    <a:bodyPr/>
                    <a:lstStyle/>
                    <a:p>
                      <a:r>
                        <a:rPr sz="1000" b="1">
                          <a:solidFill>
                            <a:srgbClr val="FFFFFF"/>
                          </a:solidFill>
                        </a:rPr>
                        <a:t>Transformación</a:t>
                      </a:r>
                    </a:p>
                  </a:txBody>
                  <a:tcPr>
                    <a:solidFill>
                      <a:srgbClr val="003865"/>
                    </a:solidFill>
                  </a:tcPr>
                </a:tc>
                <a:tc>
                  <a:txBody>
                    <a:bodyPr/>
                    <a:lstStyle/>
                    <a:p>
                      <a:r>
                        <a:rPr sz="1000" b="1">
                          <a:solidFill>
                            <a:srgbClr val="FFFFFF"/>
                          </a:solidFill>
                        </a:rPr>
                        <a:t>Variable resultante</a:t>
                      </a:r>
                    </a:p>
                  </a:txBody>
                  <a:tcPr>
                    <a:solidFill>
                      <a:srgbClr val="003865"/>
                    </a:solidFill>
                  </a:tcPr>
                </a:tc>
              </a:tr>
              <a:tr h="301752">
                <a:tc>
                  <a:txBody>
                    <a:bodyPr/>
                    <a:lstStyle/>
                    <a:p>
                      <a:r>
                        <a:rPr sz="900"/>
                        <a:t>M19 — peso al nacer (gramos)</a:t>
                      </a:r>
                    </a:p>
                  </a:txBody>
                  <a:tcPr>
                    <a:solidFill>
                      <a:srgbClr val="F0F4F8"/>
                    </a:solidFill>
                  </a:tcPr>
                </a:tc>
                <a:tc>
                  <a:txBody>
                    <a:bodyPr/>
                    <a:lstStyle/>
                    <a:p>
                      <a:r>
                        <a:rPr sz="900"/>
                        <a:t>Escalar:/ 1000.0</a:t>
                      </a:r>
                    </a:p>
                  </a:txBody>
                  <a:tcPr>
                    <a:solidFill>
                      <a:srgbClr val="F0F4F8"/>
                    </a:solidFill>
                  </a:tcPr>
                </a:tc>
                <a:tc>
                  <a:txBody>
                    <a:bodyPr/>
                    <a:lstStyle/>
                    <a:p>
                      <a:r>
                        <a:rPr sz="900"/>
                        <a:t>m19_peso_nacer_kg</a:t>
                      </a:r>
                    </a:p>
                  </a:txBody>
                  <a:tcPr>
                    <a:solidFill>
                      <a:srgbClr val="F0F4F8"/>
                    </a:solidFill>
                  </a:tcPr>
                </a:tc>
              </a:tr>
              <a:tr h="301752">
                <a:tc>
                  <a:txBody>
                    <a:bodyPr/>
                    <a:lstStyle/>
                    <a:p>
                      <a:r>
                        <a:rPr sz="900"/>
                        <a:t>M34 — horas a primera lactancia</a:t>
                      </a:r>
                    </a:p>
                  </a:txBody>
                  <a:tcPr>
                    <a:solidFill>
                      <a:srgbClr val="FFFFFF"/>
                    </a:solidFill>
                  </a:tcPr>
                </a:tc>
                <a:tc>
                  <a:txBody>
                    <a:bodyPr/>
                    <a:lstStyle/>
                    <a:p>
                      <a:r>
                        <a:rPr sz="900"/>
                        <a:t>Decodificación geométrica SPSS</a:t>
                      </a:r>
                    </a:p>
                  </a:txBody>
                  <a:tcPr>
                    <a:solidFill>
                      <a:srgbClr val="FFFFFF"/>
                    </a:solidFill>
                  </a:tcPr>
                </a:tc>
                <a:tc>
                  <a:txBody>
                    <a:bodyPr/>
                    <a:lstStyle/>
                    <a:p>
                      <a:r>
                        <a:rPr sz="900"/>
                        <a:t>m34_horas_primera_lactancia</a:t>
                      </a:r>
                    </a:p>
                  </a:txBody>
                  <a:tcPr>
                    <a:solidFill>
                      <a:srgbClr val="FFFFFF"/>
                    </a:solidFill>
                  </a:tcPr>
                </a:tc>
              </a:tr>
              <a:tr h="301752">
                <a:tc>
                  <a:txBody>
                    <a:bodyPr/>
                    <a:lstStyle/>
                    <a:p>
                      <a:r>
                        <a:rPr sz="900"/>
                        <a:t>M15 — lugar del parto</a:t>
                      </a:r>
                    </a:p>
                  </a:txBody>
                  <a:tcPr>
                    <a:solidFill>
                      <a:srgbClr val="F0F4F8"/>
                    </a:solidFill>
                  </a:tcPr>
                </a:tc>
                <a:tc>
                  <a:txBody>
                    <a:bodyPr/>
                    <a:lstStyle/>
                    <a:p>
                      <a:r>
                        <a:rPr sz="900"/>
                        <a:t>Agrupación binaria</a:t>
                      </a:r>
                    </a:p>
                  </a:txBody>
                  <a:tcPr>
                    <a:solidFill>
                      <a:srgbClr val="F0F4F8"/>
                    </a:solidFill>
                  </a:tcPr>
                </a:tc>
                <a:tc>
                  <a:txBody>
                    <a:bodyPr/>
                    <a:lstStyle/>
                    <a:p>
                      <a:r>
                        <a:rPr sz="900"/>
                        <a:t>Institucional / Domiciliario</a:t>
                      </a:r>
                    </a:p>
                  </a:txBody>
                  <a:tcPr>
                    <a:solidFill>
                      <a:srgbClr val="F0F4F8"/>
                    </a:solidFill>
                  </a:tcPr>
                </a:tc>
              </a:tr>
              <a:tr h="301752">
                <a:tc>
                  <a:txBody>
                    <a:bodyPr/>
                    <a:lstStyle/>
                    <a:p>
                      <a:r>
                        <a:rPr sz="900"/>
                        <a:t>M46 — días de suplemento de hierro</a:t>
                      </a:r>
                    </a:p>
                  </a:txBody>
                  <a:tcPr>
                    <a:solidFill>
                      <a:srgbClr val="FFFFFF"/>
                    </a:solidFill>
                  </a:tcPr>
                </a:tc>
                <a:tc>
                  <a:txBody>
                    <a:bodyPr/>
                    <a:lstStyle/>
                    <a:p>
                      <a:r>
                        <a:rPr sz="900"/>
                        <a:t>Imputar 0 siM45 = 0</a:t>
                      </a:r>
                    </a:p>
                  </a:txBody>
                  <a:tcPr>
                    <a:solidFill>
                      <a:srgbClr val="FFFFFF"/>
                    </a:solidFill>
                  </a:tcPr>
                </a:tc>
                <a:tc>
                  <a:txBody>
                    <a:bodyPr/>
                    <a:lstStyle/>
                    <a:p>
                      <a:r>
                        <a:rPr sz="900"/>
                        <a:t>m46_dias_hierro</a:t>
                      </a:r>
                    </a:p>
                  </a:txBody>
                  <a:tcPr>
                    <a:solidFill>
                      <a:srgbClr val="FFFFFF"/>
                    </a:solidFill>
                  </a:tcPr>
                </a:tc>
              </a:tr>
            </a:tbl>
          </a:graphicData>
        </a:graphic>
      </p:graphicFrame>
      <p:pic>
        <p:nvPicPr>
          <p:cNvPr id="54" name="Picture 53" descr="1782299603113.png"/>
          <p:cNvPicPr>
            <a:picLocks noChangeAspect="1"/>
          </p:cNvPicPr>
          <p:nvPr/>
        </p:nvPicPr>
        <p:blipFill>
          <a:blip r:embed="rId2"/>
          <a:stretch>
            <a:fillRect/>
          </a:stretch>
        </p:blipFill>
        <p:spPr>
          <a:xfrm>
            <a:off x="1069848" y="7781544"/>
            <a:ext cx="857030" cy="85953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37</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3 · PREPARACION DATOS</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Selección Matemática de Variables</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Pipeline de reducción: 189 columnas → 79 columnas</a:t>
            </a:r>
          </a:p>
        </p:txBody>
      </p:sp>
      <p:sp>
        <p:nvSpPr>
          <p:cNvPr id="46" name="TextBox 45"/>
          <p:cNvSpPr txBox="1"/>
          <p:nvPr/>
        </p:nvSpPr>
        <p:spPr>
          <a:xfrm>
            <a:off x="1069848" y="2606040"/>
            <a:ext cx="16002000" cy="1161288"/>
          </a:xfrm>
          <a:prstGeom prst="rect">
            <a:avLst/>
          </a:prstGeom>
          <a:noFill/>
        </p:spPr>
        <p:txBody>
          <a:bodyPr wrap="none">
            <a:spAutoFit/>
          </a:bodyPr>
          <a:lstStyle/>
          <a:p>
            <a:r>
              <a:rPr sz="900">
                <a:solidFill>
                  <a:srgbClr val="1E3A2A"/>
                </a:solidFill>
                <a:latin typeface="Courier New"/>
              </a:rPr>
              <a:t>189 cols (master_merged)
 → drop leakage + drop HC70 NaN  →  285,284 filas × 129 cols
 → colinealidad &gt; 0.85 (−43)     →  285,284 × 86
 → bivariate + XGBoost (−7)      →  285,284 × 79  ← master_preprocessed_v2.parquet</a:t>
            </a:r>
          </a:p>
        </p:txBody>
      </p:sp>
      <p:pic>
        <p:nvPicPr>
          <p:cNvPr id="47" name="Picture 46" descr="1782299768403.png"/>
          <p:cNvPicPr>
            <a:picLocks noChangeAspect="1"/>
          </p:cNvPicPr>
          <p:nvPr/>
        </p:nvPicPr>
        <p:blipFill>
          <a:blip r:embed="rId2"/>
          <a:stretch>
            <a:fillRect/>
          </a:stretch>
        </p:blipFill>
        <p:spPr>
          <a:xfrm>
            <a:off x="1069848" y="3931920"/>
            <a:ext cx="6449619" cy="3200400"/>
          </a:xfrm>
          <a:prstGeom prst="rect">
            <a:avLst/>
          </a:prstGeom>
        </p:spPr>
      </p:pic>
      <p:pic>
        <p:nvPicPr>
          <p:cNvPr id="48" name="Picture 47" descr="1782299790185.png"/>
          <p:cNvPicPr>
            <a:picLocks noChangeAspect="1"/>
          </p:cNvPicPr>
          <p:nvPr/>
        </p:nvPicPr>
        <p:blipFill>
          <a:blip r:embed="rId3"/>
          <a:stretch>
            <a:fillRect/>
          </a:stretch>
        </p:blipFill>
        <p:spPr>
          <a:xfrm>
            <a:off x="1069848" y="7205472"/>
            <a:ext cx="1904466" cy="1435607"/>
          </a:xfrm>
          <a:prstGeom prst="rect">
            <a:avLst/>
          </a:prstGeom>
        </p:spPr>
      </p:pic>
      <p:graphicFrame>
        <p:nvGraphicFramePr>
          <p:cNvPr id="49" name="Table 48"/>
          <p:cNvGraphicFramePr>
            <a:graphicFrameLocks noGrp="1"/>
          </p:cNvGraphicFramePr>
          <p:nvPr/>
        </p:nvGraphicFramePr>
        <p:xfrm>
          <a:off x="1069848" y="8714231"/>
          <a:ext cx="16002000" cy="1810512"/>
        </p:xfrm>
        <a:graphic>
          <a:graphicData uri="http://schemas.openxmlformats.org/drawingml/2006/table">
            <a:tbl>
              <a:tblPr firstRow="1" bandRow="1">
                <a:tableStyleId>{5C22544A-7EE6-4342-B048-85BDC9FD1C3A}</a:tableStyleId>
              </a:tblPr>
              <a:tblGrid>
                <a:gridCol w="4000500"/>
                <a:gridCol w="4000500"/>
                <a:gridCol w="4000500"/>
                <a:gridCol w="4000500"/>
              </a:tblGrid>
              <a:tr h="301752">
                <a:tc>
                  <a:txBody>
                    <a:bodyPr/>
                    <a:lstStyle/>
                    <a:p>
                      <a:r>
                        <a:rPr sz="1000" b="1">
                          <a:solidFill>
                            <a:srgbClr val="FFFFFF"/>
                          </a:solidFill>
                        </a:rPr>
                        <a:t>Etapa</a:t>
                      </a:r>
                    </a:p>
                  </a:txBody>
                  <a:tcPr>
                    <a:solidFill>
                      <a:srgbClr val="003865"/>
                    </a:solidFill>
                  </a:tcPr>
                </a:tc>
                <a:tc>
                  <a:txBody>
                    <a:bodyPr/>
                    <a:lstStyle/>
                    <a:p>
                      <a:r>
                        <a:rPr sz="1000" b="1">
                          <a:solidFill>
                            <a:srgbClr val="FFFFFF"/>
                          </a:solidFill>
                        </a:rPr>
                        <a:t>Método</a:t>
                      </a:r>
                    </a:p>
                  </a:txBody>
                  <a:tcPr>
                    <a:solidFill>
                      <a:srgbClr val="003865"/>
                    </a:solidFill>
                  </a:tcPr>
                </a:tc>
                <a:tc>
                  <a:txBody>
                    <a:bodyPr/>
                    <a:lstStyle/>
                    <a:p>
                      <a:r>
                        <a:rPr sz="1000" b="1">
                          <a:solidFill>
                            <a:srgbClr val="FFFFFF"/>
                          </a:solidFill>
                        </a:rPr>
                        <a:t>Resultado</a:t>
                      </a:r>
                    </a:p>
                  </a:txBody>
                  <a:tcPr>
                    <a:solidFill>
                      <a:srgbClr val="003865"/>
                    </a:solidFill>
                  </a:tcPr>
                </a:tc>
                <a:tc>
                  <a:txBody>
                    <a:bodyPr/>
                    <a:lstStyle/>
                    <a:p>
                      <a:r>
                        <a:rPr sz="1000" b="1">
                          <a:solidFill>
                            <a:srgbClr val="FFFFFF"/>
                          </a:solidFill>
                        </a:rPr>
                        <a:t>Criterio</a:t>
                      </a:r>
                    </a:p>
                  </a:txBody>
                  <a:tcPr>
                    <a:solidFill>
                      <a:srgbClr val="003865"/>
                    </a:solidFill>
                  </a:tcPr>
                </a:tc>
              </a:tr>
              <a:tr h="301752">
                <a:tc>
                  <a:txBody>
                    <a:bodyPr/>
                    <a:lstStyle/>
                    <a:p>
                      <a:r>
                        <a:rPr sz="900"/>
                        <a:t>0</a:t>
                      </a:r>
                    </a:p>
                  </a:txBody>
                  <a:tcPr>
                    <a:solidFill>
                      <a:srgbClr val="F0F4F8"/>
                    </a:solidFill>
                  </a:tcPr>
                </a:tc>
                <a:tc>
                  <a:txBody>
                    <a:bodyPr/>
                    <a:lstStyle/>
                    <a:p>
                      <a:r>
                        <a:rPr sz="900"/>
                        <a:t>Drop leakage + filas HC70=NaN</a:t>
                      </a:r>
                    </a:p>
                  </a:txBody>
                  <a:tcPr>
                    <a:solidFill>
                      <a:srgbClr val="F0F4F8"/>
                    </a:solidFill>
                  </a:tcPr>
                </a:tc>
                <a:tc>
                  <a:txBody>
                    <a:bodyPr/>
                    <a:lstStyle/>
                    <a:p>
                      <a:r>
                        <a:rPr sz="900"/>
                        <a:t>189 → 129 cols / 294,109 → 285,284 filas</a:t>
                      </a:r>
                    </a:p>
                  </a:txBody>
                  <a:tcPr>
                    <a:solidFill>
                      <a:srgbClr val="F0F4F8"/>
                    </a:solidFill>
                  </a:tcPr>
                </a:tc>
                <a:tc>
                  <a:txBody>
                    <a:bodyPr/>
                    <a:lstStyle/>
                    <a:p>
                      <a:r>
                        <a:rPr sz="900"/>
                        <a:t>HC2, HC3, HC70, HC71-73, HC15 y otros no predictivos</a:t>
                      </a:r>
                    </a:p>
                  </a:txBody>
                  <a:tcPr>
                    <a:solidFill>
                      <a:srgbClr val="F0F4F8"/>
                    </a:solidFill>
                  </a:tcPr>
                </a:tc>
              </a:tr>
              <a:tr h="301752">
                <a:tc>
                  <a:txBody>
                    <a:bodyPr/>
                    <a:lstStyle/>
                    <a:p>
                      <a:r>
                        <a:rPr sz="900"/>
                        <a:t>1</a:t>
                      </a:r>
                    </a:p>
                  </a:txBody>
                  <a:tcPr>
                    <a:solidFill>
                      <a:srgbClr val="FFFFFF"/>
                    </a:solidFill>
                  </a:tcPr>
                </a:tc>
                <a:tc>
                  <a:txBody>
                    <a:bodyPr/>
                    <a:lstStyle/>
                    <a:p>
                      <a:r>
                        <a:rPr sz="900"/>
                        <a:t>Verificación de nulos (60%)</a:t>
                      </a:r>
                    </a:p>
                  </a:txBody>
                  <a:tcPr>
                    <a:solidFill>
                      <a:srgbClr val="FFFFFF"/>
                    </a:solidFill>
                  </a:tcPr>
                </a:tc>
                <a:tc>
                  <a:txBody>
                    <a:bodyPr/>
                    <a:lstStyle/>
                    <a:p>
                      <a:r>
                        <a:rPr sz="900"/>
                        <a:t>0 eliminadas</a:t>
                      </a:r>
                    </a:p>
                  </a:txBody>
                  <a:tcPr>
                    <a:solidFill>
                      <a:srgbClr val="FFFFFF"/>
                    </a:solidFill>
                  </a:tcPr>
                </a:tc>
                <a:tc>
                  <a:txBody>
                    <a:bodyPr/>
                    <a:lstStyle/>
                    <a:p>
                      <a:r>
                        <a:rPr sz="900"/>
                        <a:t>Columnas esparsas ya removidas en merge con umbral 70%</a:t>
                      </a:r>
                    </a:p>
                  </a:txBody>
                  <a:tcPr>
                    <a:solidFill>
                      <a:srgbClr val="FFFFFF"/>
                    </a:solidFill>
                  </a:tcPr>
                </a:tc>
              </a:tr>
              <a:tr h="301752">
                <a:tc>
                  <a:txBody>
                    <a:bodyPr/>
                    <a:lstStyle/>
                    <a:p>
                      <a:r>
                        <a:rPr sz="900"/>
                        <a:t>2</a:t>
                      </a:r>
                    </a:p>
                  </a:txBody>
                  <a:tcPr>
                    <a:solidFill>
                      <a:srgbClr val="F0F4F8"/>
                    </a:solidFill>
                  </a:tcPr>
                </a:tc>
                <a:tc>
                  <a:txBody>
                    <a:bodyPr/>
                    <a:lstStyle/>
                    <a:p>
                      <a:r>
                        <a:rPr sz="900"/>
                        <a:t>Colinealidad — Pearson entre numéricas</a:t>
                      </a:r>
                    </a:p>
                  </a:txBody>
                  <a:tcPr>
                    <a:solidFill>
                      <a:srgbClr val="F0F4F8"/>
                    </a:solidFill>
                  </a:tcPr>
                </a:tc>
                <a:tc>
                  <a:txBody>
                    <a:bodyPr/>
                    <a:lstStyle/>
                    <a:p>
                      <a:r>
                        <a:rPr sz="900"/>
                        <a:t>−43 columnas</a:t>
                      </a:r>
                    </a:p>
                  </a:txBody>
                  <a:tcPr>
                    <a:solidFill>
                      <a:srgbClr val="F0F4F8"/>
                    </a:solidFill>
                  </a:tcPr>
                </a:tc>
                <a:tc>
                  <a:txBody>
                    <a:bodyPr/>
                    <a:lstStyle/>
                    <a:p>
                      <a:r>
                        <a:rPr sz="900"/>
                        <a:t>Correlación &gt; 0.85 entre pares numéricos (ej. HV109/HV106 = 0.98)</a:t>
                      </a:r>
                    </a:p>
                  </a:txBody>
                  <a:tcPr>
                    <a:solidFill>
                      <a:srgbClr val="F0F4F8"/>
                    </a:solidFill>
                  </a:tcPr>
                </a:tc>
              </a:tr>
              <a:tr h="301752">
                <a:tc>
                  <a:txBody>
                    <a:bodyPr/>
                    <a:lstStyle/>
                    <a:p>
                      <a:r>
                        <a:rPr sz="900"/>
                        <a:t>3</a:t>
                      </a:r>
                    </a:p>
                  </a:txBody>
                  <a:tcPr>
                    <a:solidFill>
                      <a:srgbClr val="FFFFFF"/>
                    </a:solidFill>
                  </a:tcPr>
                </a:tc>
                <a:tc>
                  <a:txBody>
                    <a:bodyPr/>
                    <a:lstStyle/>
                    <a:p>
                      <a:r>
                        <a:rPr sz="900"/>
                        <a:t>Pruebas bivariadas (86 features → 2 grupos)</a:t>
                      </a:r>
                    </a:p>
                  </a:txBody>
                  <a:tcPr>
                    <a:solidFill>
                      <a:srgbClr val="FFFFFF"/>
                    </a:solidFill>
                  </a:tcPr>
                </a:tc>
                <a:tc>
                  <a:txBody>
                    <a:bodyPr/>
                    <a:lstStyle/>
                    <a:p>
                      <a:r>
                        <a:rPr sz="900"/>
                        <a:t>74 relevantes / 10 no significativas</a:t>
                      </a:r>
                    </a:p>
                  </a:txBody>
                  <a:tcPr>
                    <a:solidFill>
                      <a:srgbClr val="FFFFFF"/>
                    </a:solidFill>
                  </a:tcPr>
                </a:tc>
                <a:tc>
                  <a:txBody>
                    <a:bodyPr/>
                    <a:lstStyle/>
                    <a:p>
                      <a:r>
                        <a:rPr sz="900"/>
                        <a:t>41 numéricas → Kruskal-Wallis / 37 categóricas → Chi-cuadrado / umbral p &lt; 0.05</a:t>
                      </a:r>
                    </a:p>
                  </a:txBody>
                  <a:tcPr>
                    <a:solidFill>
                      <a:srgbClr val="FFFFFF"/>
                    </a:solidFill>
                  </a:tcPr>
                </a:tc>
              </a:tr>
              <a:tr h="301752">
                <a:tc>
                  <a:txBody>
                    <a:bodyPr/>
                    <a:lstStyle/>
                    <a:p>
                      <a:r>
                        <a:rPr sz="900"/>
                        <a:t>4</a:t>
                      </a:r>
                    </a:p>
                  </a:txBody>
                  <a:tcPr>
                    <a:solidFill>
                      <a:srgbClr val="F0F4F8"/>
                    </a:solidFill>
                  </a:tcPr>
                </a:tc>
                <a:tc>
                  <a:txBody>
                    <a:bodyPr/>
                    <a:lstStyle/>
                    <a:p>
                      <a:r>
                        <a:rPr sz="900"/>
                        <a:t>Validación multivariada XGBoost</a:t>
                      </a:r>
                    </a:p>
                  </a:txBody>
                  <a:tcPr>
                    <a:solidFill>
                      <a:srgbClr val="F0F4F8"/>
                    </a:solidFill>
                  </a:tcPr>
                </a:tc>
                <a:tc>
                  <a:txBody>
                    <a:bodyPr/>
                    <a:lstStyle/>
                    <a:p>
                      <a:r>
                        <a:rPr sz="900"/>
                        <a:t>−7 columnas con importancia = 0</a:t>
                      </a:r>
                    </a:p>
                  </a:txBody>
                  <a:tcPr>
                    <a:solidFill>
                      <a:srgbClr val="F0F4F8"/>
                    </a:solidFill>
                  </a:tcPr>
                </a:tc>
                <a:tc>
                  <a:txBody>
                    <a:bodyPr/>
                    <a:lstStyle/>
                    <a:p>
                      <a:r>
                        <a:rPr sz="900"/>
                        <a:t>Variables sin aporte en presencia de las demás 78</a:t>
                      </a:r>
                    </a:p>
                  </a:txBody>
                  <a:tcPr>
                    <a:solidFill>
                      <a:srgbClr val="F0F4F8"/>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38</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4 · MODELADO</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Estrategia de Validación Científica</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¿Por qué no un split aleatorio clásico (70/30)?</a:t>
            </a:r>
          </a:p>
        </p:txBody>
      </p:sp>
      <p:graphicFrame>
        <p:nvGraphicFramePr>
          <p:cNvPr id="46" name="Table 45"/>
          <p:cNvGraphicFramePr>
            <a:graphicFrameLocks noGrp="1"/>
          </p:cNvGraphicFramePr>
          <p:nvPr/>
        </p:nvGraphicFramePr>
        <p:xfrm>
          <a:off x="1069848" y="2606040"/>
          <a:ext cx="16002000" cy="1207008"/>
        </p:xfrm>
        <a:graphic>
          <a:graphicData uri="http://schemas.openxmlformats.org/drawingml/2006/table">
            <a:tbl>
              <a:tblPr firstRow="1" bandRow="1">
                <a:tableStyleId>{5C22544A-7EE6-4342-B048-85BDC9FD1C3A}</a:tableStyleId>
              </a:tblPr>
              <a:tblGrid>
                <a:gridCol w="8001000"/>
                <a:gridCol w="8001000"/>
              </a:tblGrid>
              <a:tr h="301752">
                <a:tc>
                  <a:txBody>
                    <a:bodyPr/>
                    <a:lstStyle/>
                    <a:p>
                      <a:r>
                        <a:rPr sz="1000" b="1">
                          <a:solidFill>
                            <a:srgbClr val="FFFFFF"/>
                          </a:solidFill>
                        </a:rPr>
                        <a:t>Problema</a:t>
                      </a:r>
                    </a:p>
                  </a:txBody>
                  <a:tcPr>
                    <a:solidFill>
                      <a:srgbClr val="003865"/>
                    </a:solidFill>
                  </a:tcPr>
                </a:tc>
                <a:tc>
                  <a:txBody>
                    <a:bodyPr/>
                    <a:lstStyle/>
                    <a:p>
                      <a:r>
                        <a:rPr sz="1000" b="1">
                          <a:solidFill>
                            <a:srgbClr val="FFFFFF"/>
                          </a:solidFill>
                        </a:rPr>
                        <a:t>Consecuencia si se ignora</a:t>
                      </a:r>
                    </a:p>
                  </a:txBody>
                  <a:tcPr>
                    <a:solidFill>
                      <a:srgbClr val="003865"/>
                    </a:solidFill>
                  </a:tcPr>
                </a:tc>
              </a:tr>
              <a:tr h="301752">
                <a:tc>
                  <a:txBody>
                    <a:bodyPr/>
                    <a:lstStyle/>
                    <a:p>
                      <a:r>
                        <a:rPr sz="900"/>
                        <a:t>Target Drift: prevalencia bajó de ~30% (2007) a ~11% (2024)</a:t>
                      </a:r>
                    </a:p>
                  </a:txBody>
                  <a:tcPr>
                    <a:solidFill>
                      <a:srgbClr val="F0F4F8"/>
                    </a:solidFill>
                  </a:tcPr>
                </a:tc>
                <a:tc>
                  <a:txBody>
                    <a:bodyPr/>
                    <a:lstStyle/>
                    <a:p>
                      <a:r>
                        <a:rPr sz="900"/>
                        <a:t>El modelo aprende un riesgo base que no existe en el presente</a:t>
                      </a:r>
                    </a:p>
                  </a:txBody>
                  <a:tcPr>
                    <a:solidFill>
                      <a:srgbClr val="F0F4F8"/>
                    </a:solidFill>
                  </a:tcPr>
                </a:tc>
              </a:tr>
              <a:tr h="301752">
                <a:tc>
                  <a:txBody>
                    <a:bodyPr/>
                    <a:lstStyle/>
                    <a:p>
                      <a:r>
                        <a:rPr sz="900"/>
                        <a:t>Desbalance de clases: 16% positivos / 84% negativos</a:t>
                      </a:r>
                    </a:p>
                  </a:txBody>
                  <a:tcPr>
                    <a:solidFill>
                      <a:srgbClr val="FFFFFF"/>
                    </a:solidFill>
                  </a:tcPr>
                </a:tc>
                <a:tc>
                  <a:txBody>
                    <a:bodyPr/>
                    <a:lstStyle/>
                    <a:p>
                      <a:r>
                        <a:rPr sz="900"/>
                        <a:t>El Accuracy miente — predecir siempre "sano" da 84%</a:t>
                      </a:r>
                    </a:p>
                  </a:txBody>
                  <a:tcPr>
                    <a:solidFill>
                      <a:srgbClr val="FFFFFF"/>
                    </a:solidFill>
                  </a:tcPr>
                </a:tc>
              </a:tr>
              <a:tr h="301752">
                <a:tc>
                  <a:txBody>
                    <a:bodyPr/>
                    <a:lstStyle/>
                    <a:p>
                      <a:r>
                        <a:rPr sz="900"/>
                        <a:t>ENDES es muestra compleja con pesos muestrales (HV005)</a:t>
                      </a:r>
                    </a:p>
                  </a:txBody>
                  <a:tcPr>
                    <a:solidFill>
                      <a:srgbClr val="F0F4F8"/>
                    </a:solidFill>
                  </a:tcPr>
                </a:tc>
                <a:tc>
                  <a:txBody>
                    <a:bodyPr/>
                    <a:lstStyle/>
                    <a:p>
                      <a:r>
                        <a:rPr sz="900"/>
                        <a:t>Las métricas sin ponderar sobrerepresentan zonas urbanas</a:t>
                      </a:r>
                    </a:p>
                  </a:txBody>
                  <a:tcPr>
                    <a:solidFill>
                      <a:srgbClr val="F0F4F8"/>
                    </a:solidFill>
                  </a:tcPr>
                </a:tc>
              </a:tr>
            </a:tbl>
          </a:graphicData>
        </a:graphic>
      </p:graphicFrame>
      <p:sp>
        <p:nvSpPr>
          <p:cNvPr id="47" name="TextBox 46"/>
          <p:cNvSpPr txBox="1"/>
          <p:nvPr/>
        </p:nvSpPr>
        <p:spPr>
          <a:xfrm>
            <a:off x="1069848" y="4069080"/>
            <a:ext cx="16002000" cy="347472"/>
          </a:xfrm>
          <a:prstGeom prst="rect">
            <a:avLst/>
          </a:prstGeom>
          <a:noFill/>
        </p:spPr>
        <p:txBody>
          <a:bodyPr wrap="square">
            <a:spAutoFit/>
          </a:bodyPr>
          <a:lstStyle/>
          <a:p>
            <a:pPr algn="l"/>
            <a:r>
              <a:rPr sz="1200" b="1" i="0">
                <a:solidFill>
                  <a:srgbClr val="003865"/>
                </a:solidFill>
              </a:rPr>
              <a:t>Estrategia adoptada: Validación Cruzada Estratificada 5-Fold con pesos ENDES</a:t>
            </a:r>
          </a:p>
        </p:txBody>
      </p:sp>
      <p:sp>
        <p:nvSpPr>
          <p:cNvPr id="48" name="TextBox 47"/>
          <p:cNvSpPr txBox="1"/>
          <p:nvPr/>
        </p:nvSpPr>
        <p:spPr>
          <a:xfrm>
            <a:off x="1069848" y="4526280"/>
            <a:ext cx="16002000" cy="1161288"/>
          </a:xfrm>
          <a:prstGeom prst="rect">
            <a:avLst/>
          </a:prstGeom>
          <a:noFill/>
        </p:spPr>
        <p:txBody>
          <a:bodyPr wrap="none">
            <a:spAutoFit/>
          </a:bodyPr>
          <a:lstStyle/>
          <a:p>
            <a:r>
              <a:rPr sz="900">
                <a:solidFill>
                  <a:srgbClr val="1E3A2A"/>
                </a:solidFill>
                <a:latin typeface="Courier New"/>
              </a:rPr>
              <a:t>StratifiedKFold(n_splits=5, shuffle=True, random_state=42)
# → Cada fold mantiene la proporción de clases (16%/84%)
# → Métricas ponderadas por HV005 / 1,000,000 en validación
# → 6 modelos evaluados | 74 variables de entrada | 285,284 niños</a:t>
            </a:r>
          </a:p>
        </p:txBody>
      </p:sp>
      <p:graphicFrame>
        <p:nvGraphicFramePr>
          <p:cNvPr id="49" name="Table 48"/>
          <p:cNvGraphicFramePr>
            <a:graphicFrameLocks noGrp="1"/>
          </p:cNvGraphicFramePr>
          <p:nvPr/>
        </p:nvGraphicFramePr>
        <p:xfrm>
          <a:off x="1069848" y="5852160"/>
          <a:ext cx="16002000" cy="2112264"/>
        </p:xfrm>
        <a:graphic>
          <a:graphicData uri="http://schemas.openxmlformats.org/drawingml/2006/table">
            <a:tbl>
              <a:tblPr firstRow="1" bandRow="1">
                <a:tableStyleId>{5C22544A-7EE6-4342-B048-85BDC9FD1C3A}</a:tableStyleId>
              </a:tblPr>
              <a:tblGrid>
                <a:gridCol w="8001000"/>
                <a:gridCol w="8001000"/>
              </a:tblGrid>
              <a:tr h="301752">
                <a:tc>
                  <a:txBody>
                    <a:bodyPr/>
                    <a:lstStyle/>
                    <a:p>
                      <a:r>
                        <a:rPr sz="1000" b="1">
                          <a:solidFill>
                            <a:srgbClr val="FFFFFF"/>
                          </a:solidFill>
                        </a:rPr>
                        <a:t>Parámetro</a:t>
                      </a:r>
                    </a:p>
                  </a:txBody>
                  <a:tcPr>
                    <a:solidFill>
                      <a:srgbClr val="003865"/>
                    </a:solidFill>
                  </a:tcPr>
                </a:tc>
                <a:tc>
                  <a:txBody>
                    <a:bodyPr/>
                    <a:lstStyle/>
                    <a:p>
                      <a:r>
                        <a:rPr sz="1000" b="1">
                          <a:solidFill>
                            <a:srgbClr val="FFFFFF"/>
                          </a:solidFill>
                        </a:rPr>
                        <a:t>Valor</a:t>
                      </a:r>
                    </a:p>
                  </a:txBody>
                  <a:tcPr>
                    <a:solidFill>
                      <a:srgbClr val="003865"/>
                    </a:solidFill>
                  </a:tcPr>
                </a:tc>
              </a:tr>
              <a:tr h="301752">
                <a:tc>
                  <a:txBody>
                    <a:bodyPr/>
                    <a:lstStyle/>
                    <a:p>
                      <a:r>
                        <a:rPr sz="900"/>
                        <a:t>Folds</a:t>
                      </a:r>
                    </a:p>
                  </a:txBody>
                  <a:tcPr>
                    <a:solidFill>
                      <a:srgbClr val="F0F4F8"/>
                    </a:solidFill>
                  </a:tcPr>
                </a:tc>
                <a:tc>
                  <a:txBody>
                    <a:bodyPr/>
                    <a:lstStyle/>
                    <a:p>
                      <a:r>
                        <a:rPr sz="900"/>
                        <a:t>5</a:t>
                      </a:r>
                    </a:p>
                  </a:txBody>
                  <a:tcPr>
                    <a:solidFill>
                      <a:srgbClr val="F0F4F8"/>
                    </a:solidFill>
                  </a:tcPr>
                </a:tc>
              </a:tr>
              <a:tr h="301752">
                <a:tc>
                  <a:txBody>
                    <a:bodyPr/>
                    <a:lstStyle/>
                    <a:p>
                      <a:r>
                        <a:rPr sz="900"/>
                        <a:t>Estratificación</a:t>
                      </a:r>
                    </a:p>
                  </a:txBody>
                  <a:tcPr>
                    <a:solidFill>
                      <a:srgbClr val="FFFFFF"/>
                    </a:solidFill>
                  </a:tcPr>
                </a:tc>
                <a:tc>
                  <a:txBody>
                    <a:bodyPr/>
                    <a:lstStyle/>
                    <a:p>
                      <a:r>
                        <a:rPr sz="900"/>
                        <a:t>Por clase (16% positivos asegurado por fold)</a:t>
                      </a:r>
                    </a:p>
                  </a:txBody>
                  <a:tcPr>
                    <a:solidFill>
                      <a:srgbClr val="FFFFFF"/>
                    </a:solidFill>
                  </a:tcPr>
                </a:tc>
              </a:tr>
              <a:tr h="301752">
                <a:tc>
                  <a:txBody>
                    <a:bodyPr/>
                    <a:lstStyle/>
                    <a:p>
                      <a:r>
                        <a:rPr sz="900"/>
                        <a:t>Ponderación</a:t>
                      </a:r>
                    </a:p>
                  </a:txBody>
                  <a:tcPr>
                    <a:solidFill>
                      <a:srgbClr val="F0F4F8"/>
                    </a:solidFill>
                  </a:tcPr>
                </a:tc>
                <a:tc>
                  <a:txBody>
                    <a:bodyPr/>
                    <a:lstStyle/>
                    <a:p>
                      <a:r>
                        <a:rPr sz="900"/>
                        <a:t>HV005 / 1,000,000 — factor de expansión ENDES</a:t>
                      </a:r>
                    </a:p>
                  </a:txBody>
                  <a:tcPr>
                    <a:solidFill>
                      <a:srgbClr val="F0F4F8"/>
                    </a:solidFill>
                  </a:tcPr>
                </a:tc>
              </a:tr>
              <a:tr h="301752">
                <a:tc>
                  <a:txBody>
                    <a:bodyPr/>
                    <a:lstStyle/>
                    <a:p>
                      <a:r>
                        <a:rPr sz="900"/>
                        <a:t>Umbral de clasificación</a:t>
                      </a:r>
                    </a:p>
                  </a:txBody>
                  <a:tcPr>
                    <a:solidFill>
                      <a:srgbClr val="FFFFFF"/>
                    </a:solidFill>
                  </a:tcPr>
                </a:tc>
                <a:tc>
                  <a:txBody>
                    <a:bodyPr/>
                    <a:lstStyle/>
                    <a:p>
                      <a:r>
                        <a:rPr sz="900"/>
                        <a:t>0.5 (fijo)</a:t>
                      </a:r>
                    </a:p>
                  </a:txBody>
                  <a:tcPr>
                    <a:solidFill>
                      <a:srgbClr val="FFFFFF"/>
                    </a:solidFill>
                  </a:tcPr>
                </a:tc>
              </a:tr>
              <a:tr h="301752">
                <a:tc>
                  <a:txBody>
                    <a:bodyPr/>
                    <a:lstStyle/>
                    <a:p>
                      <a:r>
                        <a:rPr sz="900"/>
                        <a:t>Métrica primaria</a:t>
                      </a:r>
                    </a:p>
                  </a:txBody>
                  <a:tcPr>
                    <a:solidFill>
                      <a:srgbClr val="F0F4F8"/>
                    </a:solidFill>
                  </a:tcPr>
                </a:tc>
                <a:tc>
                  <a:txBody>
                    <a:bodyPr/>
                    <a:lstStyle/>
                    <a:p>
                      <a:r>
                        <a:rPr sz="900"/>
                        <a:t>AUC-ROC</a:t>
                      </a:r>
                    </a:p>
                  </a:txBody>
                  <a:tcPr>
                    <a:solidFill>
                      <a:srgbClr val="F0F4F8"/>
                    </a:solidFill>
                  </a:tcPr>
                </a:tc>
              </a:tr>
              <a:tr h="301752">
                <a:tc>
                  <a:txBody>
                    <a:bodyPr/>
                    <a:lstStyle/>
                    <a:p>
                      <a:r>
                        <a:rPr sz="900"/>
                        <a:t>Métrica de política</a:t>
                      </a:r>
                    </a:p>
                  </a:txBody>
                  <a:tcPr>
                    <a:solidFill>
                      <a:srgbClr val="FFFFFF"/>
                    </a:solidFill>
                  </a:tcPr>
                </a:tc>
                <a:tc>
                  <a:txBody>
                    <a:bodyPr/>
                    <a:lstStyle/>
                    <a:p>
                      <a:r>
                        <a:rPr sz="900"/>
                        <a:t>Recall (Sensibilidad) ≥ 80%</a:t>
                      </a:r>
                    </a:p>
                  </a:txBody>
                  <a:tcP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39</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4 · MODELADO</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Benchmarking de 6 Modelos</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Resultados promedio 5-Fold CV (ponderado por HV005)</a:t>
            </a:r>
          </a:p>
        </p:txBody>
      </p:sp>
      <p:graphicFrame>
        <p:nvGraphicFramePr>
          <p:cNvPr id="46" name="Table 45"/>
          <p:cNvGraphicFramePr>
            <a:graphicFrameLocks noGrp="1"/>
          </p:cNvGraphicFramePr>
          <p:nvPr/>
        </p:nvGraphicFramePr>
        <p:xfrm>
          <a:off x="1069848" y="2606040"/>
          <a:ext cx="16002000" cy="2112264"/>
        </p:xfrm>
        <a:graphic>
          <a:graphicData uri="http://schemas.openxmlformats.org/drawingml/2006/table">
            <a:tbl>
              <a:tblPr firstRow="1" bandRow="1">
                <a:tableStyleId>{5C22544A-7EE6-4342-B048-85BDC9FD1C3A}</a:tableStyleId>
              </a:tblPr>
              <a:tblGrid>
                <a:gridCol w="2286000"/>
                <a:gridCol w="2286000"/>
                <a:gridCol w="2286000"/>
                <a:gridCol w="2286000"/>
                <a:gridCol w="2286000"/>
                <a:gridCol w="2286000"/>
                <a:gridCol w="2286000"/>
              </a:tblGrid>
              <a:tr h="301752">
                <a:tc>
                  <a:txBody>
                    <a:bodyPr/>
                    <a:lstStyle/>
                    <a:p>
                      <a:r>
                        <a:rPr sz="1000" b="1">
                          <a:solidFill>
                            <a:srgbClr val="FFFFFF"/>
                          </a:solidFill>
                        </a:rPr>
                        <a:t>Pos</a:t>
                      </a:r>
                    </a:p>
                  </a:txBody>
                  <a:tcPr>
                    <a:solidFill>
                      <a:srgbClr val="003865"/>
                    </a:solidFill>
                  </a:tcPr>
                </a:tc>
                <a:tc>
                  <a:txBody>
                    <a:bodyPr/>
                    <a:lstStyle/>
                    <a:p>
                      <a:r>
                        <a:rPr sz="1000" b="1">
                          <a:solidFill>
                            <a:srgbClr val="FFFFFF"/>
                          </a:solidFill>
                        </a:rPr>
                        <a:t>Modelo</a:t>
                      </a:r>
                    </a:p>
                  </a:txBody>
                  <a:tcPr>
                    <a:solidFill>
                      <a:srgbClr val="003865"/>
                    </a:solidFill>
                  </a:tcPr>
                </a:tc>
                <a:tc>
                  <a:txBody>
                    <a:bodyPr/>
                    <a:lstStyle/>
                    <a:p>
                      <a:r>
                        <a:rPr sz="1000" b="1">
                          <a:solidFill>
                            <a:srgbClr val="FFFFFF"/>
                          </a:solidFill>
                        </a:rPr>
                        <a:t>AUC Promedio</a:t>
                      </a:r>
                    </a:p>
                  </a:txBody>
                  <a:tcPr>
                    <a:solidFill>
                      <a:srgbClr val="003865"/>
                    </a:solidFill>
                  </a:tcPr>
                </a:tc>
                <a:tc>
                  <a:txBody>
                    <a:bodyPr/>
                    <a:lstStyle/>
                    <a:p>
                      <a:r>
                        <a:rPr sz="1000" b="1">
                          <a:solidFill>
                            <a:srgbClr val="FFFFFF"/>
                          </a:solidFill>
                        </a:rPr>
                        <a:t>Recall Promedio</a:t>
                      </a:r>
                    </a:p>
                  </a:txBody>
                  <a:tcPr>
                    <a:solidFill>
                      <a:srgbClr val="003865"/>
                    </a:solidFill>
                  </a:tcPr>
                </a:tc>
                <a:tc>
                  <a:txBody>
                    <a:bodyPr/>
                    <a:lstStyle/>
                    <a:p>
                      <a:r>
                        <a:rPr sz="1000" b="1">
                          <a:solidFill>
                            <a:srgbClr val="FFFFFF"/>
                          </a:solidFill>
                        </a:rPr>
                        <a:t>Precision Promedio</a:t>
                      </a:r>
                    </a:p>
                  </a:txBody>
                  <a:tcPr>
                    <a:solidFill>
                      <a:srgbClr val="003865"/>
                    </a:solidFill>
                  </a:tcPr>
                </a:tc>
                <a:tc>
                  <a:txBody>
                    <a:bodyPr/>
                    <a:lstStyle/>
                    <a:p>
                      <a:r>
                        <a:rPr sz="1000" b="1">
                          <a:solidFill>
                            <a:srgbClr val="FFFFFF"/>
                          </a:solidFill>
                        </a:rPr>
                        <a:t>F1-Score</a:t>
                      </a:r>
                    </a:p>
                  </a:txBody>
                  <a:tcPr>
                    <a:solidFill>
                      <a:srgbClr val="003865"/>
                    </a:solidFill>
                  </a:tcPr>
                </a:tc>
                <a:tc>
                  <a:txBody>
                    <a:bodyPr/>
                    <a:lstStyle/>
                    <a:p>
                      <a:r>
                        <a:rPr sz="1000" b="1">
                          <a:solidFill>
                            <a:srgbClr val="FFFFFF"/>
                          </a:solidFill>
                        </a:rPr>
                        <a:t>Tiempo/fold</a:t>
                      </a:r>
                    </a:p>
                  </a:txBody>
                  <a:tcPr>
                    <a:solidFill>
                      <a:srgbClr val="003865"/>
                    </a:solidFill>
                  </a:tcPr>
                </a:tc>
              </a:tr>
              <a:tr h="301752">
                <a:tc>
                  <a:txBody>
                    <a:bodyPr/>
                    <a:lstStyle/>
                    <a:p>
                      <a:r>
                        <a:rPr sz="900"/>
                        <a:t>1</a:t>
                      </a:r>
                    </a:p>
                  </a:txBody>
                  <a:tcPr>
                    <a:solidFill>
                      <a:srgbClr val="F0F4F8"/>
                    </a:solidFill>
                  </a:tcPr>
                </a:tc>
                <a:tc>
                  <a:txBody>
                    <a:bodyPr/>
                    <a:lstStyle/>
                    <a:p>
                      <a:r>
                        <a:rPr sz="900"/>
                        <a:t>LightGBM</a:t>
                      </a:r>
                    </a:p>
                  </a:txBody>
                  <a:tcPr>
                    <a:solidFill>
                      <a:srgbClr val="F0F4F8"/>
                    </a:solidFill>
                  </a:tcPr>
                </a:tc>
                <a:tc>
                  <a:txBody>
                    <a:bodyPr/>
                    <a:lstStyle/>
                    <a:p>
                      <a:r>
                        <a:rPr sz="900"/>
                        <a:t>0.8307</a:t>
                      </a:r>
                    </a:p>
                  </a:txBody>
                  <a:tcPr>
                    <a:solidFill>
                      <a:srgbClr val="F0F4F8"/>
                    </a:solidFill>
                  </a:tcPr>
                </a:tc>
                <a:tc>
                  <a:txBody>
                    <a:bodyPr/>
                    <a:lstStyle/>
                    <a:p>
                      <a:r>
                        <a:rPr sz="900"/>
                        <a:t>76.38%</a:t>
                      </a:r>
                    </a:p>
                  </a:txBody>
                  <a:tcPr>
                    <a:solidFill>
                      <a:srgbClr val="F0F4F8"/>
                    </a:solidFill>
                  </a:tcPr>
                </a:tc>
                <a:tc>
                  <a:txBody>
                    <a:bodyPr/>
                    <a:lstStyle/>
                    <a:p>
                      <a:r>
                        <a:rPr sz="900"/>
                        <a:t>36.90%</a:t>
                      </a:r>
                    </a:p>
                  </a:txBody>
                  <a:tcPr>
                    <a:solidFill>
                      <a:srgbClr val="F0F4F8"/>
                    </a:solidFill>
                  </a:tcPr>
                </a:tc>
                <a:tc>
                  <a:txBody>
                    <a:bodyPr/>
                    <a:lstStyle/>
                    <a:p>
                      <a:r>
                        <a:rPr sz="900"/>
                        <a:t>0.4976</a:t>
                      </a:r>
                    </a:p>
                  </a:txBody>
                  <a:tcPr>
                    <a:solidFill>
                      <a:srgbClr val="F0F4F8"/>
                    </a:solidFill>
                  </a:tcPr>
                </a:tc>
                <a:tc>
                  <a:txBody>
                    <a:bodyPr/>
                    <a:lstStyle/>
                    <a:p>
                      <a:r>
                        <a:rPr sz="900"/>
                        <a:t>3.7 s</a:t>
                      </a:r>
                    </a:p>
                  </a:txBody>
                  <a:tcPr>
                    <a:solidFill>
                      <a:srgbClr val="F0F4F8"/>
                    </a:solidFill>
                  </a:tcPr>
                </a:tc>
              </a:tr>
              <a:tr h="301752">
                <a:tc>
                  <a:txBody>
                    <a:bodyPr/>
                    <a:lstStyle/>
                    <a:p>
                      <a:r>
                        <a:rPr sz="900"/>
                        <a:t>2</a:t>
                      </a:r>
                    </a:p>
                  </a:txBody>
                  <a:tcPr>
                    <a:solidFill>
                      <a:srgbClr val="FFFFFF"/>
                    </a:solidFill>
                  </a:tcPr>
                </a:tc>
                <a:tc>
                  <a:txBody>
                    <a:bodyPr/>
                    <a:lstStyle/>
                    <a:p>
                      <a:r>
                        <a:rPr sz="900"/>
                        <a:t>CatBoost</a:t>
                      </a:r>
                    </a:p>
                  </a:txBody>
                  <a:tcPr>
                    <a:solidFill>
                      <a:srgbClr val="FFFFFF"/>
                    </a:solidFill>
                  </a:tcPr>
                </a:tc>
                <a:tc>
                  <a:txBody>
                    <a:bodyPr/>
                    <a:lstStyle/>
                    <a:p>
                      <a:r>
                        <a:rPr sz="900"/>
                        <a:t>0.8302</a:t>
                      </a:r>
                    </a:p>
                  </a:txBody>
                  <a:tcPr>
                    <a:solidFill>
                      <a:srgbClr val="FFFFFF"/>
                    </a:solidFill>
                  </a:tcPr>
                </a:tc>
                <a:tc>
                  <a:txBody>
                    <a:bodyPr/>
                    <a:lstStyle/>
                    <a:p>
                      <a:r>
                        <a:rPr sz="900"/>
                        <a:t>29.99%</a:t>
                      </a:r>
                    </a:p>
                  </a:txBody>
                  <a:tcPr>
                    <a:solidFill>
                      <a:srgbClr val="FFFFFF"/>
                    </a:solidFill>
                  </a:tcPr>
                </a:tc>
                <a:tc>
                  <a:txBody>
                    <a:bodyPr/>
                    <a:lstStyle/>
                    <a:p>
                      <a:r>
                        <a:rPr sz="900"/>
                        <a:t>60.99%</a:t>
                      </a:r>
                    </a:p>
                  </a:txBody>
                  <a:tcPr>
                    <a:solidFill>
                      <a:srgbClr val="FFFFFF"/>
                    </a:solidFill>
                  </a:tcPr>
                </a:tc>
                <a:tc>
                  <a:txBody>
                    <a:bodyPr/>
                    <a:lstStyle/>
                    <a:p>
                      <a:r>
                        <a:rPr sz="900"/>
                        <a:t>0.4021</a:t>
                      </a:r>
                    </a:p>
                  </a:txBody>
                  <a:tcPr>
                    <a:solidFill>
                      <a:srgbClr val="FFFFFF"/>
                    </a:solidFill>
                  </a:tcPr>
                </a:tc>
                <a:tc>
                  <a:txBody>
                    <a:bodyPr/>
                    <a:lstStyle/>
                    <a:p>
                      <a:r>
                        <a:rPr sz="900"/>
                        <a:t>88.2 s</a:t>
                      </a:r>
                    </a:p>
                  </a:txBody>
                  <a:tcPr>
                    <a:solidFill>
                      <a:srgbClr val="FFFFFF"/>
                    </a:solidFill>
                  </a:tcPr>
                </a:tc>
              </a:tr>
              <a:tr h="301752">
                <a:tc>
                  <a:txBody>
                    <a:bodyPr/>
                    <a:lstStyle/>
                    <a:p>
                      <a:r>
                        <a:rPr sz="900"/>
                        <a:t>3</a:t>
                      </a:r>
                    </a:p>
                  </a:txBody>
                  <a:tcPr>
                    <a:solidFill>
                      <a:srgbClr val="F0F4F8"/>
                    </a:solidFill>
                  </a:tcPr>
                </a:tc>
                <a:tc>
                  <a:txBody>
                    <a:bodyPr/>
                    <a:lstStyle/>
                    <a:p>
                      <a:r>
                        <a:rPr sz="900"/>
                        <a:t>NeuralNet</a:t>
                      </a:r>
                    </a:p>
                  </a:txBody>
                  <a:tcPr>
                    <a:solidFill>
                      <a:srgbClr val="F0F4F8"/>
                    </a:solidFill>
                  </a:tcPr>
                </a:tc>
                <a:tc>
                  <a:txBody>
                    <a:bodyPr/>
                    <a:lstStyle/>
                    <a:p>
                      <a:r>
                        <a:rPr sz="900"/>
                        <a:t>0.8219</a:t>
                      </a:r>
                    </a:p>
                  </a:txBody>
                  <a:tcPr>
                    <a:solidFill>
                      <a:srgbClr val="F0F4F8"/>
                    </a:solidFill>
                  </a:tcPr>
                </a:tc>
                <a:tc>
                  <a:txBody>
                    <a:bodyPr/>
                    <a:lstStyle/>
                    <a:p>
                      <a:r>
                        <a:rPr sz="900"/>
                        <a:t>25.12%</a:t>
                      </a:r>
                    </a:p>
                  </a:txBody>
                  <a:tcPr>
                    <a:solidFill>
                      <a:srgbClr val="F0F4F8"/>
                    </a:solidFill>
                  </a:tcPr>
                </a:tc>
                <a:tc>
                  <a:txBody>
                    <a:bodyPr/>
                    <a:lstStyle/>
                    <a:p>
                      <a:r>
                        <a:rPr sz="900"/>
                        <a:t>61.16%</a:t>
                      </a:r>
                    </a:p>
                  </a:txBody>
                  <a:tcPr>
                    <a:solidFill>
                      <a:srgbClr val="F0F4F8"/>
                    </a:solidFill>
                  </a:tcPr>
                </a:tc>
                <a:tc>
                  <a:txBody>
                    <a:bodyPr/>
                    <a:lstStyle/>
                    <a:p>
                      <a:r>
                        <a:rPr sz="900"/>
                        <a:t>0.3554</a:t>
                      </a:r>
                    </a:p>
                  </a:txBody>
                  <a:tcPr>
                    <a:solidFill>
                      <a:srgbClr val="F0F4F8"/>
                    </a:solidFill>
                  </a:tcPr>
                </a:tc>
                <a:tc>
                  <a:txBody>
                    <a:bodyPr/>
                    <a:lstStyle/>
                    <a:p>
                      <a:r>
                        <a:rPr sz="900"/>
                        <a:t>115.8 s</a:t>
                      </a:r>
                    </a:p>
                  </a:txBody>
                  <a:tcPr>
                    <a:solidFill>
                      <a:srgbClr val="F0F4F8"/>
                    </a:solidFill>
                  </a:tcPr>
                </a:tc>
              </a:tr>
              <a:tr h="301752">
                <a:tc>
                  <a:txBody>
                    <a:bodyPr/>
                    <a:lstStyle/>
                    <a:p>
                      <a:r>
                        <a:rPr sz="900"/>
                        <a:t>4</a:t>
                      </a:r>
                    </a:p>
                  </a:txBody>
                  <a:tcPr>
                    <a:solidFill>
                      <a:srgbClr val="FFFFFF"/>
                    </a:solidFill>
                  </a:tcPr>
                </a:tc>
                <a:tc>
                  <a:txBody>
                    <a:bodyPr/>
                    <a:lstStyle/>
                    <a:p>
                      <a:r>
                        <a:rPr sz="900"/>
                        <a:t>XGBoost</a:t>
                      </a:r>
                    </a:p>
                  </a:txBody>
                  <a:tcPr>
                    <a:solidFill>
                      <a:srgbClr val="FFFFFF"/>
                    </a:solidFill>
                  </a:tcPr>
                </a:tc>
                <a:tc>
                  <a:txBody>
                    <a:bodyPr/>
                    <a:lstStyle/>
                    <a:p>
                      <a:r>
                        <a:rPr sz="900"/>
                        <a:t>0.7937</a:t>
                      </a:r>
                    </a:p>
                  </a:txBody>
                  <a:tcPr>
                    <a:solidFill>
                      <a:srgbClr val="FFFFFF"/>
                    </a:solidFill>
                  </a:tcPr>
                </a:tc>
                <a:tc>
                  <a:txBody>
                    <a:bodyPr/>
                    <a:lstStyle/>
                    <a:p>
                      <a:r>
                        <a:rPr sz="900"/>
                        <a:t>75.73%</a:t>
                      </a:r>
                    </a:p>
                  </a:txBody>
                  <a:tcPr>
                    <a:solidFill>
                      <a:srgbClr val="FFFFFF"/>
                    </a:solidFill>
                  </a:tcPr>
                </a:tc>
                <a:tc>
                  <a:txBody>
                    <a:bodyPr/>
                    <a:lstStyle/>
                    <a:p>
                      <a:r>
                        <a:rPr sz="900"/>
                        <a:t>32.75%</a:t>
                      </a:r>
                    </a:p>
                  </a:txBody>
                  <a:tcPr>
                    <a:solidFill>
                      <a:srgbClr val="FFFFFF"/>
                    </a:solidFill>
                  </a:tcPr>
                </a:tc>
                <a:tc>
                  <a:txBody>
                    <a:bodyPr/>
                    <a:lstStyle/>
                    <a:p>
                      <a:r>
                        <a:rPr sz="900"/>
                        <a:t>0.4573</a:t>
                      </a:r>
                    </a:p>
                  </a:txBody>
                  <a:tcPr>
                    <a:solidFill>
                      <a:srgbClr val="FFFFFF"/>
                    </a:solidFill>
                  </a:tcPr>
                </a:tc>
                <a:tc>
                  <a:txBody>
                    <a:bodyPr/>
                    <a:lstStyle/>
                    <a:p>
                      <a:r>
                        <a:rPr sz="900"/>
                        <a:t>5.4 s</a:t>
                      </a:r>
                    </a:p>
                  </a:txBody>
                  <a:tcPr>
                    <a:solidFill>
                      <a:srgbClr val="FFFFFF"/>
                    </a:solidFill>
                  </a:tcPr>
                </a:tc>
              </a:tr>
              <a:tr h="301752">
                <a:tc>
                  <a:txBody>
                    <a:bodyPr/>
                    <a:lstStyle/>
                    <a:p>
                      <a:r>
                        <a:rPr sz="900"/>
                        <a:t>5</a:t>
                      </a:r>
                    </a:p>
                  </a:txBody>
                  <a:tcPr>
                    <a:solidFill>
                      <a:srgbClr val="F0F4F8"/>
                    </a:solidFill>
                  </a:tcPr>
                </a:tc>
                <a:tc>
                  <a:txBody>
                    <a:bodyPr/>
                    <a:lstStyle/>
                    <a:p>
                      <a:r>
                        <a:rPr sz="900"/>
                        <a:t>LogReg</a:t>
                      </a:r>
                    </a:p>
                  </a:txBody>
                  <a:tcPr>
                    <a:solidFill>
                      <a:srgbClr val="F0F4F8"/>
                    </a:solidFill>
                  </a:tcPr>
                </a:tc>
                <a:tc>
                  <a:txBody>
                    <a:bodyPr/>
                    <a:lstStyle/>
                    <a:p>
                      <a:r>
                        <a:rPr sz="900"/>
                        <a:t>0.7924</a:t>
                      </a:r>
                    </a:p>
                  </a:txBody>
                  <a:tcPr>
                    <a:solidFill>
                      <a:srgbClr val="F0F4F8"/>
                    </a:solidFill>
                  </a:tcPr>
                </a:tc>
                <a:tc>
                  <a:txBody>
                    <a:bodyPr/>
                    <a:lstStyle/>
                    <a:p>
                      <a:r>
                        <a:rPr sz="900"/>
                        <a:t>71.67%</a:t>
                      </a:r>
                    </a:p>
                  </a:txBody>
                  <a:tcPr>
                    <a:solidFill>
                      <a:srgbClr val="F0F4F8"/>
                    </a:solidFill>
                  </a:tcPr>
                </a:tc>
                <a:tc>
                  <a:txBody>
                    <a:bodyPr/>
                    <a:lstStyle/>
                    <a:p>
                      <a:r>
                        <a:rPr sz="900"/>
                        <a:t>33.97%</a:t>
                      </a:r>
                    </a:p>
                  </a:txBody>
                  <a:tcPr>
                    <a:solidFill>
                      <a:srgbClr val="F0F4F8"/>
                    </a:solidFill>
                  </a:tcPr>
                </a:tc>
                <a:tc>
                  <a:txBody>
                    <a:bodyPr/>
                    <a:lstStyle/>
                    <a:p>
                      <a:r>
                        <a:rPr sz="900"/>
                        <a:t>0.4609</a:t>
                      </a:r>
                    </a:p>
                  </a:txBody>
                  <a:tcPr>
                    <a:solidFill>
                      <a:srgbClr val="F0F4F8"/>
                    </a:solidFill>
                  </a:tcPr>
                </a:tc>
                <a:tc>
                  <a:txBody>
                    <a:bodyPr/>
                    <a:lstStyle/>
                    <a:p>
                      <a:r>
                        <a:rPr sz="900"/>
                        <a:t>1.2 s</a:t>
                      </a:r>
                    </a:p>
                  </a:txBody>
                  <a:tcPr>
                    <a:solidFill>
                      <a:srgbClr val="F0F4F8"/>
                    </a:solidFill>
                  </a:tcPr>
                </a:tc>
              </a:tr>
              <a:tr h="301752">
                <a:tc>
                  <a:txBody>
                    <a:bodyPr/>
                    <a:lstStyle/>
                    <a:p>
                      <a:r>
                        <a:rPr sz="900"/>
                        <a:t>6</a:t>
                      </a:r>
                    </a:p>
                  </a:txBody>
                  <a:tcPr>
                    <a:solidFill>
                      <a:srgbClr val="FFFFFF"/>
                    </a:solidFill>
                  </a:tcPr>
                </a:tc>
                <a:tc>
                  <a:txBody>
                    <a:bodyPr/>
                    <a:lstStyle/>
                    <a:p>
                      <a:r>
                        <a:rPr sz="900"/>
                        <a:t>DecisionTree</a:t>
                      </a:r>
                    </a:p>
                  </a:txBody>
                  <a:tcPr>
                    <a:solidFill>
                      <a:srgbClr val="FFFFFF"/>
                    </a:solidFill>
                  </a:tcPr>
                </a:tc>
                <a:tc>
                  <a:txBody>
                    <a:bodyPr/>
                    <a:lstStyle/>
                    <a:p>
                      <a:r>
                        <a:rPr sz="900"/>
                        <a:t>0.7817</a:t>
                      </a:r>
                    </a:p>
                  </a:txBody>
                  <a:tcPr>
                    <a:solidFill>
                      <a:srgbClr val="FFFFFF"/>
                    </a:solidFill>
                  </a:tcPr>
                </a:tc>
                <a:tc>
                  <a:txBody>
                    <a:bodyPr/>
                    <a:lstStyle/>
                    <a:p>
                      <a:r>
                        <a:rPr sz="900"/>
                        <a:t>71.76%</a:t>
                      </a:r>
                    </a:p>
                  </a:txBody>
                  <a:tcPr>
                    <a:solidFill>
                      <a:srgbClr val="FFFFFF"/>
                    </a:solidFill>
                  </a:tcPr>
                </a:tc>
                <a:tc>
                  <a:txBody>
                    <a:bodyPr/>
                    <a:lstStyle/>
                    <a:p>
                      <a:r>
                        <a:rPr sz="900"/>
                        <a:t>32.90%</a:t>
                      </a:r>
                    </a:p>
                  </a:txBody>
                  <a:tcPr>
                    <a:solidFill>
                      <a:srgbClr val="FFFFFF"/>
                    </a:solidFill>
                  </a:tcPr>
                </a:tc>
                <a:tc>
                  <a:txBody>
                    <a:bodyPr/>
                    <a:lstStyle/>
                    <a:p>
                      <a:r>
                        <a:rPr sz="900"/>
                        <a:t>0.4509</a:t>
                      </a:r>
                    </a:p>
                  </a:txBody>
                  <a:tcPr>
                    <a:solidFill>
                      <a:srgbClr val="FFFFFF"/>
                    </a:solidFill>
                  </a:tcPr>
                </a:tc>
                <a:tc>
                  <a:txBody>
                    <a:bodyPr/>
                    <a:lstStyle/>
                    <a:p>
                      <a:r>
                        <a:rPr sz="900"/>
                        <a:t>4.3 s</a:t>
                      </a:r>
                    </a:p>
                  </a:txBody>
                  <a:tcPr>
                    <a:solidFill>
                      <a:srgbClr val="FFFFFF"/>
                    </a:solidFill>
                  </a:tcPr>
                </a:tc>
              </a:tr>
            </a:tbl>
          </a:graphicData>
        </a:graphic>
      </p:graphicFrame>
      <p:sp>
        <p:nvSpPr>
          <p:cNvPr id="47" name="TextBox 46"/>
          <p:cNvSpPr txBox="1"/>
          <p:nvPr/>
        </p:nvSpPr>
        <p:spPr>
          <a:xfrm>
            <a:off x="1069848" y="4974336"/>
            <a:ext cx="16002000" cy="347472"/>
          </a:xfrm>
          <a:prstGeom prst="rect">
            <a:avLst/>
          </a:prstGeom>
          <a:noFill/>
        </p:spPr>
        <p:txBody>
          <a:bodyPr wrap="square">
            <a:spAutoFit/>
          </a:bodyPr>
          <a:lstStyle/>
          <a:p>
            <a:pPr algn="l"/>
            <a:r>
              <a:rPr sz="1200" b="1" i="0">
                <a:solidFill>
                  <a:srgbClr val="003865"/>
                </a:solidFill>
              </a:rPr>
              <a:t>La paradoja CatBoost / NeuralNet</a:t>
            </a:r>
          </a:p>
        </p:txBody>
      </p:sp>
      <p:sp>
        <p:nvSpPr>
          <p:cNvPr id="48" name="TextBox 47"/>
          <p:cNvSpPr txBox="1"/>
          <p:nvPr/>
        </p:nvSpPr>
        <p:spPr>
          <a:xfrm>
            <a:off x="1371600" y="5431536"/>
            <a:ext cx="15544800" cy="320040"/>
          </a:xfrm>
          <a:prstGeom prst="rect">
            <a:avLst/>
          </a:prstGeom>
          <a:noFill/>
        </p:spPr>
        <p:txBody>
          <a:bodyPr wrap="square">
            <a:spAutoFit/>
          </a:bodyPr>
          <a:lstStyle/>
          <a:p>
            <a:pPr algn="l"/>
            <a:r>
              <a:rPr sz="1000" b="0" i="1">
                <a:solidFill>
                  <a:srgbClr val="6B7280"/>
                </a:solidFill>
              </a:rPr>
              <a:t>AUC ≈ LightGBM, pero Recall &lt; 30% — detectan menos de 1 de cada 3 niños desnutridos.</a:t>
            </a:r>
          </a:p>
        </p:txBody>
      </p:sp>
      <p:sp>
        <p:nvSpPr>
          <p:cNvPr id="49" name="TextBox 48"/>
          <p:cNvSpPr txBox="1"/>
          <p:nvPr/>
        </p:nvSpPr>
        <p:spPr>
          <a:xfrm>
            <a:off x="1371600" y="5852159"/>
            <a:ext cx="15544800" cy="320040"/>
          </a:xfrm>
          <a:prstGeom prst="rect">
            <a:avLst/>
          </a:prstGeom>
          <a:noFill/>
        </p:spPr>
        <p:txBody>
          <a:bodyPr wrap="square">
            <a:spAutoFit/>
          </a:bodyPr>
          <a:lstStyle/>
          <a:p>
            <a:pPr algn="l"/>
            <a:r>
              <a:rPr sz="1000" b="0" i="1">
                <a:solidFill>
                  <a:srgbClr val="6B7280"/>
                </a:solidFill>
              </a:rPr>
              <a:t>El umbral 0.5 combinado con su función de pérdida los hace conservadores: prefieren no etiquetar.</a:t>
            </a:r>
          </a:p>
        </p:txBody>
      </p:sp>
      <p:sp>
        <p:nvSpPr>
          <p:cNvPr id="50" name="TextBox 49"/>
          <p:cNvSpPr txBox="1"/>
          <p:nvPr/>
        </p:nvSpPr>
        <p:spPr>
          <a:xfrm>
            <a:off x="1371600" y="6272783"/>
            <a:ext cx="15544800" cy="320040"/>
          </a:xfrm>
          <a:prstGeom prst="rect">
            <a:avLst/>
          </a:prstGeom>
          <a:noFill/>
        </p:spPr>
        <p:txBody>
          <a:bodyPr wrap="square">
            <a:spAutoFit/>
          </a:bodyPr>
          <a:lstStyle/>
          <a:p>
            <a:pPr algn="l"/>
            <a:r>
              <a:rPr sz="1000" b="0" i="1">
                <a:solidFill>
                  <a:srgbClr val="6B7280"/>
                </a:solidFill>
              </a:rPr>
              <a:t>En triaje de política pública, ese comportamiento es inaceptable.</a:t>
            </a:r>
          </a:p>
        </p:txBody>
      </p:sp>
      <p:pic>
        <p:nvPicPr>
          <p:cNvPr id="51" name="Picture 50" descr="1782300840529.png"/>
          <p:cNvPicPr>
            <a:picLocks noChangeAspect="1"/>
          </p:cNvPicPr>
          <p:nvPr/>
        </p:nvPicPr>
        <p:blipFill>
          <a:blip r:embed="rId2"/>
          <a:stretch>
            <a:fillRect/>
          </a:stretch>
        </p:blipFill>
        <p:spPr>
          <a:xfrm>
            <a:off x="1069848" y="6693407"/>
            <a:ext cx="2438288" cy="194767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40</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4 · MODELADO</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El Campeón — LightGBM con Top 43 Variables</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Selección de variables por umbral de importancia algorítmica</a:t>
            </a:r>
          </a:p>
        </p:txBody>
      </p:sp>
      <p:sp>
        <p:nvSpPr>
          <p:cNvPr id="46" name="TextBox 45"/>
          <p:cNvSpPr txBox="1"/>
          <p:nvPr/>
        </p:nvSpPr>
        <p:spPr>
          <a:xfrm>
            <a:off x="1069848" y="2606040"/>
            <a:ext cx="16002000" cy="347472"/>
          </a:xfrm>
          <a:prstGeom prst="rect">
            <a:avLst/>
          </a:prstGeom>
          <a:noFill/>
        </p:spPr>
        <p:txBody>
          <a:bodyPr wrap="square">
            <a:spAutoFit/>
          </a:bodyPr>
          <a:lstStyle/>
          <a:p>
            <a:pPr algn="l"/>
            <a:r>
              <a:rPr sz="1100" b="0" i="0">
                <a:solidFill>
                  <a:srgbClr val="1E1E1E"/>
                </a:solidFill>
              </a:rPr>
              <a:t>Se entrenó LightGBM sobre las 74 variables para extraer importancias nativas (feature_importances_). Solo se conservaron las variables con peso algorítmico ≥ 10.</a:t>
            </a:r>
          </a:p>
        </p:txBody>
      </p:sp>
      <p:pic>
        <p:nvPicPr>
          <p:cNvPr id="47" name="Picture 46" descr="1782300999808.png"/>
          <p:cNvPicPr>
            <a:picLocks noChangeAspect="1"/>
          </p:cNvPicPr>
          <p:nvPr/>
        </p:nvPicPr>
        <p:blipFill>
          <a:blip r:embed="rId2"/>
          <a:stretch>
            <a:fillRect/>
          </a:stretch>
        </p:blipFill>
        <p:spPr>
          <a:xfrm>
            <a:off x="1069848" y="3063240"/>
            <a:ext cx="14501811" cy="3200400"/>
          </a:xfrm>
          <a:prstGeom prst="rect">
            <a:avLst/>
          </a:prstGeom>
        </p:spPr>
      </p:pic>
      <p:graphicFrame>
        <p:nvGraphicFramePr>
          <p:cNvPr id="48" name="Table 47"/>
          <p:cNvGraphicFramePr>
            <a:graphicFrameLocks noGrp="1"/>
          </p:cNvGraphicFramePr>
          <p:nvPr/>
        </p:nvGraphicFramePr>
        <p:xfrm>
          <a:off x="1069848" y="6336792"/>
          <a:ext cx="16002000" cy="1508760"/>
        </p:xfrm>
        <a:graphic>
          <a:graphicData uri="http://schemas.openxmlformats.org/drawingml/2006/table">
            <a:tbl>
              <a:tblPr firstRow="1" bandRow="1">
                <a:tableStyleId>{5C22544A-7EE6-4342-B048-85BDC9FD1C3A}</a:tableStyleId>
              </a:tblPr>
              <a:tblGrid>
                <a:gridCol w="4000500"/>
                <a:gridCol w="4000500"/>
                <a:gridCol w="4000500"/>
                <a:gridCol w="4000500"/>
              </a:tblGrid>
              <a:tr h="301752">
                <a:tc>
                  <a:txBody>
                    <a:bodyPr/>
                    <a:lstStyle/>
                    <a:p>
                      <a:r>
                        <a:rPr sz="1000" b="1">
                          <a:solidFill>
                            <a:srgbClr val="FFFFFF"/>
                          </a:solidFill>
                        </a:rPr>
                        <a:t>Escenario</a:t>
                      </a:r>
                    </a:p>
                  </a:txBody>
                  <a:tcPr>
                    <a:solidFill>
                      <a:srgbClr val="003865"/>
                    </a:solidFill>
                  </a:tcPr>
                </a:tc>
                <a:tc>
                  <a:txBody>
                    <a:bodyPr/>
                    <a:lstStyle/>
                    <a:p>
                      <a:r>
                        <a:rPr sz="1000" b="1">
                          <a:solidFill>
                            <a:srgbClr val="FFFFFF"/>
                          </a:solidFill>
                        </a:rPr>
                        <a:t>AUC (5-Fold CV)</a:t>
                      </a:r>
                    </a:p>
                  </a:txBody>
                  <a:tcPr>
                    <a:solidFill>
                      <a:srgbClr val="003865"/>
                    </a:solidFill>
                  </a:tcPr>
                </a:tc>
                <a:tc>
                  <a:txBody>
                    <a:bodyPr/>
                    <a:lstStyle/>
                    <a:p>
                      <a:r>
                        <a:rPr sz="1000" b="1">
                          <a:solidFill>
                            <a:srgbClr val="FFFFFF"/>
                          </a:solidFill>
                        </a:rPr>
                        <a:t>Recall</a:t>
                      </a:r>
                    </a:p>
                  </a:txBody>
                  <a:tcPr>
                    <a:solidFill>
                      <a:srgbClr val="003865"/>
                    </a:solidFill>
                  </a:tcPr>
                </a:tc>
                <a:tc>
                  <a:txBody>
                    <a:bodyPr/>
                    <a:lstStyle/>
                    <a:p>
                      <a:r>
                        <a:rPr sz="1000" b="1">
                          <a:solidFill>
                            <a:srgbClr val="FFFFFF"/>
                          </a:solidFill>
                        </a:rPr>
                        <a:t>Variables</a:t>
                      </a:r>
                    </a:p>
                  </a:txBody>
                  <a:tcPr>
                    <a:solidFill>
                      <a:srgbClr val="003865"/>
                    </a:solidFill>
                  </a:tcPr>
                </a:tc>
              </a:tr>
              <a:tr h="301752">
                <a:tc>
                  <a:txBody>
                    <a:bodyPr/>
                    <a:lstStyle/>
                    <a:p>
                      <a:r>
                        <a:rPr sz="900"/>
                        <a:t>Umbral ≥ 10 (elegido)</a:t>
                      </a:r>
                    </a:p>
                  </a:txBody>
                  <a:tcPr>
                    <a:solidFill>
                      <a:srgbClr val="F0F4F8"/>
                    </a:solidFill>
                  </a:tcPr>
                </a:tc>
                <a:tc>
                  <a:txBody>
                    <a:bodyPr/>
                    <a:lstStyle/>
                    <a:p>
                      <a:r>
                        <a:rPr sz="900"/>
                        <a:t>0.830779</a:t>
                      </a:r>
                    </a:p>
                  </a:txBody>
                  <a:tcPr>
                    <a:solidFill>
                      <a:srgbClr val="F0F4F8"/>
                    </a:solidFill>
                  </a:tcPr>
                </a:tc>
                <a:tc>
                  <a:txBody>
                    <a:bodyPr/>
                    <a:lstStyle/>
                    <a:p>
                      <a:r>
                        <a:rPr sz="900"/>
                        <a:t>76.49%</a:t>
                      </a:r>
                    </a:p>
                  </a:txBody>
                  <a:tcPr>
                    <a:solidFill>
                      <a:srgbClr val="F0F4F8"/>
                    </a:solidFill>
                  </a:tcPr>
                </a:tc>
                <a:tc>
                  <a:txBody>
                    <a:bodyPr/>
                    <a:lstStyle/>
                    <a:p>
                      <a:r>
                        <a:rPr sz="900"/>
                        <a:t>43</a:t>
                      </a:r>
                    </a:p>
                  </a:txBody>
                  <a:tcPr>
                    <a:solidFill>
                      <a:srgbClr val="F0F4F8"/>
                    </a:solidFill>
                  </a:tcPr>
                </a:tc>
              </a:tr>
              <a:tr h="301752">
                <a:tc>
                  <a:txBody>
                    <a:bodyPr/>
                    <a:lstStyle/>
                    <a:p>
                      <a:r>
                        <a:rPr sz="900"/>
                        <a:t>Umbral ≥ 30</a:t>
                      </a:r>
                    </a:p>
                  </a:txBody>
                  <a:tcPr>
                    <a:solidFill>
                      <a:srgbClr val="FFFFFF"/>
                    </a:solidFill>
                  </a:tcPr>
                </a:tc>
                <a:tc>
                  <a:txBody>
                    <a:bodyPr/>
                    <a:lstStyle/>
                    <a:p>
                      <a:r>
                        <a:rPr sz="900"/>
                        <a:t>0.830158</a:t>
                      </a:r>
                    </a:p>
                  </a:txBody>
                  <a:tcPr>
                    <a:solidFill>
                      <a:srgbClr val="FFFFFF"/>
                    </a:solidFill>
                  </a:tcPr>
                </a:tc>
                <a:tc>
                  <a:txBody>
                    <a:bodyPr/>
                    <a:lstStyle/>
                    <a:p>
                      <a:r>
                        <a:rPr sz="900"/>
                        <a:t>76.48%</a:t>
                      </a:r>
                    </a:p>
                  </a:txBody>
                  <a:tcPr>
                    <a:solidFill>
                      <a:srgbClr val="FFFFFF"/>
                    </a:solidFill>
                  </a:tcPr>
                </a:tc>
                <a:tc>
                  <a:txBody>
                    <a:bodyPr/>
                    <a:lstStyle/>
                    <a:p>
                      <a:r>
                        <a:rPr sz="900"/>
                        <a:t>33</a:t>
                      </a:r>
                    </a:p>
                  </a:txBody>
                  <a:tcPr>
                    <a:solidFill>
                      <a:srgbClr val="FFFFFF"/>
                    </a:solidFill>
                  </a:tcPr>
                </a:tc>
              </a:tr>
              <a:tr h="301752">
                <a:tc>
                  <a:txBody>
                    <a:bodyPr/>
                    <a:lstStyle/>
                    <a:p>
                      <a:r>
                        <a:rPr sz="900"/>
                        <a:t>Umbral ≥ 50</a:t>
                      </a:r>
                    </a:p>
                  </a:txBody>
                  <a:tcPr>
                    <a:solidFill>
                      <a:srgbClr val="F0F4F8"/>
                    </a:solidFill>
                  </a:tcPr>
                </a:tc>
                <a:tc>
                  <a:txBody>
                    <a:bodyPr/>
                    <a:lstStyle/>
                    <a:p>
                      <a:r>
                        <a:rPr sz="900"/>
                        <a:t>0.829152</a:t>
                      </a:r>
                    </a:p>
                  </a:txBody>
                  <a:tcPr>
                    <a:solidFill>
                      <a:srgbClr val="F0F4F8"/>
                    </a:solidFill>
                  </a:tcPr>
                </a:tc>
                <a:tc>
                  <a:txBody>
                    <a:bodyPr/>
                    <a:lstStyle/>
                    <a:p>
                      <a:r>
                        <a:rPr sz="900"/>
                        <a:t>76.39%</a:t>
                      </a:r>
                    </a:p>
                  </a:txBody>
                  <a:tcPr>
                    <a:solidFill>
                      <a:srgbClr val="F0F4F8"/>
                    </a:solidFill>
                  </a:tcPr>
                </a:tc>
                <a:tc>
                  <a:txBody>
                    <a:bodyPr/>
                    <a:lstStyle/>
                    <a:p>
                      <a:r>
                        <a:rPr sz="900"/>
                        <a:t>25</a:t>
                      </a:r>
                    </a:p>
                  </a:txBody>
                  <a:tcPr>
                    <a:solidFill>
                      <a:srgbClr val="F0F4F8"/>
                    </a:solidFill>
                  </a:tcPr>
                </a:tc>
              </a:tr>
              <a:tr h="301752">
                <a:tc>
                  <a:txBody>
                    <a:bodyPr/>
                    <a:lstStyle/>
                    <a:p>
                      <a:r>
                        <a:rPr sz="900"/>
                        <a:t>Todas las variables</a:t>
                      </a:r>
                    </a:p>
                  </a:txBody>
                  <a:tcPr>
                    <a:solidFill>
                      <a:srgbClr val="FFFFFF"/>
                    </a:solidFill>
                  </a:tcPr>
                </a:tc>
                <a:tc>
                  <a:txBody>
                    <a:bodyPr/>
                    <a:lstStyle/>
                    <a:p>
                      <a:r>
                        <a:rPr sz="900"/>
                        <a:t>0.830680</a:t>
                      </a:r>
                    </a:p>
                  </a:txBody>
                  <a:tcPr>
                    <a:solidFill>
                      <a:srgbClr val="FFFFFF"/>
                    </a:solidFill>
                  </a:tcPr>
                </a:tc>
                <a:tc>
                  <a:txBody>
                    <a:bodyPr/>
                    <a:lstStyle/>
                    <a:p>
                      <a:r>
                        <a:rPr sz="900"/>
                        <a:t>76.38%</a:t>
                      </a:r>
                    </a:p>
                  </a:txBody>
                  <a:tcPr>
                    <a:solidFill>
                      <a:srgbClr val="FFFFFF"/>
                    </a:solidFill>
                  </a:tcPr>
                </a:tc>
                <a:tc>
                  <a:txBody>
                    <a:bodyPr/>
                    <a:lstStyle/>
                    <a:p>
                      <a:r>
                        <a:rPr sz="900"/>
                        <a:t>74</a:t>
                      </a:r>
                    </a:p>
                  </a:txBody>
                  <a:tcPr>
                    <a:solidFill>
                      <a:srgbClr val="FFFFFF"/>
                    </a:solidFill>
                  </a:tcPr>
                </a:tc>
              </a:tr>
            </a:tbl>
          </a:graphicData>
        </a:graphic>
      </p:graphicFrame>
      <p:pic>
        <p:nvPicPr>
          <p:cNvPr id="49" name="Picture 48" descr="1782301097515.png"/>
          <p:cNvPicPr>
            <a:picLocks noChangeAspect="1"/>
          </p:cNvPicPr>
          <p:nvPr/>
        </p:nvPicPr>
        <p:blipFill>
          <a:blip r:embed="rId3"/>
          <a:stretch>
            <a:fillRect/>
          </a:stretch>
        </p:blipFill>
        <p:spPr>
          <a:xfrm>
            <a:off x="1069848" y="8101583"/>
            <a:ext cx="1475288" cy="539496"/>
          </a:xfrm>
          <a:prstGeom prst="rect">
            <a:avLst/>
          </a:prstGeom>
        </p:spPr>
      </p:pic>
      <p:sp>
        <p:nvSpPr>
          <p:cNvPr id="50" name="TextBox 49"/>
          <p:cNvSpPr txBox="1"/>
          <p:nvPr/>
        </p:nvSpPr>
        <p:spPr>
          <a:xfrm>
            <a:off x="1371600" y="8714232"/>
            <a:ext cx="15544800" cy="320040"/>
          </a:xfrm>
          <a:prstGeom prst="rect">
            <a:avLst/>
          </a:prstGeom>
          <a:noFill/>
        </p:spPr>
        <p:txBody>
          <a:bodyPr wrap="square">
            <a:spAutoFit/>
          </a:bodyPr>
          <a:lstStyle/>
          <a:p>
            <a:pPr algn="l"/>
            <a:r>
              <a:rPr sz="1000" b="0" i="1">
                <a:solidFill>
                  <a:srgbClr val="6B7280"/>
                </a:solidFill>
              </a:rPr>
              <a:t>El modelo con 43 variables supera marginalmente al modelo con las 74 originales en ambas métricas.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41</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5 · EXPLICABILIDAD</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El ADN Global de la Desnutrición — SHAP Summary Plot</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¿Qué es un valor SHAP?</a:t>
            </a:r>
          </a:p>
        </p:txBody>
      </p:sp>
      <p:sp>
        <p:nvSpPr>
          <p:cNvPr id="46" name="TextBox 45"/>
          <p:cNvSpPr txBox="1"/>
          <p:nvPr/>
        </p:nvSpPr>
        <p:spPr>
          <a:xfrm>
            <a:off x="1069848" y="2606040"/>
            <a:ext cx="16002000" cy="347472"/>
          </a:xfrm>
          <a:prstGeom prst="rect">
            <a:avLst/>
          </a:prstGeom>
          <a:noFill/>
        </p:spPr>
        <p:txBody>
          <a:bodyPr wrap="square">
            <a:spAutoFit/>
          </a:bodyPr>
          <a:lstStyle/>
          <a:p>
            <a:pPr algn="l"/>
            <a:r>
              <a:rPr sz="1100" b="0" i="0">
                <a:solidFill>
                  <a:srgbClr val="1E1E1E"/>
                </a:solidFill>
              </a:rPr>
              <a:t>Para cada predicción, SHAP calcula cuánto empujó cada variable hacia "desnutrido" o hacia "sano" — variable por variable, niño por niño.</a:t>
            </a:r>
          </a:p>
        </p:txBody>
      </p:sp>
      <p:sp>
        <p:nvSpPr>
          <p:cNvPr id="47" name="TextBox 46"/>
          <p:cNvSpPr txBox="1"/>
          <p:nvPr/>
        </p:nvSpPr>
        <p:spPr>
          <a:xfrm>
            <a:off x="1371600" y="3063240"/>
            <a:ext cx="15544800" cy="320040"/>
          </a:xfrm>
          <a:prstGeom prst="rect">
            <a:avLst/>
          </a:prstGeom>
          <a:noFill/>
        </p:spPr>
        <p:txBody>
          <a:bodyPr wrap="square">
            <a:spAutoFit/>
          </a:bodyPr>
          <a:lstStyle/>
          <a:p>
            <a:pPr algn="l"/>
            <a:r>
              <a:rPr sz="1000" b="0" i="1">
                <a:solidFill>
                  <a:srgbClr val="6B7280"/>
                </a:solidFill>
              </a:rPr>
              <a:t>Calculado con shap.TreeExplainer sobre una muestra estratificada de 10,000 niños del dataset completo.</a:t>
            </a:r>
          </a:p>
        </p:txBody>
      </p:sp>
      <p:sp>
        <p:nvSpPr>
          <p:cNvPr id="48" name="TextBox 47"/>
          <p:cNvSpPr txBox="1"/>
          <p:nvPr/>
        </p:nvSpPr>
        <p:spPr>
          <a:xfrm>
            <a:off x="1069848" y="3483864"/>
            <a:ext cx="16002000" cy="347472"/>
          </a:xfrm>
          <a:prstGeom prst="rect">
            <a:avLst/>
          </a:prstGeom>
          <a:noFill/>
        </p:spPr>
        <p:txBody>
          <a:bodyPr wrap="square">
            <a:spAutoFit/>
          </a:bodyPr>
          <a:lstStyle/>
          <a:p>
            <a:pPr algn="l"/>
            <a:r>
              <a:rPr sz="1200" b="1" i="0">
                <a:solidFill>
                  <a:srgbClr val="003865"/>
                </a:solidFill>
              </a:rPr>
              <a:t>Top 15 variables por importancia SHAP global</a:t>
            </a:r>
          </a:p>
        </p:txBody>
      </p:sp>
      <p:graphicFrame>
        <p:nvGraphicFramePr>
          <p:cNvPr id="49" name="Table 48"/>
          <p:cNvGraphicFramePr>
            <a:graphicFrameLocks noGrp="1"/>
          </p:cNvGraphicFramePr>
          <p:nvPr/>
        </p:nvGraphicFramePr>
        <p:xfrm>
          <a:off x="1069848" y="3941064"/>
          <a:ext cx="16002000" cy="4828032"/>
        </p:xfrm>
        <a:graphic>
          <a:graphicData uri="http://schemas.openxmlformats.org/drawingml/2006/table">
            <a:tbl>
              <a:tblPr firstRow="1" bandRow="1">
                <a:tableStyleId>{5C22544A-7EE6-4342-B048-85BDC9FD1C3A}</a:tableStyleId>
              </a:tblPr>
              <a:tblGrid>
                <a:gridCol w="5334000"/>
                <a:gridCol w="5334000"/>
                <a:gridCol w="5334000"/>
              </a:tblGrid>
              <a:tr h="301752">
                <a:tc>
                  <a:txBody>
                    <a:bodyPr/>
                    <a:lstStyle/>
                    <a:p>
                      <a:r>
                        <a:rPr sz="1000" b="1">
                          <a:solidFill>
                            <a:srgbClr val="FFFFFF"/>
                          </a:solidFill>
                        </a:rPr>
                        <a:t>Pos</a:t>
                      </a:r>
                    </a:p>
                  </a:txBody>
                  <a:tcPr>
                    <a:solidFill>
                      <a:srgbClr val="003865"/>
                    </a:solidFill>
                  </a:tcPr>
                </a:tc>
                <a:tc>
                  <a:txBody>
                    <a:bodyPr/>
                    <a:lstStyle/>
                    <a:p>
                      <a:r>
                        <a:rPr sz="1000" b="1">
                          <a:solidFill>
                            <a:srgbClr val="FFFFFF"/>
                          </a:solidFill>
                        </a:rPr>
                        <a:t>Variable</a:t>
                      </a:r>
                    </a:p>
                  </a:txBody>
                  <a:tcPr>
                    <a:solidFill>
                      <a:srgbClr val="003865"/>
                    </a:solidFill>
                  </a:tcPr>
                </a:tc>
                <a:tc>
                  <a:txBody>
                    <a:bodyPr/>
                    <a:lstStyle/>
                    <a:p>
                      <a:r>
                        <a:rPr sz="1000" b="1">
                          <a:solidFill>
                            <a:srgbClr val="FFFFFF"/>
                          </a:solidFill>
                        </a:rPr>
                        <a:t>Descripción</a:t>
                      </a:r>
                    </a:p>
                  </a:txBody>
                  <a:tcPr>
                    <a:solidFill>
                      <a:srgbClr val="003865"/>
                    </a:solidFill>
                  </a:tcPr>
                </a:tc>
              </a:tr>
              <a:tr h="301752">
                <a:tc>
                  <a:txBody>
                    <a:bodyPr/>
                    <a:lstStyle/>
                    <a:p>
                      <a:r>
                        <a:rPr sz="900"/>
                        <a:t>1</a:t>
                      </a:r>
                    </a:p>
                  </a:txBody>
                  <a:tcPr>
                    <a:solidFill>
                      <a:srgbClr val="F0F4F8"/>
                    </a:solidFill>
                  </a:tcPr>
                </a:tc>
                <a:tc>
                  <a:txBody>
                    <a:bodyPr/>
                    <a:lstStyle/>
                    <a:p>
                      <a:r>
                        <a:rPr sz="900"/>
                        <a:t>HV271</a:t>
                      </a:r>
                    </a:p>
                  </a:txBody>
                  <a:tcPr>
                    <a:solidFill>
                      <a:srgbClr val="F0F4F8"/>
                    </a:solidFill>
                  </a:tcPr>
                </a:tc>
                <a:tc>
                  <a:txBody>
                    <a:bodyPr/>
                    <a:lstStyle/>
                    <a:p>
                      <a:r>
                        <a:rPr sz="900"/>
                        <a:t>Índice de riqueza del hogar (score continuo)</a:t>
                      </a:r>
                    </a:p>
                  </a:txBody>
                  <a:tcPr>
                    <a:solidFill>
                      <a:srgbClr val="F0F4F8"/>
                    </a:solidFill>
                  </a:tcPr>
                </a:tc>
              </a:tr>
              <a:tr h="301752">
                <a:tc>
                  <a:txBody>
                    <a:bodyPr/>
                    <a:lstStyle/>
                    <a:p>
                      <a:r>
                        <a:rPr sz="900"/>
                        <a:t>2</a:t>
                      </a:r>
                    </a:p>
                  </a:txBody>
                  <a:tcPr>
                    <a:solidFill>
                      <a:srgbClr val="FFFFFF"/>
                    </a:solidFill>
                  </a:tcPr>
                </a:tc>
                <a:tc>
                  <a:txBody>
                    <a:bodyPr/>
                    <a:lstStyle/>
                    <a:p>
                      <a:r>
                        <a:rPr sz="900"/>
                        <a:t>m19</a:t>
                      </a:r>
                    </a:p>
                  </a:txBody>
                  <a:tcPr>
                    <a:solidFill>
                      <a:srgbClr val="FFFFFF"/>
                    </a:solidFill>
                  </a:tcPr>
                </a:tc>
                <a:tc>
                  <a:txBody>
                    <a:bodyPr/>
                    <a:lstStyle/>
                    <a:p>
                      <a:r>
                        <a:rPr sz="900"/>
                        <a:t>Peso al nacer (kg)</a:t>
                      </a:r>
                    </a:p>
                  </a:txBody>
                  <a:tcPr>
                    <a:solidFill>
                      <a:srgbClr val="FFFFFF"/>
                    </a:solidFill>
                  </a:tcPr>
                </a:tc>
              </a:tr>
              <a:tr h="301752">
                <a:tc>
                  <a:txBody>
                    <a:bodyPr/>
                    <a:lstStyle/>
                    <a:p>
                      <a:r>
                        <a:rPr sz="900"/>
                        <a:t>3</a:t>
                      </a:r>
                    </a:p>
                  </a:txBody>
                  <a:tcPr>
                    <a:solidFill>
                      <a:srgbClr val="F0F4F8"/>
                    </a:solidFill>
                  </a:tcPr>
                </a:tc>
                <a:tc>
                  <a:txBody>
                    <a:bodyPr/>
                    <a:lstStyle/>
                    <a:p>
                      <a:r>
                        <a:rPr sz="900"/>
                        <a:t>HV040</a:t>
                      </a:r>
                    </a:p>
                  </a:txBody>
                  <a:tcPr>
                    <a:solidFill>
                      <a:srgbClr val="F0F4F8"/>
                    </a:solidFill>
                  </a:tcPr>
                </a:tc>
                <a:tc>
                  <a:txBody>
                    <a:bodyPr/>
                    <a:lstStyle/>
                    <a:p>
                      <a:r>
                        <a:rPr sz="900"/>
                        <a:t>Altitud del conglomerado (metros)</a:t>
                      </a:r>
                    </a:p>
                  </a:txBody>
                  <a:tcPr>
                    <a:solidFill>
                      <a:srgbClr val="F0F4F8"/>
                    </a:solidFill>
                  </a:tcPr>
                </a:tc>
              </a:tr>
              <a:tr h="301752">
                <a:tc>
                  <a:txBody>
                    <a:bodyPr/>
                    <a:lstStyle/>
                    <a:p>
                      <a:r>
                        <a:rPr sz="900"/>
                        <a:t>4</a:t>
                      </a:r>
                    </a:p>
                  </a:txBody>
                  <a:tcPr>
                    <a:solidFill>
                      <a:srgbClr val="FFFFFF"/>
                    </a:solidFill>
                  </a:tcPr>
                </a:tc>
                <a:tc>
                  <a:txBody>
                    <a:bodyPr/>
                    <a:lstStyle/>
                    <a:p>
                      <a:r>
                        <a:rPr sz="900"/>
                        <a:t>HC1</a:t>
                      </a:r>
                    </a:p>
                  </a:txBody>
                  <a:tcPr>
                    <a:solidFill>
                      <a:srgbClr val="FFFFFF"/>
                    </a:solidFill>
                  </a:tcPr>
                </a:tc>
                <a:tc>
                  <a:txBody>
                    <a:bodyPr/>
                    <a:lstStyle/>
                    <a:p>
                      <a:r>
                        <a:rPr sz="900"/>
                        <a:t>Edad del niño en meses</a:t>
                      </a:r>
                    </a:p>
                  </a:txBody>
                  <a:tcPr>
                    <a:solidFill>
                      <a:srgbClr val="FFFFFF"/>
                    </a:solidFill>
                  </a:tcPr>
                </a:tc>
              </a:tr>
              <a:tr h="301752">
                <a:tc>
                  <a:txBody>
                    <a:bodyPr/>
                    <a:lstStyle/>
                    <a:p>
                      <a:r>
                        <a:rPr sz="900"/>
                        <a:t>5</a:t>
                      </a:r>
                    </a:p>
                  </a:txBody>
                  <a:tcPr>
                    <a:solidFill>
                      <a:srgbClr val="F0F4F8"/>
                    </a:solidFill>
                  </a:tcPr>
                </a:tc>
                <a:tc>
                  <a:txBody>
                    <a:bodyPr/>
                    <a:lstStyle/>
                    <a:p>
                      <a:r>
                        <a:rPr sz="900"/>
                        <a:t>HC56</a:t>
                      </a:r>
                    </a:p>
                  </a:txBody>
                  <a:tcPr>
                    <a:solidFill>
                      <a:srgbClr val="F0F4F8"/>
                    </a:solidFill>
                  </a:tcPr>
                </a:tc>
                <a:tc>
                  <a:txBody>
                    <a:bodyPr/>
                    <a:lstStyle/>
                    <a:p>
                      <a:r>
                        <a:rPr sz="900"/>
                        <a:t>Hemoglobina ajustada por altitud (INEI)</a:t>
                      </a:r>
                    </a:p>
                  </a:txBody>
                  <a:tcPr>
                    <a:solidFill>
                      <a:srgbClr val="F0F4F8"/>
                    </a:solidFill>
                  </a:tcPr>
                </a:tc>
              </a:tr>
              <a:tr h="301752">
                <a:tc>
                  <a:txBody>
                    <a:bodyPr/>
                    <a:lstStyle/>
                    <a:p>
                      <a:r>
                        <a:rPr sz="900"/>
                        <a:t>6</a:t>
                      </a:r>
                    </a:p>
                  </a:txBody>
                  <a:tcPr>
                    <a:solidFill>
                      <a:srgbClr val="FFFFFF"/>
                    </a:solidFill>
                  </a:tcPr>
                </a:tc>
                <a:tc>
                  <a:txBody>
                    <a:bodyPr/>
                    <a:lstStyle/>
                    <a:p>
                      <a:r>
                        <a:rPr sz="900"/>
                        <a:t>HC63</a:t>
                      </a:r>
                    </a:p>
                  </a:txBody>
                  <a:tcPr>
                    <a:solidFill>
                      <a:srgbClr val="FFFFFF"/>
                    </a:solidFill>
                  </a:tcPr>
                </a:tc>
                <a:tc>
                  <a:txBody>
                    <a:bodyPr/>
                    <a:lstStyle/>
                    <a:p>
                      <a:r>
                        <a:rPr sz="900"/>
                        <a:t>Intervalo desde nacimiento anterior</a:t>
                      </a:r>
                    </a:p>
                  </a:txBody>
                  <a:tcPr>
                    <a:solidFill>
                      <a:srgbClr val="FFFFFF"/>
                    </a:solidFill>
                  </a:tcPr>
                </a:tc>
              </a:tr>
              <a:tr h="301752">
                <a:tc>
                  <a:txBody>
                    <a:bodyPr/>
                    <a:lstStyle/>
                    <a:p>
                      <a:r>
                        <a:rPr sz="900"/>
                        <a:t>7</a:t>
                      </a:r>
                    </a:p>
                  </a:txBody>
                  <a:tcPr>
                    <a:solidFill>
                      <a:srgbClr val="F0F4F8"/>
                    </a:solidFill>
                  </a:tcPr>
                </a:tc>
                <a:tc>
                  <a:txBody>
                    <a:bodyPr/>
                    <a:lstStyle/>
                    <a:p>
                      <a:r>
                        <a:rPr sz="900"/>
                        <a:t>M4</a:t>
                      </a:r>
                    </a:p>
                  </a:txBody>
                  <a:tcPr>
                    <a:solidFill>
                      <a:srgbClr val="F0F4F8"/>
                    </a:solidFill>
                  </a:tcPr>
                </a:tc>
                <a:tc>
                  <a:txBody>
                    <a:bodyPr/>
                    <a:lstStyle/>
                    <a:p>
                      <a:r>
                        <a:rPr sz="900"/>
                        <a:t>Duración total de la lactancia</a:t>
                      </a:r>
                    </a:p>
                  </a:txBody>
                  <a:tcPr>
                    <a:solidFill>
                      <a:srgbClr val="F0F4F8"/>
                    </a:solidFill>
                  </a:tcPr>
                </a:tc>
              </a:tr>
              <a:tr h="301752">
                <a:tc>
                  <a:txBody>
                    <a:bodyPr/>
                    <a:lstStyle/>
                    <a:p>
                      <a:r>
                        <a:rPr sz="900"/>
                        <a:t>8</a:t>
                      </a:r>
                    </a:p>
                  </a:txBody>
                  <a:tcPr>
                    <a:solidFill>
                      <a:srgbClr val="FFFFFF"/>
                    </a:solidFill>
                  </a:tcPr>
                </a:tc>
                <a:tc>
                  <a:txBody>
                    <a:bodyPr/>
                    <a:lstStyle/>
                    <a:p>
                      <a:r>
                        <a:rPr sz="900"/>
                        <a:t>HV220</a:t>
                      </a:r>
                    </a:p>
                  </a:txBody>
                  <a:tcPr>
                    <a:solidFill>
                      <a:srgbClr val="FFFFFF"/>
                    </a:solidFill>
                  </a:tcPr>
                </a:tc>
                <a:tc>
                  <a:txBody>
                    <a:bodyPr/>
                    <a:lstStyle/>
                    <a:p>
                      <a:r>
                        <a:rPr sz="900"/>
                        <a:t>Edad del jefe del hogar</a:t>
                      </a:r>
                    </a:p>
                  </a:txBody>
                  <a:tcPr>
                    <a:solidFill>
                      <a:srgbClr val="FFFFFF"/>
                    </a:solidFill>
                  </a:tcPr>
                </a:tc>
              </a:tr>
              <a:tr h="301752">
                <a:tc>
                  <a:txBody>
                    <a:bodyPr/>
                    <a:lstStyle/>
                    <a:p>
                      <a:r>
                        <a:rPr sz="900"/>
                        <a:t>9</a:t>
                      </a:r>
                    </a:p>
                  </a:txBody>
                  <a:tcPr>
                    <a:solidFill>
                      <a:srgbClr val="F0F4F8"/>
                    </a:solidFill>
                  </a:tcPr>
                </a:tc>
                <a:tc>
                  <a:txBody>
                    <a:bodyPr/>
                    <a:lstStyle/>
                    <a:p>
                      <a:r>
                        <a:rPr sz="900"/>
                        <a:t>M46</a:t>
                      </a:r>
                    </a:p>
                  </a:txBody>
                  <a:tcPr>
                    <a:solidFill>
                      <a:srgbClr val="F0F4F8"/>
                    </a:solidFill>
                  </a:tcPr>
                </a:tc>
                <a:tc>
                  <a:txBody>
                    <a:bodyPr/>
                    <a:lstStyle/>
                    <a:p>
                      <a:r>
                        <a:rPr sz="900"/>
                        <a:t>Días de suplemento de hierro en gestación</a:t>
                      </a:r>
                    </a:p>
                  </a:txBody>
                  <a:tcPr>
                    <a:solidFill>
                      <a:srgbClr val="F0F4F8"/>
                    </a:solidFill>
                  </a:tcPr>
                </a:tc>
              </a:tr>
              <a:tr h="301752">
                <a:tc>
                  <a:txBody>
                    <a:bodyPr/>
                    <a:lstStyle/>
                    <a:p>
                      <a:r>
                        <a:rPr sz="900"/>
                        <a:t>10</a:t>
                      </a:r>
                    </a:p>
                  </a:txBody>
                  <a:tcPr>
                    <a:solidFill>
                      <a:srgbClr val="FFFFFF"/>
                    </a:solidFill>
                  </a:tcPr>
                </a:tc>
                <a:tc>
                  <a:txBody>
                    <a:bodyPr/>
                    <a:lstStyle/>
                    <a:p>
                      <a:r>
                        <a:rPr sz="900"/>
                        <a:t>M18</a:t>
                      </a:r>
                    </a:p>
                  </a:txBody>
                  <a:tcPr>
                    <a:solidFill>
                      <a:srgbClr val="FFFFFF"/>
                    </a:solidFill>
                  </a:tcPr>
                </a:tc>
                <a:tc>
                  <a:txBody>
                    <a:bodyPr/>
                    <a:lstStyle/>
                    <a:p>
                      <a:r>
                        <a:rPr sz="900"/>
                        <a:t>Tamaño al nacer (percepción materna)</a:t>
                      </a:r>
                    </a:p>
                  </a:txBody>
                  <a:tcPr>
                    <a:solidFill>
                      <a:srgbClr val="FFFFFF"/>
                    </a:solidFill>
                  </a:tcPr>
                </a:tc>
              </a:tr>
              <a:tr h="301752">
                <a:tc>
                  <a:txBody>
                    <a:bodyPr/>
                    <a:lstStyle/>
                    <a:p>
                      <a:r>
                        <a:rPr sz="900"/>
                        <a:t>11</a:t>
                      </a:r>
                    </a:p>
                  </a:txBody>
                  <a:tcPr>
                    <a:solidFill>
                      <a:srgbClr val="F0F4F8"/>
                    </a:solidFill>
                  </a:tcPr>
                </a:tc>
                <a:tc>
                  <a:txBody>
                    <a:bodyPr/>
                    <a:lstStyle/>
                    <a:p>
                      <a:r>
                        <a:rPr sz="900"/>
                        <a:t>m34</a:t>
                      </a:r>
                    </a:p>
                  </a:txBody>
                  <a:tcPr>
                    <a:solidFill>
                      <a:srgbClr val="F0F4F8"/>
                    </a:solidFill>
                  </a:tcPr>
                </a:tc>
                <a:tc>
                  <a:txBody>
                    <a:bodyPr/>
                    <a:lstStyle/>
                    <a:p>
                      <a:r>
                        <a:rPr sz="900"/>
                        <a:t>Horas hasta inicio de la lactancia</a:t>
                      </a:r>
                    </a:p>
                  </a:txBody>
                  <a:tcPr>
                    <a:solidFill>
                      <a:srgbClr val="F0F4F8"/>
                    </a:solidFill>
                  </a:tcPr>
                </a:tc>
              </a:tr>
              <a:tr h="301752">
                <a:tc>
                  <a:txBody>
                    <a:bodyPr/>
                    <a:lstStyle/>
                    <a:p>
                      <a:r>
                        <a:rPr sz="900"/>
                        <a:t>12</a:t>
                      </a:r>
                    </a:p>
                  </a:txBody>
                  <a:tcPr>
                    <a:solidFill>
                      <a:srgbClr val="FFFFFF"/>
                    </a:solidFill>
                  </a:tcPr>
                </a:tc>
                <a:tc>
                  <a:txBody>
                    <a:bodyPr/>
                    <a:lstStyle/>
                    <a:p>
                      <a:r>
                        <a:rPr sz="900"/>
                        <a:t>M14</a:t>
                      </a:r>
                    </a:p>
                  </a:txBody>
                  <a:tcPr>
                    <a:solidFill>
                      <a:srgbClr val="FFFFFF"/>
                    </a:solidFill>
                  </a:tcPr>
                </a:tc>
                <a:tc>
                  <a:txBody>
                    <a:bodyPr/>
                    <a:lstStyle/>
                    <a:p>
                      <a:r>
                        <a:rPr sz="900"/>
                        <a:t>Número de visitas prenatales</a:t>
                      </a:r>
                    </a:p>
                  </a:txBody>
                  <a:tcPr>
                    <a:solidFill>
                      <a:srgbClr val="FFFFFF"/>
                    </a:solidFill>
                  </a:tcPr>
                </a:tc>
              </a:tr>
              <a:tr h="301752">
                <a:tc>
                  <a:txBody>
                    <a:bodyPr/>
                    <a:lstStyle/>
                    <a:p>
                      <a:r>
                        <a:rPr sz="900"/>
                        <a:t>13</a:t>
                      </a:r>
                    </a:p>
                  </a:txBody>
                  <a:tcPr>
                    <a:solidFill>
                      <a:srgbClr val="F0F4F8"/>
                    </a:solidFill>
                  </a:tcPr>
                </a:tc>
                <a:tc>
                  <a:txBody>
                    <a:bodyPr/>
                    <a:lstStyle/>
                    <a:p>
                      <a:r>
                        <a:rPr sz="900"/>
                        <a:t>HC62</a:t>
                      </a:r>
                    </a:p>
                  </a:txBody>
                  <a:tcPr>
                    <a:solidFill>
                      <a:srgbClr val="F0F4F8"/>
                    </a:solidFill>
                  </a:tcPr>
                </a:tc>
                <a:tc>
                  <a:txBody>
                    <a:bodyPr/>
                    <a:lstStyle/>
                    <a:p>
                      <a:r>
                        <a:rPr sz="900"/>
                        <a:t>Años de educación de la madre</a:t>
                      </a:r>
                    </a:p>
                  </a:txBody>
                  <a:tcPr>
                    <a:solidFill>
                      <a:srgbClr val="F0F4F8"/>
                    </a:solidFill>
                  </a:tcPr>
                </a:tc>
              </a:tr>
              <a:tr h="301752">
                <a:tc>
                  <a:txBody>
                    <a:bodyPr/>
                    <a:lstStyle/>
                    <a:p>
                      <a:r>
                        <a:rPr sz="900"/>
                        <a:t>14</a:t>
                      </a:r>
                    </a:p>
                  </a:txBody>
                  <a:tcPr>
                    <a:solidFill>
                      <a:srgbClr val="FFFFFF"/>
                    </a:solidFill>
                  </a:tcPr>
                </a:tc>
                <a:tc>
                  <a:txBody>
                    <a:bodyPr/>
                    <a:lstStyle/>
                    <a:p>
                      <a:r>
                        <a:rPr sz="900"/>
                        <a:t>HC27</a:t>
                      </a:r>
                    </a:p>
                  </a:txBody>
                  <a:tcPr>
                    <a:solidFill>
                      <a:srgbClr val="FFFFFF"/>
                    </a:solidFill>
                  </a:tcPr>
                </a:tc>
                <a:tc>
                  <a:txBody>
                    <a:bodyPr/>
                    <a:lstStyle/>
                    <a:p>
                      <a:r>
                        <a:rPr sz="900"/>
                        <a:t>Sexo del niño</a:t>
                      </a:r>
                    </a:p>
                  </a:txBody>
                  <a:tcPr>
                    <a:solidFill>
                      <a:srgbClr val="FFFFFF"/>
                    </a:solidFill>
                  </a:tcPr>
                </a:tc>
              </a:tr>
              <a:tr h="301752">
                <a:tc>
                  <a:txBody>
                    <a:bodyPr/>
                    <a:lstStyle/>
                    <a:p>
                      <a:r>
                        <a:rPr sz="900"/>
                        <a:t>15</a:t>
                      </a:r>
                    </a:p>
                  </a:txBody>
                  <a:tcPr>
                    <a:solidFill>
                      <a:srgbClr val="F0F4F8"/>
                    </a:solidFill>
                  </a:tcPr>
                </a:tc>
                <a:tc>
                  <a:txBody>
                    <a:bodyPr/>
                    <a:lstStyle/>
                    <a:p>
                      <a:r>
                        <a:rPr sz="900"/>
                        <a:t>HV012</a:t>
                      </a:r>
                    </a:p>
                  </a:txBody>
                  <a:tcPr>
                    <a:solidFill>
                      <a:srgbClr val="F0F4F8"/>
                    </a:solidFill>
                  </a:tcPr>
                </a:tc>
                <a:tc>
                  <a:txBody>
                    <a:bodyPr/>
                    <a:lstStyle/>
                    <a:p>
                      <a:r>
                        <a:rPr sz="900"/>
                        <a:t>Miembros habituales del hogar</a:t>
                      </a:r>
                    </a:p>
                  </a:txBody>
                  <a:tcPr>
                    <a:solidFill>
                      <a:srgbClr val="F0F4F8"/>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42</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5 · EXPLICABILIDAD</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Cómo Muta el Riesgo por Territorio</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El riesgo no es uniforme — cambia según la región</a:t>
            </a:r>
          </a:p>
        </p:txBody>
      </p:sp>
      <p:pic>
        <p:nvPicPr>
          <p:cNvPr id="46" name="Picture 45" descr="1782301305448.png"/>
          <p:cNvPicPr>
            <a:picLocks noChangeAspect="1"/>
          </p:cNvPicPr>
          <p:nvPr/>
        </p:nvPicPr>
        <p:blipFill>
          <a:blip r:embed="rId2"/>
          <a:stretch>
            <a:fillRect/>
          </a:stretch>
        </p:blipFill>
        <p:spPr>
          <a:xfrm>
            <a:off x="1069848" y="2606040"/>
            <a:ext cx="5514892" cy="3200400"/>
          </a:xfrm>
          <a:prstGeom prst="rect">
            <a:avLst/>
          </a:prstGeom>
        </p:spPr>
      </p:pic>
      <p:sp>
        <p:nvSpPr>
          <p:cNvPr id="47" name="TextBox 46"/>
          <p:cNvSpPr txBox="1"/>
          <p:nvPr/>
        </p:nvSpPr>
        <p:spPr>
          <a:xfrm>
            <a:off x="1069848" y="5879592"/>
            <a:ext cx="16002000" cy="347472"/>
          </a:xfrm>
          <a:prstGeom prst="rect">
            <a:avLst/>
          </a:prstGeom>
          <a:noFill/>
        </p:spPr>
        <p:txBody>
          <a:bodyPr wrap="square">
            <a:spAutoFit/>
          </a:bodyPr>
          <a:lstStyle/>
          <a:p>
            <a:pPr algn="l"/>
            <a:r>
              <a:rPr sz="1200" b="1" i="0">
                <a:solidFill>
                  <a:srgbClr val="003865"/>
                </a:solidFill>
              </a:rPr>
              <a:t>Ejemplo concreto</a:t>
            </a:r>
          </a:p>
        </p:txBody>
      </p:sp>
      <p:graphicFrame>
        <p:nvGraphicFramePr>
          <p:cNvPr id="48" name="Table 47"/>
          <p:cNvGraphicFramePr>
            <a:graphicFrameLocks noGrp="1"/>
          </p:cNvGraphicFramePr>
          <p:nvPr/>
        </p:nvGraphicFramePr>
        <p:xfrm>
          <a:off x="1069848" y="6336792"/>
          <a:ext cx="16002000" cy="1508760"/>
        </p:xfrm>
        <a:graphic>
          <a:graphicData uri="http://schemas.openxmlformats.org/drawingml/2006/table">
            <a:tbl>
              <a:tblPr firstRow="1" bandRow="1">
                <a:tableStyleId>{5C22544A-7EE6-4342-B048-85BDC9FD1C3A}</a:tableStyleId>
              </a:tblPr>
              <a:tblGrid>
                <a:gridCol w="4000500"/>
                <a:gridCol w="4000500"/>
                <a:gridCol w="4000500"/>
                <a:gridCol w="4000500"/>
              </a:tblGrid>
              <a:tr h="301752">
                <a:tc>
                  <a:txBody>
                    <a:bodyPr/>
                    <a:lstStyle/>
                    <a:p>
                      <a:r>
                        <a:rPr sz="1000" b="1">
                          <a:solidFill>
                            <a:srgbClr val="FFFFFF"/>
                          </a:solidFill>
                        </a:rPr>
                        <a:t>Variable</a:t>
                      </a:r>
                    </a:p>
                  </a:txBody>
                  <a:tcPr>
                    <a:solidFill>
                      <a:srgbClr val="003865"/>
                    </a:solidFill>
                  </a:tcPr>
                </a:tc>
                <a:tc>
                  <a:txBody>
                    <a:bodyPr/>
                    <a:lstStyle/>
                    <a:p>
                      <a:r>
                        <a:rPr sz="1000" b="1">
                          <a:solidFill>
                            <a:srgbClr val="FFFFFF"/>
                          </a:solidFill>
                        </a:rPr>
                        <a:t>Costa</a:t>
                      </a:r>
                    </a:p>
                  </a:txBody>
                  <a:tcPr>
                    <a:solidFill>
                      <a:srgbClr val="003865"/>
                    </a:solidFill>
                  </a:tcPr>
                </a:tc>
                <a:tc>
                  <a:txBody>
                    <a:bodyPr/>
                    <a:lstStyle/>
                    <a:p>
                      <a:r>
                        <a:rPr sz="1000" b="1">
                          <a:solidFill>
                            <a:srgbClr val="FFFFFF"/>
                          </a:solidFill>
                        </a:rPr>
                        <a:t>Sierra</a:t>
                      </a:r>
                    </a:p>
                  </a:txBody>
                  <a:tcPr>
                    <a:solidFill>
                      <a:srgbClr val="003865"/>
                    </a:solidFill>
                  </a:tcPr>
                </a:tc>
                <a:tc>
                  <a:txBody>
                    <a:bodyPr/>
                    <a:lstStyle/>
                    <a:p>
                      <a:r>
                        <a:rPr sz="1000" b="1">
                          <a:solidFill>
                            <a:srgbClr val="FFFFFF"/>
                          </a:solidFill>
                        </a:rPr>
                        <a:t>Selva</a:t>
                      </a:r>
                    </a:p>
                  </a:txBody>
                  <a:tcPr>
                    <a:solidFill>
                      <a:srgbClr val="003865"/>
                    </a:solidFill>
                  </a:tcPr>
                </a:tc>
              </a:tr>
              <a:tr h="301752">
                <a:tc>
                  <a:txBody>
                    <a:bodyPr/>
                    <a:lstStyle/>
                    <a:p>
                      <a:r>
                        <a:rPr sz="900"/>
                        <a:t>Índice de riqueza</a:t>
                      </a:r>
                    </a:p>
                  </a:txBody>
                  <a:tcPr>
                    <a:solidFill>
                      <a:srgbClr val="F0F4F8"/>
                    </a:solidFill>
                  </a:tcPr>
                </a:tc>
                <a:tc>
                  <a:txBody>
                    <a:bodyPr/>
                    <a:lstStyle/>
                    <a:p>
                      <a:r>
                        <a:rPr sz="900"/>
                        <a:t>Alto impacto</a:t>
                      </a:r>
                    </a:p>
                  </a:txBody>
                  <a:tcPr>
                    <a:solidFill>
                      <a:srgbClr val="F0F4F8"/>
                    </a:solidFill>
                  </a:tcPr>
                </a:tc>
                <a:tc>
                  <a:txBody>
                    <a:bodyPr/>
                    <a:lstStyle/>
                    <a:p>
                      <a:r>
                        <a:rPr sz="900"/>
                        <a:t>Alto impacto</a:t>
                      </a:r>
                    </a:p>
                  </a:txBody>
                  <a:tcPr>
                    <a:solidFill>
                      <a:srgbClr val="F0F4F8"/>
                    </a:solidFill>
                  </a:tcPr>
                </a:tc>
                <a:tc>
                  <a:txBody>
                    <a:bodyPr/>
                    <a:lstStyle/>
                    <a:p>
                      <a:r>
                        <a:rPr sz="900"/>
                        <a:t>Alto impacto</a:t>
                      </a:r>
                    </a:p>
                  </a:txBody>
                  <a:tcPr>
                    <a:solidFill>
                      <a:srgbClr val="F0F4F8"/>
                    </a:solidFill>
                  </a:tcPr>
                </a:tc>
              </a:tr>
              <a:tr h="301752">
                <a:tc>
                  <a:txBody>
                    <a:bodyPr/>
                    <a:lstStyle/>
                    <a:p>
                      <a:r>
                        <a:rPr sz="900"/>
                        <a:t>Altitud (HV040)</a:t>
                      </a:r>
                    </a:p>
                  </a:txBody>
                  <a:tcPr>
                    <a:solidFill>
                      <a:srgbClr val="FFFFFF"/>
                    </a:solidFill>
                  </a:tcPr>
                </a:tc>
                <a:tc>
                  <a:txBody>
                    <a:bodyPr/>
                    <a:lstStyle/>
                    <a:p>
                      <a:r>
                        <a:rPr sz="900"/>
                        <a:t>Impacto mínimo</a:t>
                      </a:r>
                    </a:p>
                  </a:txBody>
                  <a:tcPr>
                    <a:solidFill>
                      <a:srgbClr val="FFFFFF"/>
                    </a:solidFill>
                  </a:tcPr>
                </a:tc>
                <a:tc>
                  <a:txBody>
                    <a:bodyPr/>
                    <a:lstStyle/>
                    <a:p>
                      <a:r>
                        <a:rPr sz="900"/>
                        <a:t>Impacto máximo</a:t>
                      </a:r>
                    </a:p>
                  </a:txBody>
                  <a:tcPr>
                    <a:solidFill>
                      <a:srgbClr val="FFFFFF"/>
                    </a:solidFill>
                  </a:tcPr>
                </a:tc>
                <a:tc>
                  <a:txBody>
                    <a:bodyPr/>
                    <a:lstStyle/>
                    <a:p>
                      <a:r>
                        <a:rPr sz="900"/>
                        <a:t>Impacto bajo</a:t>
                      </a:r>
                    </a:p>
                  </a:txBody>
                  <a:tcPr>
                    <a:solidFill>
                      <a:srgbClr val="FFFFFF"/>
                    </a:solidFill>
                  </a:tcPr>
                </a:tc>
              </a:tr>
              <a:tr h="301752">
                <a:tc>
                  <a:txBody>
                    <a:bodyPr/>
                    <a:lstStyle/>
                    <a:p>
                      <a:r>
                        <a:rPr sz="900"/>
                        <a:t>Hemoglobina (HC56)</a:t>
                      </a:r>
                    </a:p>
                  </a:txBody>
                  <a:tcPr>
                    <a:solidFill>
                      <a:srgbClr val="F0F4F8"/>
                    </a:solidFill>
                  </a:tcPr>
                </a:tc>
                <a:tc>
                  <a:txBody>
                    <a:bodyPr/>
                    <a:lstStyle/>
                    <a:p>
                      <a:r>
                        <a:rPr sz="900"/>
                        <a:t>Impacto bajo</a:t>
                      </a:r>
                    </a:p>
                  </a:txBody>
                  <a:tcPr>
                    <a:solidFill>
                      <a:srgbClr val="F0F4F8"/>
                    </a:solidFill>
                  </a:tcPr>
                </a:tc>
                <a:tc>
                  <a:txBody>
                    <a:bodyPr/>
                    <a:lstStyle/>
                    <a:p>
                      <a:r>
                        <a:rPr sz="900"/>
                        <a:t>Impacto elevado</a:t>
                      </a:r>
                    </a:p>
                  </a:txBody>
                  <a:tcPr>
                    <a:solidFill>
                      <a:srgbClr val="F0F4F8"/>
                    </a:solidFill>
                  </a:tcPr>
                </a:tc>
                <a:tc>
                  <a:txBody>
                    <a:bodyPr/>
                    <a:lstStyle/>
                    <a:p>
                      <a:r>
                        <a:rPr sz="900"/>
                        <a:t>Impacto bajo</a:t>
                      </a:r>
                    </a:p>
                  </a:txBody>
                  <a:tcPr>
                    <a:solidFill>
                      <a:srgbClr val="F0F4F8"/>
                    </a:solidFill>
                  </a:tcPr>
                </a:tc>
              </a:tr>
              <a:tr h="301752">
                <a:tc>
                  <a:txBody>
                    <a:bodyPr/>
                    <a:lstStyle/>
                    <a:p>
                      <a:r>
                        <a:rPr sz="900"/>
                        <a:t>Peso al nacer (m19)</a:t>
                      </a:r>
                    </a:p>
                  </a:txBody>
                  <a:tcPr>
                    <a:solidFill>
                      <a:srgbClr val="FFFFFF"/>
                    </a:solidFill>
                  </a:tcPr>
                </a:tc>
                <a:tc>
                  <a:txBody>
                    <a:bodyPr/>
                    <a:lstStyle/>
                    <a:p>
                      <a:r>
                        <a:rPr sz="900"/>
                        <a:t>Impacto moderado</a:t>
                      </a:r>
                    </a:p>
                  </a:txBody>
                  <a:tcPr>
                    <a:solidFill>
                      <a:srgbClr val="FFFFFF"/>
                    </a:solidFill>
                  </a:tcPr>
                </a:tc>
                <a:tc>
                  <a:txBody>
                    <a:bodyPr/>
                    <a:lstStyle/>
                    <a:p>
                      <a:r>
                        <a:rPr sz="900"/>
                        <a:t>Impacto moderado</a:t>
                      </a:r>
                    </a:p>
                  </a:txBody>
                  <a:tcPr>
                    <a:solidFill>
                      <a:srgbClr val="FFFFFF"/>
                    </a:solidFill>
                  </a:tcPr>
                </a:tc>
                <a:tc>
                  <a:txBody>
                    <a:bodyPr/>
                    <a:lstStyle/>
                    <a:p>
                      <a:r>
                        <a:rPr sz="900"/>
                        <a:t>Impacto elevado</a:t>
                      </a:r>
                    </a:p>
                  </a:txBody>
                  <a:tcPr>
                    <a:solidFill>
                      <a:srgbClr val="FFFFFF"/>
                    </a:solidFill>
                  </a:tcPr>
                </a:tc>
              </a:tr>
            </a:tbl>
          </a:graphicData>
        </a:graphic>
      </p:graphicFrame>
      <p:sp>
        <p:nvSpPr>
          <p:cNvPr id="49" name="TextBox 48"/>
          <p:cNvSpPr txBox="1"/>
          <p:nvPr/>
        </p:nvSpPr>
        <p:spPr>
          <a:xfrm>
            <a:off x="1069848" y="8101583"/>
            <a:ext cx="16002000" cy="347472"/>
          </a:xfrm>
          <a:prstGeom prst="rect">
            <a:avLst/>
          </a:prstGeom>
          <a:noFill/>
        </p:spPr>
        <p:txBody>
          <a:bodyPr wrap="square">
            <a:spAutoFit/>
          </a:bodyPr>
          <a:lstStyle/>
          <a:p>
            <a:pPr algn="l"/>
            <a:r>
              <a:rPr sz="1200" b="1" i="0">
                <a:solidFill>
                  <a:srgbClr val="003865"/>
                </a:solidFill>
              </a:rPr>
              <a:t>Intensidad relativa de riesgo por departamento (Top 15 variables)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43</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RESULTADOS</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Diapositiva R: Resultados del Sistema Predictivo</a:t>
            </a:r>
          </a:p>
        </p:txBody>
      </p:sp>
      <p:sp>
        <p:nvSpPr>
          <p:cNvPr id="45" name="TextBox 44"/>
          <p:cNvSpPr txBox="1"/>
          <p:nvPr/>
        </p:nvSpPr>
        <p:spPr>
          <a:xfrm>
            <a:off x="1069848" y="2148840"/>
            <a:ext cx="16002000" cy="347472"/>
          </a:xfrm>
          <a:prstGeom prst="rect">
            <a:avLst/>
          </a:prstGeom>
          <a:noFill/>
        </p:spPr>
        <p:txBody>
          <a:bodyPr wrap="square">
            <a:spAutoFit/>
          </a:bodyPr>
          <a:lstStyle/>
          <a:p>
            <a:pPr algn="l"/>
            <a:r>
              <a:rPr sz="1200" b="1" i="0">
                <a:solidFill>
                  <a:srgbClr val="003865"/>
                </a:solidFill>
              </a:rPr>
              <a:t>Rendimiento del modelo campeón — LightGBM (Top 43 variables, 5-Fold CV)</a:t>
            </a:r>
          </a:p>
        </p:txBody>
      </p:sp>
      <p:graphicFrame>
        <p:nvGraphicFramePr>
          <p:cNvPr id="46" name="Table 45"/>
          <p:cNvGraphicFramePr>
            <a:graphicFrameLocks noGrp="1"/>
          </p:cNvGraphicFramePr>
          <p:nvPr/>
        </p:nvGraphicFramePr>
        <p:xfrm>
          <a:off x="1069848" y="2606040"/>
          <a:ext cx="16002000" cy="1810512"/>
        </p:xfrm>
        <a:graphic>
          <a:graphicData uri="http://schemas.openxmlformats.org/drawingml/2006/table">
            <a:tbl>
              <a:tblPr firstRow="1" bandRow="1">
                <a:tableStyleId>{5C22544A-7EE6-4342-B048-85BDC9FD1C3A}</a:tableStyleId>
              </a:tblPr>
              <a:tblGrid>
                <a:gridCol w="5334000"/>
                <a:gridCol w="5334000"/>
                <a:gridCol w="5334000"/>
              </a:tblGrid>
              <a:tr h="301752">
                <a:tc>
                  <a:txBody>
                    <a:bodyPr/>
                    <a:lstStyle/>
                    <a:p>
                      <a:r>
                        <a:rPr sz="1000" b="1">
                          <a:solidFill>
                            <a:srgbClr val="FFFFFF"/>
                          </a:solidFill>
                        </a:rPr>
                        <a:t>Métrica</a:t>
                      </a:r>
                    </a:p>
                  </a:txBody>
                  <a:tcPr>
                    <a:solidFill>
                      <a:srgbClr val="003865"/>
                    </a:solidFill>
                  </a:tcPr>
                </a:tc>
                <a:tc>
                  <a:txBody>
                    <a:bodyPr/>
                    <a:lstStyle/>
                    <a:p>
                      <a:r>
                        <a:rPr sz="1000" b="1">
                          <a:solidFill>
                            <a:srgbClr val="FFFFFF"/>
                          </a:solidFill>
                        </a:rPr>
                        <a:t>Valor</a:t>
                      </a:r>
                    </a:p>
                  </a:txBody>
                  <a:tcPr>
                    <a:solidFill>
                      <a:srgbClr val="003865"/>
                    </a:solidFill>
                  </a:tcPr>
                </a:tc>
                <a:tc>
                  <a:txBody>
                    <a:bodyPr/>
                    <a:lstStyle/>
                    <a:p>
                      <a:r>
                        <a:rPr sz="1000" b="1">
                          <a:solidFill>
                            <a:srgbClr val="FFFFFF"/>
                          </a:solidFill>
                        </a:rPr>
                        <a:t>Interpretación</a:t>
                      </a:r>
                    </a:p>
                  </a:txBody>
                  <a:tcPr>
                    <a:solidFill>
                      <a:srgbClr val="003865"/>
                    </a:solidFill>
                  </a:tcPr>
                </a:tc>
              </a:tr>
              <a:tr h="301752">
                <a:tc>
                  <a:txBody>
                    <a:bodyPr/>
                    <a:lstStyle/>
                    <a:p>
                      <a:r>
                        <a:rPr sz="900"/>
                        <a:t>AUC-ROC</a:t>
                      </a:r>
                    </a:p>
                  </a:txBody>
                  <a:tcPr>
                    <a:solidFill>
                      <a:srgbClr val="F0F4F8"/>
                    </a:solidFill>
                  </a:tcPr>
                </a:tc>
                <a:tc>
                  <a:txBody>
                    <a:bodyPr/>
                    <a:lstStyle/>
                    <a:p>
                      <a:r>
                        <a:rPr sz="900"/>
                        <a:t>0.8308</a:t>
                      </a:r>
                    </a:p>
                  </a:txBody>
                  <a:tcPr>
                    <a:solidFill>
                      <a:srgbClr val="F0F4F8"/>
                    </a:solidFill>
                  </a:tcPr>
                </a:tc>
                <a:tc>
                  <a:txBody>
                    <a:bodyPr/>
                    <a:lstStyle/>
                    <a:p>
                      <a:r>
                        <a:rPr sz="900"/>
                        <a:t>El modelo ordena correctamente el 83% de los pares sano/desnutrido</a:t>
                      </a:r>
                    </a:p>
                  </a:txBody>
                  <a:tcPr>
                    <a:solidFill>
                      <a:srgbClr val="F0F4F8"/>
                    </a:solidFill>
                  </a:tcPr>
                </a:tc>
              </a:tr>
              <a:tr h="301752">
                <a:tc>
                  <a:txBody>
                    <a:bodyPr/>
                    <a:lstStyle/>
                    <a:p>
                      <a:r>
                        <a:rPr sz="900"/>
                        <a:t>Recall (Sensibilidad)</a:t>
                      </a:r>
                    </a:p>
                  </a:txBody>
                  <a:tcPr>
                    <a:solidFill>
                      <a:srgbClr val="FFFFFF"/>
                    </a:solidFill>
                  </a:tcPr>
                </a:tc>
                <a:tc>
                  <a:txBody>
                    <a:bodyPr/>
                    <a:lstStyle/>
                    <a:p>
                      <a:r>
                        <a:rPr sz="900"/>
                        <a:t>76.49%</a:t>
                      </a:r>
                    </a:p>
                  </a:txBody>
                  <a:tcPr>
                    <a:solidFill>
                      <a:srgbClr val="FFFFFF"/>
                    </a:solidFill>
                  </a:tcPr>
                </a:tc>
                <a:tc>
                  <a:txBody>
                    <a:bodyPr/>
                    <a:lstStyle/>
                    <a:p>
                      <a:r>
                        <a:rPr sz="900"/>
                        <a:t>3 de cada 4 niños desnutridos son detectados</a:t>
                      </a:r>
                    </a:p>
                  </a:txBody>
                  <a:tcPr>
                    <a:solidFill>
                      <a:srgbClr val="FFFFFF"/>
                    </a:solidFill>
                  </a:tcPr>
                </a:tc>
              </a:tr>
              <a:tr h="301752">
                <a:tc>
                  <a:txBody>
                    <a:bodyPr/>
                    <a:lstStyle/>
                    <a:p>
                      <a:r>
                        <a:rPr sz="900"/>
                        <a:t>Precision</a:t>
                      </a:r>
                    </a:p>
                  </a:txBody>
                  <a:tcPr>
                    <a:solidFill>
                      <a:srgbClr val="F0F4F8"/>
                    </a:solidFill>
                  </a:tcPr>
                </a:tc>
                <a:tc>
                  <a:txBody>
                    <a:bodyPr/>
                    <a:lstStyle/>
                    <a:p>
                      <a:r>
                        <a:rPr sz="900"/>
                        <a:t>37.05%</a:t>
                      </a:r>
                    </a:p>
                  </a:txBody>
                  <a:tcPr>
                    <a:solidFill>
                      <a:srgbClr val="F0F4F8"/>
                    </a:solidFill>
                  </a:tcPr>
                </a:tc>
                <a:tc>
                  <a:txBody>
                    <a:bodyPr/>
                    <a:lstStyle/>
                    <a:p>
                      <a:r>
                        <a:rPr sz="900"/>
                        <a:t>1 de cada 3 alertas es un caso real</a:t>
                      </a:r>
                    </a:p>
                  </a:txBody>
                  <a:tcPr>
                    <a:solidFill>
                      <a:srgbClr val="F0F4F8"/>
                    </a:solidFill>
                  </a:tcPr>
                </a:tc>
              </a:tr>
              <a:tr h="301752">
                <a:tc>
                  <a:txBody>
                    <a:bodyPr/>
                    <a:lstStyle/>
                    <a:p>
                      <a:r>
                        <a:rPr sz="900"/>
                        <a:t>F1-Score</a:t>
                      </a:r>
                    </a:p>
                  </a:txBody>
                  <a:tcPr>
                    <a:solidFill>
                      <a:srgbClr val="FFFFFF"/>
                    </a:solidFill>
                  </a:tcPr>
                </a:tc>
                <a:tc>
                  <a:txBody>
                    <a:bodyPr/>
                    <a:lstStyle/>
                    <a:p>
                      <a:r>
                        <a:rPr sz="900"/>
                        <a:t>0.4976</a:t>
                      </a:r>
                    </a:p>
                  </a:txBody>
                  <a:tcPr>
                    <a:solidFill>
                      <a:srgbClr val="FFFFFF"/>
                    </a:solidFill>
                  </a:tcPr>
                </a:tc>
                <a:tc>
                  <a:txBody>
                    <a:bodyPr/>
                    <a:lstStyle/>
                    <a:p>
                      <a:r>
                        <a:rPr sz="900"/>
                        <a:t>Balance entre detección y precisión</a:t>
                      </a:r>
                    </a:p>
                  </a:txBody>
                  <a:tcPr>
                    <a:solidFill>
                      <a:srgbClr val="FFFFFF"/>
                    </a:solidFill>
                  </a:tcPr>
                </a:tc>
              </a:tr>
              <a:tr h="301752">
                <a:tc>
                  <a:txBody>
                    <a:bodyPr/>
                    <a:lstStyle/>
                    <a:p>
                      <a:r>
                        <a:rPr sz="900"/>
                        <a:t>Umbral de producción</a:t>
                      </a:r>
                    </a:p>
                  </a:txBody>
                  <a:tcPr>
                    <a:solidFill>
                      <a:srgbClr val="F0F4F8"/>
                    </a:solidFill>
                  </a:tcPr>
                </a:tc>
                <a:tc>
                  <a:txBody>
                    <a:bodyPr/>
                    <a:lstStyle/>
                    <a:p>
                      <a:r>
                        <a:rPr sz="900"/>
                        <a:t>0.5</a:t>
                      </a:r>
                    </a:p>
                  </a:txBody>
                  <a:tcPr>
                    <a:solidFill>
                      <a:srgbClr val="F0F4F8"/>
                    </a:solidFill>
                  </a:tcPr>
                </a:tc>
                <a:tc>
                  <a:txBody>
                    <a:bodyPr/>
                    <a:lstStyle/>
                    <a:p>
                      <a:r>
                        <a:rPr sz="900"/>
                        <a:t>Ajustable — bajar a ~0.35 aproxima el Recall al 80% objetivo</a:t>
                      </a:r>
                    </a:p>
                  </a:txBody>
                  <a:tcPr>
                    <a:solidFill>
                      <a:srgbClr val="F0F4F8"/>
                    </a:solidFill>
                  </a:tcPr>
                </a:tc>
              </a:tr>
            </a:tbl>
          </a:graphicData>
        </a:graphic>
      </p:graphicFrame>
      <p:sp>
        <p:nvSpPr>
          <p:cNvPr id="47" name="TextBox 46"/>
          <p:cNvSpPr txBox="1"/>
          <p:nvPr/>
        </p:nvSpPr>
        <p:spPr>
          <a:xfrm>
            <a:off x="1069848" y="4672583"/>
            <a:ext cx="16002000" cy="347472"/>
          </a:xfrm>
          <a:prstGeom prst="rect">
            <a:avLst/>
          </a:prstGeom>
          <a:noFill/>
        </p:spPr>
        <p:txBody>
          <a:bodyPr wrap="square">
            <a:spAutoFit/>
          </a:bodyPr>
          <a:lstStyle/>
          <a:p>
            <a:pPr algn="l"/>
            <a:r>
              <a:rPr sz="1200" b="1" i="0">
                <a:solidFill>
                  <a:srgbClr val="003865"/>
                </a:solidFill>
              </a:rPr>
              <a:t>¿Qué significa en términos de política pública?</a:t>
            </a:r>
          </a:p>
        </p:txBody>
      </p:sp>
      <p:sp>
        <p:nvSpPr>
          <p:cNvPr id="48" name="TextBox 47"/>
          <p:cNvSpPr txBox="1"/>
          <p:nvPr/>
        </p:nvSpPr>
        <p:spPr>
          <a:xfrm>
            <a:off x="1371600" y="5129783"/>
            <a:ext cx="15544800" cy="320040"/>
          </a:xfrm>
          <a:prstGeom prst="rect">
            <a:avLst/>
          </a:prstGeom>
          <a:noFill/>
        </p:spPr>
        <p:txBody>
          <a:bodyPr wrap="square">
            <a:spAutoFit/>
          </a:bodyPr>
          <a:lstStyle/>
          <a:p>
            <a:pPr algn="l"/>
            <a:r>
              <a:rPr sz="1000" b="0" i="1">
                <a:solidFill>
                  <a:srgbClr val="6B7280"/>
                </a:solidFill>
              </a:rPr>
              <a:t>Con 285,284 niños en el dataset histórico y una prevalencia del 16%, hay ~45,000 niños desnutridos.</a:t>
            </a:r>
          </a:p>
        </p:txBody>
      </p:sp>
      <p:sp>
        <p:nvSpPr>
          <p:cNvPr id="49" name="TextBox 48"/>
          <p:cNvSpPr txBox="1"/>
          <p:nvPr/>
        </p:nvSpPr>
        <p:spPr>
          <a:xfrm>
            <a:off x="1371600" y="5550407"/>
            <a:ext cx="15544800" cy="320040"/>
          </a:xfrm>
          <a:prstGeom prst="rect">
            <a:avLst/>
          </a:prstGeom>
          <a:noFill/>
        </p:spPr>
        <p:txBody>
          <a:bodyPr wrap="square">
            <a:spAutoFit/>
          </a:bodyPr>
          <a:lstStyle/>
          <a:p>
            <a:pPr algn="l"/>
            <a:r>
              <a:rPr sz="1000" b="0" i="1">
                <a:solidFill>
                  <a:srgbClr val="6B7280"/>
                </a:solidFill>
              </a:rPr>
              <a:t>El modelo detecta ~34,400 de ellos usando solo datos de encuesta de hogar —</a:t>
            </a:r>
          </a:p>
        </p:txBody>
      </p:sp>
      <p:sp>
        <p:nvSpPr>
          <p:cNvPr id="50" name="TextBox 49"/>
          <p:cNvSpPr txBox="1"/>
          <p:nvPr/>
        </p:nvSpPr>
        <p:spPr>
          <a:xfrm>
            <a:off x="1371600" y="5971031"/>
            <a:ext cx="15544800" cy="320040"/>
          </a:xfrm>
          <a:prstGeom prst="rect">
            <a:avLst/>
          </a:prstGeom>
          <a:noFill/>
        </p:spPr>
        <p:txBody>
          <a:bodyPr wrap="square">
            <a:spAutoFit/>
          </a:bodyPr>
          <a:lstStyle/>
          <a:p>
            <a:pPr algn="l"/>
            <a:r>
              <a:rPr sz="1000" b="0" i="1">
                <a:solidFill>
                  <a:srgbClr val="6B7280"/>
                </a:solidFill>
              </a:rPr>
              <a:t>sin medición antropométrica, sin visita previa al domicilio.</a:t>
            </a:r>
          </a:p>
        </p:txBody>
      </p:sp>
      <p:sp>
        <p:nvSpPr>
          <p:cNvPr id="51" name="TextBox 50"/>
          <p:cNvSpPr txBox="1"/>
          <p:nvPr/>
        </p:nvSpPr>
        <p:spPr>
          <a:xfrm>
            <a:off x="1069848" y="6391655"/>
            <a:ext cx="16002000" cy="347472"/>
          </a:xfrm>
          <a:prstGeom prst="rect">
            <a:avLst/>
          </a:prstGeom>
          <a:noFill/>
        </p:spPr>
        <p:txBody>
          <a:bodyPr wrap="square">
            <a:spAutoFit/>
          </a:bodyPr>
          <a:lstStyle/>
          <a:p>
            <a:pPr algn="l"/>
            <a:r>
              <a:rPr sz="1200" b="1" i="0">
                <a:solidFill>
                  <a:srgbClr val="003865"/>
                </a:solidFill>
              </a:rPr>
              <a:t>Los 5 factores de riesgo más determinantes (SHAP global)</a:t>
            </a:r>
          </a:p>
        </p:txBody>
      </p:sp>
      <p:graphicFrame>
        <p:nvGraphicFramePr>
          <p:cNvPr id="52" name="Table 51"/>
          <p:cNvGraphicFramePr>
            <a:graphicFrameLocks noGrp="1"/>
          </p:cNvGraphicFramePr>
          <p:nvPr/>
        </p:nvGraphicFramePr>
        <p:xfrm>
          <a:off x="1069848" y="6848855"/>
          <a:ext cx="16002000" cy="1810512"/>
        </p:xfrm>
        <a:graphic>
          <a:graphicData uri="http://schemas.openxmlformats.org/drawingml/2006/table">
            <a:tbl>
              <a:tblPr firstRow="1" bandRow="1">
                <a:tableStyleId>{5C22544A-7EE6-4342-B048-85BDC9FD1C3A}</a:tableStyleId>
              </a:tblPr>
              <a:tblGrid>
                <a:gridCol w="5334000"/>
                <a:gridCol w="5334000"/>
                <a:gridCol w="5334000"/>
              </a:tblGrid>
              <a:tr h="301752">
                <a:tc>
                  <a:txBody>
                    <a:bodyPr/>
                    <a:lstStyle/>
                    <a:p>
                      <a:r>
                        <a:rPr sz="1000" b="1">
                          <a:solidFill>
                            <a:srgbClr val="FFFFFF"/>
                          </a:solidFill>
                        </a:rPr>
                        <a:t>#</a:t>
                      </a:r>
                    </a:p>
                  </a:txBody>
                  <a:tcPr>
                    <a:solidFill>
                      <a:srgbClr val="003865"/>
                    </a:solidFill>
                  </a:tcPr>
                </a:tc>
                <a:tc>
                  <a:txBody>
                    <a:bodyPr/>
                    <a:lstStyle/>
                    <a:p>
                      <a:r>
                        <a:rPr sz="1000" b="1">
                          <a:solidFill>
                            <a:srgbClr val="FFFFFF"/>
                          </a:solidFill>
                        </a:rPr>
                        <a:t>Factor</a:t>
                      </a:r>
                    </a:p>
                  </a:txBody>
                  <a:tcPr>
                    <a:solidFill>
                      <a:srgbClr val="003865"/>
                    </a:solidFill>
                  </a:tcPr>
                </a:tc>
                <a:tc>
                  <a:txBody>
                    <a:bodyPr/>
                    <a:lstStyle/>
                    <a:p>
                      <a:r>
                        <a:rPr sz="1000" b="1">
                          <a:solidFill>
                            <a:srgbClr val="FFFFFF"/>
                          </a:solidFill>
                        </a:rPr>
                        <a:t>Tipo</a:t>
                      </a:r>
                    </a:p>
                  </a:txBody>
                  <a:tcPr>
                    <a:solidFill>
                      <a:srgbClr val="003865"/>
                    </a:solidFill>
                  </a:tcPr>
                </a:tc>
              </a:tr>
              <a:tr h="301752">
                <a:tc>
                  <a:txBody>
                    <a:bodyPr/>
                    <a:lstStyle/>
                    <a:p>
                      <a:r>
                        <a:rPr sz="900"/>
                        <a:t>1</a:t>
                      </a:r>
                    </a:p>
                  </a:txBody>
                  <a:tcPr>
                    <a:solidFill>
                      <a:srgbClr val="F0F4F8"/>
                    </a:solidFill>
                  </a:tcPr>
                </a:tc>
                <a:tc>
                  <a:txBody>
                    <a:bodyPr/>
                    <a:lstStyle/>
                    <a:p>
                      <a:r>
                        <a:rPr sz="900"/>
                        <a:t>Índice de riqueza del hogar (HV271)</a:t>
                      </a:r>
                    </a:p>
                  </a:txBody>
                  <a:tcPr>
                    <a:solidFill>
                      <a:srgbClr val="F0F4F8"/>
                    </a:solidFill>
                  </a:tcPr>
                </a:tc>
                <a:tc>
                  <a:txBody>
                    <a:bodyPr/>
                    <a:lstStyle/>
                    <a:p>
                      <a:r>
                        <a:rPr sz="900"/>
                        <a:t>Socioeconómico</a:t>
                      </a:r>
                    </a:p>
                  </a:txBody>
                  <a:tcPr>
                    <a:solidFill>
                      <a:srgbClr val="F0F4F8"/>
                    </a:solidFill>
                  </a:tcPr>
                </a:tc>
              </a:tr>
              <a:tr h="301752">
                <a:tc>
                  <a:txBody>
                    <a:bodyPr/>
                    <a:lstStyle/>
                    <a:p>
                      <a:r>
                        <a:rPr sz="900"/>
                        <a:t>2</a:t>
                      </a:r>
                    </a:p>
                  </a:txBody>
                  <a:tcPr>
                    <a:solidFill>
                      <a:srgbClr val="FFFFFF"/>
                    </a:solidFill>
                  </a:tcPr>
                </a:tc>
                <a:tc>
                  <a:txBody>
                    <a:bodyPr/>
                    <a:lstStyle/>
                    <a:p>
                      <a:r>
                        <a:rPr sz="900"/>
                        <a:t>Peso al nacer (m19)</a:t>
                      </a:r>
                    </a:p>
                  </a:txBody>
                  <a:tcPr>
                    <a:solidFill>
                      <a:srgbClr val="FFFFFF"/>
                    </a:solidFill>
                  </a:tcPr>
                </a:tc>
                <a:tc>
                  <a:txBody>
                    <a:bodyPr/>
                    <a:lstStyle/>
                    <a:p>
                      <a:r>
                        <a:rPr sz="900"/>
                        <a:t>Biológico-prenatal</a:t>
                      </a:r>
                    </a:p>
                  </a:txBody>
                  <a:tcPr>
                    <a:solidFill>
                      <a:srgbClr val="FFFFFF"/>
                    </a:solidFill>
                  </a:tcPr>
                </a:tc>
              </a:tr>
              <a:tr h="301752">
                <a:tc>
                  <a:txBody>
                    <a:bodyPr/>
                    <a:lstStyle/>
                    <a:p>
                      <a:r>
                        <a:rPr sz="900"/>
                        <a:t>3</a:t>
                      </a:r>
                    </a:p>
                  </a:txBody>
                  <a:tcPr>
                    <a:solidFill>
                      <a:srgbClr val="F0F4F8"/>
                    </a:solidFill>
                  </a:tcPr>
                </a:tc>
                <a:tc>
                  <a:txBody>
                    <a:bodyPr/>
                    <a:lstStyle/>
                    <a:p>
                      <a:r>
                        <a:rPr sz="900"/>
                        <a:t>Altitud del conglomerado (HV040)</a:t>
                      </a:r>
                    </a:p>
                  </a:txBody>
                  <a:tcPr>
                    <a:solidFill>
                      <a:srgbClr val="F0F4F8"/>
                    </a:solidFill>
                  </a:tcPr>
                </a:tc>
                <a:tc>
                  <a:txBody>
                    <a:bodyPr/>
                    <a:lstStyle/>
                    <a:p>
                      <a:r>
                        <a:rPr sz="900"/>
                        <a:t>Geográfico-fisiológico</a:t>
                      </a:r>
                    </a:p>
                  </a:txBody>
                  <a:tcPr>
                    <a:solidFill>
                      <a:srgbClr val="F0F4F8"/>
                    </a:solidFill>
                  </a:tcPr>
                </a:tc>
              </a:tr>
              <a:tr h="301752">
                <a:tc>
                  <a:txBody>
                    <a:bodyPr/>
                    <a:lstStyle/>
                    <a:p>
                      <a:r>
                        <a:rPr sz="900"/>
                        <a:t>4</a:t>
                      </a:r>
                    </a:p>
                  </a:txBody>
                  <a:tcPr>
                    <a:solidFill>
                      <a:srgbClr val="FFFFFF"/>
                    </a:solidFill>
                  </a:tcPr>
                </a:tc>
                <a:tc>
                  <a:txBody>
                    <a:bodyPr/>
                    <a:lstStyle/>
                    <a:p>
                      <a:r>
                        <a:rPr sz="900"/>
                        <a:t>Edad del niño en meses (HC1)</a:t>
                      </a:r>
                    </a:p>
                  </a:txBody>
                  <a:tcPr>
                    <a:solidFill>
                      <a:srgbClr val="FFFFFF"/>
                    </a:solidFill>
                  </a:tcPr>
                </a:tc>
                <a:tc>
                  <a:txBody>
                    <a:bodyPr/>
                    <a:lstStyle/>
                    <a:p>
                      <a:r>
                        <a:rPr sz="900"/>
                        <a:t>Ventana crítica 1000 días</a:t>
                      </a:r>
                    </a:p>
                  </a:txBody>
                  <a:tcPr>
                    <a:solidFill>
                      <a:srgbClr val="FFFFFF"/>
                    </a:solidFill>
                  </a:tcPr>
                </a:tc>
              </a:tr>
              <a:tr h="301752">
                <a:tc>
                  <a:txBody>
                    <a:bodyPr/>
                    <a:lstStyle/>
                    <a:p>
                      <a:r>
                        <a:rPr sz="900"/>
                        <a:t>5</a:t>
                      </a:r>
                    </a:p>
                  </a:txBody>
                  <a:tcPr>
                    <a:solidFill>
                      <a:srgbClr val="F0F4F8"/>
                    </a:solidFill>
                  </a:tcPr>
                </a:tc>
                <a:tc>
                  <a:txBody>
                    <a:bodyPr/>
                    <a:lstStyle/>
                    <a:p>
                      <a:r>
                        <a:rPr sz="900"/>
                        <a:t>Hemoglobina ajustada (HC56)</a:t>
                      </a:r>
                    </a:p>
                  </a:txBody>
                  <a:tcPr>
                    <a:solidFill>
                      <a:srgbClr val="F0F4F8"/>
                    </a:solidFill>
                  </a:tcPr>
                </a:tc>
                <a:tc>
                  <a:txBody>
                    <a:bodyPr/>
                    <a:lstStyle/>
                    <a:p>
                      <a:r>
                        <a:rPr sz="900"/>
                        <a:t>Clínico-ambiental</a:t>
                      </a:r>
                    </a:p>
                  </a:txBody>
                  <a:tcPr>
                    <a:solidFill>
                      <a:srgbClr val="F0F4F8"/>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9596904" y="-5853703"/>
            <a:ext cx="9973923" cy="9964522"/>
            <a:chOff x="0" y="0"/>
            <a:chExt cx="13298564" cy="13286029"/>
          </a:xfrm>
        </p:grpSpPr>
        <p:sp>
          <p:nvSpPr>
            <p:cNvPr name="Freeform 3" id="3"/>
            <p:cNvSpPr/>
            <p:nvPr/>
          </p:nvSpPr>
          <p:spPr>
            <a:xfrm flipH="false" flipV="false" rot="0">
              <a:off x="0" y="32"/>
              <a:ext cx="13298551" cy="13285914"/>
            </a:xfrm>
            <a:custGeom>
              <a:avLst/>
              <a:gdLst/>
              <a:ahLst/>
              <a:cxnLst/>
              <a:rect r="r" b="b" t="t" l="l"/>
              <a:pathLst>
                <a:path h="13285914" w="13298551">
                  <a:moveTo>
                    <a:pt x="7469632" y="339566"/>
                  </a:moveTo>
                  <a:lnTo>
                    <a:pt x="12958826" y="5823426"/>
                  </a:lnTo>
                  <a:cubicBezTo>
                    <a:pt x="13176377" y="6040723"/>
                    <a:pt x="13298551" y="6335490"/>
                    <a:pt x="13298551" y="6642957"/>
                  </a:cubicBezTo>
                  <a:cubicBezTo>
                    <a:pt x="13298551" y="6950424"/>
                    <a:pt x="13176377" y="7245191"/>
                    <a:pt x="12958826" y="7462488"/>
                  </a:cubicBezTo>
                  <a:lnTo>
                    <a:pt x="7469632" y="12946348"/>
                  </a:lnTo>
                  <a:cubicBezTo>
                    <a:pt x="7016369" y="13399102"/>
                    <a:pt x="6282182" y="13399102"/>
                    <a:pt x="5828919" y="12946348"/>
                  </a:cubicBezTo>
                  <a:lnTo>
                    <a:pt x="339725" y="7462488"/>
                  </a:lnTo>
                  <a:cubicBezTo>
                    <a:pt x="122174" y="7245318"/>
                    <a:pt x="0" y="6950424"/>
                    <a:pt x="0" y="6642957"/>
                  </a:cubicBezTo>
                  <a:cubicBezTo>
                    <a:pt x="0" y="6335490"/>
                    <a:pt x="122174" y="6040723"/>
                    <a:pt x="339725" y="5823426"/>
                  </a:cubicBezTo>
                  <a:lnTo>
                    <a:pt x="5828919" y="339566"/>
                  </a:lnTo>
                  <a:cubicBezTo>
                    <a:pt x="6282055" y="-113189"/>
                    <a:pt x="7016369" y="-113189"/>
                    <a:pt x="7469632" y="339566"/>
                  </a:cubicBezTo>
                  <a:close/>
                </a:path>
              </a:pathLst>
            </a:custGeom>
            <a:solidFill>
              <a:srgbClr val="F8A900"/>
            </a:solidFill>
          </p:spPr>
        </p:sp>
      </p:grpSp>
      <p:grpSp>
        <p:nvGrpSpPr>
          <p:cNvPr name="Group 5" id="5"/>
          <p:cNvGrpSpPr/>
          <p:nvPr/>
        </p:nvGrpSpPr>
        <p:grpSpPr>
          <a:xfrm rot="0">
            <a:off x="14928228" y="302924"/>
            <a:ext cx="18126" cy="835600"/>
            <a:chOff x="0" y="0"/>
            <a:chExt cx="24168" cy="1114133"/>
          </a:xfrm>
        </p:grpSpPr>
        <p:sp>
          <p:nvSpPr>
            <p:cNvPr name="Freeform 6" id="6"/>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7" id="7"/>
          <p:cNvSpPr txBox="true"/>
          <p:nvPr/>
        </p:nvSpPr>
        <p:spPr>
          <a:xfrm rot="0">
            <a:off x="211036" y="9815512"/>
            <a:ext cx="5825842" cy="342967"/>
          </a:xfrm>
          <a:prstGeom prst="rect">
            <a:avLst/>
          </a:prstGeom>
        </p:spPr>
        <p:txBody>
          <a:bodyPr anchor="t" rtlCol="false" tIns="0" lIns="0" bIns="0" rIns="0">
            <a:spAutoFit/>
          </a:bodyPr>
          <a:lstStyle/>
          <a:p>
            <a:pPr algn="ctr">
              <a:lnSpc>
                <a:spcPts val="2760"/>
              </a:lnSpc>
            </a:pPr>
            <a:r>
              <a:rPr lang="en-US" sz="2300">
                <a:solidFill>
                  <a:srgbClr val="003865"/>
                </a:solidFill>
                <a:latin typeface="DM Sans"/>
                <a:ea typeface="DM Sans"/>
                <a:cs typeface="DM Sans"/>
                <a:sym typeface="DM Sans"/>
              </a:rPr>
              <a:t>XVII Jornada Científica - EP. Ing. Sistemas</a:t>
            </a:r>
          </a:p>
        </p:txBody>
      </p:sp>
      <p:grpSp>
        <p:nvGrpSpPr>
          <p:cNvPr name="Group 8" id="8"/>
          <p:cNvGrpSpPr/>
          <p:nvPr/>
        </p:nvGrpSpPr>
        <p:grpSpPr>
          <a:xfrm rot="0">
            <a:off x="-1409700" y="-1790700"/>
            <a:ext cx="4152900" cy="4152900"/>
            <a:chOff x="0" y="0"/>
            <a:chExt cx="5537200" cy="5537200"/>
          </a:xfrm>
        </p:grpSpPr>
        <p:sp>
          <p:nvSpPr>
            <p:cNvPr name="Freeform 9" id="9"/>
            <p:cNvSpPr/>
            <p:nvPr/>
          </p:nvSpPr>
          <p:spPr>
            <a:xfrm flipH="false" flipV="false" rot="0">
              <a:off x="0" y="0"/>
              <a:ext cx="5537200" cy="5537200"/>
            </a:xfrm>
            <a:custGeom>
              <a:avLst/>
              <a:gdLst/>
              <a:ahLst/>
              <a:cxnLst/>
              <a:rect r="r" b="b" t="t" l="l"/>
              <a:pathLst>
                <a:path h="5537200" w="5537200">
                  <a:moveTo>
                    <a:pt x="0" y="2768600"/>
                  </a:moveTo>
                  <a:cubicBezTo>
                    <a:pt x="0" y="1239520"/>
                    <a:pt x="1239520" y="0"/>
                    <a:pt x="2768600" y="0"/>
                  </a:cubicBezTo>
                  <a:cubicBezTo>
                    <a:pt x="4297680" y="0"/>
                    <a:pt x="5537200" y="1239520"/>
                    <a:pt x="5537200" y="2768600"/>
                  </a:cubicBezTo>
                  <a:cubicBezTo>
                    <a:pt x="5537200" y="4297680"/>
                    <a:pt x="4297680" y="5537200"/>
                    <a:pt x="2768600" y="5537200"/>
                  </a:cubicBezTo>
                  <a:cubicBezTo>
                    <a:pt x="1239520" y="5537200"/>
                    <a:pt x="0" y="4297680"/>
                    <a:pt x="0" y="2768600"/>
                  </a:cubicBezTo>
                  <a:close/>
                </a:path>
              </a:pathLst>
            </a:custGeom>
            <a:blipFill>
              <a:blip r:embed="rId4">
                <a:alphaModFix amt="0"/>
              </a:blip>
              <a:stretch>
                <a:fillRect l="-78303" t="0" r="-78303" b="0"/>
              </a:stretch>
            </a:blipFill>
            <a:ln w="152400" cap="sq">
              <a:solidFill>
                <a:srgbClr val="F8A900"/>
              </a:solidFill>
              <a:prstDash val="solid"/>
              <a:miter/>
            </a:ln>
          </p:spPr>
        </p:sp>
      </p:grpSp>
      <p:grpSp>
        <p:nvGrpSpPr>
          <p:cNvPr name="Group 10" id="10"/>
          <p:cNvGrpSpPr/>
          <p:nvPr/>
        </p:nvGrpSpPr>
        <p:grpSpPr>
          <a:xfrm rot="0">
            <a:off x="1047750" y="1050608"/>
            <a:ext cx="457200" cy="47625"/>
            <a:chOff x="0" y="0"/>
            <a:chExt cx="609600" cy="63500"/>
          </a:xfrm>
        </p:grpSpPr>
        <p:sp>
          <p:nvSpPr>
            <p:cNvPr name="Freeform 11" id="11"/>
            <p:cNvSpPr/>
            <p:nvPr/>
          </p:nvSpPr>
          <p:spPr>
            <a:xfrm flipH="false" flipV="false" rot="0">
              <a:off x="0" y="0"/>
              <a:ext cx="609600" cy="63500"/>
            </a:xfrm>
            <a:custGeom>
              <a:avLst/>
              <a:gdLst/>
              <a:ahLst/>
              <a:cxnLst/>
              <a:rect r="r" b="b" t="t" l="l"/>
              <a:pathLst>
                <a:path h="63500" w="609600">
                  <a:moveTo>
                    <a:pt x="0" y="31750"/>
                  </a:moveTo>
                  <a:cubicBezTo>
                    <a:pt x="0" y="14224"/>
                    <a:pt x="14224" y="0"/>
                    <a:pt x="31750" y="0"/>
                  </a:cubicBezTo>
                  <a:lnTo>
                    <a:pt x="577850" y="0"/>
                  </a:lnTo>
                  <a:cubicBezTo>
                    <a:pt x="595376" y="0"/>
                    <a:pt x="609600" y="14224"/>
                    <a:pt x="609600" y="31750"/>
                  </a:cubicBezTo>
                  <a:cubicBezTo>
                    <a:pt x="609600" y="49276"/>
                    <a:pt x="595376" y="63500"/>
                    <a:pt x="577850" y="63500"/>
                  </a:cubicBezTo>
                  <a:lnTo>
                    <a:pt x="31750" y="63500"/>
                  </a:lnTo>
                  <a:cubicBezTo>
                    <a:pt x="14224" y="63500"/>
                    <a:pt x="0" y="49276"/>
                    <a:pt x="0" y="31750"/>
                  </a:cubicBezTo>
                  <a:close/>
                </a:path>
              </a:pathLst>
            </a:custGeom>
            <a:solidFill>
              <a:srgbClr val="F8A900"/>
            </a:solidFill>
          </p:spPr>
        </p:sp>
      </p:grpSp>
      <p:grpSp>
        <p:nvGrpSpPr>
          <p:cNvPr name="Group 15" id="15"/>
          <p:cNvGrpSpPr/>
          <p:nvPr/>
        </p:nvGrpSpPr>
        <p:grpSpPr>
          <a:xfrm rot="0">
            <a:off x="1047750" y="3238500"/>
            <a:ext cx="5245065" cy="3914775"/>
            <a:chOff x="0" y="0"/>
            <a:chExt cx="6993420" cy="5219700"/>
          </a:xfrm>
        </p:grpSpPr>
        <p:sp>
          <p:nvSpPr>
            <p:cNvPr name="Freeform 16" id="1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20" id="20"/>
          <p:cNvGrpSpPr/>
          <p:nvPr/>
        </p:nvGrpSpPr>
        <p:grpSpPr>
          <a:xfrm rot="0">
            <a:off x="6616665" y="3238500"/>
            <a:ext cx="5245179" cy="3914775"/>
            <a:chOff x="0" y="0"/>
            <a:chExt cx="6993572" cy="5219700"/>
          </a:xfrm>
        </p:grpSpPr>
        <p:sp>
          <p:nvSpPr>
            <p:cNvPr name="Freeform 21" id="21"/>
            <p:cNvSpPr/>
            <p:nvPr/>
          </p:nvSpPr>
          <p:spPr>
            <a:xfrm flipH="false" flipV="false" rot="0">
              <a:off x="0" y="0"/>
              <a:ext cx="6993509" cy="5219700"/>
            </a:xfrm>
            <a:custGeom>
              <a:avLst/>
              <a:gdLst/>
              <a:ahLst/>
              <a:cxnLst/>
              <a:rect r="r" b="b" t="t" l="l"/>
              <a:pathLst>
                <a:path h="5219700" w="6993509">
                  <a:moveTo>
                    <a:pt x="0" y="152400"/>
                  </a:moveTo>
                  <a:cubicBezTo>
                    <a:pt x="0" y="68199"/>
                    <a:pt x="68199" y="0"/>
                    <a:pt x="152400" y="0"/>
                  </a:cubicBezTo>
                  <a:lnTo>
                    <a:pt x="6841109" y="0"/>
                  </a:lnTo>
                  <a:cubicBezTo>
                    <a:pt x="6925310" y="0"/>
                    <a:pt x="6993509" y="68199"/>
                    <a:pt x="6993509" y="152400"/>
                  </a:cubicBezTo>
                  <a:lnTo>
                    <a:pt x="6993509" y="5067300"/>
                  </a:lnTo>
                  <a:cubicBezTo>
                    <a:pt x="6993509" y="5151501"/>
                    <a:pt x="6925310" y="5219700"/>
                    <a:pt x="6841109" y="5219700"/>
                  </a:cubicBezTo>
                  <a:lnTo>
                    <a:pt x="152400" y="5219700"/>
                  </a:lnTo>
                  <a:cubicBezTo>
                    <a:pt x="68199" y="5219700"/>
                    <a:pt x="0" y="5151501"/>
                    <a:pt x="0" y="5067300"/>
                  </a:cubicBezTo>
                  <a:close/>
                </a:path>
              </a:pathLst>
            </a:custGeom>
            <a:solidFill>
              <a:srgbClr val="FFFFFF"/>
            </a:solidFill>
          </p:spPr>
        </p:sp>
      </p:grpSp>
      <p:grpSp>
        <p:nvGrpSpPr>
          <p:cNvPr name="Group 25" id="25"/>
          <p:cNvGrpSpPr/>
          <p:nvPr/>
        </p:nvGrpSpPr>
        <p:grpSpPr>
          <a:xfrm rot="0">
            <a:off x="12185694" y="3238500"/>
            <a:ext cx="5245065" cy="3914775"/>
            <a:chOff x="0" y="0"/>
            <a:chExt cx="6993420" cy="5219700"/>
          </a:xfrm>
        </p:grpSpPr>
        <p:sp>
          <p:nvSpPr>
            <p:cNvPr name="Freeform 26" id="26"/>
            <p:cNvSpPr/>
            <p:nvPr/>
          </p:nvSpPr>
          <p:spPr>
            <a:xfrm flipH="false" flipV="false" rot="0">
              <a:off x="0" y="0"/>
              <a:ext cx="6993382" cy="5219700"/>
            </a:xfrm>
            <a:custGeom>
              <a:avLst/>
              <a:gdLst/>
              <a:ahLst/>
              <a:cxnLst/>
              <a:rect r="r" b="b" t="t" l="l"/>
              <a:pathLst>
                <a:path h="5219700" w="6993382">
                  <a:moveTo>
                    <a:pt x="0" y="152400"/>
                  </a:moveTo>
                  <a:cubicBezTo>
                    <a:pt x="0" y="68199"/>
                    <a:pt x="68199" y="0"/>
                    <a:pt x="152400" y="0"/>
                  </a:cubicBezTo>
                  <a:lnTo>
                    <a:pt x="6840982" y="0"/>
                  </a:lnTo>
                  <a:cubicBezTo>
                    <a:pt x="6925183" y="0"/>
                    <a:pt x="6993382" y="68199"/>
                    <a:pt x="6993382" y="152400"/>
                  </a:cubicBezTo>
                  <a:lnTo>
                    <a:pt x="6993382" y="5067300"/>
                  </a:lnTo>
                  <a:cubicBezTo>
                    <a:pt x="6993382" y="5151501"/>
                    <a:pt x="6925183" y="5219700"/>
                    <a:pt x="6840982" y="5219700"/>
                  </a:cubicBezTo>
                  <a:lnTo>
                    <a:pt x="152400" y="5219700"/>
                  </a:lnTo>
                  <a:cubicBezTo>
                    <a:pt x="68199" y="5219700"/>
                    <a:pt x="0" y="5151501"/>
                    <a:pt x="0" y="5067300"/>
                  </a:cubicBezTo>
                  <a:close/>
                </a:path>
              </a:pathLst>
            </a:custGeom>
            <a:solidFill>
              <a:srgbClr val="FFFFFF"/>
            </a:solidFill>
          </p:spPr>
        </p:sp>
      </p:grpSp>
      <p:grpSp>
        <p:nvGrpSpPr>
          <p:cNvPr name="Group 30" id="30"/>
          <p:cNvGrpSpPr/>
          <p:nvPr/>
        </p:nvGrpSpPr>
        <p:grpSpPr>
          <a:xfrm rot="0">
            <a:off x="1047750" y="7877175"/>
            <a:ext cx="16383000" cy="1419225"/>
            <a:chOff x="0" y="0"/>
            <a:chExt cx="21844000" cy="1892300"/>
          </a:xfrm>
        </p:grpSpPr>
        <p:sp>
          <p:nvSpPr>
            <p:cNvPr name="Freeform 31" id="31"/>
            <p:cNvSpPr/>
            <p:nvPr/>
          </p:nvSpPr>
          <p:spPr>
            <a:xfrm flipH="false" flipV="false" rot="0">
              <a:off x="0" y="0"/>
              <a:ext cx="21844000" cy="1892300"/>
            </a:xfrm>
            <a:custGeom>
              <a:avLst/>
              <a:gdLst/>
              <a:ahLst/>
              <a:cxnLst/>
              <a:rect r="r" b="b" t="t" l="l"/>
              <a:pathLst>
                <a:path h="1892300" w="21844000">
                  <a:moveTo>
                    <a:pt x="0" y="152400"/>
                  </a:moveTo>
                  <a:cubicBezTo>
                    <a:pt x="0" y="68199"/>
                    <a:pt x="68199" y="0"/>
                    <a:pt x="152400" y="0"/>
                  </a:cubicBezTo>
                  <a:lnTo>
                    <a:pt x="21691600" y="0"/>
                  </a:lnTo>
                  <a:cubicBezTo>
                    <a:pt x="21775801" y="0"/>
                    <a:pt x="21844000" y="68199"/>
                    <a:pt x="21844000" y="152400"/>
                  </a:cubicBezTo>
                  <a:lnTo>
                    <a:pt x="21844000" y="1739900"/>
                  </a:lnTo>
                  <a:cubicBezTo>
                    <a:pt x="21844000" y="1824101"/>
                    <a:pt x="21775801" y="1892300"/>
                    <a:pt x="21691600" y="1892300"/>
                  </a:cubicBezTo>
                  <a:lnTo>
                    <a:pt x="152400" y="1892300"/>
                  </a:lnTo>
                  <a:cubicBezTo>
                    <a:pt x="68199" y="1892300"/>
                    <a:pt x="0" y="1824101"/>
                    <a:pt x="0" y="1739900"/>
                  </a:cubicBezTo>
                  <a:close/>
                </a:path>
              </a:pathLst>
            </a:custGeom>
            <a:solidFill>
              <a:srgbClr val="003865"/>
            </a:solidFill>
          </p:spPr>
        </p:sp>
      </p:grpSp>
      <p:grpSp>
        <p:nvGrpSpPr>
          <p:cNvPr name="Group 32" id="32"/>
          <p:cNvGrpSpPr/>
          <p:nvPr/>
        </p:nvGrpSpPr>
        <p:grpSpPr>
          <a:xfrm rot="0">
            <a:off x="1466850" y="8320088"/>
            <a:ext cx="533400" cy="533400"/>
            <a:chOff x="0" y="0"/>
            <a:chExt cx="711200" cy="711200"/>
          </a:xfrm>
        </p:grpSpPr>
        <p:sp>
          <p:nvSpPr>
            <p:cNvPr name="Freeform 33" id="33"/>
            <p:cNvSpPr/>
            <p:nvPr/>
          </p:nvSpPr>
          <p:spPr>
            <a:xfrm flipH="false" flipV="false" rot="0">
              <a:off x="0" y="0"/>
              <a:ext cx="711200" cy="711200"/>
            </a:xfrm>
            <a:custGeom>
              <a:avLst/>
              <a:gdLst/>
              <a:ahLst/>
              <a:cxnLst/>
              <a:rect r="r" b="b" t="t" l="l"/>
              <a:pathLst>
                <a:path h="711200" w="711200">
                  <a:moveTo>
                    <a:pt x="0" y="355600"/>
                  </a:moveTo>
                  <a:cubicBezTo>
                    <a:pt x="0" y="159258"/>
                    <a:pt x="159258" y="0"/>
                    <a:pt x="355600" y="0"/>
                  </a:cubicBezTo>
                  <a:cubicBezTo>
                    <a:pt x="551942" y="0"/>
                    <a:pt x="711200" y="159258"/>
                    <a:pt x="711200" y="355600"/>
                  </a:cubicBezTo>
                  <a:cubicBezTo>
                    <a:pt x="711200" y="551942"/>
                    <a:pt x="551942" y="711200"/>
                    <a:pt x="355600" y="711200"/>
                  </a:cubicBezTo>
                  <a:cubicBezTo>
                    <a:pt x="159258" y="711200"/>
                    <a:pt x="0" y="551942"/>
                    <a:pt x="0" y="355600"/>
                  </a:cubicBezTo>
                  <a:close/>
                </a:path>
              </a:pathLst>
            </a:custGeom>
            <a:solidFill>
              <a:srgbClr val="F8A900"/>
            </a:solidFill>
          </p:spPr>
        </p:sp>
      </p:grpSp>
      <p:grpSp>
        <p:nvGrpSpPr>
          <p:cNvPr name="Group 34" id="34"/>
          <p:cNvGrpSpPr/>
          <p:nvPr/>
        </p:nvGrpSpPr>
        <p:grpSpPr>
          <a:xfrm rot="0">
            <a:off x="1428750" y="8320088"/>
            <a:ext cx="609600" cy="571500"/>
            <a:chOff x="0" y="0"/>
            <a:chExt cx="812800" cy="762000"/>
          </a:xfrm>
        </p:grpSpPr>
        <p:sp>
          <p:nvSpPr>
            <p:cNvPr name="Freeform 35" id="35"/>
            <p:cNvSpPr/>
            <p:nvPr/>
          </p:nvSpPr>
          <p:spPr>
            <a:xfrm flipH="false" flipV="false" rot="0">
              <a:off x="0" y="0"/>
              <a:ext cx="812800" cy="762000"/>
            </a:xfrm>
            <a:custGeom>
              <a:avLst/>
              <a:gdLst/>
              <a:ahLst/>
              <a:cxnLst/>
              <a:rect r="r" b="b" t="t" l="l"/>
              <a:pathLst>
                <a:path h="762000" w="812800">
                  <a:moveTo>
                    <a:pt x="0" y="0"/>
                  </a:moveTo>
                  <a:lnTo>
                    <a:pt x="812800" y="0"/>
                  </a:lnTo>
                  <a:lnTo>
                    <a:pt x="812800" y="762000"/>
                  </a:lnTo>
                  <a:lnTo>
                    <a:pt x="0" y="762000"/>
                  </a:lnTo>
                  <a:close/>
                </a:path>
              </a:pathLst>
            </a:custGeom>
            <a:blipFill>
              <a:blip r:embed="rId4">
                <a:alphaModFix amt="0"/>
              </a:blip>
              <a:stretch>
                <a:fillRect l="-70284" t="0" r="-70284" b="0"/>
              </a:stretch>
            </a:blipFill>
          </p:spPr>
        </p:sp>
        <p:sp>
          <p:nvSpPr>
            <p:cNvPr name="TextBox 36" id="36"/>
            <p:cNvSpPr txBox="true"/>
            <p:nvPr/>
          </p:nvSpPr>
          <p:spPr>
            <a:xfrm>
              <a:off x="0" y="0"/>
              <a:ext cx="812800" cy="762000"/>
            </a:xfrm>
            <a:prstGeom prst="rect">
              <a:avLst/>
            </a:prstGeom>
          </p:spPr>
          <p:txBody>
            <a:bodyPr anchor="ctr" rtlCol="false" tIns="0" lIns="0" bIns="0" rIns="0"/>
            <a:lstStyle/>
            <a:p>
              <a:pPr algn="ctr">
                <a:lnSpc>
                  <a:spcPts val="3060"/>
                </a:lnSpc>
              </a:pPr>
              <a:r>
                <a:rPr lang="en-US" sz="2550" b="true">
                  <a:solidFill>
                    <a:srgbClr val="003865"/>
                  </a:solidFill>
                  <a:latin typeface="DM Sans Bold"/>
                  <a:ea typeface="DM Sans Bold"/>
                  <a:cs typeface="DM Sans Bold"/>
                  <a:sym typeface="DM Sans Bold"/>
                </a:rPr>
                <a:t>→</a:t>
              </a:r>
            </a:p>
          </p:txBody>
        </p:sp>
      </p:grpSp>
      <p:grpSp>
        <p:nvGrpSpPr>
          <p:cNvPr name="Group 38" id="38"/>
          <p:cNvGrpSpPr/>
          <p:nvPr/>
        </p:nvGrpSpPr>
        <p:grpSpPr>
          <a:xfrm rot="0">
            <a:off x="15080628" y="455324"/>
            <a:ext cx="18126" cy="835600"/>
            <a:chOff x="0" y="0"/>
            <a:chExt cx="24168" cy="1114133"/>
          </a:xfrm>
        </p:grpSpPr>
        <p:sp>
          <p:nvSpPr>
            <p:cNvPr name="Freeform 39" id="39"/>
            <p:cNvSpPr/>
            <p:nvPr/>
          </p:nvSpPr>
          <p:spPr>
            <a:xfrm flipH="false" flipV="false" rot="0">
              <a:off x="0" y="0"/>
              <a:ext cx="24130" cy="1114171"/>
            </a:xfrm>
            <a:custGeom>
              <a:avLst/>
              <a:gdLst/>
              <a:ahLst/>
              <a:cxnLst/>
              <a:rect r="r" b="b" t="t" l="l"/>
              <a:pathLst>
                <a:path h="1114171" w="24130">
                  <a:moveTo>
                    <a:pt x="0" y="1114171"/>
                  </a:moveTo>
                  <a:lnTo>
                    <a:pt x="24130" y="0"/>
                  </a:lnTo>
                </a:path>
              </a:pathLst>
            </a:custGeom>
            <a:blipFill>
              <a:blip r:embed="rId4">
                <a:alphaModFix amt="0"/>
              </a:blip>
              <a:stretch>
                <a:fillRect l="-5873967" t="0" r="-5874125" b="3"/>
              </a:stretch>
            </a:blipFill>
            <a:ln w="24169" cap="sq">
              <a:solidFill>
                <a:srgbClr val="FFFFFF"/>
              </a:solidFill>
              <a:prstDash val="solid"/>
              <a:miter/>
            </a:ln>
          </p:spPr>
        </p:sp>
      </p:grpSp>
      <p:sp>
        <p:nvSpPr>
          <p:cNvPr name="TextBox 40" id="40"/>
          <p:cNvSpPr txBox="true"/>
          <p:nvPr/>
        </p:nvSpPr>
        <p:spPr>
          <a:xfrm rot="0">
            <a:off x="14388589" y="644528"/>
            <a:ext cx="3264408" cy="249003"/>
          </a:xfrm>
          <a:prstGeom prst="rect">
            <a:avLst/>
          </a:prstGeom>
        </p:spPr>
        <p:txBody>
          <a:bodyPr anchor="t" rtlCol="false" tIns="0" lIns="0" bIns="0" rIns="0">
            <a:spAutoFit/>
          </a:bodyPr>
          <a:lstStyle/>
          <a:p>
            <a:pPr algn="r">
              <a:lnSpc>
                <a:spcPts val="2203"/>
              </a:lnSpc>
            </a:pPr>
            <a:r>
              <a:rPr lang="en-US" b="true" sz="1800" spc="37">
                <a:solidFill>
                  <a:srgbClr val="003865"/>
                </a:solidFill>
                <a:latin typeface="Arial Bold"/>
                <a:ea typeface="Arial Bold"/>
                <a:cs typeface="Arial Bold"/>
                <a:sym typeface="Arial Bold"/>
              </a:rPr>
              <a:t>INGENIERÍA DE SISTEMAS</a:t>
            </a:r>
          </a:p>
        </p:txBody>
      </p:sp>
      <p:sp>
        <p:nvSpPr>
          <p:cNvPr name="TextBox 41" id="41"/>
          <p:cNvSpPr txBox="true"/>
          <p:nvPr/>
        </p:nvSpPr>
        <p:spPr>
          <a:xfrm rot="0">
            <a:off x="14388589" y="953853"/>
            <a:ext cx="3264408" cy="123034"/>
          </a:xfrm>
          <a:prstGeom prst="rect">
            <a:avLst/>
          </a:prstGeom>
        </p:spPr>
        <p:txBody>
          <a:bodyPr anchor="t" rtlCol="false" tIns="0" lIns="0" bIns="0" rIns="0">
            <a:spAutoFit/>
          </a:bodyPr>
          <a:lstStyle/>
          <a:p>
            <a:pPr algn="r">
              <a:lnSpc>
                <a:spcPts val="1193"/>
              </a:lnSpc>
            </a:pPr>
            <a:r>
              <a:rPr lang="en-US" b="true" sz="975" spc="225">
                <a:solidFill>
                  <a:srgbClr val="6B7280"/>
                </a:solidFill>
                <a:latin typeface="Arial Bold"/>
                <a:ea typeface="Arial Bold"/>
                <a:cs typeface="Arial Bold"/>
                <a:sym typeface="Arial Bold"/>
              </a:rPr>
              <a:t>UNIVERSIDAD PERUANA UNIÓN</a:t>
            </a:r>
          </a:p>
        </p:txBody>
      </p:sp>
      <p:sp>
        <p:nvSpPr>
          <p:cNvPr name="TextBox 42" id="42"/>
          <p:cNvSpPr txBox="true"/>
          <p:nvPr/>
        </p:nvSpPr>
        <p:spPr>
          <a:xfrm rot="0">
            <a:off x="15678001" y="9788558"/>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Página 44</a:t>
            </a:r>
          </a:p>
        </p:txBody>
      </p:sp>
      <p:sp>
        <p:nvSpPr>
          <p:cNvPr id="43" name="TextBox 42"/>
          <p:cNvSpPr txBox="1"/>
          <p:nvPr/>
        </p:nvSpPr>
        <p:spPr>
          <a:xfrm>
            <a:off x="1682496" y="822960"/>
            <a:ext cx="10972800" cy="347472"/>
          </a:xfrm>
          <a:prstGeom prst="rect">
            <a:avLst/>
          </a:prstGeom>
          <a:noFill/>
        </p:spPr>
        <p:txBody>
          <a:bodyPr wrap="square">
            <a:spAutoFit/>
          </a:bodyPr>
          <a:lstStyle/>
          <a:p>
            <a:pPr algn="l"/>
            <a:r>
              <a:rPr sz="1300" b="1" i="0">
                <a:solidFill>
                  <a:srgbClr val="003865"/>
                </a:solidFill>
              </a:rPr>
              <a:t>FASE 6 · DESPLIEGUE</a:t>
            </a:r>
          </a:p>
        </p:txBody>
      </p:sp>
      <p:sp>
        <p:nvSpPr>
          <p:cNvPr id="44" name="TextBox 43"/>
          <p:cNvSpPr txBox="1"/>
          <p:nvPr/>
        </p:nvSpPr>
        <p:spPr>
          <a:xfrm>
            <a:off x="1069848" y="1298448"/>
            <a:ext cx="15544800" cy="685800"/>
          </a:xfrm>
          <a:prstGeom prst="rect">
            <a:avLst/>
          </a:prstGeom>
          <a:noFill/>
        </p:spPr>
        <p:txBody>
          <a:bodyPr wrap="square">
            <a:spAutoFit/>
          </a:bodyPr>
          <a:lstStyle/>
          <a:p>
            <a:pPr algn="l"/>
            <a:r>
              <a:rPr sz="2200" b="1" i="0">
                <a:solidFill>
                  <a:srgbClr val="003865"/>
                </a:solidFill>
              </a:rPr>
              <a:t>Sistema Web de Triaje Nutricional</a:t>
            </a:r>
          </a:p>
        </p:txBody>
      </p:sp>
      <p:sp>
        <p:nvSpPr>
          <p:cNvPr id="45" name="TextBox 44"/>
          <p:cNvSpPr txBox="1"/>
          <p:nvPr/>
        </p:nvSpPr>
        <p:spPr>
          <a:xfrm>
            <a:off x="1069848" y="2148840"/>
            <a:ext cx="16002000" cy="365760"/>
          </a:xfrm>
          <a:prstGeom prst="rect">
            <a:avLst/>
          </a:prstGeom>
          <a:noFill/>
        </p:spPr>
        <p:txBody>
          <a:bodyPr wrap="square">
            <a:spAutoFit/>
          </a:bodyPr>
          <a:lstStyle/>
          <a:p>
            <a:pPr algn="l"/>
            <a:r>
              <a:rPr sz="1000" b="0" i="1">
                <a:solidFill>
                  <a:srgbClr val="6B7280"/>
                </a:solidFill>
              </a:rPr>
              <a:t>[ IMAGEN: captura de pantalla del Tab 1 "Mapa de Riesgo Territorial" de la app Streamlit. Mostrar el mapa coro ]</a:t>
            </a:r>
          </a:p>
        </p:txBody>
      </p:sp>
      <p:sp>
        <p:nvSpPr>
          <p:cNvPr id="46" name="TextBox 45"/>
          <p:cNvSpPr txBox="1"/>
          <p:nvPr/>
        </p:nvSpPr>
        <p:spPr>
          <a:xfrm>
            <a:off x="1069848" y="2633472"/>
            <a:ext cx="16002000" cy="365760"/>
          </a:xfrm>
          <a:prstGeom prst="rect">
            <a:avLst/>
          </a:prstGeom>
          <a:noFill/>
        </p:spPr>
        <p:txBody>
          <a:bodyPr wrap="square">
            <a:spAutoFit/>
          </a:bodyPr>
          <a:lstStyle/>
          <a:p>
            <a:pPr algn="l"/>
            <a:r>
              <a:rPr sz="1000" b="0" i="1">
                <a:solidFill>
                  <a:srgbClr val="6B7280"/>
                </a:solidFill>
              </a:rPr>
              <a:t>[ IMAGEN: captura de pantalla del Tab 2 "Predictor Individual" de la app Streamlit. Mostrar el formulario de 3 ]</a:t>
            </a:r>
          </a:p>
        </p:txBody>
      </p:sp>
      <p:sp>
        <p:nvSpPr>
          <p:cNvPr id="47" name="TextBox 46"/>
          <p:cNvSpPr txBox="1"/>
          <p:nvPr/>
        </p:nvSpPr>
        <p:spPr>
          <a:xfrm>
            <a:off x="1069848" y="3118104"/>
            <a:ext cx="16002000" cy="347472"/>
          </a:xfrm>
          <a:prstGeom prst="rect">
            <a:avLst/>
          </a:prstGeom>
          <a:noFill/>
        </p:spPr>
        <p:txBody>
          <a:bodyPr wrap="square">
            <a:spAutoFit/>
          </a:bodyPr>
          <a:lstStyle/>
          <a:p>
            <a:pPr algn="l"/>
            <a:r>
              <a:rPr sz="1200" b="1" i="0">
                <a:solidFill>
                  <a:srgbClr val="003865"/>
                </a:solidFill>
              </a:rPr>
              <a:t>Características del sistema desplegado</a:t>
            </a:r>
          </a:p>
        </p:txBody>
      </p:sp>
      <p:graphicFrame>
        <p:nvGraphicFramePr>
          <p:cNvPr id="48" name="Table 47"/>
          <p:cNvGraphicFramePr>
            <a:graphicFrameLocks noGrp="1"/>
          </p:cNvGraphicFramePr>
          <p:nvPr/>
        </p:nvGraphicFramePr>
        <p:xfrm>
          <a:off x="1069848" y="3575304"/>
          <a:ext cx="16002000" cy="2112264"/>
        </p:xfrm>
        <a:graphic>
          <a:graphicData uri="http://schemas.openxmlformats.org/drawingml/2006/table">
            <a:tbl>
              <a:tblPr firstRow="1" bandRow="1">
                <a:tableStyleId>{5C22544A-7EE6-4342-B048-85BDC9FD1C3A}</a:tableStyleId>
              </a:tblPr>
              <a:tblGrid>
                <a:gridCol w="8001000"/>
                <a:gridCol w="8001000"/>
              </a:tblGrid>
              <a:tr h="301752">
                <a:tc>
                  <a:txBody>
                    <a:bodyPr/>
                    <a:lstStyle/>
                    <a:p>
                      <a:r>
                        <a:rPr sz="1000" b="1">
                          <a:solidFill>
                            <a:srgbClr val="FFFFFF"/>
                          </a:solidFill>
                        </a:rPr>
                        <a:t>Componente</a:t>
                      </a:r>
                    </a:p>
                  </a:txBody>
                  <a:tcPr>
                    <a:solidFill>
                      <a:srgbClr val="003865"/>
                    </a:solidFill>
                  </a:tcPr>
                </a:tc>
                <a:tc>
                  <a:txBody>
                    <a:bodyPr/>
                    <a:lstStyle/>
                    <a:p>
                      <a:r>
                        <a:rPr sz="1000" b="1">
                          <a:solidFill>
                            <a:srgbClr val="FFFFFF"/>
                          </a:solidFill>
                        </a:rPr>
                        <a:t>Descripción</a:t>
                      </a:r>
                    </a:p>
                  </a:txBody>
                  <a:tcPr>
                    <a:solidFill>
                      <a:srgbClr val="003865"/>
                    </a:solidFill>
                  </a:tcPr>
                </a:tc>
              </a:tr>
              <a:tr h="301752">
                <a:tc>
                  <a:txBody>
                    <a:bodyPr/>
                    <a:lstStyle/>
                    <a:p>
                      <a:r>
                        <a:rPr sz="900"/>
                        <a:t>Stack</a:t>
                      </a:r>
                    </a:p>
                  </a:txBody>
                  <a:tcPr>
                    <a:solidFill>
                      <a:srgbClr val="F0F4F8"/>
                    </a:solidFill>
                  </a:tcPr>
                </a:tc>
                <a:tc>
                  <a:txBody>
                    <a:bodyPr/>
                    <a:lstStyle/>
                    <a:p>
                      <a:r>
                        <a:rPr sz="900"/>
                        <a:t>Python · Streamlit · Plotly · LightGBM</a:t>
                      </a:r>
                    </a:p>
                  </a:txBody>
                  <a:tcPr>
                    <a:solidFill>
                      <a:srgbClr val="F0F4F8"/>
                    </a:solidFill>
                  </a:tcPr>
                </a:tc>
              </a:tr>
              <a:tr h="301752">
                <a:tc>
                  <a:txBody>
                    <a:bodyPr/>
                    <a:lstStyle/>
                    <a:p>
                      <a:r>
                        <a:rPr sz="900"/>
                        <a:t>Tab 1</a:t>
                      </a:r>
                    </a:p>
                  </a:txBody>
                  <a:tcPr>
                    <a:solidFill>
                      <a:srgbClr val="FFFFFF"/>
                    </a:solidFill>
                  </a:tcPr>
                </a:tc>
                <a:tc>
                  <a:txBody>
                    <a:bodyPr/>
                    <a:lstStyle/>
                    <a:p>
                      <a:r>
                        <a:rPr sz="900"/>
                        <a:t>Mapa coroplético interactivo por los 25 departamentos del Perú — SHAP geográfico normalizado</a:t>
                      </a:r>
                    </a:p>
                  </a:txBody>
                  <a:tcPr>
                    <a:solidFill>
                      <a:srgbClr val="FFFFFF"/>
                    </a:solidFill>
                  </a:tcPr>
                </a:tc>
              </a:tr>
              <a:tr h="301752">
                <a:tc>
                  <a:txBody>
                    <a:bodyPr/>
                    <a:lstStyle/>
                    <a:p>
                      <a:r>
                        <a:rPr sz="900"/>
                        <a:t>Tab 2</a:t>
                      </a:r>
                    </a:p>
                  </a:txBody>
                  <a:tcPr>
                    <a:solidFill>
                      <a:srgbClr val="F0F4F8"/>
                    </a:solidFill>
                  </a:tcPr>
                </a:tc>
                <a:tc>
                  <a:txBody>
                    <a:bodyPr/>
                    <a:lstStyle/>
                    <a:p>
                      <a:r>
                        <a:rPr sz="900"/>
                        <a:t>Predictor individual: 17 variables principales + 26 complementarias — resultado en tiempo real</a:t>
                      </a:r>
                    </a:p>
                  </a:txBody>
                  <a:tcPr>
                    <a:solidFill>
                      <a:srgbClr val="F0F4F8"/>
                    </a:solidFill>
                  </a:tcPr>
                </a:tc>
              </a:tr>
              <a:tr h="301752">
                <a:tc>
                  <a:txBody>
                    <a:bodyPr/>
                    <a:lstStyle/>
                    <a:p>
                      <a:r>
                        <a:rPr sz="900"/>
                        <a:t>Umbral adaptable</a:t>
                      </a:r>
                    </a:p>
                  </a:txBody>
                  <a:tcPr>
                    <a:solidFill>
                      <a:srgbClr val="FFFFFF"/>
                    </a:solidFill>
                  </a:tcPr>
                </a:tc>
                <a:tc>
                  <a:txBody>
                    <a:bodyPr/>
                    <a:lstStyle/>
                    <a:p>
                      <a:r>
                        <a:rPr sz="900"/>
                        <a:t>El operador define el % de detección objetivo → el sistema calcula el umbral automáticamente</a:t>
                      </a:r>
                    </a:p>
                  </a:txBody>
                  <a:tcPr>
                    <a:solidFill>
                      <a:srgbClr val="FFFFFF"/>
                    </a:solidFill>
                  </a:tcPr>
                </a:tc>
              </a:tr>
              <a:tr h="301752">
                <a:tc>
                  <a:txBody>
                    <a:bodyPr/>
                    <a:lstStyle/>
                    <a:p>
                      <a:r>
                        <a:rPr sz="900"/>
                        <a:t>Tiempo de respuesta</a:t>
                      </a:r>
                    </a:p>
                  </a:txBody>
                  <a:tcPr>
                    <a:solidFill>
                      <a:srgbClr val="F0F4F8"/>
                    </a:solidFill>
                  </a:tcPr>
                </a:tc>
                <a:tc>
                  <a:txBody>
                    <a:bodyPr/>
                    <a:lstStyle/>
                    <a:p>
                      <a:r>
                        <a:rPr sz="900"/>
                        <a:t>&lt; 1 segundo por predicción</a:t>
                      </a:r>
                    </a:p>
                  </a:txBody>
                  <a:tcPr>
                    <a:solidFill>
                      <a:srgbClr val="F0F4F8"/>
                    </a:solidFill>
                  </a:tcPr>
                </a:tc>
              </a:tr>
              <a:tr h="301752">
                <a:tc>
                  <a:txBody>
                    <a:bodyPr/>
                    <a:lstStyle/>
                    <a:p>
                      <a:r>
                        <a:rPr sz="900"/>
                        <a:t>Modelo en producción</a:t>
                      </a:r>
                    </a:p>
                  </a:txBody>
                  <a:tcPr>
                    <a:solidFill>
                      <a:srgbClr val="FFFFFF"/>
                    </a:solidFill>
                  </a:tcPr>
                </a:tc>
                <a:tc>
                  <a:txBody>
                    <a:bodyPr/>
                    <a:lstStyle/>
                    <a:p>
                      <a:r>
                        <a:rPr sz="900"/>
                        <a:t>LightGBM · Top 43 variables · 285,284 niños de entrenamiento · ENDES 2007–2024</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DAHNO6VRmmI</dc:identifier>
  <dcterms:modified xsi:type="dcterms:W3CDTF">2011-08-01T06:04:30Z</dcterms:modified>
  <cp:revision>1</cp:revision>
  <dc:title>Investigación IV</dc:title>
</cp:coreProperties>
</file>